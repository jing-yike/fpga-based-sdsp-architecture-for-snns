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891" r:id="rId1"/>
  </p:sldMasterIdLst>
  <p:notesMasterIdLst>
    <p:notesMasterId r:id="rId18"/>
  </p:notesMasterIdLst>
  <p:handoutMasterIdLst>
    <p:handoutMasterId r:id="rId19"/>
  </p:handoutMasterIdLst>
  <p:sldIdLst>
    <p:sldId id="291" r:id="rId2"/>
    <p:sldId id="293" r:id="rId3"/>
    <p:sldId id="295" r:id="rId4"/>
    <p:sldId id="296" r:id="rId5"/>
    <p:sldId id="292" r:id="rId6"/>
    <p:sldId id="297" r:id="rId7"/>
    <p:sldId id="298" r:id="rId8"/>
    <p:sldId id="299" r:id="rId9"/>
    <p:sldId id="260" r:id="rId10"/>
    <p:sldId id="265" r:id="rId11"/>
    <p:sldId id="306" r:id="rId12"/>
    <p:sldId id="262" r:id="rId13"/>
    <p:sldId id="303" r:id="rId14"/>
    <p:sldId id="301" r:id="rId15"/>
    <p:sldId id="304" r:id="rId16"/>
    <p:sldId id="305" r:id="rId17"/>
  </p:sldIdLst>
  <p:sldSz cx="12192000" cy="6858000"/>
  <p:notesSz cx="6858000" cy="9144000"/>
  <p:embeddedFontLst>
    <p:embeddedFont>
      <p:font typeface="Cambria Math" panose="02040503050406030204" pitchFamily="18" charset="0"/>
      <p:regular r:id="rId20"/>
    </p:embeddedFont>
    <p:embeddedFont>
      <p:font typeface="Noto Sans" panose="020B0502040504020204" pitchFamily="34" charset="0"/>
      <p:regular r:id="rId21"/>
      <p:bold r:id="rId22"/>
      <p:italic r:id="rId23"/>
      <p:boldItalic r:id="rId24"/>
    </p:embeddedFont>
    <p:embeddedFont>
      <p:font typeface="Open Sans" panose="020B0606030504020204" pitchFamily="34" charset="0"/>
      <p:regular r:id="rId25"/>
      <p:bold r:id="rId26"/>
      <p:italic r:id="rId27"/>
      <p:boldItalic r:id="rId28"/>
    </p:embeddedFont>
  </p:embeddedFontLst>
  <p:defaultTextStyle>
    <a:defPPr>
      <a:defRPr lang="de-DE"/>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nöfel,Anja" initials="K" lastIdx="10" clrIdx="0">
    <p:extLst>
      <p:ext uri="{19B8F6BF-5375-455C-9EA6-DF929625EA0E}">
        <p15:presenceInfo xmlns:p15="http://schemas.microsoft.com/office/powerpoint/2012/main" userId="S-1-5-21-1982228756-150042506-1537001085-188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7B2"/>
    <a:srgbClr val="FFFFFF"/>
    <a:srgbClr val="13A983"/>
    <a:srgbClr val="009BA4"/>
    <a:srgbClr val="93C356"/>
    <a:srgbClr val="BCCF02"/>
    <a:srgbClr val="28618C"/>
    <a:srgbClr val="539DC5"/>
    <a:srgbClr val="02ACA8"/>
    <a:srgbClr val="F07D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Designformatvorlage 1 - Akz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113A9D2-9D6B-4929-AA2D-F23B5EE8CBE7}" styleName="Designformatvorlage 2 - Akz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2" autoAdjust="0"/>
    <p:restoredTop sz="84466" autoAdjust="0"/>
  </p:normalViewPr>
  <p:slideViewPr>
    <p:cSldViewPr snapToGrid="0" snapToObjects="1">
      <p:cViewPr varScale="1">
        <p:scale>
          <a:sx n="93" d="100"/>
          <a:sy n="93" d="100"/>
        </p:scale>
        <p:origin x="396" y="68"/>
      </p:cViewPr>
      <p:guideLst/>
    </p:cSldViewPr>
  </p:slideViewPr>
  <p:notesTextViewPr>
    <p:cViewPr>
      <p:scale>
        <a:sx n="1" d="1"/>
        <a:sy n="1" d="1"/>
      </p:scale>
      <p:origin x="0" y="0"/>
    </p:cViewPr>
  </p:notesTextViewPr>
  <p:notesViewPr>
    <p:cSldViewPr snapToGrid="0" snapToObjects="1">
      <p:cViewPr varScale="1">
        <p:scale>
          <a:sx n="84" d="100"/>
          <a:sy n="84" d="100"/>
        </p:scale>
        <p:origin x="3672"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handoutMaster" Target="handoutMasters/handout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AC6211-610F-44E5-BF19-D3CDF6EDD281}" type="datetimeFigureOut">
              <a:rPr lang="de-DE" smtClean="0"/>
              <a:t>21.09.2026</a:t>
            </a:fld>
            <a:endParaRPr lang="de-DE"/>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D61AA8-FB04-42D1-9939-D1A1356F8086}" type="slidenum">
              <a:rPr lang="de-DE" smtClean="0"/>
              <a:t>‹#›</a:t>
            </a:fld>
            <a:endParaRPr lang="de-DE"/>
          </a:p>
        </p:txBody>
      </p:sp>
    </p:spTree>
    <p:extLst>
      <p:ext uri="{BB962C8B-B14F-4D97-AF65-F5344CB8AC3E}">
        <p14:creationId xmlns:p14="http://schemas.microsoft.com/office/powerpoint/2010/main" val="1143156049"/>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6T14:22:47.457"/>
    </inkml:context>
    <inkml:brush xml:id="br0">
      <inkml:brushProperty name="width" value="0.035" units="cm"/>
      <inkml:brushProperty name="height" value="0.035" units="cm"/>
    </inkml:brush>
  </inkml:definitions>
  <inkml:trace contextRef="#ctx0" brushRef="#br0">100 90 24575,'-2'0'0,"0"0"0,0 0 0,0 1 0,0-1 0,0 0 0,0 1 0,0 0 0,0-1 0,1 1 0,-1 0 0,0 0 0,0 0 0,1 0 0,-1 0 0,0 0 0,1 0 0,-1 1 0,1-1 0,-2 3 0,0-1 0,1 1 0,0 0 0,0 0 0,0 0 0,0 0 0,1 0 0,-1 1 0,0 5 0,0 4 0,0-1 0,1 0 0,1 1 0,2 24 0,-3-37 0,1 0 0,0 0 0,0 0 0,0 0 0,0 0 0,0-1 0,0 1 0,1 0 0,-1 0 0,0 0 0,0 0 0,1-1 0,-1 1 0,0 0 0,1 0 0,-1-1 0,1 1 0,-1 0 0,1-1 0,-1 1 0,1 0 0,-1-1 0,1 1 0,0-1 0,-1 1 0,1-1 0,0 1 0,0-1 0,-1 1 0,1-1 0,0 0 0,0 1 0,-1-1 0,1 0 0,0 0 0,0 0 0,0 1 0,1-1 0,-1-1 0,1 1 0,0-1 0,-1 0 0,1 0 0,-1 0 0,1 1 0,-1-1 0,1-1 0,-1 1 0,1 0 0,-1 0 0,0 0 0,0-1 0,0 1 0,0-1 0,0 1 0,0-1 0,1-1 0,7-16 0,0-1 0,-1 0 0,-1 0 0,9-40 0,-15 54 0,-1 0 0,1 0 0,-1 0 0,-1 0 0,1 0 0,-1 0 0,0 0 0,0 0 0,-3-8 0,3 12 0,1 0 0,-1 0 0,0 0 0,0 1 0,0-1 0,0 0 0,0 0 0,0 1 0,-1-1 0,1 0 0,0 1 0,-1-1 0,0 1 0,1 0 0,-1-1 0,0 1 0,1 0 0,-1 0 0,0 0 0,0 1 0,0-1 0,0 0 0,0 0 0,0 1 0,0 0 0,0-1 0,0 1 0,0 0 0,-3 0 0,2 0 0,-1 0 0,1 1 0,0-1 0,0 1 0,0-1 0,-1 1 0,1 0 0,0 0 0,0 1 0,0-1 0,0 1 0,1-1 0,-1 1 0,0 0 0,1 0 0,-1 0 0,1 1 0,0-1 0,-1 0 0,1 1 0,0-1 0,1 1 0,-1 0 0,0 0 0,1 0 0,0 0 0,-1 0 0,0 5 0,-1 6 0,1 0 0,0 0 0,2 1 0,-1-1 0,3 20 0,-1-11 0,-1-20 0,0-1 0,0 1 0,1-1 0,-1 0 0,0 1 0,1-1 0,0 1 0,-1-1 0,1 0 0,0 0 0,0 0 0,0 1 0,0-1 0,1 0 0,-1 0 0,1 0 0,-1-1 0,1 1 0,0 0 0,-1 0 0,1-1 0,0 1 0,0-1 0,0 0 0,0 0 0,0 0 0,1 0 0,-1 0 0,0 0 0,0 0 0,1 0 0,-1-1 0,1 0 0,-1 1 0,0-1 0,1 0 0,-1 0 0,1 0 0,-1 0 0,5-2 0,-1 2 0,0-1 0,-1-1 0,1 1 0,0-1 0,-1 0 0,1 0 0,-1-1 0,1 0 0,-1 0 0,0 0 0,0 0 0,0-1 0,-1 0 0,1 0 0,-1 0 0,4-6 0,-4 5 0,-1-1 0,0 0 0,0 1 0,0-1 0,-1-1 0,0 1 0,0 0 0,-1 0 0,0-1 0,0 1 0,0-10 0,-1 13 0,0 1 0,0-1 0,0 1 0,-1-1 0,1 1 0,-1-1 0,1 1 0,-1 0 0,0-1 0,0 1 0,0 0 0,0 0 0,-1 0 0,1 0 0,-1 0 0,1 0 0,-1 0 0,1 0 0,-1 0 0,0 1 0,0-1 0,0 1 0,0-1 0,0 1 0,0 0 0,-1 0 0,1 0 0,0 0 0,0 0 0,-1 0 0,1 1 0,-4-1 0,-12-1-1365,2 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6T14:22:42.838"/>
    </inkml:context>
    <inkml:brush xml:id="br0">
      <inkml:brushProperty name="width" value="0.035" units="cm"/>
      <inkml:brushProperty name="height" value="0.035" units="cm"/>
    </inkml:brush>
  </inkml:definitions>
  <inkml:trace contextRef="#ctx0" brushRef="#br0">6800 3 24575,'0'0'0,"0"0"0,0 0 0,0 0 0,0 0 0,0 0 0,0 0 0,0 0 0,0 0 0,0-1 0,0 1 0,0 0 0,0 0 0,0 0 0,0 0 0,0 0 0,0 0 0,0 0 0,0 0 0,0 0 0,0 0 0,0-1 0,0 1 0,0 0 0,0 0 0,0 0 0,0 0 0,0 0 0,0 0 0,0 0 0,0 0 0,0 0 0,0 0 0,0 0 0,0 0 0,0 0 0,0-1 0,0 1 0,1 0 0,-1 0 0,0 0 0,0 0 0,0 0 0,0 0 0,0 0 0,0 0 0,0 0 0,0 0 0,0 0 0,0 0 0,0 0 0,1 0 0,-1 0 0,0 0 0,0 0 0,0 0 0,0 0 0,0 0 0,0 0 0,0 0 0,0 0 0,0 0 0,0 0 0,0 0 0,1 0 0,4 7 0,5 10 0,0 8 0,-2 1 0,-1-1 0,8 54 0,-11-54 0,6 65 0,-3 2 0,-8 124 0,-1-83 0,0-99 0,-1 0 0,-2-1 0,-10 35 0,-6 37 0,10-25 0,-66 387 0,65-405 0,6-27 0,-2 0 0,-1-1 0,-1 0 0,-28 62 0,33-89 0,0 1 0,-1-1 0,0 0 0,0-1 0,0 1 0,-1-1 0,0 0 0,0-1 0,-1 0 0,1 0 0,-1 0 0,0-1 0,0 0 0,-1-1 0,-13 4 0,-14 3 0,1-2 0,-56 5 0,57-9 0,-35 6 0,10-1 0,-87 2 0,-421-12 0,529 4 0,0 2 0,0 1 0,0 1 0,-52 19 0,-40 8 0,-13-12 0,-172 5 0,48-7 0,130-4 0,-372 29 0,401-41 0,-595 3 0,-292-72 0,-155 3 0,723 74 0,364-10 0,31-1 0,-1 0 0,-34 7 0,63-7 0,0 0 0,1 0 0,-1 0 0,1 0 0,-1 0 0,1 1 0,-1-1 0,1 1 0,0 0 0,0 0 0,-1 1 0,2-1 0,-1 0 0,0 1 0,0 0 0,1 0 0,-3 4 0,1-1 0,1 0 0,0 1 0,1 0 0,0 0 0,0 0 0,0 0 0,0 14 0,-37 216 0,-11 118 0,44-18 0,6-232 0,0-102 0,0 0 0,0 0 0,0 0 0,1 0 0,-1-1 0,1 1 0,-1 0 0,1 0 0,0 0 0,0 0 0,2 3 0,-1-5 0,-1 1 0,1 0 0,-1-1 0,1 1 0,0-1 0,-1 0 0,1 0 0,0 1 0,0-1 0,0 0 0,0-1 0,0 1 0,0 0 0,0 0 0,0-1 0,3 1 0,20 2 0,-1-1 0,0-1 0,1-1 0,-1-1 0,1-2 0,25-5 0,-10 3 0,43-2 0,-24 8 0,-35 0 0,-1 0 0,0-2 0,1 0 0,-1-2 0,0 0 0,28-9 0,-25 5 0,-1 2 0,0 1 0,1 0 0,0 2 0,0 1 0,38 4 0,51-4 0,-44-10 0,-34 4 0,-23 3-1365,-2-1-5461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6T14:22:43.918"/>
    </inkml:context>
    <inkml:brush xml:id="br0">
      <inkml:brushProperty name="width" value="0.035" units="cm"/>
      <inkml:brushProperty name="height" value="0.035" units="cm"/>
    </inkml:brush>
  </inkml:definitions>
  <inkml:trace contextRef="#ctx0" brushRef="#br0">85 0 24575,'0'5'0,"0"0"0,0 0 0,1 0 0,-1-1 0,1 1 0,0 0 0,0 0 0,1-1 0,-1 1 0,1-1 0,0 1 0,0-1 0,1 0 0,-1 0 0,1 0 0,0 0 0,0 0 0,0-1 0,1 1 0,-1-1 0,1 0 0,0 0 0,0 0 0,7 4 0,34 20 0,-30-20 0,0 2 0,-1-1 0,0 2 0,-1 0 0,0 1 0,0 0 0,-1 1 0,14 17 0,-15-15 0,0 0 0,18 15 0,-17-18 0,-1 1 0,19 24 0,-30-35 0,1 0 0,-1 0 0,1 0 0,-1 0 0,1 0 0,-1 0 0,0 0 0,1 0 0,-1 0 0,0 1 0,0-1 0,0 0 0,0 0 0,0 0 0,0 0 0,0 0 0,-1 0 0,1 0 0,0 1 0,0-1 0,-1 0 0,1 0 0,-1 0 0,1 0 0,-1 0 0,1 0 0,-1-1 0,0 1 0,0 0 0,1 0 0,-1 0 0,0 0 0,0-1 0,0 1 0,0 0 0,0-1 0,0 1 0,0-1 0,-1 1 0,-6 3 0,0 1 0,0-2 0,-15 6 0,19-8 0,-68 22 0,14-5 0,-79 36 0,84-28-1365,9-2-5461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6T14:22:56.595"/>
    </inkml:context>
    <inkml:brush xml:id="br0">
      <inkml:brushProperty name="width" value="0.035" units="cm"/>
      <inkml:brushProperty name="height" value="0.035" units="cm"/>
    </inkml:brush>
  </inkml:definitions>
  <inkml:trace contextRef="#ctx0" brushRef="#br0">6094 0 24575,'-1'13'0,"0"-1"0,-1 0 0,-1 0 0,0 0 0,-1 0 0,0-1 0,-7 15 0,6-16 0,0 0 0,1 1 0,1 0 0,0-1 0,0 1 0,1 0 0,0 0 0,1 0 0,0 13 0,1-22 0,1 0 0,-1 0 0,0 0 0,1 0 0,0 0 0,0 0 0,-1 0 0,1-1 0,0 1 0,0 0 0,1-1 0,-1 1 0,0 0 0,0-1 0,1 0 0,-1 1 0,1-1 0,-1 0 0,1 0 0,0 1 0,0-1 0,-1-1 0,1 1 0,0 0 0,0 0 0,0-1 0,0 1 0,0-1 0,0 1 0,0-1 0,2 0 0,6 1 0,1 0 0,0-1 0,-1 0 0,17-3 0,-24 2 0,1 0 0,0 0 0,-1 0 0,0-1 0,1 1 0,-1-1 0,0 0 0,0 0 0,0 0 0,0 0 0,0 0 0,0-1 0,-1 1 0,1-1 0,-1 0 0,1 0 0,-1 0 0,0 0 0,0 0 0,-1 0 0,1-1 0,-1 1 0,1 0 0,-1-1 0,1-5 0,2-7 0,-1 0 0,-1-1 0,0 0 0,0-19 0,-2 32 0,0 1 0,0-1 0,-1 1 0,1-1 0,-1 1 0,1-1 0,-1 1 0,0-1 0,-1 1 0,1 0 0,0-1 0,-3-2 0,3 5 0,0-1 0,0 1 0,0 1 0,0-1 0,0 0 0,0 0 0,0 0 0,-1 0 0,1 1 0,0-1 0,-1 1 0,1-1 0,0 1 0,-1-1 0,1 1 0,0 0 0,-1 0 0,1 0 0,-1 0 0,1 0 0,-1 0 0,1 0 0,0 0 0,-1 0 0,1 0 0,-1 1 0,1-1 0,0 1 0,-1-1 0,1 1 0,0 0 0,0-1 0,-2 2 0,-4 2 0,0 0 0,0 0 0,0 1 0,0 0 0,1 0 0,0 0 0,-9 11 0,12-13 0,1-1 0,0 1 0,1-1 0,-1 1 0,0 0 0,1 0 0,0-1 0,-1 1 0,1 0 0,0 0 0,1 0 0,-1 1 0,0-1 0,1 0 0,0 0 0,0 0 0,0 0 0,0 1 0,0-1 0,1 0 0,-1 0 0,3 6 0,-3-7 0,1-1 0,-1 0 0,1 1 0,0-1 0,0 0 0,-1 1 0,1-1 0,0 0 0,0 0 0,0 0 0,1 0 0,-1 0 0,0 0 0,0 0 0,1 0 0,-1 0 0,0-1 0,1 1 0,-1 0 0,0-1 0,1 1 0,-1-1 0,1 0 0,-1 1 0,1-1 0,-1 0 0,1 0 0,-1 0 0,1 0 0,-1 0 0,1 0 0,-1-1 0,1 1 0,-1 0 0,1-1 0,-1 1 0,1-1 0,-1 0 0,1 1 0,1-2 0,0 1 0,-1-1 0,1 0 0,0 1 0,0-1 0,-1 0 0,1 0 0,-1-1 0,0 1 0,1 0 0,-1-1 0,0 1 0,-1-1 0,1 0 0,0 0 0,-1 1 0,1-1 0,-1 0 0,1-4 0,-2 6 0,1 1 0,-1-1 0,0 1 0,0-1 0,0 1 0,0-1 0,0 1 0,0-1 0,0 1 0,0-1 0,0 1 0,0-1 0,0 1 0,0-1 0,0 1 0,0-1 0,0 1 0,0-1 0,-1 1 0,1-1 0,0 1 0,0-1 0,-1 1 0,1-1 0,-9 7 0,-7 20 0,10-13 0,1 0 0,0 1 0,1-1 0,0 1 0,-1 16 0,6-22 0,3-14 0,3-13 0,-5-3 0,1-2 0,-3 24 0,0 0 0,0 0 0,0 0 0,0 0 0,0 0 0,0 0 0,0 0 0,1 0 0,-1 0 0,0 0 0,0 0 0,0 0 0,0 0 0,0 0 0,0 0 0,0 0 0,0 0 0,0 0 0,0 0 0,0 0 0,0 0 0,0 0 0,0 0 0,0 0 0,0 0 0,0 15 0,0 31 0,0-27 0,0-17 0,0-6 0,0-97 0,-2 93 0,-2 14 0,-1 13 0,4-14 0,1 1 0,0-1 0,1 0 0,-1 1 0,1-1 0,0 0 0,1 0 0,2 9 0,22 43 0,-6-17 0,-5 2 0,-2 0 0,-1 2 0,-3-1 0,8 84 0,-10 180 0,-8-240 0,0 697 0,-2-706 0,-2 0 0,-16 64 0,9-58 0,-5 89 0,13-106 0,-3-1 0,-2 1 0,-24 71 0,29-106 0,-25 77 0,13-44 0,-15 74 0,23-76 0,2-2 0,-2 0 0,-2 0 0,-1-1 0,-18 42 0,10-41 0,-51 100 0,65-134 0,-1 0 0,0 0 0,-1 0 0,1-1 0,-1 0 0,-1 0 0,-8 6 0,-21 16 0,26-17 0,-2-1 0,0 0 0,0 0 0,-23 12 0,20-13 0,0 1 0,-25 22 0,26-20 0,-1 0 0,-19 11 0,16-13 0,-1-2 0,0-1 0,-23 6 0,-3 1 0,-180 49 0,202-59 0,0-1 0,-48-1 0,45-2 0,-48 5 0,12 2 0,0-2 0,-86-6 0,-51 2 0,88 18 0,-128 16 0,204-28 0,11-1 0,-1-2 0,-44 2 0,37-4 0,-38 6 0,38-4 0,-39 1 0,-40-7 0,-121 4 0,200 2 0,0 2 0,-47 15 0,-6 1 0,-171 26 0,127-22 0,104-21 0,-29 1 0,-7 1 0,8-1 0,-1-2 0,-86-5 0,48-1 0,90 2 0,-61 0 0,-95-11 0,15 0 0,99 9 0,-87-14 0,62 5 0,-98-5 0,93 11 0,-192 0 0,164 6 0,-89 8 0,156-5 0,-1 2 0,2 2 0,-45 15 0,69-19 0,0 1 0,0 1 0,0 0 0,1 0 0,-18 15 0,-42 46 0,7-7 0,57-55 0,-1-1 0,1-1 0,-1 1 0,0-1 0,0 0 0,0-1 0,-1 1 0,1-1 0,-9 1 0,6-2 0,1 2 0,0-1 0,0 1 0,0 0 0,-14 8 0,5 1 0,0 2 0,1-1 0,0 2 0,1 0 0,1 2 0,0-1 0,1 1 0,-19 32 0,21-27 0,0 0 0,1 1 0,1 0 0,1 0 0,2 1 0,0 0 0,-5 36 0,9-18 0,3-32 0,0-1 0,-1 0 0,0 0 0,-1 0 0,0 0 0,-6 18 0,-21 38 0,-31 80 0,52-123 0,2 0 0,1 1 0,0 0 0,-1 42 0,8 168 0,-2-227 0,0-1 0,1 0 0,0 1 0,0-1 0,0 0 0,1 0 0,0 0 0,0 0 0,0 0 0,5 8 0,-4-10 0,-1 0 0,1 0 0,0 0 0,1 0 0,-1 0 0,0-1 0,1 0 0,-1 1 0,1-1 0,0-1 0,0 1 0,0 0 0,0-1 0,4 1 0,29 6 0,0-2 0,0-2 0,44 1 0,32 2 0,-82-3 0,-1-1 0,1-2 0,-1-1 0,0-2 0,1-1 0,-1-1 0,48-13 0,-37 6 0,69-7 0,-67 16 0,-35 3 0,1-1 0,-1 0 0,0-1 0,0 0 0,1 0 0,8-3 0,-15 3-54,0-1-1,0 1 0,-1 0 1,1-1-1,0 1 1,-1-1-1,1 0 0,-1 0 1,0 1-1,1-1 1,-1 0-1,0 0 0,0 0 1,0 0-1,0 0 0,-1 0 1,1-1-1,0 1 1,-1 0-1,0 0 0,1 0 1,-1-1-1,0 1 1,-1-3-1,2-11-6771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6T14:22:57.420"/>
    </inkml:context>
    <inkml:brush xml:id="br0">
      <inkml:brushProperty name="width" value="0.035" units="cm"/>
      <inkml:brushProperty name="height" value="0.035" units="cm"/>
    </inkml:brush>
  </inkml:definitions>
  <inkml:trace contextRef="#ctx0" brushRef="#br0">1 1 24575,'27'0'0,"0"2"0,29 5 0,-43-5 0,0 1 0,-1 1 0,1 0 0,-1 0 0,0 1 0,0 1 0,11 7 0,-20-11 0,-1 0 0,1 1 0,-1-1 0,0 1 0,0-1 0,0 1 0,0 0 0,0 0 0,-1 0 0,1 0 0,-1 0 0,0 1 0,0-1 0,0 0 0,0 0 0,0 1 0,-1 3 0,2 10 0,-1 0 0,-2 20 0,1-24 0,-1 20 0,1-4 0,-1 0 0,-9 47 0,8-67 0,0 0 0,-1-1 0,0 1 0,0-1 0,-1 0 0,0 0 0,0 0 0,-1 0 0,0-1 0,-1 0 0,1 0 0,-13 11 0,0-4-227,0-1-1,0-1 1,-1-1-1,-1-1 1,-36 14-1,33-15-6598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47435D3-23A6-45D3-8DFA-7317DC1E7A64}" type="datetimeFigureOut">
              <a:rPr lang="de-DE" smtClean="0"/>
              <a:t>21.09.2026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69AC09-DF60-43F4-96BF-67D4D9A74094}" type="slidenum">
              <a:rPr lang="de-DE" smtClean="0"/>
              <a:t>‹#›</a:t>
            </a:fld>
            <a:endParaRPr lang="de-DE"/>
          </a:p>
        </p:txBody>
      </p:sp>
    </p:spTree>
    <p:extLst>
      <p:ext uri="{BB962C8B-B14F-4D97-AF65-F5344CB8AC3E}">
        <p14:creationId xmlns:p14="http://schemas.microsoft.com/office/powerpoint/2010/main" val="383318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Good morning everyone, my name is Yike. Today I’m going to give my intermediate presentation of my master thesis’s work titled FPGA-based Real….</a:t>
            </a:r>
            <a:endParaRPr lang="zh-CN" altLang="en-US" dirty="0"/>
          </a:p>
        </p:txBody>
      </p:sp>
      <p:sp>
        <p:nvSpPr>
          <p:cNvPr id="4" name="灯片编号占位符 3"/>
          <p:cNvSpPr>
            <a:spLocks noGrp="1"/>
          </p:cNvSpPr>
          <p:nvPr>
            <p:ph type="sldNum" sz="quarter" idx="5"/>
          </p:nvPr>
        </p:nvSpPr>
        <p:spPr/>
        <p:txBody>
          <a:bodyPr/>
          <a:lstStyle/>
          <a:p>
            <a:fld id="{2969AC09-DF60-43F4-96BF-67D4D9A74094}" type="slidenum">
              <a:rPr lang="de-DE" smtClean="0"/>
              <a:t>1</a:t>
            </a:fld>
            <a:endParaRPr lang="de-DE"/>
          </a:p>
        </p:txBody>
      </p:sp>
    </p:spTree>
    <p:extLst>
      <p:ext uri="{BB962C8B-B14F-4D97-AF65-F5344CB8AC3E}">
        <p14:creationId xmlns:p14="http://schemas.microsoft.com/office/powerpoint/2010/main" val="55423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the outline of my today’s presentation, I will first give the introduction of the topic of my master thesis as well as some background knowledge related to it and the motivation of my work.</a:t>
            </a:r>
          </a:p>
          <a:p>
            <a:r>
              <a:rPr lang="en-US" altLang="zh-CN" dirty="0"/>
              <a:t>Then I’ll introduce a bit about the related work that some of them really inspired me a lot through out the work</a:t>
            </a:r>
          </a:p>
          <a:p>
            <a:r>
              <a:rPr lang="en-US" altLang="zh-CN" dirty="0"/>
              <a:t>Then I will discuss about some background knowledge of my work, which consists mainly of 2 parts, an open source framework and the algorithm</a:t>
            </a:r>
          </a:p>
          <a:p>
            <a:r>
              <a:rPr lang="en-US" altLang="zh-CN" dirty="0"/>
              <a:t>At the end I will share about my progress and some preliminary results so far and the plan for the next steps</a:t>
            </a:r>
          </a:p>
          <a:p>
            <a:endParaRPr lang="zh-CN" altLang="en-US" dirty="0"/>
          </a:p>
        </p:txBody>
      </p:sp>
      <p:sp>
        <p:nvSpPr>
          <p:cNvPr id="4" name="灯片编号占位符 3"/>
          <p:cNvSpPr>
            <a:spLocks noGrp="1"/>
          </p:cNvSpPr>
          <p:nvPr>
            <p:ph type="sldNum" sz="quarter" idx="5"/>
          </p:nvPr>
        </p:nvSpPr>
        <p:spPr/>
        <p:txBody>
          <a:bodyPr/>
          <a:lstStyle/>
          <a:p>
            <a:fld id="{2969AC09-DF60-43F4-96BF-67D4D9A74094}" type="slidenum">
              <a:rPr lang="de-DE" smtClean="0"/>
              <a:t>2</a:t>
            </a:fld>
            <a:endParaRPr lang="de-DE"/>
          </a:p>
        </p:txBody>
      </p:sp>
    </p:spTree>
    <p:extLst>
      <p:ext uri="{BB962C8B-B14F-4D97-AF65-F5344CB8AC3E}">
        <p14:creationId xmlns:p14="http://schemas.microsoft.com/office/powerpoint/2010/main" val="4203211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First, I would like to briefly introduce why SNNs are suitable for edge hardware.</a:t>
            </a:r>
          </a:p>
          <a:p>
            <a:r>
              <a:rPr lang="zh-CN" altLang="zh-CN" dirty="0"/>
              <a:t>Unlike conventional neural networks, SNNs communicate through discrete spikes instead of continuous activations. This makes the computation event-driven. Neurons and synapses only become active when spikes arrive, so unnecessary operations can be reduced.</a:t>
            </a:r>
          </a:p>
          <a:p>
            <a:r>
              <a:rPr lang="zh-CN" altLang="zh-CN" dirty="0"/>
              <a:t>Spikes also contain temporal information. Both the spike timing and the firing rate can be used to represent dynamic sensor data.</a:t>
            </a:r>
          </a:p>
          <a:p>
            <a:r>
              <a:rPr lang="zh-CN" altLang="zh-CN" dirty="0"/>
              <a:t>From a hardware perspective, sparse and binary spike events can be efficiently mapped to parallel FPGA circuits, which helps to achieve low-latency processing.</a:t>
            </a:r>
          </a:p>
          <a:p>
            <a:r>
              <a:rPr lang="zh-CN" altLang="zh-CN" dirty="0"/>
              <a:t>Based on these advantages, the objective of my thesis is to implement a real-time SDSP learning module, integrate it into a simplified FPGA SNN, and make the training block dynamically reconfigurable.</a:t>
            </a:r>
          </a:p>
          <a:p>
            <a:endParaRPr lang="zh-CN" altLang="en-US" dirty="0"/>
          </a:p>
        </p:txBody>
      </p:sp>
      <p:sp>
        <p:nvSpPr>
          <p:cNvPr id="4" name="灯片编号占位符 3"/>
          <p:cNvSpPr>
            <a:spLocks noGrp="1"/>
          </p:cNvSpPr>
          <p:nvPr>
            <p:ph type="sldNum" sz="quarter" idx="5"/>
          </p:nvPr>
        </p:nvSpPr>
        <p:spPr/>
        <p:txBody>
          <a:bodyPr/>
          <a:lstStyle/>
          <a:p>
            <a:fld id="{2969AC09-DF60-43F4-96BF-67D4D9A74094}" type="slidenum">
              <a:rPr lang="de-DE" smtClean="0"/>
              <a:t>3</a:t>
            </a:fld>
            <a:endParaRPr lang="de-DE"/>
          </a:p>
        </p:txBody>
      </p:sp>
    </p:spTree>
    <p:extLst>
      <p:ext uri="{BB962C8B-B14F-4D97-AF65-F5344CB8AC3E}">
        <p14:creationId xmlns:p14="http://schemas.microsoft.com/office/powerpoint/2010/main" val="1920616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This leads to the main motivation for my work.</a:t>
            </a:r>
          </a:p>
          <a:p>
            <a:r>
              <a:rPr lang="zh-CN" altLang="zh-CN" dirty="0"/>
              <a:t>First, an edge device may face changing inputs and operating conditions after deployment. Therefore, offline training alone may not be sufficient. The network should be able to adapt directly at the edge.</a:t>
            </a:r>
          </a:p>
          <a:p>
            <a:r>
              <a:rPr lang="zh-CN" altLang="zh-CN" dirty="0"/>
              <a:t>Second, the learning process should remain local and lightweight. Learning algorithms based on global gradients require considerable memory and data movement. In contrast, SDSP uses local spike-driven information, which makes it more suitable for low-latency FPGA implementation.</a:t>
            </a:r>
          </a:p>
          <a:p>
            <a:r>
              <a:rPr lang="zh-CN" altLang="zh-CN" dirty="0"/>
              <a:t>Third, I want to make the training logic reconfigurable at runtime. As shown in the figure, Partial Reconfiguration can replace only the training module while the remaining SNN continues to operate.</a:t>
            </a:r>
          </a:p>
          <a:p>
            <a:r>
              <a:rPr lang="en-US" altLang="zh-CN" dirty="0"/>
              <a:t>Then at the end, </a:t>
            </a:r>
            <a:r>
              <a:rPr lang="zh-CN" altLang="zh-CN" dirty="0"/>
              <a:t>I will evaluate the resource usage, power, latency, maximum frequency, accuracy, and reconfiguration time.</a:t>
            </a:r>
            <a:r>
              <a:rPr lang="en-US" altLang="zh-CN" dirty="0"/>
              <a:t> So that I can quantitatively evaluate its performance.</a:t>
            </a:r>
            <a:endParaRPr lang="zh-CN" altLang="zh-CN" dirty="0"/>
          </a:p>
          <a:p>
            <a:endParaRPr lang="zh-CN" altLang="en-US" dirty="0"/>
          </a:p>
        </p:txBody>
      </p:sp>
      <p:sp>
        <p:nvSpPr>
          <p:cNvPr id="4" name="灯片编号占位符 3"/>
          <p:cNvSpPr>
            <a:spLocks noGrp="1"/>
          </p:cNvSpPr>
          <p:nvPr>
            <p:ph type="sldNum" sz="quarter" idx="5"/>
          </p:nvPr>
        </p:nvSpPr>
        <p:spPr/>
        <p:txBody>
          <a:bodyPr/>
          <a:lstStyle/>
          <a:p>
            <a:fld id="{2969AC09-DF60-43F4-96BF-67D4D9A74094}" type="slidenum">
              <a:rPr lang="de-DE" smtClean="0"/>
              <a:t>4</a:t>
            </a:fld>
            <a:endParaRPr lang="de-DE"/>
          </a:p>
        </p:txBody>
      </p:sp>
    </p:spTree>
    <p:extLst>
      <p:ext uri="{BB962C8B-B14F-4D97-AF65-F5344CB8AC3E}">
        <p14:creationId xmlns:p14="http://schemas.microsoft.com/office/powerpoint/2010/main" val="3533924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Before getting started with the hands-on work, I read a large amount of relevant literature to familiarize myself with the subject and finalize my design.</a:t>
            </a:r>
          </a:p>
          <a:p>
            <a:r>
              <a:rPr lang="zh-CN" altLang="zh-CN" dirty="0"/>
              <a:t>This table compares several representative hardware implementations of online learning for SNNs. I will not go through every value in detail, but I would like to highlight the main differences.</a:t>
            </a:r>
          </a:p>
          <a:p>
            <a:br>
              <a:rPr lang="zh-CN" altLang="zh-CN" dirty="0"/>
            </a:br>
            <a:r>
              <a:rPr lang="zh-CN" altLang="zh-CN" dirty="0"/>
              <a:t>ODIN and MorphIC are ASIC implementations using different versions of SDSP. They demonstrate high integration density and efficient online learning, but their hardware architecture is fixed after fabrication.</a:t>
            </a:r>
          </a:p>
          <a:p>
            <a:endParaRPr lang="en-US" altLang="zh-CN" dirty="0"/>
          </a:p>
          <a:p>
            <a:r>
              <a:rPr lang="zh-CN" altLang="zh-CN" dirty="0"/>
              <a:t>The other works are FPGA-based implementations. Asgari and TEDOP use SDSP-related learning rules, while Li and RAINE use STDP-based algorithms. These FPGA implementations offer more design flexibility, and some of them also demonstrate online learning on MNIST.</a:t>
            </a:r>
            <a:r>
              <a:rPr lang="en-US" altLang="zh-CN" dirty="0"/>
              <a:t> Neuron models most of them used LIF model but </a:t>
            </a:r>
            <a:r>
              <a:rPr lang="en-US" altLang="zh-CN" dirty="0" err="1"/>
              <a:t>tedop</a:t>
            </a:r>
            <a:r>
              <a:rPr lang="en-US" altLang="zh-CN" dirty="0"/>
              <a:t> used TI model which is temporal integrated model, which removes both leaky and fire mechanisms.</a:t>
            </a:r>
            <a:endParaRPr lang="zh-CN" altLang="zh-CN" dirty="0"/>
          </a:p>
          <a:p>
            <a:endParaRPr lang="en-US" altLang="zh-CN" dirty="0"/>
          </a:p>
          <a:p>
            <a:r>
              <a:rPr lang="zh-CN" altLang="zh-CN" dirty="0"/>
              <a:t>My work targets the ZCU102 platform and uses LIF neurons, SDSP learning, and a planned 784-to-10 fully connected network for MNIST.</a:t>
            </a:r>
            <a:br>
              <a:rPr lang="zh-CN" altLang="zh-CN" dirty="0"/>
            </a:br>
            <a:r>
              <a:rPr lang="zh-CN" altLang="zh-CN" dirty="0"/>
              <a:t>The main difference of my work is the use of Partial Reconfiguration. The objective is to replace or update the training module at runtime while keeping the remaining SNN operational.</a:t>
            </a:r>
          </a:p>
        </p:txBody>
      </p:sp>
      <p:sp>
        <p:nvSpPr>
          <p:cNvPr id="4" name="灯片编号占位符 3"/>
          <p:cNvSpPr>
            <a:spLocks noGrp="1"/>
          </p:cNvSpPr>
          <p:nvPr>
            <p:ph type="sldNum" sz="quarter" idx="5"/>
          </p:nvPr>
        </p:nvSpPr>
        <p:spPr/>
        <p:txBody>
          <a:bodyPr/>
          <a:lstStyle/>
          <a:p>
            <a:fld id="{2969AC09-DF60-43F4-96BF-67D4D9A74094}" type="slidenum">
              <a:rPr lang="de-DE" smtClean="0"/>
              <a:t>5</a:t>
            </a:fld>
            <a:endParaRPr lang="de-DE"/>
          </a:p>
        </p:txBody>
      </p:sp>
    </p:spTree>
    <p:extLst>
      <p:ext uri="{BB962C8B-B14F-4D97-AF65-F5344CB8AC3E}">
        <p14:creationId xmlns:p14="http://schemas.microsoft.com/office/powerpoint/2010/main" val="1505676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Then I would like to introduce about some necessary background of my work. So the first part is the open source tool called Spiker+ which can help users to generate VHDL files from python dictionary description.</a:t>
            </a:r>
          </a:p>
          <a:p>
            <a:r>
              <a:rPr lang="en-US" altLang="zh-CN" dirty="0"/>
              <a:t>This figure depicts the high-level architecture of a toy example of a three-layer FF-FC architecture used to introduce the three hierarchical levels of Control Units (CUs) that characterize Spiker+: </a:t>
            </a:r>
            <a:r>
              <a:rPr lang="en-US" altLang="zh-CN" dirty="0" err="1"/>
              <a:t>i</a:t>
            </a:r>
            <a:r>
              <a:rPr lang="en-US" altLang="zh-CN" dirty="0"/>
              <a:t>) the network CU, responsible for synchronizing the various components within the network; ii) the layer CUs, orchestrating the update of the neurons of a layer based on a set of input spikes; iii) the neuron CU: the accelerator core controlling the update of the membrane potential in each neuron. This organization represents a highly optimized architecture in terms of performance and space utilization.</a:t>
            </a:r>
            <a:endParaRPr lang="zh-CN" altLang="en-US" dirty="0"/>
          </a:p>
        </p:txBody>
      </p:sp>
      <p:sp>
        <p:nvSpPr>
          <p:cNvPr id="4" name="灯片编号占位符 3"/>
          <p:cNvSpPr>
            <a:spLocks noGrp="1"/>
          </p:cNvSpPr>
          <p:nvPr>
            <p:ph type="sldNum" sz="quarter" idx="5"/>
          </p:nvPr>
        </p:nvSpPr>
        <p:spPr/>
        <p:txBody>
          <a:bodyPr/>
          <a:lstStyle/>
          <a:p>
            <a:fld id="{2969AC09-DF60-43F4-96BF-67D4D9A74094}" type="slidenum">
              <a:rPr lang="de-DE" smtClean="0"/>
              <a:t>6</a:t>
            </a:fld>
            <a:endParaRPr lang="de-DE"/>
          </a:p>
        </p:txBody>
      </p:sp>
    </p:spTree>
    <p:extLst>
      <p:ext uri="{BB962C8B-B14F-4D97-AF65-F5344CB8AC3E}">
        <p14:creationId xmlns:p14="http://schemas.microsoft.com/office/powerpoint/2010/main" val="187451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7B840-2F00-24D0-7002-9085365EFA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6AA451-C634-2D49-FAC7-C604EAF158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5009E9-62C9-5E6B-F539-64B90A008DD6}"/>
              </a:ext>
            </a:extLst>
          </p:cNvPr>
          <p:cNvSpPr>
            <a:spLocks noGrp="1"/>
          </p:cNvSpPr>
          <p:nvPr>
            <p:ph type="body" idx="1"/>
          </p:nvPr>
        </p:nvSpPr>
        <p:spPr/>
        <p:txBody>
          <a:bodyPr/>
          <a:lstStyle/>
          <a:p>
            <a:r>
              <a:rPr lang="en-US" altLang="zh-CN" dirty="0"/>
              <a:t>2. The outcome of the training phase includes a set of learned parameters such as weights and thresholds along with an accuracy evaluation of the trained model.</a:t>
            </a:r>
          </a:p>
          <a:p>
            <a:endParaRPr lang="en-US" altLang="zh-CN" dirty="0"/>
          </a:p>
          <a:p>
            <a:r>
              <a:rPr lang="en-US" altLang="zh-CN" dirty="0"/>
              <a:t>3. As training typically occurs in floating-point precision, unsuitable for edge hardware accelerators, Spiker+ implements functions to quantize the network, automating the exploration of the quantization impact on SNN accuracy (step 3).</a:t>
            </a:r>
          </a:p>
          <a:p>
            <a:endParaRPr lang="en-US" altLang="zh-CN" dirty="0"/>
          </a:p>
          <a:p>
            <a:r>
              <a:rPr lang="zh-CN" altLang="zh-CN" dirty="0"/>
              <a:t>Spiker+: A Framework for the Generation of Efficient Spiking Neural Networks FPGA Accelerators for Inference at the Edge</a:t>
            </a:r>
            <a:endParaRPr lang="zh-CN" altLang="en-US" dirty="0"/>
          </a:p>
        </p:txBody>
      </p:sp>
      <p:sp>
        <p:nvSpPr>
          <p:cNvPr id="4" name="灯片编号占位符 3">
            <a:extLst>
              <a:ext uri="{FF2B5EF4-FFF2-40B4-BE49-F238E27FC236}">
                <a16:creationId xmlns:a16="http://schemas.microsoft.com/office/drawing/2014/main" id="{B6AEC60B-B65D-2626-817A-D9D30ED865ED}"/>
              </a:ext>
            </a:extLst>
          </p:cNvPr>
          <p:cNvSpPr>
            <a:spLocks noGrp="1"/>
          </p:cNvSpPr>
          <p:nvPr>
            <p:ph type="sldNum" sz="quarter" idx="5"/>
          </p:nvPr>
        </p:nvSpPr>
        <p:spPr/>
        <p:txBody>
          <a:bodyPr/>
          <a:lstStyle/>
          <a:p>
            <a:fld id="{2969AC09-DF60-43F4-96BF-67D4D9A74094}" type="slidenum">
              <a:rPr lang="de-DE" smtClean="0"/>
              <a:t>7</a:t>
            </a:fld>
            <a:endParaRPr lang="de-DE"/>
          </a:p>
        </p:txBody>
      </p:sp>
    </p:spTree>
    <p:extLst>
      <p:ext uri="{BB962C8B-B14F-4D97-AF65-F5344CB8AC3E}">
        <p14:creationId xmlns:p14="http://schemas.microsoft.com/office/powerpoint/2010/main" val="1580258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1EDA9-E96F-5809-3171-83D0B33432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FB1497-0A17-D215-FB31-F910C3B514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02BE16-B672-6DCD-479C-D6E314B351E9}"/>
              </a:ext>
            </a:extLst>
          </p:cNvPr>
          <p:cNvSpPr>
            <a:spLocks noGrp="1"/>
          </p:cNvSpPr>
          <p:nvPr>
            <p:ph type="body" idx="1"/>
          </p:nvPr>
        </p:nvSpPr>
        <p:spPr/>
        <p:txBody>
          <a:bodyPr/>
          <a:lstStyle/>
          <a:p>
            <a:r>
              <a:rPr lang="en-US" altLang="zh-CN" dirty="0"/>
              <a:t>SDSP is based on the event and the state of the postsynaptic neuron</a:t>
            </a:r>
            <a:endParaRPr lang="zh-CN" altLang="en-US" dirty="0"/>
          </a:p>
        </p:txBody>
      </p:sp>
      <p:sp>
        <p:nvSpPr>
          <p:cNvPr id="4" name="灯片编号占位符 3">
            <a:extLst>
              <a:ext uri="{FF2B5EF4-FFF2-40B4-BE49-F238E27FC236}">
                <a16:creationId xmlns:a16="http://schemas.microsoft.com/office/drawing/2014/main" id="{3F76A2B3-6FF4-D530-C32E-94CEBD30D960}"/>
              </a:ext>
            </a:extLst>
          </p:cNvPr>
          <p:cNvSpPr>
            <a:spLocks noGrp="1"/>
          </p:cNvSpPr>
          <p:nvPr>
            <p:ph type="sldNum" sz="quarter" idx="5"/>
          </p:nvPr>
        </p:nvSpPr>
        <p:spPr/>
        <p:txBody>
          <a:bodyPr/>
          <a:lstStyle/>
          <a:p>
            <a:fld id="{2969AC09-DF60-43F4-96BF-67D4D9A74094}" type="slidenum">
              <a:rPr lang="de-DE" smtClean="0"/>
              <a:t>8</a:t>
            </a:fld>
            <a:endParaRPr lang="de-DE"/>
          </a:p>
        </p:txBody>
      </p:sp>
    </p:spTree>
    <p:extLst>
      <p:ext uri="{BB962C8B-B14F-4D97-AF65-F5344CB8AC3E}">
        <p14:creationId xmlns:p14="http://schemas.microsoft.com/office/powerpoint/2010/main" val="3568889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main </a:t>
            </a:r>
            <a:r>
              <a:rPr lang="en-US" dirty="0" err="1"/>
              <a:t>datapath</a:t>
            </a:r>
            <a:r>
              <a:rPr lang="en-US" dirty="0"/>
              <a:t> used to update the synaptic weight.</a:t>
            </a:r>
          </a:p>
          <a:p>
            <a:r>
              <a:rPr lang="en-US" dirty="0"/>
              <a:t>On the left, the up and down signals come from the SDSP registers and determine the direction of the weight change. Depending on these signals, the generator produces either plus one, zero, or minus one.</a:t>
            </a:r>
          </a:p>
          <a:p>
            <a:r>
              <a:rPr lang="en-US" dirty="0"/>
              <a:t>The </a:t>
            </a:r>
            <a:r>
              <a:rPr lang="en-US" dirty="0" err="1"/>
              <a:t>spk_pre</a:t>
            </a:r>
            <a:r>
              <a:rPr lang="en-US" dirty="0"/>
              <a:t> and </a:t>
            </a:r>
            <a:r>
              <a:rPr lang="en-US" dirty="0" err="1"/>
              <a:t>bistability</a:t>
            </a:r>
            <a:r>
              <a:rPr lang="en-US" dirty="0"/>
              <a:t> signals control whether a weight update should be performed. The current synaptic weight is read from the synaptic memory and is also sent to the update logic for overflow and underflow detection. This prevents the weight from wrapping around when it reaches its maximum or minimum value.</a:t>
            </a:r>
          </a:p>
          <a:p>
            <a:r>
              <a:rPr lang="en-US" dirty="0"/>
              <a:t>The generated increment, delta w, is then added to the current weight using a single n-bit adder. The output of the adder is the next synaptic weight.</a:t>
            </a:r>
          </a:p>
          <a:p>
            <a:r>
              <a:rPr lang="en-US" dirty="0"/>
              <a:t>The main advantage of this structure is that it only requires simple control logic and one small adder, so the hardware overhead is very low.</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detector此图需要修改</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4B0A2-0A41-4AF4-DD94-8F5C849CF4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7A6D1F-A0FD-F7E1-4A0C-81EE03DC1B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B83833-24F0-A94A-EF18-AB7FB109BF1D}"/>
              </a:ext>
            </a:extLst>
          </p:cNvPr>
          <p:cNvSpPr>
            <a:spLocks noGrp="1"/>
          </p:cNvSpPr>
          <p:nvPr>
            <p:ph type="body" idx="1"/>
          </p:nvPr>
        </p:nvSpPr>
        <p:spPr/>
        <p:txBody>
          <a:bodyPr/>
          <a:lstStyle/>
          <a:p>
            <a:r>
              <a:rPr lang="en-US" altLang="zh-CN" dirty="0"/>
              <a:t>detector</a:t>
            </a:r>
            <a:r>
              <a:rPr lang="zh-CN" altLang="en-US" dirty="0"/>
              <a:t>此图需要修改</a:t>
            </a:r>
          </a:p>
        </p:txBody>
      </p:sp>
      <p:sp>
        <p:nvSpPr>
          <p:cNvPr id="4" name="灯片编号占位符 3">
            <a:extLst>
              <a:ext uri="{FF2B5EF4-FFF2-40B4-BE49-F238E27FC236}">
                <a16:creationId xmlns:a16="http://schemas.microsoft.com/office/drawing/2014/main" id="{BEDF863E-9999-B44E-A432-15DA1AF04103}"/>
              </a:ext>
            </a:extLst>
          </p:cNvPr>
          <p:cNvSpPr>
            <a:spLocks noGrp="1"/>
          </p:cNvSpPr>
          <p:nvPr>
            <p:ph type="sldNum" sz="quarter" idx="5"/>
          </p:nvPr>
        </p:nvSpPr>
        <p:spPr/>
        <p:txBody>
          <a:bodyPr/>
          <a:lstStyle/>
          <a:p>
            <a:fld id="{2969AC09-DF60-43F4-96BF-67D4D9A74094}" type="slidenum">
              <a:rPr lang="de-DE" smtClean="0"/>
              <a:t>11</a:t>
            </a:fld>
            <a:endParaRPr lang="de-DE"/>
          </a:p>
        </p:txBody>
      </p:sp>
    </p:spTree>
    <p:extLst>
      <p:ext uri="{BB962C8B-B14F-4D97-AF65-F5344CB8AC3E}">
        <p14:creationId xmlns:p14="http://schemas.microsoft.com/office/powerpoint/2010/main" val="3858783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elfolie_TUD">
    <p:spTree>
      <p:nvGrpSpPr>
        <p:cNvPr id="1" name=""/>
        <p:cNvGrpSpPr/>
        <p:nvPr/>
      </p:nvGrpSpPr>
      <p:grpSpPr>
        <a:xfrm>
          <a:off x="0" y="0"/>
          <a:ext cx="0" cy="0"/>
          <a:chOff x="0" y="0"/>
          <a:chExt cx="0" cy="0"/>
        </a:xfrm>
      </p:grpSpPr>
      <p:sp>
        <p:nvSpPr>
          <p:cNvPr id="13" name="Rechteck 12"/>
          <p:cNvSpPr/>
          <p:nvPr/>
        </p:nvSpPr>
        <p:spPr>
          <a:xfrm>
            <a:off x="0" y="1025526"/>
            <a:ext cx="12192000" cy="5832476"/>
          </a:xfrm>
          <a:prstGeom prst="rect">
            <a:avLst/>
          </a:prstGeom>
          <a:gradFill>
            <a:gsLst>
              <a:gs pos="14000">
                <a:schemeClr val="tx2"/>
              </a:gs>
              <a:gs pos="100000">
                <a:schemeClr val="accent2"/>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3" name="Untertitel 2"/>
          <p:cNvSpPr>
            <a:spLocks noGrp="1"/>
          </p:cNvSpPr>
          <p:nvPr>
            <p:ph type="subTitle" idx="1" hasCustomPrompt="1"/>
          </p:nvPr>
        </p:nvSpPr>
        <p:spPr>
          <a:xfrm>
            <a:off x="874714" y="4494775"/>
            <a:ext cx="10438871" cy="1334525"/>
          </a:xfrm>
        </p:spPr>
        <p:txBody>
          <a:bodyPr/>
          <a:lstStyle>
            <a:lvl1pPr marL="0" indent="0" algn="l">
              <a:buNone/>
              <a:defRPr>
                <a:solidFill>
                  <a:schemeClr val="bg1">
                    <a:alpha val="80000"/>
                  </a:schemeClr>
                </a:solidFill>
                <a:latin typeface="Noto Sans" panose="020B0502040504020204" pitchFamily="34"/>
                <a:ea typeface="Noto Sans" panose="020B0502040504020204" pitchFamily="34"/>
                <a:cs typeface="Noto Sans" panose="020B0502040504020204" pitchFamily="34"/>
              </a:defRPr>
            </a:lvl1pPr>
            <a:lvl2pPr marL="457135" indent="0" algn="ctr">
              <a:buNone/>
              <a:defRPr>
                <a:solidFill>
                  <a:schemeClr val="tx1">
                    <a:tint val="75000"/>
                  </a:schemeClr>
                </a:solidFill>
              </a:defRPr>
            </a:lvl2pPr>
            <a:lvl3pPr marL="914269" indent="0" algn="ctr">
              <a:buNone/>
              <a:defRPr>
                <a:solidFill>
                  <a:schemeClr val="tx1">
                    <a:tint val="75000"/>
                  </a:schemeClr>
                </a:solidFill>
              </a:defRPr>
            </a:lvl3pPr>
            <a:lvl4pPr marL="1371402" indent="0" algn="ctr">
              <a:buNone/>
              <a:defRPr>
                <a:solidFill>
                  <a:schemeClr val="tx1">
                    <a:tint val="75000"/>
                  </a:schemeClr>
                </a:solidFill>
              </a:defRPr>
            </a:lvl4pPr>
            <a:lvl5pPr marL="1828534" indent="0" algn="ctr">
              <a:buNone/>
              <a:defRPr>
                <a:solidFill>
                  <a:schemeClr val="tx1">
                    <a:tint val="75000"/>
                  </a:schemeClr>
                </a:solidFill>
              </a:defRPr>
            </a:lvl5pPr>
            <a:lvl6pPr marL="2285670" indent="0" algn="ctr">
              <a:buNone/>
              <a:defRPr>
                <a:solidFill>
                  <a:schemeClr val="tx1">
                    <a:tint val="75000"/>
                  </a:schemeClr>
                </a:solidFill>
              </a:defRPr>
            </a:lvl6pPr>
            <a:lvl7pPr marL="2742803" indent="0" algn="ctr">
              <a:buNone/>
              <a:defRPr>
                <a:solidFill>
                  <a:schemeClr val="tx1">
                    <a:tint val="75000"/>
                  </a:schemeClr>
                </a:solidFill>
              </a:defRPr>
            </a:lvl7pPr>
            <a:lvl8pPr marL="3199936" indent="0" algn="ctr">
              <a:buNone/>
              <a:defRPr>
                <a:solidFill>
                  <a:schemeClr val="tx1">
                    <a:tint val="75000"/>
                  </a:schemeClr>
                </a:solidFill>
              </a:defRPr>
            </a:lvl8pPr>
            <a:lvl9pPr marL="3657070" indent="0" algn="ctr">
              <a:buNone/>
              <a:defRPr>
                <a:solidFill>
                  <a:schemeClr val="tx1">
                    <a:tint val="75000"/>
                  </a:schemeClr>
                </a:solidFill>
              </a:defRPr>
            </a:lvl9pPr>
          </a:lstStyle>
          <a:p>
            <a:r>
              <a:rPr lang="de-DE" dirty="0"/>
              <a:t>Firstname </a:t>
            </a:r>
            <a:r>
              <a:rPr lang="de-DE" dirty="0" err="1"/>
              <a:t>LastName</a:t>
            </a:r>
            <a:br>
              <a:rPr lang="de-DE" dirty="0"/>
            </a:br>
            <a:r>
              <a:rPr lang="de-DE" dirty="0"/>
              <a:t>Dresden, Germany. </a:t>
            </a:r>
            <a:fld id="{48C791B1-24FF-4AFA-90D5-7043F45F29E4}" type="datetime4">
              <a:rPr lang="en-US" smtClean="0"/>
              <a:t>October 2, 2025</a:t>
            </a:fld>
            <a:endParaRPr lang="de-DE" dirty="0"/>
          </a:p>
        </p:txBody>
      </p:sp>
      <p:sp>
        <p:nvSpPr>
          <p:cNvPr id="26" name="Textplatzhalter 25"/>
          <p:cNvSpPr>
            <a:spLocks noGrp="1"/>
          </p:cNvSpPr>
          <p:nvPr>
            <p:ph type="body" sz="quarter" idx="10" hasCustomPrompt="1"/>
          </p:nvPr>
        </p:nvSpPr>
        <p:spPr>
          <a:xfrm>
            <a:off x="874713" y="2420841"/>
            <a:ext cx="10438873" cy="828676"/>
          </a:xfrm>
          <a:ln>
            <a:noFill/>
          </a:ln>
        </p:spPr>
        <p:txBody>
          <a:bodyPr/>
          <a:lstStyle>
            <a:lvl1pPr>
              <a:spcBef>
                <a:spcPts val="0"/>
              </a:spcBef>
              <a:defRPr sz="1600" baseline="0">
                <a:solidFill>
                  <a:schemeClr val="bg1">
                    <a:alpha val="80000"/>
                  </a:schemeClr>
                </a:solidFill>
                <a:latin typeface="Noto Sans" panose="020B0502040504020204" pitchFamily="34"/>
                <a:ea typeface="Noto Sans" panose="020B0502040504020204" pitchFamily="34"/>
                <a:cs typeface="Noto Sans" panose="020B0502040504020204" pitchFamily="34"/>
              </a:defRPr>
            </a:lvl1pPr>
          </a:lstStyle>
          <a:p>
            <a:pPr lvl="0"/>
            <a:r>
              <a:rPr lang="de-DE" dirty="0"/>
              <a:t>Institute of Computer Engineering - Chair of Adaptive Dynamic Systems</a:t>
            </a:r>
          </a:p>
        </p:txBody>
      </p:sp>
      <p:sp>
        <p:nvSpPr>
          <p:cNvPr id="4" name="Rechteck 3"/>
          <p:cNvSpPr/>
          <p:nvPr/>
        </p:nvSpPr>
        <p:spPr>
          <a:xfrm>
            <a:off x="0" y="1025525"/>
            <a:ext cx="12192000" cy="171451"/>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10" name="Titel 1"/>
          <p:cNvSpPr>
            <a:spLocks noGrp="1"/>
          </p:cNvSpPr>
          <p:nvPr>
            <p:ph type="title" hasCustomPrompt="1"/>
          </p:nvPr>
        </p:nvSpPr>
        <p:spPr>
          <a:xfrm>
            <a:off x="874713" y="3392203"/>
            <a:ext cx="10438873" cy="972108"/>
          </a:xfrm>
          <a:ln>
            <a:noFill/>
          </a:ln>
        </p:spPr>
        <p:txBody>
          <a:bodyPr/>
          <a:lstStyle>
            <a:lvl1pPr>
              <a:defRPr sz="3200" b="1">
                <a:solidFill>
                  <a:schemeClr val="bg1"/>
                </a:solidFill>
                <a:latin typeface="Noto Sans" panose="020B0502040504020204" pitchFamily="34"/>
                <a:ea typeface="Noto Sans" panose="020B0502040504020204" pitchFamily="34"/>
                <a:cs typeface="Noto Sans" panose="020B0502040504020204" pitchFamily="34"/>
              </a:defRPr>
            </a:lvl1pPr>
          </a:lstStyle>
          <a:p>
            <a:r>
              <a:rPr lang="de-DE" dirty="0"/>
              <a:t>Title</a:t>
            </a:r>
          </a:p>
        </p:txBody>
      </p:sp>
      <p:pic>
        <p:nvPicPr>
          <p:cNvPr id="5"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59948" y="268751"/>
            <a:ext cx="566023" cy="626310"/>
          </a:xfrm>
          <a:prstGeom prst="rect">
            <a:avLst/>
          </a:prstGeom>
        </p:spPr>
      </p:pic>
      <p:pic>
        <p:nvPicPr>
          <p:cNvPr id="15" name="Grafik 14">
            <a:extLst>
              <a:ext uri="{FF2B5EF4-FFF2-40B4-BE49-F238E27FC236}">
                <a16:creationId xmlns:a16="http://schemas.microsoft.com/office/drawing/2014/main" id="{483987BA-E327-4979-8B35-7BDF46B60CB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26000" y="177143"/>
            <a:ext cx="1910241" cy="856800"/>
          </a:xfrm>
          <a:prstGeom prst="rect">
            <a:avLst/>
          </a:prstGeom>
        </p:spPr>
      </p:pic>
    </p:spTree>
    <p:extLst>
      <p:ext uri="{BB962C8B-B14F-4D97-AF65-F5344CB8AC3E}">
        <p14:creationId xmlns:p14="http://schemas.microsoft.com/office/powerpoint/2010/main" val="1330912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elfolie_TUD">
    <p:spTree>
      <p:nvGrpSpPr>
        <p:cNvPr id="1" name=""/>
        <p:cNvGrpSpPr/>
        <p:nvPr/>
      </p:nvGrpSpPr>
      <p:grpSpPr>
        <a:xfrm>
          <a:off x="0" y="0"/>
          <a:ext cx="0" cy="0"/>
          <a:chOff x="0" y="0"/>
          <a:chExt cx="0" cy="0"/>
        </a:xfrm>
      </p:grpSpPr>
      <p:sp>
        <p:nvSpPr>
          <p:cNvPr id="3" name="Untertitel 2"/>
          <p:cNvSpPr>
            <a:spLocks noGrp="1"/>
          </p:cNvSpPr>
          <p:nvPr>
            <p:ph type="subTitle" idx="1" hasCustomPrompt="1"/>
          </p:nvPr>
        </p:nvSpPr>
        <p:spPr>
          <a:xfrm>
            <a:off x="874712" y="4494775"/>
            <a:ext cx="10438873" cy="1334525"/>
          </a:xfrm>
        </p:spPr>
        <p:txBody>
          <a:bodyPr/>
          <a:lstStyle>
            <a:lvl1pPr marL="0" indent="0" algn="l">
              <a:buNone/>
              <a:defRPr>
                <a:solidFill>
                  <a:schemeClr val="bg2"/>
                </a:solidFill>
                <a:latin typeface="Noto Sans" panose="020B0502040504020204" pitchFamily="34"/>
                <a:ea typeface="Noto Sans" panose="020B0502040504020204" pitchFamily="34"/>
                <a:cs typeface="Noto Sans" panose="020B0502040504020204" pitchFamily="34"/>
              </a:defRPr>
            </a:lvl1pPr>
            <a:lvl2pPr marL="457135" indent="0" algn="ctr">
              <a:buNone/>
              <a:defRPr>
                <a:solidFill>
                  <a:schemeClr val="tx1">
                    <a:tint val="75000"/>
                  </a:schemeClr>
                </a:solidFill>
              </a:defRPr>
            </a:lvl2pPr>
            <a:lvl3pPr marL="914269" indent="0" algn="ctr">
              <a:buNone/>
              <a:defRPr>
                <a:solidFill>
                  <a:schemeClr val="tx1">
                    <a:tint val="75000"/>
                  </a:schemeClr>
                </a:solidFill>
              </a:defRPr>
            </a:lvl3pPr>
            <a:lvl4pPr marL="1371402" indent="0" algn="ctr">
              <a:buNone/>
              <a:defRPr>
                <a:solidFill>
                  <a:schemeClr val="tx1">
                    <a:tint val="75000"/>
                  </a:schemeClr>
                </a:solidFill>
              </a:defRPr>
            </a:lvl4pPr>
            <a:lvl5pPr marL="1828534" indent="0" algn="ctr">
              <a:buNone/>
              <a:defRPr>
                <a:solidFill>
                  <a:schemeClr val="tx1">
                    <a:tint val="75000"/>
                  </a:schemeClr>
                </a:solidFill>
              </a:defRPr>
            </a:lvl5pPr>
            <a:lvl6pPr marL="2285670" indent="0" algn="ctr">
              <a:buNone/>
              <a:defRPr>
                <a:solidFill>
                  <a:schemeClr val="tx1">
                    <a:tint val="75000"/>
                  </a:schemeClr>
                </a:solidFill>
              </a:defRPr>
            </a:lvl6pPr>
            <a:lvl7pPr marL="2742803" indent="0" algn="ctr">
              <a:buNone/>
              <a:defRPr>
                <a:solidFill>
                  <a:schemeClr val="tx1">
                    <a:tint val="75000"/>
                  </a:schemeClr>
                </a:solidFill>
              </a:defRPr>
            </a:lvl7pPr>
            <a:lvl8pPr marL="3199936" indent="0" algn="ctr">
              <a:buNone/>
              <a:defRPr>
                <a:solidFill>
                  <a:schemeClr val="tx1">
                    <a:tint val="75000"/>
                  </a:schemeClr>
                </a:solidFill>
              </a:defRPr>
            </a:lvl8pPr>
            <a:lvl9pPr marL="3657070" indent="0" algn="ctr">
              <a:buNone/>
              <a:defRPr>
                <a:solidFill>
                  <a:schemeClr val="tx1">
                    <a:tint val="75000"/>
                  </a:schemeClr>
                </a:solidFill>
              </a:defRPr>
            </a:lvl9pPr>
          </a:lstStyle>
          <a:p>
            <a:r>
              <a:rPr lang="de-DE" dirty="0"/>
              <a:t>Firstname </a:t>
            </a:r>
            <a:r>
              <a:rPr lang="de-DE" dirty="0" err="1"/>
              <a:t>LastName</a:t>
            </a:r>
            <a:br>
              <a:rPr lang="de-DE" dirty="0"/>
            </a:br>
            <a:r>
              <a:rPr lang="en-US" dirty="0"/>
              <a:t>Dresden, Germany. </a:t>
            </a:r>
            <a:fld id="{807DADF4-AC39-4D79-B584-5E0B11C42ECF}" type="datetime4">
              <a:rPr lang="en-US" smtClean="0"/>
              <a:t>October 2, 2025</a:t>
            </a:fld>
            <a:endParaRPr lang="de-DE" dirty="0"/>
          </a:p>
        </p:txBody>
      </p:sp>
      <p:sp>
        <p:nvSpPr>
          <p:cNvPr id="26" name="Textplatzhalter 25"/>
          <p:cNvSpPr>
            <a:spLocks noGrp="1"/>
          </p:cNvSpPr>
          <p:nvPr>
            <p:ph type="body" sz="quarter" idx="10" hasCustomPrompt="1"/>
          </p:nvPr>
        </p:nvSpPr>
        <p:spPr>
          <a:xfrm>
            <a:off x="874713" y="2420841"/>
            <a:ext cx="10438873" cy="828676"/>
          </a:xfrm>
          <a:ln>
            <a:noFill/>
          </a:ln>
        </p:spPr>
        <p:txBody>
          <a:bodyPr/>
          <a:lstStyle>
            <a:lvl1pPr>
              <a:spcBef>
                <a:spcPts val="0"/>
              </a:spcBef>
              <a:defRPr sz="1600">
                <a:solidFill>
                  <a:schemeClr val="bg2"/>
                </a:solidFill>
                <a:latin typeface="Noto Sans" panose="020B0502040504020204" pitchFamily="34"/>
                <a:ea typeface="Noto Sans" panose="020B0502040504020204" pitchFamily="34"/>
                <a:cs typeface="Noto Sans" panose="020B0502040504020204" pitchFamily="34"/>
              </a:defRPr>
            </a:lvl1pPr>
          </a:lstStyle>
          <a:p>
            <a:pPr lvl="0"/>
            <a:r>
              <a:rPr lang="en-US" dirty="0"/>
              <a:t>Institute of Computer Engineering - Chair of Adaptive Dynamic Systems</a:t>
            </a:r>
            <a:endParaRPr lang="de-DE" dirty="0"/>
          </a:p>
        </p:txBody>
      </p:sp>
      <p:sp>
        <p:nvSpPr>
          <p:cNvPr id="2" name="Titel 1"/>
          <p:cNvSpPr>
            <a:spLocks noGrp="1"/>
          </p:cNvSpPr>
          <p:nvPr>
            <p:ph type="title" hasCustomPrompt="1"/>
          </p:nvPr>
        </p:nvSpPr>
        <p:spPr>
          <a:xfrm>
            <a:off x="874713" y="3392203"/>
            <a:ext cx="10438873" cy="972108"/>
          </a:xfrm>
          <a:ln>
            <a:noFill/>
          </a:ln>
        </p:spPr>
        <p:txBody>
          <a:bodyPr/>
          <a:lstStyle>
            <a:lvl1pPr>
              <a:defRPr sz="3200" b="1">
                <a:solidFill>
                  <a:schemeClr val="tx2"/>
                </a:solidFill>
                <a:latin typeface="Noto Sans" panose="020B0502040504020204" pitchFamily="34"/>
                <a:ea typeface="Noto Sans" panose="020B0502040504020204" pitchFamily="34"/>
                <a:cs typeface="Noto Sans" panose="020B0502040504020204" pitchFamily="34"/>
              </a:defRPr>
            </a:lvl1pPr>
          </a:lstStyle>
          <a:p>
            <a:r>
              <a:rPr lang="de-DE" dirty="0"/>
              <a:t>Title</a:t>
            </a:r>
          </a:p>
        </p:txBody>
      </p:sp>
      <p:cxnSp>
        <p:nvCxnSpPr>
          <p:cNvPr id="8" name="Gerade Verbindung 14"/>
          <p:cNvCxnSpPr/>
          <p:nvPr/>
        </p:nvCxnSpPr>
        <p:spPr>
          <a:xfrm>
            <a:off x="0" y="1026000"/>
            <a:ext cx="121920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Gerade Verbindung 14"/>
          <p:cNvCxnSpPr/>
          <p:nvPr/>
        </p:nvCxnSpPr>
        <p:spPr>
          <a:xfrm>
            <a:off x="0" y="1206000"/>
            <a:ext cx="121920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2" name="Grafik 11">
            <a:extLst>
              <a:ext uri="{FF2B5EF4-FFF2-40B4-BE49-F238E27FC236}">
                <a16:creationId xmlns:a16="http://schemas.microsoft.com/office/drawing/2014/main" id="{8FDB4495-5904-4E27-B67C-2D6F0018706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26000" y="177143"/>
            <a:ext cx="1910241" cy="856800"/>
          </a:xfrm>
          <a:prstGeom prst="rect">
            <a:avLst/>
          </a:prstGeom>
        </p:spPr>
      </p:pic>
      <p:pic>
        <p:nvPicPr>
          <p:cNvPr id="10" name="Grafik 9">
            <a:extLst>
              <a:ext uri="{FF2B5EF4-FFF2-40B4-BE49-F238E27FC236}">
                <a16:creationId xmlns:a16="http://schemas.microsoft.com/office/drawing/2014/main" id="{7B0C5C0A-660C-4270-AF0F-46BFAF9E8E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6848" y="268751"/>
            <a:ext cx="566023" cy="626310"/>
          </a:xfrm>
          <a:prstGeom prst="rect">
            <a:avLst/>
          </a:prstGeom>
        </p:spPr>
      </p:pic>
    </p:spTree>
    <p:extLst>
      <p:ext uri="{BB962C8B-B14F-4D97-AF65-F5344CB8AC3E}">
        <p14:creationId xmlns:p14="http://schemas.microsoft.com/office/powerpoint/2010/main" val="1725198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lvl1pPr>
              <a:defRPr/>
            </a:lvl1pPr>
          </a:lstStyle>
          <a:p>
            <a:r>
              <a:rPr lang="en-US" dirty="0"/>
              <a:t>Click to edit Master title style</a:t>
            </a:r>
            <a:endParaRPr lang="de-DE" dirty="0"/>
          </a:p>
        </p:txBody>
      </p:sp>
      <p:sp>
        <p:nvSpPr>
          <p:cNvPr id="6" name="Inhaltsplatzhalter 5"/>
          <p:cNvSpPr>
            <a:spLocks noGrp="1"/>
          </p:cNvSpPr>
          <p:nvPr>
            <p:ph sz="quarter" idx="10"/>
          </p:nvPr>
        </p:nvSpPr>
        <p:spPr>
          <a:xfrm>
            <a:off x="874711" y="1484313"/>
            <a:ext cx="10580688" cy="4344987"/>
          </a:xfrm>
        </p:spPr>
        <p:txBody>
          <a:bodyPr/>
          <a:lstStyle>
            <a:lvl1pPr>
              <a:spcBef>
                <a:spcPts val="1200"/>
              </a:spcBef>
              <a:defRPr>
                <a:latin typeface="Noto Sans" panose="020B0502040504020204" pitchFamily="34"/>
                <a:ea typeface="Noto Sans" panose="020B0502040504020204" pitchFamily="34"/>
                <a:cs typeface="Noto Sans" panose="020B0502040504020204" pitchFamily="34"/>
              </a:defRPr>
            </a:lvl1pPr>
            <a:lvl3pPr>
              <a:spcBef>
                <a:spcPts val="1200"/>
              </a:spcBef>
              <a:defRPr/>
            </a:lvl3pPr>
          </a:lstStyle>
          <a:p>
            <a:pPr lvl="0"/>
            <a:r>
              <a:rPr lang="en-US" dirty="0"/>
              <a:t>Edit Master text styles</a:t>
            </a:r>
          </a:p>
        </p:txBody>
      </p:sp>
    </p:spTree>
    <p:extLst>
      <p:ext uri="{BB962C8B-B14F-4D97-AF65-F5344CB8AC3E}">
        <p14:creationId xmlns:p14="http://schemas.microsoft.com/office/powerpoint/2010/main" val="3828119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3" name="Rechteck 2"/>
          <p:cNvSpPr/>
          <p:nvPr/>
        </p:nvSpPr>
        <p:spPr>
          <a:xfrm>
            <a:off x="0" y="2"/>
            <a:ext cx="12192000" cy="6129336"/>
          </a:xfrm>
          <a:prstGeom prst="rect">
            <a:avLst/>
          </a:prstGeom>
          <a:gradFill>
            <a:gsLst>
              <a:gs pos="14000">
                <a:schemeClr val="tx2"/>
              </a:gs>
              <a:gs pos="100000">
                <a:schemeClr val="accent2"/>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2" name="Titel 1"/>
          <p:cNvSpPr>
            <a:spLocks noGrp="1"/>
          </p:cNvSpPr>
          <p:nvPr>
            <p:ph type="title"/>
          </p:nvPr>
        </p:nvSpPr>
        <p:spPr>
          <a:xfrm>
            <a:off x="874712" y="3387259"/>
            <a:ext cx="10580687" cy="1198491"/>
          </a:xfrm>
        </p:spPr>
        <p:txBody>
          <a:bodyPr/>
          <a:lstStyle>
            <a:lvl1pPr>
              <a:defRPr sz="3200" b="1">
                <a:solidFill>
                  <a:schemeClr val="bg1"/>
                </a:solidFill>
              </a:defRPr>
            </a:lvl1pPr>
          </a:lstStyle>
          <a:p>
            <a:r>
              <a:rPr lang="en-US" dirty="0"/>
              <a:t>Click to edit Master title style</a:t>
            </a:r>
            <a:endParaRPr lang="de-DE" dirty="0"/>
          </a:p>
        </p:txBody>
      </p:sp>
    </p:spTree>
    <p:extLst>
      <p:ext uri="{BB962C8B-B14F-4D97-AF65-F5344CB8AC3E}">
        <p14:creationId xmlns:p14="http://schemas.microsoft.com/office/powerpoint/2010/main" val="1247067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5365749" y="1484313"/>
            <a:ext cx="6089649" cy="4344987"/>
          </a:xfrm>
        </p:spPr>
        <p:txBody>
          <a:bodyPr/>
          <a:lstStyle/>
          <a:p>
            <a:pPr lvl="0"/>
            <a:r>
              <a:rPr lang="en-US"/>
              <a:t>Edit Master text styles</a:t>
            </a:r>
          </a:p>
        </p:txBody>
      </p:sp>
      <p:sp>
        <p:nvSpPr>
          <p:cNvPr id="9" name="Bildplatzhalter 7"/>
          <p:cNvSpPr>
            <a:spLocks noGrp="1"/>
          </p:cNvSpPr>
          <p:nvPr>
            <p:ph type="pic" sz="quarter" idx="13"/>
          </p:nvPr>
        </p:nvSpPr>
        <p:spPr>
          <a:xfrm>
            <a:off x="874711" y="1484313"/>
            <a:ext cx="4300539" cy="1332000"/>
          </a:xfrm>
        </p:spPr>
        <p:txBody>
          <a:bodyPr/>
          <a:lstStyle/>
          <a:p>
            <a:r>
              <a:rPr lang="en-US"/>
              <a:t>Click icon to add picture</a:t>
            </a:r>
            <a:endParaRPr lang="de-DE" dirty="0"/>
          </a:p>
        </p:txBody>
      </p:sp>
      <p:sp>
        <p:nvSpPr>
          <p:cNvPr id="10" name="Bildplatzhalter 7"/>
          <p:cNvSpPr>
            <a:spLocks noGrp="1"/>
          </p:cNvSpPr>
          <p:nvPr>
            <p:ph type="pic" sz="quarter" idx="14"/>
          </p:nvPr>
        </p:nvSpPr>
        <p:spPr>
          <a:xfrm>
            <a:off x="874712" y="2943181"/>
            <a:ext cx="4300537" cy="1332000"/>
          </a:xfrm>
        </p:spPr>
        <p:txBody>
          <a:bodyPr/>
          <a:lstStyle/>
          <a:p>
            <a:r>
              <a:rPr lang="en-US"/>
              <a:t>Click icon to add picture</a:t>
            </a:r>
            <a:endParaRPr lang="de-DE" dirty="0"/>
          </a:p>
        </p:txBody>
      </p:sp>
      <p:sp>
        <p:nvSpPr>
          <p:cNvPr id="11" name="Bildplatzhalter 7"/>
          <p:cNvSpPr>
            <a:spLocks noGrp="1"/>
          </p:cNvSpPr>
          <p:nvPr>
            <p:ph type="pic" sz="quarter" idx="15"/>
          </p:nvPr>
        </p:nvSpPr>
        <p:spPr>
          <a:xfrm>
            <a:off x="874710" y="4402050"/>
            <a:ext cx="4300537" cy="1427249"/>
          </a:xfrm>
        </p:spPr>
        <p:txBody>
          <a:bodyPr/>
          <a:lstStyle/>
          <a:p>
            <a:r>
              <a:rPr lang="en-US"/>
              <a:t>Click icon to add picture</a:t>
            </a:r>
            <a:endParaRPr lang="de-DE" dirty="0"/>
          </a:p>
        </p:txBody>
      </p:sp>
      <p:sp>
        <p:nvSpPr>
          <p:cNvPr id="4" name="Titel 3"/>
          <p:cNvSpPr>
            <a:spLocks noGrp="1"/>
          </p:cNvSpPr>
          <p:nvPr>
            <p:ph type="title"/>
          </p:nvPr>
        </p:nvSpPr>
        <p:spPr/>
        <p:txBody>
          <a:bodyPr/>
          <a:lstStyle/>
          <a:p>
            <a:r>
              <a:rPr lang="en-US" dirty="0"/>
              <a:t>Click to edit Master title style</a:t>
            </a:r>
            <a:endParaRPr lang="de-DE" dirty="0"/>
          </a:p>
        </p:txBody>
      </p:sp>
    </p:spTree>
    <p:extLst>
      <p:ext uri="{BB962C8B-B14F-4D97-AF65-F5344CB8AC3E}">
        <p14:creationId xmlns:p14="http://schemas.microsoft.com/office/powerpoint/2010/main" val="1291138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dirty="0"/>
          </a:p>
        </p:txBody>
      </p:sp>
      <p:sp>
        <p:nvSpPr>
          <p:cNvPr id="9" name="Bildplatzhalter 7"/>
          <p:cNvSpPr>
            <a:spLocks noGrp="1"/>
          </p:cNvSpPr>
          <p:nvPr>
            <p:ph type="pic" sz="quarter" idx="13"/>
          </p:nvPr>
        </p:nvSpPr>
        <p:spPr>
          <a:xfrm>
            <a:off x="6267449" y="1484314"/>
            <a:ext cx="5187950" cy="4344985"/>
          </a:xfrm>
        </p:spPr>
        <p:txBody>
          <a:bodyPr/>
          <a:lstStyle/>
          <a:p>
            <a:r>
              <a:rPr lang="en-US"/>
              <a:t>Click icon to add picture</a:t>
            </a:r>
            <a:endParaRPr lang="de-DE" dirty="0"/>
          </a:p>
        </p:txBody>
      </p:sp>
      <p:sp>
        <p:nvSpPr>
          <p:cNvPr id="7" name="Textplatzhalter 6"/>
          <p:cNvSpPr>
            <a:spLocks noGrp="1"/>
          </p:cNvSpPr>
          <p:nvPr>
            <p:ph type="body" sz="quarter" idx="14"/>
          </p:nvPr>
        </p:nvSpPr>
        <p:spPr>
          <a:xfrm>
            <a:off x="874713" y="1484314"/>
            <a:ext cx="5195887" cy="4344985"/>
          </a:xfrm>
        </p:spPr>
        <p:txBody>
          <a:bodyPr/>
          <a:lstStyle/>
          <a:p>
            <a:pPr lvl="0"/>
            <a:r>
              <a:rPr lang="en-US"/>
              <a:t>Edit Master text styles</a:t>
            </a:r>
          </a:p>
        </p:txBody>
      </p:sp>
    </p:spTree>
    <p:extLst>
      <p:ext uri="{BB962C8B-B14F-4D97-AF65-F5344CB8AC3E}">
        <p14:creationId xmlns:p14="http://schemas.microsoft.com/office/powerpoint/2010/main" val="4170242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a:t>Click to edit Master title style</a:t>
            </a:r>
            <a:endParaRPr lang="de-DE"/>
          </a:p>
        </p:txBody>
      </p:sp>
      <p:sp>
        <p:nvSpPr>
          <p:cNvPr id="6" name="Textplatzhalter 5"/>
          <p:cNvSpPr>
            <a:spLocks noGrp="1"/>
          </p:cNvSpPr>
          <p:nvPr>
            <p:ph type="body" sz="quarter" idx="10"/>
          </p:nvPr>
        </p:nvSpPr>
        <p:spPr>
          <a:xfrm>
            <a:off x="874713" y="1484314"/>
            <a:ext cx="5195887" cy="4344985"/>
          </a:xfrm>
        </p:spPr>
        <p:txBody>
          <a:bodyPr/>
          <a:lstStyle/>
          <a:p>
            <a:pPr lvl="0"/>
            <a:r>
              <a:rPr lang="en-US"/>
              <a:t>Edit Master text styles</a:t>
            </a:r>
          </a:p>
        </p:txBody>
      </p:sp>
      <p:sp>
        <p:nvSpPr>
          <p:cNvPr id="8" name="Textplatzhalter 7"/>
          <p:cNvSpPr>
            <a:spLocks noGrp="1"/>
          </p:cNvSpPr>
          <p:nvPr>
            <p:ph type="body" sz="quarter" idx="11"/>
          </p:nvPr>
        </p:nvSpPr>
        <p:spPr>
          <a:xfrm>
            <a:off x="6267449" y="1484315"/>
            <a:ext cx="5187950" cy="4344984"/>
          </a:xfrm>
        </p:spPr>
        <p:txBody>
          <a:bodyPr/>
          <a:lstStyle/>
          <a:p>
            <a:pPr lvl="0"/>
            <a:r>
              <a:rPr lang="en-US"/>
              <a:t>Edit Master text styles</a:t>
            </a:r>
          </a:p>
        </p:txBody>
      </p:sp>
    </p:spTree>
    <p:extLst>
      <p:ext uri="{BB962C8B-B14F-4D97-AF65-F5344CB8AC3E}">
        <p14:creationId xmlns:p14="http://schemas.microsoft.com/office/powerpoint/2010/main" val="113661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874712" y="346075"/>
            <a:ext cx="10580687" cy="684213"/>
          </a:xfrm>
        </p:spPr>
        <p:txBody>
          <a:bodyPr/>
          <a:lstStyle/>
          <a:p>
            <a:r>
              <a:rPr lang="en-US"/>
              <a:t>Click to edit Master title style</a:t>
            </a:r>
            <a:endParaRPr lang="de-DE" dirty="0"/>
          </a:p>
        </p:txBody>
      </p:sp>
      <p:sp>
        <p:nvSpPr>
          <p:cNvPr id="6" name="Textplatzhalter 5"/>
          <p:cNvSpPr>
            <a:spLocks noGrp="1"/>
          </p:cNvSpPr>
          <p:nvPr>
            <p:ph type="body" sz="quarter" idx="10"/>
          </p:nvPr>
        </p:nvSpPr>
        <p:spPr>
          <a:xfrm>
            <a:off x="874712" y="1484314"/>
            <a:ext cx="3399576" cy="4344985"/>
          </a:xfrm>
        </p:spPr>
        <p:txBody>
          <a:bodyPr/>
          <a:lstStyle/>
          <a:p>
            <a:pPr lvl="0"/>
            <a:r>
              <a:rPr lang="en-US"/>
              <a:t>Edit Master text styles</a:t>
            </a:r>
          </a:p>
        </p:txBody>
      </p:sp>
      <p:sp>
        <p:nvSpPr>
          <p:cNvPr id="7" name="Textplatzhalter 7"/>
          <p:cNvSpPr>
            <a:spLocks noGrp="1"/>
          </p:cNvSpPr>
          <p:nvPr>
            <p:ph type="body" sz="quarter" idx="11"/>
          </p:nvPr>
        </p:nvSpPr>
        <p:spPr>
          <a:xfrm>
            <a:off x="8070849" y="1484315"/>
            <a:ext cx="3384550" cy="4344984"/>
          </a:xfrm>
        </p:spPr>
        <p:txBody>
          <a:bodyPr/>
          <a:lstStyle/>
          <a:p>
            <a:pPr lvl="0"/>
            <a:r>
              <a:rPr lang="en-US"/>
              <a:t>Edit Master text styles</a:t>
            </a:r>
          </a:p>
        </p:txBody>
      </p:sp>
      <p:sp>
        <p:nvSpPr>
          <p:cNvPr id="9" name="Textplatzhalter 5"/>
          <p:cNvSpPr>
            <a:spLocks noGrp="1"/>
          </p:cNvSpPr>
          <p:nvPr>
            <p:ph type="body" sz="quarter" idx="12"/>
          </p:nvPr>
        </p:nvSpPr>
        <p:spPr>
          <a:xfrm>
            <a:off x="4457700" y="1484315"/>
            <a:ext cx="3416300" cy="4344984"/>
          </a:xfrm>
        </p:spPr>
        <p:txBody>
          <a:bodyPr/>
          <a:lstStyle/>
          <a:p>
            <a:pPr lvl="0"/>
            <a:r>
              <a:rPr lang="en-US"/>
              <a:t>Edit Master text styles</a:t>
            </a:r>
          </a:p>
        </p:txBody>
      </p:sp>
    </p:spTree>
    <p:extLst>
      <p:ext uri="{BB962C8B-B14F-4D97-AF65-F5344CB8AC3E}">
        <p14:creationId xmlns:p14="http://schemas.microsoft.com/office/powerpoint/2010/main" val="3543359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7" name="Titel 1"/>
          <p:cNvSpPr txBox="1">
            <a:spLocks/>
          </p:cNvSpPr>
          <p:nvPr/>
        </p:nvSpPr>
        <p:spPr>
          <a:xfrm>
            <a:off x="6267450" y="368305"/>
            <a:ext cx="5046135" cy="662147"/>
          </a:xfrm>
          <a:prstGeom prst="rect">
            <a:avLst/>
          </a:prstGeom>
          <a:ln>
            <a:noFill/>
          </a:ln>
        </p:spPr>
        <p:txBody>
          <a:bodyPr vert="horz" lIns="0" tIns="0" rIns="0" bIns="0" rtlCol="0" anchor="t" anchorCtr="0">
            <a:noAutofit/>
          </a:bodyPr>
          <a:lstStyle>
            <a:lvl1pPr algn="l" defTabSz="914400" rtl="0" eaLnBrk="1" latinLnBrk="0" hangingPunct="1">
              <a:spcBef>
                <a:spcPct val="0"/>
              </a:spcBef>
              <a:buNone/>
              <a:defRPr sz="2400" b="1" kern="1200" baseline="0">
                <a:solidFill>
                  <a:schemeClr val="tx2"/>
                </a:solidFill>
                <a:latin typeface="Open Sans" panose="020B0606030504020204" pitchFamily="34" charset="0"/>
                <a:ea typeface="+mj-ea"/>
                <a:cs typeface="+mj-cs"/>
              </a:defRPr>
            </a:lvl1pPr>
          </a:lstStyle>
          <a:p>
            <a:r>
              <a:rPr lang="de-DE" sz="2400" dirty="0"/>
              <a:t>Titelmasterformat durch Klicken bearbeiten</a:t>
            </a:r>
          </a:p>
        </p:txBody>
      </p:sp>
      <p:sp>
        <p:nvSpPr>
          <p:cNvPr id="8" name="Textplatzhalter 5"/>
          <p:cNvSpPr>
            <a:spLocks noGrp="1"/>
          </p:cNvSpPr>
          <p:nvPr>
            <p:ph type="body" sz="quarter" idx="10"/>
          </p:nvPr>
        </p:nvSpPr>
        <p:spPr>
          <a:xfrm>
            <a:off x="874712" y="1484314"/>
            <a:ext cx="5195887" cy="4344985"/>
          </a:xfrm>
        </p:spPr>
        <p:txBody>
          <a:bodyPr/>
          <a:lstStyle/>
          <a:p>
            <a:pPr lvl="0"/>
            <a:r>
              <a:rPr lang="en-US"/>
              <a:t>Edit Master text styles</a:t>
            </a:r>
          </a:p>
        </p:txBody>
      </p:sp>
      <p:sp>
        <p:nvSpPr>
          <p:cNvPr id="9" name="Textplatzhalter 7"/>
          <p:cNvSpPr>
            <a:spLocks noGrp="1"/>
          </p:cNvSpPr>
          <p:nvPr>
            <p:ph type="body" sz="quarter" idx="11"/>
          </p:nvPr>
        </p:nvSpPr>
        <p:spPr>
          <a:xfrm>
            <a:off x="6267450" y="1484315"/>
            <a:ext cx="5187950" cy="4344984"/>
          </a:xfrm>
        </p:spPr>
        <p:txBody>
          <a:bodyPr/>
          <a:lstStyle/>
          <a:p>
            <a:pPr lvl="0"/>
            <a:r>
              <a:rPr lang="en-US"/>
              <a:t>Edit Master text styles</a:t>
            </a:r>
          </a:p>
        </p:txBody>
      </p:sp>
      <p:sp>
        <p:nvSpPr>
          <p:cNvPr id="3" name="Titel 2"/>
          <p:cNvSpPr>
            <a:spLocks noGrp="1"/>
          </p:cNvSpPr>
          <p:nvPr>
            <p:ph type="title"/>
          </p:nvPr>
        </p:nvSpPr>
        <p:spPr>
          <a:xfrm>
            <a:off x="874712" y="367507"/>
            <a:ext cx="5195887" cy="662781"/>
          </a:xfrm>
        </p:spPr>
        <p:txBody>
          <a:bodyPr/>
          <a:lstStyle/>
          <a:p>
            <a:r>
              <a:rPr lang="en-US"/>
              <a:t>Click to edit Master title style</a:t>
            </a:r>
            <a:endParaRPr lang="de-DE" dirty="0"/>
          </a:p>
        </p:txBody>
      </p:sp>
    </p:spTree>
    <p:extLst>
      <p:ext uri="{BB962C8B-B14F-4D97-AF65-F5344CB8AC3E}">
        <p14:creationId xmlns:p14="http://schemas.microsoft.com/office/powerpoint/2010/main" val="2676531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874712" y="346076"/>
            <a:ext cx="10580687" cy="509588"/>
          </a:xfrm>
        </p:spPr>
        <p:txBody>
          <a:bodyPr/>
          <a:lstStyle/>
          <a:p>
            <a:r>
              <a:rPr lang="en-US"/>
              <a:t>Click to edit Master title style</a:t>
            </a:r>
            <a:endParaRPr lang="de-DE" dirty="0"/>
          </a:p>
        </p:txBody>
      </p:sp>
    </p:spTree>
    <p:extLst>
      <p:ext uri="{BB962C8B-B14F-4D97-AF65-F5344CB8AC3E}">
        <p14:creationId xmlns:p14="http://schemas.microsoft.com/office/powerpoint/2010/main" val="1059847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Nur Titel">
    <p:spTree>
      <p:nvGrpSpPr>
        <p:cNvPr id="1" name=""/>
        <p:cNvGrpSpPr/>
        <p:nvPr/>
      </p:nvGrpSpPr>
      <p:grpSpPr>
        <a:xfrm>
          <a:off x="0" y="0"/>
          <a:ext cx="0" cy="0"/>
          <a:chOff x="0" y="0"/>
          <a:chExt cx="0" cy="0"/>
        </a:xfrm>
      </p:grpSpPr>
      <p:sp>
        <p:nvSpPr>
          <p:cNvPr id="2" name="Titel 1"/>
          <p:cNvSpPr>
            <a:spLocks noGrp="1"/>
          </p:cNvSpPr>
          <p:nvPr>
            <p:ph type="title"/>
          </p:nvPr>
        </p:nvSpPr>
        <p:spPr>
          <a:xfrm>
            <a:off x="874712" y="346076"/>
            <a:ext cx="10580687" cy="509588"/>
          </a:xfrm>
        </p:spPr>
        <p:txBody>
          <a:bodyPr/>
          <a:lstStyle/>
          <a:p>
            <a:r>
              <a:rPr lang="en-US"/>
              <a:t>Click to edit Master title style</a:t>
            </a:r>
            <a:endParaRPr lang="de-DE" dirty="0"/>
          </a:p>
        </p:txBody>
      </p:sp>
      <p:sp>
        <p:nvSpPr>
          <p:cNvPr id="7" name="Bildplatzhalter 6"/>
          <p:cNvSpPr>
            <a:spLocks noGrp="1"/>
          </p:cNvSpPr>
          <p:nvPr>
            <p:ph type="pic" sz="quarter" idx="10"/>
          </p:nvPr>
        </p:nvSpPr>
        <p:spPr>
          <a:xfrm>
            <a:off x="0" y="1030288"/>
            <a:ext cx="12192000" cy="5099050"/>
          </a:xfrm>
        </p:spPr>
        <p:txBody>
          <a:bodyPr/>
          <a:lstStyle/>
          <a:p>
            <a:r>
              <a:rPr lang="en-US"/>
              <a:t>Click icon to add picture</a:t>
            </a:r>
            <a:endParaRPr lang="de-DE"/>
          </a:p>
        </p:txBody>
      </p:sp>
    </p:spTree>
    <p:extLst>
      <p:ext uri="{BB962C8B-B14F-4D97-AF65-F5344CB8AC3E}">
        <p14:creationId xmlns:p14="http://schemas.microsoft.com/office/powerpoint/2010/main" val="32589565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eer">
    <p:spTree>
      <p:nvGrpSpPr>
        <p:cNvPr id="1" name=""/>
        <p:cNvGrpSpPr/>
        <p:nvPr/>
      </p:nvGrpSpPr>
      <p:grpSpPr>
        <a:xfrm>
          <a:off x="0" y="0"/>
          <a:ext cx="0" cy="0"/>
          <a:chOff x="0" y="0"/>
          <a:chExt cx="0" cy="0"/>
        </a:xfrm>
      </p:grpSpPr>
      <p:sp>
        <p:nvSpPr>
          <p:cNvPr id="3" name="Bildplatzhalter 2"/>
          <p:cNvSpPr>
            <a:spLocks noGrp="1"/>
          </p:cNvSpPr>
          <p:nvPr>
            <p:ph type="pic" sz="quarter" idx="10"/>
          </p:nvPr>
        </p:nvSpPr>
        <p:spPr>
          <a:xfrm>
            <a:off x="0" y="6"/>
            <a:ext cx="12192000" cy="6129331"/>
          </a:xfrm>
        </p:spPr>
        <p:txBody>
          <a:bodyPr/>
          <a:lstStyle/>
          <a:p>
            <a:r>
              <a:rPr lang="en-US"/>
              <a:t>Click icon to add picture</a:t>
            </a:r>
            <a:endParaRPr lang="de-DE"/>
          </a:p>
        </p:txBody>
      </p:sp>
    </p:spTree>
    <p:extLst>
      <p:ext uri="{BB962C8B-B14F-4D97-AF65-F5344CB8AC3E}">
        <p14:creationId xmlns:p14="http://schemas.microsoft.com/office/powerpoint/2010/main" val="26796110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0141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74712" y="346075"/>
            <a:ext cx="10580687" cy="684213"/>
          </a:xfrm>
          <a:prstGeom prst="rect">
            <a:avLst/>
          </a:prstGeom>
          <a:ln>
            <a:noFill/>
          </a:ln>
        </p:spPr>
        <p:txBody>
          <a:bodyPr vert="horz" lIns="0" tIns="0" rIns="0" bIns="0" rtlCol="0" anchor="t" anchorCtr="0">
            <a:noAutofit/>
          </a:bodyPr>
          <a:lstStyle/>
          <a:p>
            <a:r>
              <a:rPr lang="de-DE" dirty="0"/>
              <a:t>Das ist eine Überschrift</a:t>
            </a:r>
            <a:br>
              <a:rPr lang="de-DE" dirty="0"/>
            </a:br>
            <a:r>
              <a:rPr lang="de-DE" dirty="0"/>
              <a:t>in zwei Zeilen</a:t>
            </a:r>
          </a:p>
        </p:txBody>
      </p:sp>
      <p:sp>
        <p:nvSpPr>
          <p:cNvPr id="3" name="Textplatzhalter 2"/>
          <p:cNvSpPr>
            <a:spLocks noGrp="1"/>
          </p:cNvSpPr>
          <p:nvPr>
            <p:ph type="body" idx="1"/>
          </p:nvPr>
        </p:nvSpPr>
        <p:spPr>
          <a:xfrm>
            <a:off x="874712" y="1481138"/>
            <a:ext cx="10580687" cy="4360861"/>
          </a:xfrm>
          <a:prstGeom prst="rect">
            <a:avLst/>
          </a:prstGeom>
          <a:ln>
            <a:noFill/>
          </a:ln>
        </p:spPr>
        <p:txBody>
          <a:bodyPr vert="horz" lIns="0" tIns="0" rIns="0" bIns="0" rtlCol="0">
            <a:noAutofit/>
          </a:bodyPr>
          <a:lstStyle/>
          <a:p>
            <a:pPr lvl="0"/>
            <a:r>
              <a:rPr lang="de-DE" dirty="0"/>
              <a:t>Erste Textebene (16pt)</a:t>
            </a:r>
          </a:p>
          <a:p>
            <a:pPr lvl="1"/>
            <a:r>
              <a:rPr lang="de-DE" dirty="0"/>
              <a:t>Zweite Textebene für Aufzählungen</a:t>
            </a:r>
          </a:p>
          <a:p>
            <a:pPr lvl="2"/>
            <a:r>
              <a:rPr lang="de-DE" dirty="0"/>
              <a:t>Dritte Textebene bei viel Text (14pt)</a:t>
            </a:r>
          </a:p>
          <a:p>
            <a:pPr lvl="3"/>
            <a:r>
              <a:rPr lang="de-DE" dirty="0"/>
              <a:t>Vierte Textebene für Aufzählungen bei viel Text</a:t>
            </a:r>
          </a:p>
          <a:p>
            <a:pPr lvl="4"/>
            <a:r>
              <a:rPr lang="de-DE" dirty="0"/>
              <a:t>Fünfte Ebene</a:t>
            </a:r>
          </a:p>
        </p:txBody>
      </p:sp>
      <p:sp>
        <p:nvSpPr>
          <p:cNvPr id="4" name="Textfeld 3"/>
          <p:cNvSpPr txBox="1"/>
          <p:nvPr userDrawn="1"/>
        </p:nvSpPr>
        <p:spPr>
          <a:xfrm>
            <a:off x="3575050" y="6319797"/>
            <a:ext cx="5187950" cy="369332"/>
          </a:xfrm>
          <a:prstGeom prst="rect">
            <a:avLst/>
          </a:prstGeom>
          <a:noFill/>
        </p:spPr>
        <p:txBody>
          <a:bodyPr wrap="square" lIns="0" tIns="0" rIns="0" bIns="0" rtlCol="0" anchor="b">
            <a:spAutoFit/>
          </a:bodyPr>
          <a:lstStyle/>
          <a:p>
            <a:pPr marL="0" marR="0" lvl="0" indent="0" algn="l" defTabSz="914269" rtl="0" eaLnBrk="1" fontAlgn="auto" latinLnBrk="0" hangingPunct="1">
              <a:lnSpc>
                <a:spcPct val="100000"/>
              </a:lnSpc>
              <a:spcBef>
                <a:spcPts val="0"/>
              </a:spcBef>
              <a:spcAft>
                <a:spcPts val="0"/>
              </a:spcAft>
              <a:buClrTx/>
              <a:buSzTx/>
              <a:buFontTx/>
              <a:buNone/>
              <a:tabLst/>
              <a:defRPr/>
            </a:pPr>
            <a:r>
              <a:rPr lang="en-US" altLang="zh-CN" sz="800" b="0" dirty="0">
                <a:latin typeface="Noto Sans" panose="020B0502040504020204" pitchFamily="34" charset="0"/>
                <a:ea typeface="Noto Sans" panose="020B0502040504020204" pitchFamily="34" charset="0"/>
                <a:cs typeface="Noto Sans" panose="020B0502040504020204" pitchFamily="34" charset="0"/>
              </a:rPr>
              <a:t>FPGA-Based Real-Time Learning Architecture with Partial Reconfiguration for Spiking Neural Networks</a:t>
            </a:r>
          </a:p>
          <a:p>
            <a:pPr marL="0" marR="0" lvl="0" indent="0" algn="l" defTabSz="914269" rtl="0" eaLnBrk="1" fontAlgn="auto" latinLnBrk="0" hangingPunct="1">
              <a:lnSpc>
                <a:spcPct val="100000"/>
              </a:lnSpc>
              <a:spcBef>
                <a:spcPts val="0"/>
              </a:spcBef>
              <a:spcAft>
                <a:spcPts val="0"/>
              </a:spcAft>
              <a:buClrTx/>
              <a:buSzTx/>
              <a:buFontTx/>
              <a:buNone/>
              <a:tabLst/>
              <a:defRPr/>
            </a:pPr>
            <a:r>
              <a:rPr lang="de-DE" sz="800" dirty="0">
                <a:solidFill>
                  <a:schemeClr val="bg2"/>
                </a:solidFill>
                <a:latin typeface="Noto Sans" panose="020B0502040504020204" pitchFamily="34"/>
                <a:ea typeface="Noto Sans" panose="020B0502040504020204" pitchFamily="34"/>
                <a:cs typeface="Noto Sans" panose="020B0502040504020204" pitchFamily="34"/>
              </a:rPr>
              <a:t>Y</a:t>
            </a:r>
            <a:r>
              <a:rPr lang="en-US" altLang="zh-CN" sz="800" dirty="0" err="1">
                <a:solidFill>
                  <a:schemeClr val="bg2"/>
                </a:solidFill>
                <a:latin typeface="Noto Sans" panose="020B0502040504020204" pitchFamily="34"/>
                <a:ea typeface="Noto Sans" panose="020B0502040504020204" pitchFamily="34"/>
                <a:cs typeface="Noto Sans" panose="020B0502040504020204" pitchFamily="34"/>
              </a:rPr>
              <a:t>ike</a:t>
            </a:r>
            <a:r>
              <a:rPr lang="en-US" altLang="zh-CN" sz="800" dirty="0">
                <a:solidFill>
                  <a:schemeClr val="bg2"/>
                </a:solidFill>
                <a:latin typeface="Noto Sans" panose="020B0502040504020204" pitchFamily="34"/>
                <a:ea typeface="Noto Sans" panose="020B0502040504020204" pitchFamily="34"/>
                <a:cs typeface="Noto Sans" panose="020B0502040504020204" pitchFamily="34"/>
              </a:rPr>
              <a:t> Jing</a:t>
            </a:r>
            <a:br>
              <a:rPr lang="de-DE" sz="800" dirty="0">
                <a:solidFill>
                  <a:schemeClr val="bg2"/>
                </a:solidFill>
                <a:latin typeface="Noto Sans" panose="020B0502040504020204" pitchFamily="34"/>
                <a:ea typeface="Noto Sans" panose="020B0502040504020204" pitchFamily="34"/>
                <a:cs typeface="Noto Sans" panose="020B0502040504020204" pitchFamily="34"/>
              </a:rPr>
            </a:br>
            <a:r>
              <a:rPr lang="de-DE" sz="800" baseline="0" dirty="0">
                <a:solidFill>
                  <a:schemeClr val="bg2"/>
                </a:solidFill>
                <a:latin typeface="Noto Sans" panose="020B0502040504020204" pitchFamily="34"/>
                <a:ea typeface="Noto Sans" panose="020B0502040504020204" pitchFamily="34"/>
                <a:cs typeface="Noto Sans" panose="020B0502040504020204" pitchFamily="34"/>
              </a:rPr>
              <a:t>Dresden, Germany // </a:t>
            </a:r>
            <a:fld id="{4F61969B-4A33-4EE7-82B7-F698330CE837}" type="datetime4">
              <a:rPr lang="en-US" sz="800" baseline="0" smtClean="0">
                <a:solidFill>
                  <a:schemeClr val="bg2"/>
                </a:solidFill>
                <a:latin typeface="Noto Sans" panose="020B0502040504020204" pitchFamily="34"/>
                <a:ea typeface="Noto Sans" panose="020B0502040504020204" pitchFamily="34"/>
                <a:cs typeface="Noto Sans" panose="020B0502040504020204" pitchFamily="34"/>
              </a:rPr>
              <a:pPr marL="0" marR="0" lvl="0" indent="0" algn="l" defTabSz="914269" rtl="0" eaLnBrk="1" fontAlgn="auto" latinLnBrk="0" hangingPunct="1">
                <a:lnSpc>
                  <a:spcPct val="100000"/>
                </a:lnSpc>
                <a:spcBef>
                  <a:spcPts val="0"/>
                </a:spcBef>
                <a:spcAft>
                  <a:spcPts val="0"/>
                </a:spcAft>
                <a:buClrTx/>
                <a:buSzTx/>
                <a:buFontTx/>
                <a:buNone/>
                <a:tabLst/>
                <a:defRPr/>
              </a:pPr>
              <a:t>September 21, 2026</a:t>
            </a:fld>
            <a:endParaRPr lang="de-DE" sz="800" dirty="0">
              <a:solidFill>
                <a:schemeClr val="bg2"/>
              </a:solidFill>
              <a:latin typeface="Noto Sans" panose="020B0502040504020204" pitchFamily="34"/>
              <a:ea typeface="Noto Sans" panose="020B0502040504020204" pitchFamily="34"/>
              <a:cs typeface="Noto Sans" panose="020B0502040504020204" pitchFamily="34"/>
            </a:endParaRPr>
          </a:p>
        </p:txBody>
      </p:sp>
      <p:cxnSp>
        <p:nvCxnSpPr>
          <p:cNvPr id="8" name="Gerade Verbindung 14"/>
          <p:cNvCxnSpPr/>
          <p:nvPr/>
        </p:nvCxnSpPr>
        <p:spPr>
          <a:xfrm>
            <a:off x="0" y="6123216"/>
            <a:ext cx="121920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Textfeld 11"/>
          <p:cNvSpPr txBox="1"/>
          <p:nvPr/>
        </p:nvSpPr>
        <p:spPr>
          <a:xfrm>
            <a:off x="8966200" y="6306444"/>
            <a:ext cx="704850" cy="369332"/>
          </a:xfrm>
          <a:prstGeom prst="rect">
            <a:avLst/>
          </a:prstGeom>
          <a:noFill/>
        </p:spPr>
        <p:txBody>
          <a:bodyPr wrap="square" lIns="0" tIns="0" rIns="0" bIns="0" rtlCol="0" anchor="b">
            <a:spAutoFit/>
          </a:bodyPr>
          <a:lstStyle/>
          <a:p>
            <a:pPr marL="0" marR="0" lvl="0" indent="0" algn="r" defTabSz="914269" rtl="0" eaLnBrk="1" fontAlgn="auto" latinLnBrk="0" hangingPunct="1">
              <a:lnSpc>
                <a:spcPct val="100000"/>
              </a:lnSpc>
              <a:spcBef>
                <a:spcPts val="0"/>
              </a:spcBef>
              <a:spcAft>
                <a:spcPts val="0"/>
              </a:spcAft>
              <a:buClrTx/>
              <a:buSzTx/>
              <a:buFontTx/>
              <a:buNone/>
              <a:tabLst/>
              <a:defRPr/>
            </a:pPr>
            <a:br>
              <a:rPr lang="de-DE" sz="800" dirty="0">
                <a:solidFill>
                  <a:schemeClr val="bg2"/>
                </a:solidFill>
                <a:latin typeface="Noto Sans" panose="020B0502040504020204" pitchFamily="34"/>
                <a:ea typeface="Noto Sans" panose="020B0502040504020204" pitchFamily="34"/>
                <a:cs typeface="Noto Sans" panose="020B0502040504020204" pitchFamily="34"/>
              </a:rPr>
            </a:br>
            <a:r>
              <a:rPr lang="de-DE" sz="800" dirty="0">
                <a:solidFill>
                  <a:schemeClr val="bg2"/>
                </a:solidFill>
                <a:latin typeface="Noto Sans" panose="020B0502040504020204" pitchFamily="34"/>
                <a:ea typeface="Noto Sans" panose="020B0502040504020204" pitchFamily="34"/>
                <a:cs typeface="Noto Sans" panose="020B0502040504020204" pitchFamily="34"/>
              </a:rPr>
              <a:t>Slide</a:t>
            </a:r>
            <a:r>
              <a:rPr lang="de-DE" sz="800" baseline="0" dirty="0">
                <a:solidFill>
                  <a:schemeClr val="bg2"/>
                </a:solidFill>
                <a:latin typeface="Noto Sans" panose="020B0502040504020204" pitchFamily="34"/>
                <a:ea typeface="Noto Sans" panose="020B0502040504020204" pitchFamily="34"/>
                <a:cs typeface="Noto Sans" panose="020B0502040504020204" pitchFamily="34"/>
              </a:rPr>
              <a:t> </a:t>
            </a:r>
            <a:fld id="{38F97D41-8991-4148-BA02-56FEE4AAF2CC}" type="slidenum">
              <a:rPr lang="de-DE" sz="800" baseline="0" smtClean="0">
                <a:solidFill>
                  <a:schemeClr val="bg2"/>
                </a:solidFill>
                <a:latin typeface="Noto Sans" panose="020B0502040504020204" pitchFamily="34"/>
                <a:ea typeface="Noto Sans" panose="020B0502040504020204" pitchFamily="34"/>
                <a:cs typeface="Noto Sans" panose="020B0502040504020204" pitchFamily="34"/>
              </a:rPr>
              <a:pPr marL="0" marR="0" lvl="0" indent="0" algn="r" defTabSz="914269" rtl="0" eaLnBrk="1" fontAlgn="auto" latinLnBrk="0" hangingPunct="1">
                <a:lnSpc>
                  <a:spcPct val="100000"/>
                </a:lnSpc>
                <a:spcBef>
                  <a:spcPts val="0"/>
                </a:spcBef>
                <a:spcAft>
                  <a:spcPts val="0"/>
                </a:spcAft>
                <a:buClrTx/>
                <a:buSzTx/>
                <a:buFontTx/>
                <a:buNone/>
                <a:tabLst/>
                <a:defRPr/>
              </a:pPr>
              <a:t>‹#›</a:t>
            </a:fld>
            <a:r>
              <a:rPr lang="de-DE" sz="800" baseline="0" dirty="0">
                <a:solidFill>
                  <a:schemeClr val="bg2"/>
                </a:solidFill>
                <a:latin typeface="Noto Sans" panose="020B0502040504020204" pitchFamily="34"/>
                <a:ea typeface="Noto Sans" panose="020B0502040504020204" pitchFamily="34"/>
                <a:cs typeface="Noto Sans" panose="020B0502040504020204" pitchFamily="34"/>
              </a:rPr>
              <a:t>/15</a:t>
            </a:r>
          </a:p>
          <a:p>
            <a:pPr marL="0" marR="0" lvl="0" indent="0" algn="r" defTabSz="914269" rtl="0" eaLnBrk="1" fontAlgn="auto" latinLnBrk="0" hangingPunct="1">
              <a:lnSpc>
                <a:spcPct val="100000"/>
              </a:lnSpc>
              <a:spcBef>
                <a:spcPts val="0"/>
              </a:spcBef>
              <a:spcAft>
                <a:spcPts val="0"/>
              </a:spcAft>
              <a:buClrTx/>
              <a:buSzTx/>
              <a:buFontTx/>
              <a:buNone/>
              <a:tabLst/>
              <a:defRPr/>
            </a:pPr>
            <a:endParaRPr lang="de-DE" sz="800" dirty="0">
              <a:solidFill>
                <a:schemeClr val="bg2"/>
              </a:solidFill>
              <a:latin typeface="Noto Sans" panose="020B0502040504020204" pitchFamily="34"/>
              <a:ea typeface="Noto Sans" panose="020B0502040504020204" pitchFamily="34"/>
              <a:cs typeface="Noto Sans" panose="020B0502040504020204" pitchFamily="34"/>
            </a:endParaRPr>
          </a:p>
        </p:txBody>
      </p:sp>
      <p:pic>
        <p:nvPicPr>
          <p:cNvPr id="13" name="Grafik 12"/>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1393386" y="6272950"/>
            <a:ext cx="376119" cy="416179"/>
          </a:xfrm>
          <a:prstGeom prst="rect">
            <a:avLst/>
          </a:prstGeom>
        </p:spPr>
      </p:pic>
      <p:pic>
        <p:nvPicPr>
          <p:cNvPr id="11" name="Grafik 10">
            <a:extLst>
              <a:ext uri="{FF2B5EF4-FFF2-40B4-BE49-F238E27FC236}">
                <a16:creationId xmlns:a16="http://schemas.microsoft.com/office/drawing/2014/main" id="{87374898-078D-484B-9485-FFBC56F3663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398339" y="6228000"/>
            <a:ext cx="1203933" cy="540000"/>
          </a:xfrm>
          <a:prstGeom prst="rect">
            <a:avLst/>
          </a:prstGeom>
        </p:spPr>
      </p:pic>
    </p:spTree>
    <p:extLst>
      <p:ext uri="{BB962C8B-B14F-4D97-AF65-F5344CB8AC3E}">
        <p14:creationId xmlns:p14="http://schemas.microsoft.com/office/powerpoint/2010/main" val="2089890264"/>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 id="2147483903" r:id="rId12"/>
    <p:sldLayoutId id="2147483904" r:id="rId13"/>
  </p:sldLayoutIdLst>
  <p:hf hdr="0"/>
  <p:txStyles>
    <p:titleStyle>
      <a:lvl1pPr algn="l" defTabSz="914269" rtl="0" eaLnBrk="1" latinLnBrk="0" hangingPunct="1">
        <a:spcBef>
          <a:spcPct val="0"/>
        </a:spcBef>
        <a:buNone/>
        <a:defRPr sz="2400" b="1" kern="1200" baseline="0">
          <a:solidFill>
            <a:schemeClr val="tx2"/>
          </a:solidFill>
          <a:latin typeface="Noto Sans" panose="020B0502040504020204" pitchFamily="34"/>
          <a:ea typeface="Noto Sans" panose="020B0502040504020204" pitchFamily="34"/>
          <a:cs typeface="Noto Sans" panose="020B0502040504020204" pitchFamily="34"/>
        </a:defRPr>
      </a:lvl1pPr>
    </p:titleStyle>
    <p:bodyStyle>
      <a:lvl1pPr marL="0" indent="0" algn="l" defTabSz="914269" rtl="0" eaLnBrk="1" latinLnBrk="0" hangingPunct="1">
        <a:spcBef>
          <a:spcPts val="600"/>
        </a:spcBef>
        <a:buFont typeface="Arial" panose="020B0604020202020204" pitchFamily="34" charset="0"/>
        <a:buNone/>
        <a:defRPr sz="1600" kern="1200">
          <a:solidFill>
            <a:schemeClr val="tx2"/>
          </a:solidFill>
          <a:latin typeface="Noto Sans" panose="020B0502040504020204" pitchFamily="34"/>
          <a:ea typeface="Noto Sans" panose="020B0502040504020204" pitchFamily="34"/>
          <a:cs typeface="Noto Sans" panose="020B0502040504020204" pitchFamily="34"/>
        </a:defRPr>
      </a:lvl1pPr>
      <a:lvl2pPr marL="395942" indent="-323953" algn="l" defTabSz="914269" rtl="0" eaLnBrk="1" latinLnBrk="0" hangingPunct="1">
        <a:spcBef>
          <a:spcPts val="300"/>
        </a:spcBef>
        <a:buFont typeface="Open Sans" panose="020B0606030504020204" pitchFamily="34" charset="0"/>
        <a:buChar char="—"/>
        <a:defRPr sz="1600" kern="1200">
          <a:solidFill>
            <a:schemeClr val="tx2"/>
          </a:solidFill>
          <a:latin typeface="Noto Sans" panose="020B0502040504020204" pitchFamily="34"/>
          <a:ea typeface="Noto Sans" panose="020B0502040504020204" pitchFamily="34"/>
          <a:cs typeface="Noto Sans" panose="020B0502040504020204" pitchFamily="34"/>
        </a:defRPr>
      </a:lvl2pPr>
      <a:lvl3pPr marL="0" indent="0" algn="l" defTabSz="914269" rtl="0" eaLnBrk="1" latinLnBrk="0" hangingPunct="1">
        <a:spcBef>
          <a:spcPts val="600"/>
        </a:spcBef>
        <a:buFont typeface="Arial" panose="020B0604020202020204" pitchFamily="34" charset="0"/>
        <a:buNone/>
        <a:defRPr sz="1400" kern="1200">
          <a:solidFill>
            <a:schemeClr val="tx2"/>
          </a:solidFill>
          <a:latin typeface="Noto Sans" panose="020B0502040504020204" pitchFamily="34"/>
          <a:ea typeface="Noto Sans" panose="020B0502040504020204" pitchFamily="34"/>
          <a:cs typeface="Noto Sans" panose="020B0502040504020204" pitchFamily="34"/>
        </a:defRPr>
      </a:lvl3pPr>
      <a:lvl4pPr marL="395942" indent="-215969" algn="l" defTabSz="914269" rtl="0" eaLnBrk="1" latinLnBrk="0" hangingPunct="1">
        <a:spcBef>
          <a:spcPts val="300"/>
        </a:spcBef>
        <a:buFont typeface="Symbol" panose="05050102010706020507" pitchFamily="18" charset="2"/>
        <a:buChar char="-"/>
        <a:defRPr sz="1400" kern="1200">
          <a:solidFill>
            <a:schemeClr val="tx2"/>
          </a:solidFill>
          <a:latin typeface="Noto Sans" panose="020B0502040504020204" pitchFamily="34"/>
          <a:ea typeface="Noto Sans" panose="020B0502040504020204" pitchFamily="34"/>
          <a:cs typeface="Noto Sans" panose="020B0502040504020204" pitchFamily="34"/>
        </a:defRPr>
      </a:lvl4pPr>
      <a:lvl5pPr marL="575916" indent="-179362" algn="l" defTabSz="914269" rtl="0" eaLnBrk="1" latinLnBrk="0" hangingPunct="1">
        <a:spcBef>
          <a:spcPts val="300"/>
        </a:spcBef>
        <a:buFont typeface="Symbol" panose="05050102010706020507" pitchFamily="18" charset="2"/>
        <a:buChar char="-"/>
        <a:defRPr sz="1400" kern="1200" baseline="0">
          <a:solidFill>
            <a:schemeClr val="tx2"/>
          </a:solidFill>
          <a:latin typeface="Noto Sans" panose="020B0502040504020204" pitchFamily="34"/>
          <a:ea typeface="Noto Sans" panose="020B0502040504020204" pitchFamily="34"/>
          <a:cs typeface="Noto Sans" panose="020B0502040504020204" pitchFamily="34"/>
        </a:defRPr>
      </a:lvl5pPr>
      <a:lvl6pPr marL="358723" indent="0" algn="l" defTabSz="914269" rtl="0" eaLnBrk="1" latinLnBrk="0" hangingPunct="1">
        <a:spcBef>
          <a:spcPts val="0"/>
        </a:spcBef>
        <a:buFont typeface="Arial" panose="020B0604020202020204" pitchFamily="34" charset="0"/>
        <a:buNone/>
        <a:defRPr sz="3200" b="1" kern="1200">
          <a:solidFill>
            <a:schemeClr val="bg1"/>
          </a:solidFill>
          <a:latin typeface="+mn-lt"/>
          <a:ea typeface="+mn-ea"/>
          <a:cs typeface="+mn-cs"/>
        </a:defRPr>
      </a:lvl6pPr>
      <a:lvl7pPr marL="358723" indent="0" algn="l" defTabSz="914269" rtl="0" eaLnBrk="1" latinLnBrk="0" hangingPunct="1">
        <a:spcBef>
          <a:spcPts val="0"/>
        </a:spcBef>
        <a:buFont typeface="Arial" panose="020B0604020202020204" pitchFamily="34" charset="0"/>
        <a:buNone/>
        <a:defRPr sz="3200" kern="1200">
          <a:solidFill>
            <a:schemeClr val="bg1"/>
          </a:solidFill>
          <a:latin typeface="+mn-lt"/>
          <a:ea typeface="+mn-ea"/>
          <a:cs typeface="+mn-cs"/>
        </a:defRPr>
      </a:lvl7pPr>
      <a:lvl8pPr marL="3428502" indent="-228566" algn="l" defTabSz="91426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635" indent="-228566" algn="l" defTabSz="91426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269" rtl="0" eaLnBrk="1" latinLnBrk="0" hangingPunct="1">
        <a:defRPr sz="1800" kern="1200">
          <a:solidFill>
            <a:schemeClr val="tx1"/>
          </a:solidFill>
          <a:latin typeface="+mn-lt"/>
          <a:ea typeface="+mn-ea"/>
          <a:cs typeface="+mn-cs"/>
        </a:defRPr>
      </a:lvl1pPr>
      <a:lvl2pPr marL="457135" algn="l" defTabSz="914269" rtl="0" eaLnBrk="1" latinLnBrk="0" hangingPunct="1">
        <a:defRPr sz="1800" kern="1200">
          <a:solidFill>
            <a:schemeClr val="tx1"/>
          </a:solidFill>
          <a:latin typeface="+mn-lt"/>
          <a:ea typeface="+mn-ea"/>
          <a:cs typeface="+mn-cs"/>
        </a:defRPr>
      </a:lvl2pPr>
      <a:lvl3pPr marL="914269" algn="l" defTabSz="914269" rtl="0" eaLnBrk="1" latinLnBrk="0" hangingPunct="1">
        <a:defRPr sz="1800" kern="1200">
          <a:solidFill>
            <a:schemeClr val="tx1"/>
          </a:solidFill>
          <a:latin typeface="+mn-lt"/>
          <a:ea typeface="+mn-ea"/>
          <a:cs typeface="+mn-cs"/>
        </a:defRPr>
      </a:lvl3pPr>
      <a:lvl4pPr marL="1371402" algn="l" defTabSz="914269" rtl="0" eaLnBrk="1" latinLnBrk="0" hangingPunct="1">
        <a:defRPr sz="1800" kern="1200">
          <a:solidFill>
            <a:schemeClr val="tx1"/>
          </a:solidFill>
          <a:latin typeface="+mn-lt"/>
          <a:ea typeface="+mn-ea"/>
          <a:cs typeface="+mn-cs"/>
        </a:defRPr>
      </a:lvl4pPr>
      <a:lvl5pPr marL="1828534" algn="l" defTabSz="914269" rtl="0" eaLnBrk="1" latinLnBrk="0" hangingPunct="1">
        <a:defRPr sz="1800" kern="1200">
          <a:solidFill>
            <a:schemeClr val="tx1"/>
          </a:solidFill>
          <a:latin typeface="+mn-lt"/>
          <a:ea typeface="+mn-ea"/>
          <a:cs typeface="+mn-cs"/>
        </a:defRPr>
      </a:lvl5pPr>
      <a:lvl6pPr marL="2285670" algn="l" defTabSz="914269" rtl="0" eaLnBrk="1" latinLnBrk="0" hangingPunct="1">
        <a:defRPr sz="1800" kern="1200">
          <a:solidFill>
            <a:schemeClr val="tx1"/>
          </a:solidFill>
          <a:latin typeface="+mn-lt"/>
          <a:ea typeface="+mn-ea"/>
          <a:cs typeface="+mn-cs"/>
        </a:defRPr>
      </a:lvl6pPr>
      <a:lvl7pPr marL="2742803" algn="l" defTabSz="914269" rtl="0" eaLnBrk="1" latinLnBrk="0" hangingPunct="1">
        <a:defRPr sz="1800" kern="1200">
          <a:solidFill>
            <a:schemeClr val="tx1"/>
          </a:solidFill>
          <a:latin typeface="+mn-lt"/>
          <a:ea typeface="+mn-ea"/>
          <a:cs typeface="+mn-cs"/>
        </a:defRPr>
      </a:lvl7pPr>
      <a:lvl8pPr marL="3199936" algn="l" defTabSz="914269" rtl="0" eaLnBrk="1" latinLnBrk="0" hangingPunct="1">
        <a:defRPr sz="1800" kern="1200">
          <a:solidFill>
            <a:schemeClr val="tx1"/>
          </a:solidFill>
          <a:latin typeface="+mn-lt"/>
          <a:ea typeface="+mn-ea"/>
          <a:cs typeface="+mn-cs"/>
        </a:defRPr>
      </a:lvl8pPr>
      <a:lvl9pPr marL="3657070" algn="l" defTabSz="91426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pos="992">
          <p15:clr>
            <a:srgbClr val="F26B43"/>
          </p15:clr>
        </p15:guide>
        <p15:guide id="7" pos="1120">
          <p15:clr>
            <a:srgbClr val="F26B43"/>
          </p15:clr>
        </p15:guide>
        <p15:guide id="8" pos="1676">
          <p15:clr>
            <a:srgbClr val="F26B43"/>
          </p15:clr>
        </p15:guide>
        <p15:guide id="9" pos="1556">
          <p15:clr>
            <a:srgbClr val="F26B43"/>
          </p15:clr>
        </p15:guide>
        <p15:guide id="10" pos="2252">
          <p15:clr>
            <a:srgbClr val="F26B43"/>
          </p15:clr>
        </p15:guide>
        <p15:guide id="11" pos="2128">
          <p15:clr>
            <a:srgbClr val="F26B43"/>
          </p15:clr>
        </p15:guide>
        <p15:guide id="16" pos="3824">
          <p15:clr>
            <a:srgbClr val="F26B43"/>
          </p15:clr>
        </p15:guide>
        <p15:guide id="17" pos="3948">
          <p15:clr>
            <a:srgbClr val="F26B43"/>
          </p15:clr>
        </p15:guide>
        <p15:guide id="20" pos="4384">
          <p15:clr>
            <a:srgbClr val="F26B43"/>
          </p15:clr>
        </p15:guide>
        <p15:guide id="21" pos="4508">
          <p15:clr>
            <a:srgbClr val="F26B43"/>
          </p15:clr>
        </p15:guide>
        <p15:guide id="22" pos="6780">
          <p15:clr>
            <a:srgbClr val="F26B43"/>
          </p15:clr>
        </p15:guide>
        <p15:guide id="23" pos="6656">
          <p15:clr>
            <a:srgbClr val="F26B43"/>
          </p15:clr>
        </p15:guide>
        <p15:guide id="24" pos="4960">
          <p15:clr>
            <a:srgbClr val="F26B43"/>
          </p15:clr>
        </p15:guide>
        <p15:guide id="25" pos="5084">
          <p15:clr>
            <a:srgbClr val="F26B43"/>
          </p15:clr>
        </p15:guide>
        <p15:guide id="30" orient="horz" pos="538">
          <p15:clr>
            <a:srgbClr val="F26B43"/>
          </p15:clr>
        </p15:guide>
        <p15:guide id="31" pos="551">
          <p15:clr>
            <a:srgbClr val="F26B43"/>
          </p15:clr>
        </p15:guide>
        <p15:guide id="39" pos="6108" userDrawn="1">
          <p15:clr>
            <a:srgbClr val="F26B43"/>
          </p15:clr>
        </p15:guide>
        <p15:guide id="40" pos="6216">
          <p15:clr>
            <a:srgbClr val="F26B43"/>
          </p15:clr>
        </p15:guide>
        <p15:guide id="41" pos="2692">
          <p15:clr>
            <a:srgbClr val="F26B43"/>
          </p15:clr>
        </p15:guide>
        <p15:guide id="42" pos="2808">
          <p15:clr>
            <a:srgbClr val="F26B43"/>
          </p15:clr>
        </p15:guide>
        <p15:guide id="43" pos="3260">
          <p15:clr>
            <a:srgbClr val="F26B43"/>
          </p15:clr>
        </p15:guide>
        <p15:guide id="44" pos="3380">
          <p15:clr>
            <a:srgbClr val="F26B43"/>
          </p15:clr>
        </p15:guide>
        <p15:guide id="50" pos="5520">
          <p15:clr>
            <a:srgbClr val="F26B43"/>
          </p15:clr>
        </p15:guide>
        <p15:guide id="52" orient="horz" pos="933">
          <p15:clr>
            <a:srgbClr val="F26B43"/>
          </p15:clr>
        </p15:guide>
        <p15:guide id="53" orient="horz" pos="759">
          <p15:clr>
            <a:srgbClr val="F26B43"/>
          </p15:clr>
        </p15:guide>
        <p15:guide id="58" orient="horz" pos="218">
          <p15:clr>
            <a:srgbClr val="F26B43"/>
          </p15:clr>
        </p15:guide>
        <p15:guide id="59" orient="horz" pos="3680">
          <p15:clr>
            <a:srgbClr val="F26B43"/>
          </p15:clr>
        </p15:guide>
        <p15:guide id="60" orient="horz" pos="3861">
          <p15:clr>
            <a:srgbClr val="F26B43"/>
          </p15:clr>
        </p15:guide>
        <p15:guide id="62" orient="horz" pos="2130">
          <p15:clr>
            <a:srgbClr val="F26B43"/>
          </p15:clr>
        </p15:guide>
        <p15:guide id="65" pos="5654" userDrawn="1">
          <p15:clr>
            <a:srgbClr val="F26B43"/>
          </p15:clr>
        </p15:guide>
        <p15:guide id="66" orient="horz" pos="649">
          <p15:clr>
            <a:srgbClr val="F26B43"/>
          </p15:clr>
        </p15:guide>
        <p15:guide id="67" pos="7216">
          <p15:clr>
            <a:srgbClr val="F26B43"/>
          </p15:clr>
        </p15:guide>
        <p15:guide id="69" orient="horz" pos="3988">
          <p15:clr>
            <a:srgbClr val="F26B43"/>
          </p15:clr>
        </p15:guide>
        <p15:guide id="70" orient="horz" pos="4196">
          <p15:clr>
            <a:srgbClr val="F26B43"/>
          </p15:clr>
        </p15:guide>
        <p15:guide id="71" pos="318">
          <p15:clr>
            <a:srgbClr val="F26B43"/>
          </p15:clr>
        </p15:guide>
        <p15:guide id="72" orient="horz" pos="411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21.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23.png"/><Relationship Id="rId4" Type="http://schemas.openxmlformats.org/officeDocument/2006/relationships/image" Target="../media/image20.png"/><Relationship Id="rId9" Type="http://schemas.openxmlformats.org/officeDocument/2006/relationships/customXml" Target="../ink/ink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tags" Target="../tags/tag39.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tags" Target="../tags/tag42.xml"/><Relationship Id="rId47" Type="http://schemas.openxmlformats.org/officeDocument/2006/relationships/slideLayout" Target="../slideLayouts/slideLayout10.xml"/><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tags" Target="../tags/tag45.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4" Type="http://schemas.openxmlformats.org/officeDocument/2006/relationships/tags" Target="../tags/tag44.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8" Type="http://schemas.openxmlformats.org/officeDocument/2006/relationships/tags" Target="../tags/tag8.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20" Type="http://schemas.openxmlformats.org/officeDocument/2006/relationships/tags" Target="../tags/tag20.xml"/><Relationship Id="rId41" Type="http://schemas.openxmlformats.org/officeDocument/2006/relationships/tags" Target="../tags/tag4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a:t>Yike Jing</a:t>
            </a:r>
          </a:p>
          <a:p>
            <a:r>
              <a:rPr lang="en-US" dirty="0"/>
              <a:t>Dresden, Germany. J</a:t>
            </a:r>
            <a:r>
              <a:rPr lang="en-US" altLang="zh-CN" dirty="0"/>
              <a:t>uly</a:t>
            </a:r>
            <a:r>
              <a:rPr lang="en-US" dirty="0"/>
              <a:t> 27, 2026</a:t>
            </a:r>
          </a:p>
        </p:txBody>
      </p:sp>
      <p:sp>
        <p:nvSpPr>
          <p:cNvPr id="3" name="Text Placeholder 2"/>
          <p:cNvSpPr>
            <a:spLocks noGrp="1"/>
          </p:cNvSpPr>
          <p:nvPr>
            <p:ph type="body" sz="quarter" idx="10"/>
          </p:nvPr>
        </p:nvSpPr>
        <p:spPr/>
        <p:txBody>
          <a:bodyPr/>
          <a:lstStyle/>
          <a:p>
            <a:r>
              <a:rPr lang="en-US" dirty="0"/>
              <a:t>Institute of Computer Engineering – Chair of Adaptive Dynamic Systems</a:t>
            </a:r>
          </a:p>
        </p:txBody>
      </p:sp>
      <p:sp>
        <p:nvSpPr>
          <p:cNvPr id="4" name="Title 3"/>
          <p:cNvSpPr>
            <a:spLocks noGrp="1"/>
          </p:cNvSpPr>
          <p:nvPr>
            <p:ph type="title"/>
          </p:nvPr>
        </p:nvSpPr>
        <p:spPr/>
        <p:txBody>
          <a:bodyPr/>
          <a:lstStyle/>
          <a:p>
            <a:r>
              <a:rPr lang="en-US" sz="2800" dirty="0"/>
              <a:t>FPGA-based Real-Time Learning Architecture with Partial Reconfiguration for Spiking Neural Networks</a:t>
            </a:r>
          </a:p>
        </p:txBody>
      </p:sp>
    </p:spTree>
    <p:extLst>
      <p:ext uri="{BB962C8B-B14F-4D97-AF65-F5344CB8AC3E}">
        <p14:creationId xmlns:p14="http://schemas.microsoft.com/office/powerpoint/2010/main" val="4238409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5273DB-0526-E5BD-DA43-DA049970D5A2}"/>
              </a:ext>
            </a:extLst>
          </p:cNvPr>
          <p:cNvSpPr>
            <a:spLocks noGrp="1"/>
          </p:cNvSpPr>
          <p:nvPr>
            <p:ph type="title"/>
          </p:nvPr>
        </p:nvSpPr>
        <p:spPr/>
        <p:txBody>
          <a:bodyPr/>
          <a:lstStyle/>
          <a:p>
            <a:r>
              <a:rPr lang="en-US" altLang="zh-CN" dirty="0"/>
              <a:t>Contents</a:t>
            </a:r>
            <a:endParaRPr lang="zh-CN" altLang="en-US" dirty="0"/>
          </a:p>
        </p:txBody>
      </p:sp>
      <p:sp>
        <p:nvSpPr>
          <p:cNvPr id="3" name="Content Placeholder 2">
            <a:extLst>
              <a:ext uri="{FF2B5EF4-FFF2-40B4-BE49-F238E27FC236}">
                <a16:creationId xmlns:a16="http://schemas.microsoft.com/office/drawing/2014/main" id="{09A5E13A-9C73-9294-22AB-14B77BA69AC0}"/>
              </a:ext>
            </a:extLst>
          </p:cNvPr>
          <p:cNvSpPr txBox="1">
            <a:spLocks/>
          </p:cNvSpPr>
          <p:nvPr/>
        </p:nvSpPr>
        <p:spPr>
          <a:xfrm>
            <a:off x="874712" y="1505335"/>
            <a:ext cx="9057565" cy="4196051"/>
          </a:xfrm>
          <a:prstGeom prst="rect">
            <a:avLst/>
          </a:prstGeom>
        </p:spPr>
        <p:txBody>
          <a:bodyPr/>
          <a:lstStyle>
            <a:lvl1pPr marL="0" indent="0" algn="l" defTabSz="914269" rtl="0" eaLnBrk="1" latinLnBrk="0" hangingPunct="1">
              <a:spcBef>
                <a:spcPts val="600"/>
              </a:spcBef>
              <a:buFont typeface="Arial" panose="020B0604020202020204" pitchFamily="34" charset="0"/>
              <a:buNone/>
              <a:defRPr sz="1600" kern="1200">
                <a:solidFill>
                  <a:schemeClr val="tx2"/>
                </a:solidFill>
                <a:latin typeface="Noto Sans" panose="020B0502040504020204" pitchFamily="34"/>
                <a:ea typeface="Noto Sans" panose="020B0502040504020204" pitchFamily="34"/>
                <a:cs typeface="Noto Sans" panose="020B0502040504020204" pitchFamily="34"/>
              </a:defRPr>
            </a:lvl1pPr>
            <a:lvl2pPr marL="395942" indent="-323953" algn="l" defTabSz="914269" rtl="0" eaLnBrk="1" latinLnBrk="0" hangingPunct="1">
              <a:spcBef>
                <a:spcPts val="300"/>
              </a:spcBef>
              <a:buFont typeface="Open Sans" panose="020B0606030504020204" pitchFamily="34" charset="0"/>
              <a:buChar char="—"/>
              <a:defRPr sz="1600" kern="1200">
                <a:solidFill>
                  <a:schemeClr val="tx2"/>
                </a:solidFill>
                <a:latin typeface="Noto Sans" panose="020B0502040504020204" pitchFamily="34"/>
                <a:ea typeface="Noto Sans" panose="020B0502040504020204" pitchFamily="34"/>
                <a:cs typeface="Noto Sans" panose="020B0502040504020204" pitchFamily="34"/>
              </a:defRPr>
            </a:lvl2pPr>
            <a:lvl3pPr marL="0" indent="0" algn="l" defTabSz="914269" rtl="0" eaLnBrk="1" latinLnBrk="0" hangingPunct="1">
              <a:spcBef>
                <a:spcPts val="600"/>
              </a:spcBef>
              <a:buFont typeface="Arial" panose="020B0604020202020204" pitchFamily="34" charset="0"/>
              <a:buNone/>
              <a:defRPr sz="1400" kern="1200">
                <a:solidFill>
                  <a:schemeClr val="tx2"/>
                </a:solidFill>
                <a:latin typeface="Noto Sans" panose="020B0502040504020204" pitchFamily="34"/>
                <a:ea typeface="Noto Sans" panose="020B0502040504020204" pitchFamily="34"/>
                <a:cs typeface="Noto Sans" panose="020B0502040504020204" pitchFamily="34"/>
              </a:defRPr>
            </a:lvl3pPr>
            <a:lvl4pPr marL="395942" indent="-215969" algn="l" defTabSz="914269" rtl="0" eaLnBrk="1" latinLnBrk="0" hangingPunct="1">
              <a:spcBef>
                <a:spcPts val="300"/>
              </a:spcBef>
              <a:buFont typeface="Symbol" panose="05050102010706020507" pitchFamily="18" charset="2"/>
              <a:buChar char="-"/>
              <a:defRPr sz="1400" kern="1200">
                <a:solidFill>
                  <a:schemeClr val="tx2"/>
                </a:solidFill>
                <a:latin typeface="Noto Sans" panose="020B0502040504020204" pitchFamily="34"/>
                <a:ea typeface="Noto Sans" panose="020B0502040504020204" pitchFamily="34"/>
                <a:cs typeface="Noto Sans" panose="020B0502040504020204" pitchFamily="34"/>
              </a:defRPr>
            </a:lvl4pPr>
            <a:lvl5pPr marL="575916" indent="-179362" algn="l" defTabSz="914269" rtl="0" eaLnBrk="1" latinLnBrk="0" hangingPunct="1">
              <a:spcBef>
                <a:spcPts val="300"/>
              </a:spcBef>
              <a:buFont typeface="Symbol" panose="05050102010706020507" pitchFamily="18" charset="2"/>
              <a:buChar char="-"/>
              <a:defRPr sz="1400" kern="1200" baseline="0">
                <a:solidFill>
                  <a:schemeClr val="tx2"/>
                </a:solidFill>
                <a:latin typeface="Noto Sans" panose="020B0502040504020204" pitchFamily="34"/>
                <a:ea typeface="Noto Sans" panose="020B0502040504020204" pitchFamily="34"/>
                <a:cs typeface="Noto Sans" panose="020B0502040504020204" pitchFamily="34"/>
              </a:defRPr>
            </a:lvl5pPr>
            <a:lvl6pPr marL="358723" indent="0" algn="l" defTabSz="914269" rtl="0" eaLnBrk="1" latinLnBrk="0" hangingPunct="1">
              <a:spcBef>
                <a:spcPts val="0"/>
              </a:spcBef>
              <a:buFont typeface="Arial" panose="020B0604020202020204" pitchFamily="34" charset="0"/>
              <a:buNone/>
              <a:defRPr sz="3200" b="1" kern="1200">
                <a:solidFill>
                  <a:schemeClr val="bg1"/>
                </a:solidFill>
                <a:latin typeface="+mn-lt"/>
                <a:ea typeface="+mn-ea"/>
                <a:cs typeface="+mn-cs"/>
              </a:defRPr>
            </a:lvl6pPr>
            <a:lvl7pPr marL="358723" indent="0" algn="l" defTabSz="914269" rtl="0" eaLnBrk="1" latinLnBrk="0" hangingPunct="1">
              <a:spcBef>
                <a:spcPts val="0"/>
              </a:spcBef>
              <a:buFont typeface="Arial" panose="020B0604020202020204" pitchFamily="34" charset="0"/>
              <a:buNone/>
              <a:defRPr sz="3200" kern="1200">
                <a:solidFill>
                  <a:schemeClr val="bg1"/>
                </a:solidFill>
                <a:latin typeface="+mn-lt"/>
                <a:ea typeface="+mn-ea"/>
                <a:cs typeface="+mn-cs"/>
              </a:defRPr>
            </a:lvl7pPr>
            <a:lvl8pPr marL="3428502" indent="-228566" algn="l" defTabSz="91426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635" indent="-228566" algn="l" defTabSz="91426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a:spcBef>
                <a:spcPts val="2400"/>
              </a:spcBef>
              <a:buFont typeface="Arial" panose="020B0604020202020204" pitchFamily="34" charset="0"/>
              <a:buChar char="•"/>
            </a:pPr>
            <a:r>
              <a:rPr lang="en-US" sz="2400" b="1" dirty="0"/>
              <a:t>Introduction &amp; Motivation</a:t>
            </a:r>
          </a:p>
          <a:p>
            <a:pPr marL="342900" indent="-342900">
              <a:spcBef>
                <a:spcPts val="2400"/>
              </a:spcBef>
              <a:buFont typeface="Arial" panose="020B0604020202020204" pitchFamily="34" charset="0"/>
              <a:buChar char="•"/>
            </a:pPr>
            <a:r>
              <a:rPr lang="en-US" sz="2400" b="1" dirty="0"/>
              <a:t>Related Work</a:t>
            </a:r>
          </a:p>
          <a:p>
            <a:pPr marL="342900" indent="-342900">
              <a:spcBef>
                <a:spcPts val="2400"/>
              </a:spcBef>
              <a:buFont typeface="Arial" panose="020B0604020202020204" pitchFamily="34" charset="0"/>
              <a:buChar char="•"/>
            </a:pPr>
            <a:r>
              <a:rPr lang="en-US" sz="2400" b="1" dirty="0"/>
              <a:t>Background</a:t>
            </a:r>
          </a:p>
          <a:p>
            <a:pPr marL="342900" indent="-342900">
              <a:spcBef>
                <a:spcPts val="2400"/>
              </a:spcBef>
              <a:buFont typeface="Arial" panose="020B0604020202020204" pitchFamily="34" charset="0"/>
              <a:buChar char="•"/>
            </a:pPr>
            <a:r>
              <a:rPr lang="en-US" sz="2400" b="1" dirty="0"/>
              <a:t>Progress to Date</a:t>
            </a:r>
          </a:p>
          <a:p>
            <a:pPr marL="342900" indent="-342900">
              <a:spcBef>
                <a:spcPts val="2400"/>
              </a:spcBef>
              <a:buFont typeface="Arial" panose="020B0604020202020204" pitchFamily="34" charset="0"/>
              <a:buChar char="•"/>
            </a:pPr>
            <a:r>
              <a:rPr lang="en-US" sz="2400" b="1" dirty="0"/>
              <a:t>Results</a:t>
            </a:r>
          </a:p>
          <a:p>
            <a:pPr marL="342900" indent="-342900">
              <a:spcBef>
                <a:spcPts val="2400"/>
              </a:spcBef>
              <a:buFont typeface="Arial" panose="020B0604020202020204" pitchFamily="34" charset="0"/>
              <a:buChar char="•"/>
            </a:pPr>
            <a:r>
              <a:rPr lang="en-US" sz="2400" b="1" dirty="0"/>
              <a:t>Timeline</a:t>
            </a:r>
          </a:p>
        </p:txBody>
      </p:sp>
    </p:spTree>
    <p:extLst>
      <p:ext uri="{BB962C8B-B14F-4D97-AF65-F5344CB8AC3E}">
        <p14:creationId xmlns:p14="http://schemas.microsoft.com/office/powerpoint/2010/main" val="3390638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C3A981-C2F0-936B-B09E-0B9A6E8F21DD}"/>
              </a:ext>
            </a:extLst>
          </p:cNvPr>
          <p:cNvSpPr>
            <a:spLocks noGrp="1"/>
          </p:cNvSpPr>
          <p:nvPr>
            <p:ph type="title"/>
          </p:nvPr>
        </p:nvSpPr>
        <p:spPr/>
        <p:txBody>
          <a:bodyPr/>
          <a:lstStyle/>
          <a:p>
            <a:r>
              <a:rPr lang="en-US" altLang="zh-CN" dirty="0"/>
              <a:t>Introduction &amp; Motivation</a:t>
            </a:r>
            <a:endParaRPr lang="zh-CN" altLang="en-US" dirty="0"/>
          </a:p>
        </p:txBody>
      </p:sp>
      <p:sp>
        <p:nvSpPr>
          <p:cNvPr id="4" name="Introduction statement">
            <a:extLst>
              <a:ext uri="{FF2B5EF4-FFF2-40B4-BE49-F238E27FC236}">
                <a16:creationId xmlns:a16="http://schemas.microsoft.com/office/drawing/2014/main" id="{297325F4-6F6A-1816-4B7A-74B02C8638F7}"/>
              </a:ext>
            </a:extLst>
          </p:cNvPr>
          <p:cNvSpPr>
            <a:spLocks noGrp="1"/>
          </p:cNvSpPr>
          <p:nvPr/>
        </p:nvSpPr>
        <p:spPr>
          <a:xfrm>
            <a:off x="876300" y="1504950"/>
            <a:ext cx="5572125" cy="552450"/>
          </a:xfrm>
          <a:prstGeom prst="rect">
            <a:avLst/>
          </a:prstGeom>
          <a:noFill/>
          <a:ln w="0">
            <a:noFill/>
            <a:prstDash val="solid"/>
          </a:ln>
        </p:spPr>
        <p:txBody>
          <a:bodyPr wrap="square" lIns="0" tIns="0" rIns="0" bIns="0" anchor="t">
            <a:normAutofit fontScale="92500"/>
          </a:bodyPr>
          <a:lstStyle/>
          <a:p>
            <a:pPr algn="l">
              <a:lnSpc>
                <a:spcPct val="105000"/>
              </a:lnSpc>
              <a:buNone/>
              <a:defRPr sz="1650" b="1">
                <a:solidFill>
                  <a:srgbClr val="001450"/>
                </a:solidFill>
                <a:latin typeface="Open Sans"/>
                <a:ea typeface="Open Sans"/>
                <a:cs typeface="Open Sans"/>
              </a:defRPr>
            </a:pPr>
            <a:r>
              <a:rPr sz="1650" b="1">
                <a:solidFill>
                  <a:srgbClr val="001450"/>
                </a:solidFill>
                <a:latin typeface="Open Sans"/>
                <a:ea typeface="Open Sans"/>
                <a:cs typeface="Open Sans"/>
              </a:rPr>
              <a:t>SNNs encode and process information through discrete spike events instead of continuous activations.</a:t>
            </a:r>
          </a:p>
        </p:txBody>
      </p:sp>
      <p:sp>
        <p:nvSpPr>
          <p:cNvPr id="6" name="Event-driven topic">
            <a:extLst>
              <a:ext uri="{FF2B5EF4-FFF2-40B4-BE49-F238E27FC236}">
                <a16:creationId xmlns:a16="http://schemas.microsoft.com/office/drawing/2014/main" id="{D3C24BE7-72A9-2838-0240-2A5161ADAFCD}"/>
              </a:ext>
            </a:extLst>
          </p:cNvPr>
          <p:cNvSpPr>
            <a:spLocks noGrp="1"/>
          </p:cNvSpPr>
          <p:nvPr/>
        </p:nvSpPr>
        <p:spPr>
          <a:xfrm>
            <a:off x="990600" y="2209800"/>
            <a:ext cx="5381625" cy="571500"/>
          </a:xfrm>
          <a:prstGeom prst="rect">
            <a:avLst/>
          </a:prstGeom>
          <a:noFill/>
          <a:ln w="0">
            <a:noFill/>
            <a:prstDash val="solid"/>
          </a:ln>
        </p:spPr>
        <p:txBody>
          <a:bodyPr wrap="square" lIns="0" tIns="0" rIns="0" bIns="0" anchor="t">
            <a:normAutofit fontScale="95557"/>
          </a:bodyPr>
          <a:lstStyle/>
          <a:p>
            <a:pPr algn="l">
              <a:lnSpc>
                <a:spcPct val="105000"/>
              </a:lnSpc>
              <a:spcAft>
                <a:spcPts val="3"/>
              </a:spcAft>
              <a:buNone/>
              <a:defRPr sz="1245" b="0">
                <a:solidFill>
                  <a:srgbClr val="001450"/>
                </a:solidFill>
                <a:latin typeface="Open Sans"/>
                <a:ea typeface="Open Sans"/>
                <a:cs typeface="Open Sans"/>
              </a:defRPr>
            </a:pPr>
            <a:r>
              <a:rPr sz="1245" b="0">
                <a:solidFill>
                  <a:srgbClr val="001450"/>
                </a:solidFill>
                <a:latin typeface="Open Sans"/>
                <a:ea typeface="Open Sans"/>
                <a:cs typeface="Open Sans"/>
              </a:rPr>
              <a:t>Event-driven computation</a:t>
            </a:r>
          </a:p>
          <a:p>
            <a:pPr algn="l">
              <a:lnSpc>
                <a:spcPct val="105000"/>
              </a:lnSpc>
              <a:buNone/>
              <a:defRPr sz="1245" b="0">
                <a:solidFill>
                  <a:srgbClr val="001450"/>
                </a:solidFill>
                <a:latin typeface="Open Sans"/>
                <a:ea typeface="Open Sans"/>
                <a:cs typeface="Open Sans"/>
              </a:defRPr>
            </a:pPr>
            <a:r>
              <a:rPr sz="1245" b="0">
                <a:solidFill>
                  <a:srgbClr val="001450"/>
                </a:solidFill>
                <a:latin typeface="Open Sans"/>
                <a:ea typeface="Open Sans"/>
                <a:cs typeface="Open Sans"/>
              </a:rPr>
              <a:t>Neurons and synapses become active only when spikes arrive, reducing unnecessary operations.</a:t>
            </a:r>
          </a:p>
        </p:txBody>
      </p:sp>
      <p:sp>
        <p:nvSpPr>
          <p:cNvPr id="8" name="Temporal topic">
            <a:extLst>
              <a:ext uri="{FF2B5EF4-FFF2-40B4-BE49-F238E27FC236}">
                <a16:creationId xmlns:a16="http://schemas.microsoft.com/office/drawing/2014/main" id="{92AC2DB8-C53E-38C3-C159-05DA72F4DC05}"/>
              </a:ext>
            </a:extLst>
          </p:cNvPr>
          <p:cNvSpPr>
            <a:spLocks noGrp="1"/>
          </p:cNvSpPr>
          <p:nvPr/>
        </p:nvSpPr>
        <p:spPr>
          <a:xfrm>
            <a:off x="990600" y="2924175"/>
            <a:ext cx="5381625" cy="571500"/>
          </a:xfrm>
          <a:prstGeom prst="rect">
            <a:avLst/>
          </a:prstGeom>
          <a:noFill/>
          <a:ln w="0">
            <a:noFill/>
            <a:prstDash val="solid"/>
          </a:ln>
        </p:spPr>
        <p:txBody>
          <a:bodyPr wrap="square" lIns="0" tIns="0" rIns="0" bIns="0" anchor="t">
            <a:normAutofit fontScale="95557"/>
          </a:bodyPr>
          <a:lstStyle/>
          <a:p>
            <a:pPr algn="l">
              <a:lnSpc>
                <a:spcPct val="105000"/>
              </a:lnSpc>
              <a:spcAft>
                <a:spcPts val="3"/>
              </a:spcAft>
              <a:buNone/>
              <a:defRPr sz="1245" b="0">
                <a:solidFill>
                  <a:srgbClr val="001450"/>
                </a:solidFill>
                <a:latin typeface="Open Sans"/>
                <a:ea typeface="Open Sans"/>
                <a:cs typeface="Open Sans"/>
              </a:defRPr>
            </a:pPr>
            <a:r>
              <a:rPr sz="1245" b="0" dirty="0" err="1">
                <a:solidFill>
                  <a:srgbClr val="001450"/>
                </a:solidFill>
                <a:latin typeface="Open Sans"/>
                <a:ea typeface="Open Sans"/>
                <a:cs typeface="Open Sans"/>
              </a:rPr>
              <a:t>Spatio</a:t>
            </a:r>
            <a:r>
              <a:rPr sz="1245" b="0" dirty="0">
                <a:solidFill>
                  <a:srgbClr val="001450"/>
                </a:solidFill>
                <a:latin typeface="Open Sans"/>
                <a:ea typeface="Open Sans"/>
                <a:cs typeface="Open Sans"/>
              </a:rPr>
              <a:t>-temporal information</a:t>
            </a:r>
          </a:p>
          <a:p>
            <a:pPr algn="l">
              <a:lnSpc>
                <a:spcPct val="105000"/>
              </a:lnSpc>
              <a:buNone/>
              <a:defRPr sz="1245" b="0">
                <a:solidFill>
                  <a:srgbClr val="001450"/>
                </a:solidFill>
                <a:latin typeface="Open Sans"/>
                <a:ea typeface="Open Sans"/>
                <a:cs typeface="Open Sans"/>
              </a:defRPr>
            </a:pPr>
            <a:r>
              <a:rPr sz="1245" b="0" dirty="0">
                <a:solidFill>
                  <a:srgbClr val="001450"/>
                </a:solidFill>
                <a:latin typeface="Open Sans"/>
                <a:ea typeface="Open Sans"/>
                <a:cs typeface="Open Sans"/>
              </a:rPr>
              <a:t>Spike timing and firing rate provide a natural representation for dynamic sensor data.</a:t>
            </a:r>
          </a:p>
        </p:txBody>
      </p:sp>
      <p:sp>
        <p:nvSpPr>
          <p:cNvPr id="10" name="Hardware topic">
            <a:extLst>
              <a:ext uri="{FF2B5EF4-FFF2-40B4-BE49-F238E27FC236}">
                <a16:creationId xmlns:a16="http://schemas.microsoft.com/office/drawing/2014/main" id="{9A46CF63-4B2A-3EC3-6E0A-3A7EC2BF2868}"/>
              </a:ext>
            </a:extLst>
          </p:cNvPr>
          <p:cNvSpPr>
            <a:spLocks noGrp="1"/>
          </p:cNvSpPr>
          <p:nvPr/>
        </p:nvSpPr>
        <p:spPr>
          <a:xfrm>
            <a:off x="990600" y="3638550"/>
            <a:ext cx="5381625" cy="571500"/>
          </a:xfrm>
          <a:prstGeom prst="rect">
            <a:avLst/>
          </a:prstGeom>
          <a:noFill/>
          <a:ln w="0">
            <a:noFill/>
            <a:prstDash val="solid"/>
          </a:ln>
        </p:spPr>
        <p:txBody>
          <a:bodyPr wrap="square" lIns="0" tIns="0" rIns="0" bIns="0" anchor="t">
            <a:normAutofit fontScale="99587"/>
          </a:bodyPr>
          <a:lstStyle/>
          <a:p>
            <a:pPr algn="l">
              <a:lnSpc>
                <a:spcPct val="105000"/>
              </a:lnSpc>
              <a:spcAft>
                <a:spcPts val="3"/>
              </a:spcAft>
              <a:buNone/>
              <a:defRPr sz="1245" b="0">
                <a:solidFill>
                  <a:srgbClr val="001450"/>
                </a:solidFill>
                <a:latin typeface="Open Sans"/>
                <a:ea typeface="Open Sans"/>
                <a:cs typeface="Open Sans"/>
              </a:defRPr>
            </a:pPr>
            <a:r>
              <a:rPr sz="1245" b="0">
                <a:solidFill>
                  <a:srgbClr val="001450"/>
                </a:solidFill>
                <a:latin typeface="Open Sans"/>
                <a:ea typeface="Open Sans"/>
                <a:cs typeface="Open Sans"/>
              </a:rPr>
              <a:t>Hardware-oriented communication</a:t>
            </a:r>
          </a:p>
          <a:p>
            <a:pPr algn="l">
              <a:lnSpc>
                <a:spcPct val="105000"/>
              </a:lnSpc>
              <a:buNone/>
              <a:defRPr sz="1245" b="0">
                <a:solidFill>
                  <a:srgbClr val="001450"/>
                </a:solidFill>
                <a:latin typeface="Open Sans"/>
                <a:ea typeface="Open Sans"/>
                <a:cs typeface="Open Sans"/>
              </a:defRPr>
            </a:pPr>
            <a:r>
              <a:rPr sz="1245" b="0">
                <a:solidFill>
                  <a:srgbClr val="001450"/>
                </a:solidFill>
                <a:latin typeface="Open Sans"/>
                <a:ea typeface="Open Sans"/>
                <a:cs typeface="Open Sans"/>
              </a:rPr>
              <a:t>Sparse binary events map efficiently to parallel, low-latency FPGA datapaths.</a:t>
            </a:r>
          </a:p>
        </p:txBody>
      </p:sp>
      <p:sp>
        <p:nvSpPr>
          <p:cNvPr id="12" name="Thesis objective">
            <a:extLst>
              <a:ext uri="{FF2B5EF4-FFF2-40B4-BE49-F238E27FC236}">
                <a16:creationId xmlns:a16="http://schemas.microsoft.com/office/drawing/2014/main" id="{9ED24039-C300-0225-F5AA-0221BA6FD499}"/>
              </a:ext>
            </a:extLst>
          </p:cNvPr>
          <p:cNvSpPr>
            <a:spLocks noGrp="1"/>
          </p:cNvSpPr>
          <p:nvPr/>
        </p:nvSpPr>
        <p:spPr>
          <a:xfrm>
            <a:off x="876300" y="4572000"/>
            <a:ext cx="5572125" cy="1162050"/>
          </a:xfrm>
          <a:prstGeom prst="rect">
            <a:avLst/>
          </a:prstGeom>
          <a:solidFill>
            <a:srgbClr val="E3EAF7"/>
          </a:solidFill>
          <a:ln w="9525">
            <a:solidFill>
              <a:srgbClr val="97C6FF"/>
            </a:solidFill>
            <a:prstDash val="solid"/>
          </a:ln>
        </p:spPr>
        <p:txBody>
          <a:bodyPr wrap="square" lIns="152400" tIns="114300" rIns="152400" bIns="95250" anchor="ctr">
            <a:normAutofit/>
          </a:bodyPr>
          <a:lstStyle/>
          <a:p>
            <a:pPr algn="l">
              <a:lnSpc>
                <a:spcPct val="105000"/>
              </a:lnSpc>
              <a:spcAft>
                <a:spcPts val="6"/>
              </a:spcAft>
              <a:buNone/>
              <a:defRPr sz="1305" b="0">
                <a:solidFill>
                  <a:srgbClr val="001450"/>
                </a:solidFill>
                <a:latin typeface="Open Sans"/>
                <a:ea typeface="Open Sans"/>
                <a:cs typeface="Open Sans"/>
              </a:defRPr>
            </a:pPr>
            <a:r>
              <a:rPr sz="1305" b="0">
                <a:solidFill>
                  <a:srgbClr val="001450"/>
                </a:solidFill>
                <a:latin typeface="Open Sans"/>
                <a:ea typeface="Open Sans"/>
                <a:cs typeface="Open Sans"/>
              </a:rPr>
              <a:t>THESIS OBJECTIVE</a:t>
            </a:r>
          </a:p>
          <a:p>
            <a:pPr algn="l">
              <a:lnSpc>
                <a:spcPct val="105000"/>
              </a:lnSpc>
              <a:buNone/>
              <a:defRPr sz="1305" b="0">
                <a:solidFill>
                  <a:srgbClr val="001450"/>
                </a:solidFill>
                <a:latin typeface="Open Sans"/>
                <a:ea typeface="Open Sans"/>
                <a:cs typeface="Open Sans"/>
              </a:defRPr>
            </a:pPr>
            <a:r>
              <a:rPr sz="1305" b="0">
                <a:solidFill>
                  <a:srgbClr val="001450"/>
                </a:solidFill>
                <a:latin typeface="Open Sans"/>
                <a:ea typeface="Open Sans"/>
                <a:cs typeface="Open Sans"/>
              </a:rPr>
              <a:t>Implement a real-time SDSP learning module, integrate it with a simplified FPGA SNN, and make the training block dynamically reconfigurable.</a:t>
            </a:r>
          </a:p>
        </p:txBody>
      </p:sp>
      <p:pic>
        <p:nvPicPr>
          <p:cNvPr id="14" name="图片 13">
            <a:extLst>
              <a:ext uri="{FF2B5EF4-FFF2-40B4-BE49-F238E27FC236}">
                <a16:creationId xmlns:a16="http://schemas.microsoft.com/office/drawing/2014/main" id="{CC283D0D-45B0-C8BD-C7E6-B4117FFBB5CE}"/>
              </a:ext>
            </a:extLst>
          </p:cNvPr>
          <p:cNvPicPr>
            <a:picLocks noChangeAspect="1"/>
          </p:cNvPicPr>
          <p:nvPr/>
        </p:nvPicPr>
        <p:blipFill>
          <a:blip r:embed="rId3"/>
          <a:stretch/>
        </p:blipFill>
        <p:spPr>
          <a:xfrm>
            <a:off x="6975371" y="1581150"/>
            <a:ext cx="2775158" cy="2914650"/>
          </a:xfrm>
          <a:prstGeom prst="rect">
            <a:avLst/>
          </a:prstGeom>
        </p:spPr>
      </p:pic>
      <p:sp>
        <p:nvSpPr>
          <p:cNvPr id="16" name="ANN SNN caption">
            <a:extLst>
              <a:ext uri="{FF2B5EF4-FFF2-40B4-BE49-F238E27FC236}">
                <a16:creationId xmlns:a16="http://schemas.microsoft.com/office/drawing/2014/main" id="{6CBE78E8-96CD-4B5E-5F15-2D50817BE3E4}"/>
              </a:ext>
            </a:extLst>
          </p:cNvPr>
          <p:cNvSpPr>
            <a:spLocks noGrp="1"/>
          </p:cNvSpPr>
          <p:nvPr/>
        </p:nvSpPr>
        <p:spPr>
          <a:xfrm>
            <a:off x="6858000" y="4410075"/>
            <a:ext cx="3000375" cy="323850"/>
          </a:xfrm>
          <a:prstGeom prst="rect">
            <a:avLst/>
          </a:prstGeom>
          <a:noFill/>
          <a:ln w="0">
            <a:noFill/>
            <a:prstDash val="solid"/>
          </a:ln>
        </p:spPr>
        <p:txBody>
          <a:bodyPr wrap="square" lIns="0" tIns="0" rIns="0" bIns="0" anchor="ctr">
            <a:normAutofit/>
          </a:bodyPr>
          <a:lstStyle/>
          <a:p>
            <a:pPr algn="ctr">
              <a:lnSpc>
                <a:spcPct val="105000"/>
              </a:lnSpc>
              <a:buNone/>
              <a:defRPr sz="840" b="0">
                <a:solidFill>
                  <a:srgbClr val="566371"/>
                </a:solidFill>
                <a:latin typeface="Open Sans"/>
                <a:ea typeface="Open Sans"/>
                <a:cs typeface="Open Sans"/>
              </a:defRPr>
            </a:pPr>
            <a:r>
              <a:rPr sz="840" b="0">
                <a:solidFill>
                  <a:srgbClr val="566371"/>
                </a:solidFill>
                <a:latin typeface="Open Sans"/>
                <a:ea typeface="Open Sans"/>
                <a:cs typeface="Open Sans"/>
              </a:rPr>
              <a:t>ANN and SNN neuron models</a:t>
            </a:r>
          </a:p>
        </p:txBody>
      </p:sp>
      <p:pic>
        <p:nvPicPr>
          <p:cNvPr id="18" name="图片 17">
            <a:extLst>
              <a:ext uri="{FF2B5EF4-FFF2-40B4-BE49-F238E27FC236}">
                <a16:creationId xmlns:a16="http://schemas.microsoft.com/office/drawing/2014/main" id="{5D446AFB-BA05-CEAF-C0CA-4BB4941B2364}"/>
              </a:ext>
            </a:extLst>
          </p:cNvPr>
          <p:cNvPicPr>
            <a:picLocks noChangeAspect="1"/>
          </p:cNvPicPr>
          <p:nvPr/>
        </p:nvPicPr>
        <p:blipFill>
          <a:blip r:embed="rId4"/>
          <a:stretch/>
        </p:blipFill>
        <p:spPr>
          <a:xfrm>
            <a:off x="9782175" y="1925279"/>
            <a:ext cx="1600200" cy="1445342"/>
          </a:xfrm>
          <a:prstGeom prst="rect">
            <a:avLst/>
          </a:prstGeom>
        </p:spPr>
      </p:pic>
      <p:sp>
        <p:nvSpPr>
          <p:cNvPr id="20" name="Timing caption">
            <a:extLst>
              <a:ext uri="{FF2B5EF4-FFF2-40B4-BE49-F238E27FC236}">
                <a16:creationId xmlns:a16="http://schemas.microsoft.com/office/drawing/2014/main" id="{B13C9A1C-941E-E420-20D9-A858F247D356}"/>
              </a:ext>
            </a:extLst>
          </p:cNvPr>
          <p:cNvSpPr>
            <a:spLocks noGrp="1"/>
          </p:cNvSpPr>
          <p:nvPr/>
        </p:nvSpPr>
        <p:spPr>
          <a:xfrm>
            <a:off x="9677400" y="3409950"/>
            <a:ext cx="1809750" cy="476250"/>
          </a:xfrm>
          <a:prstGeom prst="rect">
            <a:avLst/>
          </a:prstGeom>
          <a:noFill/>
          <a:ln w="0">
            <a:noFill/>
            <a:prstDash val="solid"/>
          </a:ln>
        </p:spPr>
        <p:txBody>
          <a:bodyPr wrap="square" lIns="0" tIns="0" rIns="0" bIns="0" anchor="t">
            <a:normAutofit/>
          </a:bodyPr>
          <a:lstStyle/>
          <a:p>
            <a:pPr algn="ctr">
              <a:lnSpc>
                <a:spcPct val="105000"/>
              </a:lnSpc>
              <a:buNone/>
              <a:defRPr sz="840" b="0">
                <a:solidFill>
                  <a:srgbClr val="566371"/>
                </a:solidFill>
                <a:latin typeface="Open Sans"/>
                <a:ea typeface="Open Sans"/>
                <a:cs typeface="Open Sans"/>
              </a:defRPr>
            </a:pPr>
            <a:r>
              <a:rPr sz="840" b="0">
                <a:solidFill>
                  <a:srgbClr val="566371"/>
                </a:solidFill>
                <a:latin typeface="Open Sans"/>
                <a:ea typeface="Open Sans"/>
                <a:cs typeface="Open Sans"/>
              </a:rPr>
              <a:t>Spike timing carries temporal information</a:t>
            </a:r>
          </a:p>
        </p:txBody>
      </p:sp>
      <p:sp>
        <p:nvSpPr>
          <p:cNvPr id="22" name="Introduction visual takeaway">
            <a:extLst>
              <a:ext uri="{FF2B5EF4-FFF2-40B4-BE49-F238E27FC236}">
                <a16:creationId xmlns:a16="http://schemas.microsoft.com/office/drawing/2014/main" id="{A2F6B747-2799-47F0-D8E4-DF223F92D6D7}"/>
              </a:ext>
            </a:extLst>
          </p:cNvPr>
          <p:cNvSpPr>
            <a:spLocks noGrp="1"/>
          </p:cNvSpPr>
          <p:nvPr/>
        </p:nvSpPr>
        <p:spPr>
          <a:xfrm>
            <a:off x="7124700" y="4857750"/>
            <a:ext cx="4048125" cy="600075"/>
          </a:xfrm>
          <a:prstGeom prst="rect">
            <a:avLst/>
          </a:prstGeom>
          <a:noFill/>
          <a:ln w="0">
            <a:noFill/>
            <a:prstDash val="solid"/>
          </a:ln>
        </p:spPr>
        <p:txBody>
          <a:bodyPr wrap="square" lIns="0" tIns="0" rIns="0" bIns="0" anchor="ctr">
            <a:normAutofit/>
          </a:bodyPr>
          <a:lstStyle/>
          <a:p>
            <a:pPr algn="ctr">
              <a:lnSpc>
                <a:spcPct val="105000"/>
              </a:lnSpc>
              <a:buNone/>
              <a:defRPr sz="1388" b="1">
                <a:solidFill>
                  <a:srgbClr val="2F57B2"/>
                </a:solidFill>
                <a:latin typeface="Open Sans"/>
                <a:ea typeface="Open Sans"/>
                <a:cs typeface="Open Sans"/>
              </a:defRPr>
            </a:pPr>
            <a:r>
              <a:rPr sz="1388" b="1">
                <a:solidFill>
                  <a:srgbClr val="2F57B2"/>
                </a:solidFill>
                <a:latin typeface="Open Sans"/>
                <a:ea typeface="Open Sans"/>
                <a:cs typeface="Open Sans"/>
              </a:rPr>
              <a:t>Sparse spikes replace continuous activation traffic.</a:t>
            </a:r>
          </a:p>
        </p:txBody>
      </p:sp>
      <p:sp>
        <p:nvSpPr>
          <p:cNvPr id="24" name="Introduction source">
            <a:extLst>
              <a:ext uri="{FF2B5EF4-FFF2-40B4-BE49-F238E27FC236}">
                <a16:creationId xmlns:a16="http://schemas.microsoft.com/office/drawing/2014/main" id="{2E9C5C25-C9AE-7CBB-680D-BD0E146790BD}"/>
              </a:ext>
            </a:extLst>
          </p:cNvPr>
          <p:cNvSpPr>
            <a:spLocks noGrp="1"/>
          </p:cNvSpPr>
          <p:nvPr/>
        </p:nvSpPr>
        <p:spPr>
          <a:xfrm>
            <a:off x="7858125" y="5924907"/>
            <a:ext cx="4333875" cy="190500"/>
          </a:xfrm>
          <a:prstGeom prst="rect">
            <a:avLst/>
          </a:prstGeom>
          <a:noFill/>
          <a:ln w="0">
            <a:noFill/>
            <a:prstDash val="solid"/>
          </a:ln>
        </p:spPr>
        <p:txBody>
          <a:bodyPr wrap="square" lIns="0" tIns="0" rIns="0" bIns="0" anchor="t">
            <a:normAutofit/>
          </a:bodyPr>
          <a:lstStyle/>
          <a:p>
            <a:pPr algn="ctr">
              <a:lnSpc>
                <a:spcPct val="105000"/>
              </a:lnSpc>
              <a:buNone/>
              <a:defRPr sz="735" b="0">
                <a:solidFill>
                  <a:srgbClr val="566371"/>
                </a:solidFill>
                <a:latin typeface="Open Sans"/>
                <a:ea typeface="Open Sans"/>
                <a:cs typeface="Open Sans"/>
              </a:defRPr>
            </a:pPr>
            <a:r>
              <a:rPr lang="en-US" sz="735" b="0" dirty="0">
                <a:solidFill>
                  <a:srgbClr val="566371"/>
                </a:solidFill>
                <a:latin typeface="Open Sans"/>
                <a:ea typeface="Open Sans"/>
                <a:cs typeface="Open Sans"/>
              </a:rPr>
              <a:t>[1] </a:t>
            </a:r>
            <a:r>
              <a:rPr sz="735" b="0" dirty="0">
                <a:solidFill>
                  <a:srgbClr val="566371"/>
                </a:solidFill>
                <a:latin typeface="Open Sans"/>
                <a:ea typeface="Open Sans"/>
                <a:cs typeface="Open Sans"/>
              </a:rPr>
              <a:t>Figure source: supplied project deck; neuron comparison attributed there to Deng et al. (2020).</a:t>
            </a:r>
          </a:p>
        </p:txBody>
      </p:sp>
    </p:spTree>
    <p:extLst>
      <p:ext uri="{BB962C8B-B14F-4D97-AF65-F5344CB8AC3E}">
        <p14:creationId xmlns:p14="http://schemas.microsoft.com/office/powerpoint/2010/main" val="1485310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4E72D9-DDB9-A1B0-B8E3-EC4EC8302559}"/>
              </a:ext>
            </a:extLst>
          </p:cNvPr>
          <p:cNvSpPr>
            <a:spLocks noGrp="1"/>
          </p:cNvSpPr>
          <p:nvPr>
            <p:ph type="title"/>
          </p:nvPr>
        </p:nvSpPr>
        <p:spPr/>
        <p:txBody>
          <a:bodyPr/>
          <a:lstStyle/>
          <a:p>
            <a:r>
              <a:rPr lang="en-US" altLang="zh-CN" dirty="0"/>
              <a:t>Introduction &amp; Motivation</a:t>
            </a:r>
            <a:endParaRPr lang="zh-CN" altLang="en-US" dirty="0"/>
          </a:p>
        </p:txBody>
      </p:sp>
      <p:sp>
        <p:nvSpPr>
          <p:cNvPr id="26" name="Motivation statement">
            <a:extLst>
              <a:ext uri="{FF2B5EF4-FFF2-40B4-BE49-F238E27FC236}">
                <a16:creationId xmlns:a16="http://schemas.microsoft.com/office/drawing/2014/main" id="{2CCFA987-C1D0-3326-3571-12A9095C277F}"/>
              </a:ext>
            </a:extLst>
          </p:cNvPr>
          <p:cNvSpPr>
            <a:spLocks noGrp="1"/>
          </p:cNvSpPr>
          <p:nvPr/>
        </p:nvSpPr>
        <p:spPr>
          <a:xfrm>
            <a:off x="876300" y="1504950"/>
            <a:ext cx="5762625" cy="533400"/>
          </a:xfrm>
          <a:prstGeom prst="rect">
            <a:avLst/>
          </a:prstGeom>
          <a:noFill/>
          <a:ln w="0">
            <a:noFill/>
            <a:prstDash val="solid"/>
          </a:ln>
        </p:spPr>
        <p:txBody>
          <a:bodyPr wrap="square" lIns="0" tIns="0" rIns="0" bIns="0" anchor="t">
            <a:normAutofit/>
          </a:bodyPr>
          <a:lstStyle/>
          <a:p>
            <a:pPr algn="l">
              <a:lnSpc>
                <a:spcPct val="105000"/>
              </a:lnSpc>
              <a:buNone/>
              <a:defRPr sz="1613" b="1">
                <a:solidFill>
                  <a:srgbClr val="001450"/>
                </a:solidFill>
                <a:latin typeface="Open Sans"/>
                <a:ea typeface="Open Sans"/>
                <a:cs typeface="Open Sans"/>
              </a:defRPr>
            </a:pPr>
            <a:r>
              <a:rPr sz="1613" b="1">
                <a:solidFill>
                  <a:srgbClr val="001450"/>
                </a:solidFill>
                <a:latin typeface="Open Sans"/>
                <a:ea typeface="Open Sans"/>
                <a:cs typeface="Open Sans"/>
              </a:rPr>
              <a:t>Real-time edge intelligence requires learning hardware that can adapt without stopping the SNN.</a:t>
            </a:r>
          </a:p>
        </p:txBody>
      </p:sp>
      <p:sp>
        <p:nvSpPr>
          <p:cNvPr id="28" name="Reason 1 number">
            <a:extLst>
              <a:ext uri="{FF2B5EF4-FFF2-40B4-BE49-F238E27FC236}">
                <a16:creationId xmlns:a16="http://schemas.microsoft.com/office/drawing/2014/main" id="{FC88C34B-310F-3AD4-5571-9A51601F685D}"/>
              </a:ext>
            </a:extLst>
          </p:cNvPr>
          <p:cNvSpPr>
            <a:spLocks noGrp="1"/>
          </p:cNvSpPr>
          <p:nvPr/>
        </p:nvSpPr>
        <p:spPr>
          <a:xfrm>
            <a:off x="876300" y="2162175"/>
            <a:ext cx="381000" cy="400050"/>
          </a:xfrm>
          <a:prstGeom prst="rect">
            <a:avLst/>
          </a:prstGeom>
          <a:noFill/>
          <a:ln w="0">
            <a:noFill/>
            <a:prstDash val="solid"/>
          </a:ln>
        </p:spPr>
        <p:txBody>
          <a:bodyPr wrap="square" lIns="0" tIns="0" rIns="0" bIns="0" anchor="ctr">
            <a:normAutofit/>
          </a:bodyPr>
          <a:lstStyle/>
          <a:p>
            <a:pPr algn="ctr">
              <a:lnSpc>
                <a:spcPct val="105000"/>
              </a:lnSpc>
              <a:buNone/>
              <a:defRPr sz="2175" b="1">
                <a:solidFill>
                  <a:srgbClr val="2F57B2"/>
                </a:solidFill>
                <a:latin typeface="Open Sans"/>
                <a:ea typeface="Open Sans"/>
                <a:cs typeface="Open Sans"/>
              </a:defRPr>
            </a:pPr>
            <a:r>
              <a:rPr sz="2175" b="1">
                <a:solidFill>
                  <a:srgbClr val="2F57B2"/>
                </a:solidFill>
                <a:latin typeface="Open Sans"/>
                <a:ea typeface="Open Sans"/>
                <a:cs typeface="Open Sans"/>
              </a:rPr>
              <a:t>1</a:t>
            </a:r>
          </a:p>
        </p:txBody>
      </p:sp>
      <p:sp>
        <p:nvSpPr>
          <p:cNvPr id="30" name="Reason 1 text">
            <a:extLst>
              <a:ext uri="{FF2B5EF4-FFF2-40B4-BE49-F238E27FC236}">
                <a16:creationId xmlns:a16="http://schemas.microsoft.com/office/drawing/2014/main" id="{568DC353-3B89-C79A-D5F2-A773FE5254D8}"/>
              </a:ext>
            </a:extLst>
          </p:cNvPr>
          <p:cNvSpPr>
            <a:spLocks noGrp="1"/>
          </p:cNvSpPr>
          <p:nvPr/>
        </p:nvSpPr>
        <p:spPr>
          <a:xfrm>
            <a:off x="1400175" y="2190750"/>
            <a:ext cx="5143500" cy="628650"/>
          </a:xfrm>
          <a:prstGeom prst="rect">
            <a:avLst/>
          </a:prstGeom>
          <a:noFill/>
          <a:ln w="0">
            <a:noFill/>
            <a:prstDash val="solid"/>
          </a:ln>
        </p:spPr>
        <p:txBody>
          <a:bodyPr wrap="square" lIns="0" tIns="0" rIns="0" bIns="0" anchor="t">
            <a:normAutofit/>
          </a:bodyPr>
          <a:lstStyle/>
          <a:p>
            <a:pPr algn="l">
              <a:lnSpc>
                <a:spcPct val="105000"/>
              </a:lnSpc>
              <a:spcAft>
                <a:spcPts val="3"/>
              </a:spcAft>
              <a:buNone/>
              <a:defRPr sz="1223" b="0">
                <a:solidFill>
                  <a:srgbClr val="001450"/>
                </a:solidFill>
                <a:latin typeface="Open Sans"/>
                <a:ea typeface="Open Sans"/>
                <a:cs typeface="Open Sans"/>
              </a:defRPr>
            </a:pPr>
            <a:r>
              <a:rPr sz="1223" b="0">
                <a:solidFill>
                  <a:srgbClr val="001450"/>
                </a:solidFill>
                <a:latin typeface="Open Sans"/>
                <a:ea typeface="Open Sans"/>
                <a:cs typeface="Open Sans"/>
              </a:rPr>
              <a:t>Adapt at the edge</a:t>
            </a:r>
          </a:p>
          <a:p>
            <a:pPr algn="l">
              <a:lnSpc>
                <a:spcPct val="105000"/>
              </a:lnSpc>
              <a:buNone/>
              <a:defRPr sz="1223" b="0">
                <a:solidFill>
                  <a:srgbClr val="001450"/>
                </a:solidFill>
                <a:latin typeface="Open Sans"/>
                <a:ea typeface="Open Sans"/>
                <a:cs typeface="Open Sans"/>
              </a:defRPr>
            </a:pPr>
            <a:r>
              <a:rPr sz="1223" b="0">
                <a:solidFill>
                  <a:srgbClr val="001450"/>
                </a:solidFill>
                <a:latin typeface="Open Sans"/>
                <a:ea typeface="Open Sans"/>
                <a:cs typeface="Open Sans"/>
              </a:rPr>
              <a:t>Changing inputs and deployment conditions make offline-only training insufficient.</a:t>
            </a:r>
          </a:p>
        </p:txBody>
      </p:sp>
      <p:sp>
        <p:nvSpPr>
          <p:cNvPr id="32" name="Reason 2 number">
            <a:extLst>
              <a:ext uri="{FF2B5EF4-FFF2-40B4-BE49-F238E27FC236}">
                <a16:creationId xmlns:a16="http://schemas.microsoft.com/office/drawing/2014/main" id="{02089B50-21D0-499A-E335-64A56D70B9ED}"/>
              </a:ext>
            </a:extLst>
          </p:cNvPr>
          <p:cNvSpPr>
            <a:spLocks noGrp="1"/>
          </p:cNvSpPr>
          <p:nvPr/>
        </p:nvSpPr>
        <p:spPr>
          <a:xfrm>
            <a:off x="876300" y="3019425"/>
            <a:ext cx="381000" cy="400050"/>
          </a:xfrm>
          <a:prstGeom prst="rect">
            <a:avLst/>
          </a:prstGeom>
          <a:noFill/>
          <a:ln w="0">
            <a:noFill/>
            <a:prstDash val="solid"/>
          </a:ln>
        </p:spPr>
        <p:txBody>
          <a:bodyPr wrap="square" lIns="0" tIns="0" rIns="0" bIns="0" anchor="ctr">
            <a:normAutofit/>
          </a:bodyPr>
          <a:lstStyle/>
          <a:p>
            <a:pPr algn="ctr">
              <a:lnSpc>
                <a:spcPct val="105000"/>
              </a:lnSpc>
              <a:buNone/>
              <a:defRPr sz="2175" b="1">
                <a:solidFill>
                  <a:srgbClr val="2F57B2"/>
                </a:solidFill>
                <a:latin typeface="Open Sans"/>
                <a:ea typeface="Open Sans"/>
                <a:cs typeface="Open Sans"/>
              </a:defRPr>
            </a:pPr>
            <a:r>
              <a:rPr sz="2175" b="1">
                <a:solidFill>
                  <a:srgbClr val="2F57B2"/>
                </a:solidFill>
                <a:latin typeface="Open Sans"/>
                <a:ea typeface="Open Sans"/>
                <a:cs typeface="Open Sans"/>
              </a:rPr>
              <a:t>2</a:t>
            </a:r>
          </a:p>
        </p:txBody>
      </p:sp>
      <p:sp>
        <p:nvSpPr>
          <p:cNvPr id="34" name="Reason 2 text">
            <a:extLst>
              <a:ext uri="{FF2B5EF4-FFF2-40B4-BE49-F238E27FC236}">
                <a16:creationId xmlns:a16="http://schemas.microsoft.com/office/drawing/2014/main" id="{66DCBA51-DF3E-C3C2-F90E-9B3B597F958E}"/>
              </a:ext>
            </a:extLst>
          </p:cNvPr>
          <p:cNvSpPr>
            <a:spLocks noGrp="1"/>
          </p:cNvSpPr>
          <p:nvPr/>
        </p:nvSpPr>
        <p:spPr>
          <a:xfrm>
            <a:off x="1400175" y="3048000"/>
            <a:ext cx="5143500" cy="628650"/>
          </a:xfrm>
          <a:prstGeom prst="rect">
            <a:avLst/>
          </a:prstGeom>
          <a:noFill/>
          <a:ln w="0">
            <a:noFill/>
            <a:prstDash val="solid"/>
          </a:ln>
        </p:spPr>
        <p:txBody>
          <a:bodyPr wrap="square" lIns="0" tIns="0" rIns="0" bIns="0" anchor="t">
            <a:normAutofit/>
          </a:bodyPr>
          <a:lstStyle/>
          <a:p>
            <a:pPr algn="l">
              <a:lnSpc>
                <a:spcPct val="105000"/>
              </a:lnSpc>
              <a:spcAft>
                <a:spcPts val="3"/>
              </a:spcAft>
              <a:buNone/>
              <a:defRPr sz="1223" b="0">
                <a:solidFill>
                  <a:srgbClr val="001450"/>
                </a:solidFill>
                <a:latin typeface="Open Sans"/>
                <a:ea typeface="Open Sans"/>
                <a:cs typeface="Open Sans"/>
              </a:defRPr>
            </a:pPr>
            <a:r>
              <a:rPr sz="1223" b="0">
                <a:solidFill>
                  <a:srgbClr val="001450"/>
                </a:solidFill>
                <a:latin typeface="Open Sans"/>
                <a:ea typeface="Open Sans"/>
                <a:cs typeface="Open Sans"/>
              </a:rPr>
              <a:t>Keep learning local</a:t>
            </a:r>
          </a:p>
          <a:p>
            <a:pPr algn="l">
              <a:lnSpc>
                <a:spcPct val="105000"/>
              </a:lnSpc>
              <a:buNone/>
              <a:defRPr sz="1223" b="0">
                <a:solidFill>
                  <a:srgbClr val="001450"/>
                </a:solidFill>
                <a:latin typeface="Open Sans"/>
                <a:ea typeface="Open Sans"/>
                <a:cs typeface="Open Sans"/>
              </a:defRPr>
            </a:pPr>
            <a:r>
              <a:rPr sz="1223" b="0">
                <a:solidFill>
                  <a:srgbClr val="001450"/>
                </a:solidFill>
                <a:latin typeface="Open Sans"/>
                <a:ea typeface="Open Sans"/>
                <a:cs typeface="Open Sans"/>
              </a:rPr>
              <a:t>Global gradients and heavy memory traffic conflict with low-latency FPGA execution; SDSP uses local spike-driven updates.</a:t>
            </a:r>
          </a:p>
        </p:txBody>
      </p:sp>
      <p:sp>
        <p:nvSpPr>
          <p:cNvPr id="36" name="Reason 3 number">
            <a:extLst>
              <a:ext uri="{FF2B5EF4-FFF2-40B4-BE49-F238E27FC236}">
                <a16:creationId xmlns:a16="http://schemas.microsoft.com/office/drawing/2014/main" id="{75CA71FE-BD4C-A9F6-ACB7-6E90E00FB596}"/>
              </a:ext>
            </a:extLst>
          </p:cNvPr>
          <p:cNvSpPr>
            <a:spLocks noGrp="1"/>
          </p:cNvSpPr>
          <p:nvPr/>
        </p:nvSpPr>
        <p:spPr>
          <a:xfrm>
            <a:off x="876300" y="3971925"/>
            <a:ext cx="381000" cy="400050"/>
          </a:xfrm>
          <a:prstGeom prst="rect">
            <a:avLst/>
          </a:prstGeom>
          <a:noFill/>
          <a:ln w="0">
            <a:noFill/>
            <a:prstDash val="solid"/>
          </a:ln>
        </p:spPr>
        <p:txBody>
          <a:bodyPr wrap="square" lIns="0" tIns="0" rIns="0" bIns="0" anchor="ctr">
            <a:normAutofit/>
          </a:bodyPr>
          <a:lstStyle/>
          <a:p>
            <a:pPr algn="ctr">
              <a:lnSpc>
                <a:spcPct val="105000"/>
              </a:lnSpc>
              <a:buNone/>
              <a:defRPr sz="2175" b="1">
                <a:solidFill>
                  <a:srgbClr val="2F57B2"/>
                </a:solidFill>
                <a:latin typeface="Open Sans"/>
                <a:ea typeface="Open Sans"/>
                <a:cs typeface="Open Sans"/>
              </a:defRPr>
            </a:pPr>
            <a:r>
              <a:rPr sz="2175" b="1">
                <a:solidFill>
                  <a:srgbClr val="2F57B2"/>
                </a:solidFill>
                <a:latin typeface="Open Sans"/>
                <a:ea typeface="Open Sans"/>
                <a:cs typeface="Open Sans"/>
              </a:rPr>
              <a:t>3</a:t>
            </a:r>
          </a:p>
        </p:txBody>
      </p:sp>
      <p:sp>
        <p:nvSpPr>
          <p:cNvPr id="38" name="Reason 3 text">
            <a:extLst>
              <a:ext uri="{FF2B5EF4-FFF2-40B4-BE49-F238E27FC236}">
                <a16:creationId xmlns:a16="http://schemas.microsoft.com/office/drawing/2014/main" id="{69C565B2-72F1-E919-F81C-F078E55E124F}"/>
              </a:ext>
            </a:extLst>
          </p:cNvPr>
          <p:cNvSpPr>
            <a:spLocks noGrp="1"/>
          </p:cNvSpPr>
          <p:nvPr/>
        </p:nvSpPr>
        <p:spPr>
          <a:xfrm>
            <a:off x="1400175" y="4000500"/>
            <a:ext cx="5143500" cy="628650"/>
          </a:xfrm>
          <a:prstGeom prst="rect">
            <a:avLst/>
          </a:prstGeom>
          <a:noFill/>
          <a:ln w="0">
            <a:noFill/>
            <a:prstDash val="solid"/>
          </a:ln>
        </p:spPr>
        <p:txBody>
          <a:bodyPr wrap="square" lIns="0" tIns="0" rIns="0" bIns="0" anchor="t">
            <a:normAutofit/>
          </a:bodyPr>
          <a:lstStyle/>
          <a:p>
            <a:pPr algn="l">
              <a:lnSpc>
                <a:spcPct val="105000"/>
              </a:lnSpc>
              <a:spcAft>
                <a:spcPts val="3"/>
              </a:spcAft>
              <a:buNone/>
              <a:defRPr sz="1223" b="0">
                <a:solidFill>
                  <a:srgbClr val="001450"/>
                </a:solidFill>
                <a:latin typeface="Open Sans"/>
                <a:ea typeface="Open Sans"/>
                <a:cs typeface="Open Sans"/>
              </a:defRPr>
            </a:pPr>
            <a:r>
              <a:rPr sz="1223" b="0">
                <a:solidFill>
                  <a:srgbClr val="001450"/>
                </a:solidFill>
                <a:latin typeface="Open Sans"/>
                <a:ea typeface="Open Sans"/>
                <a:cs typeface="Open Sans"/>
              </a:rPr>
              <a:t>Change the training logic at runtime</a:t>
            </a:r>
          </a:p>
          <a:p>
            <a:pPr algn="l">
              <a:lnSpc>
                <a:spcPct val="105000"/>
              </a:lnSpc>
              <a:buNone/>
              <a:defRPr sz="1223" b="0">
                <a:solidFill>
                  <a:srgbClr val="001450"/>
                </a:solidFill>
                <a:latin typeface="Open Sans"/>
                <a:ea typeface="Open Sans"/>
                <a:cs typeface="Open Sans"/>
              </a:defRPr>
            </a:pPr>
            <a:r>
              <a:rPr sz="1223" b="0">
                <a:solidFill>
                  <a:srgbClr val="001450"/>
                </a:solidFill>
                <a:latin typeface="Open Sans"/>
                <a:ea typeface="Open Sans"/>
                <a:cs typeface="Open Sans"/>
              </a:rPr>
              <a:t>Partial Reconfiguration can exchange the training block while the remaining SNN continues to operate.</a:t>
            </a:r>
          </a:p>
        </p:txBody>
      </p:sp>
      <p:sp>
        <p:nvSpPr>
          <p:cNvPr id="40" name="Evaluation scope">
            <a:extLst>
              <a:ext uri="{FF2B5EF4-FFF2-40B4-BE49-F238E27FC236}">
                <a16:creationId xmlns:a16="http://schemas.microsoft.com/office/drawing/2014/main" id="{89CAA35C-5E1D-7A74-4E61-6D78A1A07EB5}"/>
              </a:ext>
            </a:extLst>
          </p:cNvPr>
          <p:cNvSpPr>
            <a:spLocks noGrp="1"/>
          </p:cNvSpPr>
          <p:nvPr/>
        </p:nvSpPr>
        <p:spPr>
          <a:xfrm>
            <a:off x="876300" y="5010150"/>
            <a:ext cx="5762625" cy="723900"/>
          </a:xfrm>
          <a:prstGeom prst="rect">
            <a:avLst/>
          </a:prstGeom>
          <a:solidFill>
            <a:srgbClr val="F2F5FA"/>
          </a:solidFill>
          <a:ln w="9525">
            <a:solidFill>
              <a:srgbClr val="C7CED9"/>
            </a:solidFill>
            <a:prstDash val="solid"/>
          </a:ln>
        </p:spPr>
        <p:txBody>
          <a:bodyPr wrap="square" lIns="133350" tIns="85725" rIns="133350" bIns="76200" anchor="ctr">
            <a:normAutofit fontScale="98698" lnSpcReduction="10000"/>
          </a:bodyPr>
          <a:lstStyle/>
          <a:p>
            <a:pPr algn="l">
              <a:lnSpc>
                <a:spcPct val="105000"/>
              </a:lnSpc>
              <a:spcAft>
                <a:spcPts val="4"/>
              </a:spcAft>
              <a:buNone/>
              <a:defRPr sz="1185" b="0">
                <a:solidFill>
                  <a:srgbClr val="001450"/>
                </a:solidFill>
                <a:latin typeface="Open Sans"/>
                <a:ea typeface="Open Sans"/>
                <a:cs typeface="Open Sans"/>
              </a:defRPr>
            </a:pPr>
            <a:r>
              <a:rPr sz="1185" b="0">
                <a:solidFill>
                  <a:srgbClr val="001450"/>
                </a:solidFill>
                <a:latin typeface="Open Sans"/>
                <a:ea typeface="Open Sans"/>
                <a:cs typeface="Open Sans"/>
              </a:rPr>
              <a:t>EVALUATION</a:t>
            </a:r>
          </a:p>
          <a:p>
            <a:pPr algn="l">
              <a:lnSpc>
                <a:spcPct val="105000"/>
              </a:lnSpc>
              <a:buNone/>
              <a:defRPr sz="1185" b="0">
                <a:solidFill>
                  <a:srgbClr val="001450"/>
                </a:solidFill>
                <a:latin typeface="Open Sans"/>
                <a:ea typeface="Open Sans"/>
                <a:cs typeface="Open Sans"/>
              </a:defRPr>
            </a:pPr>
            <a:r>
              <a:rPr sz="1185" b="0">
                <a:solidFill>
                  <a:srgbClr val="001450"/>
                </a:solidFill>
                <a:latin typeface="Open Sans"/>
                <a:ea typeface="Open Sans"/>
                <a:cs typeface="Open Sans"/>
              </a:rPr>
              <a:t>Resources, power, latency, maximum frequency, accuracy, and reconfiguration time.</a:t>
            </a:r>
          </a:p>
        </p:txBody>
      </p:sp>
      <p:pic>
        <p:nvPicPr>
          <p:cNvPr id="42" name="图片 41">
            <a:extLst>
              <a:ext uri="{FF2B5EF4-FFF2-40B4-BE49-F238E27FC236}">
                <a16:creationId xmlns:a16="http://schemas.microsoft.com/office/drawing/2014/main" id="{2DD2EE01-080D-ED03-F93C-FE373DCCBF54}"/>
              </a:ext>
            </a:extLst>
          </p:cNvPr>
          <p:cNvPicPr>
            <a:picLocks noChangeAspect="1"/>
          </p:cNvPicPr>
          <p:nvPr/>
        </p:nvPicPr>
        <p:blipFill>
          <a:blip r:embed="rId3"/>
          <a:stretch/>
        </p:blipFill>
        <p:spPr>
          <a:xfrm>
            <a:off x="7086600" y="2162175"/>
            <a:ext cx="4295775" cy="2313110"/>
          </a:xfrm>
          <a:prstGeom prst="rect">
            <a:avLst/>
          </a:prstGeom>
        </p:spPr>
      </p:pic>
      <p:sp>
        <p:nvSpPr>
          <p:cNvPr id="44" name="PR caption">
            <a:extLst>
              <a:ext uri="{FF2B5EF4-FFF2-40B4-BE49-F238E27FC236}">
                <a16:creationId xmlns:a16="http://schemas.microsoft.com/office/drawing/2014/main" id="{0B6306B3-8AD0-A9F1-A244-95F2BE5A8897}"/>
              </a:ext>
            </a:extLst>
          </p:cNvPr>
          <p:cNvSpPr>
            <a:spLocks noGrp="1"/>
          </p:cNvSpPr>
          <p:nvPr/>
        </p:nvSpPr>
        <p:spPr>
          <a:xfrm>
            <a:off x="7143750" y="4466492"/>
            <a:ext cx="4191000" cy="238125"/>
          </a:xfrm>
          <a:prstGeom prst="rect">
            <a:avLst/>
          </a:prstGeom>
          <a:noFill/>
          <a:ln w="0">
            <a:noFill/>
            <a:prstDash val="solid"/>
          </a:ln>
        </p:spPr>
        <p:txBody>
          <a:bodyPr wrap="square" lIns="0" tIns="0" rIns="0" bIns="0" anchor="t">
            <a:normAutofit/>
          </a:bodyPr>
          <a:lstStyle/>
          <a:p>
            <a:pPr algn="ctr">
              <a:lnSpc>
                <a:spcPct val="105000"/>
              </a:lnSpc>
              <a:buNone/>
              <a:defRPr sz="840" b="0">
                <a:solidFill>
                  <a:srgbClr val="566371"/>
                </a:solidFill>
                <a:latin typeface="Open Sans"/>
                <a:ea typeface="Open Sans"/>
                <a:cs typeface="Open Sans"/>
              </a:defRPr>
            </a:pPr>
            <a:r>
              <a:rPr sz="840" b="0" dirty="0">
                <a:solidFill>
                  <a:srgbClr val="566371"/>
                </a:solidFill>
                <a:latin typeface="Open Sans"/>
                <a:ea typeface="Open Sans"/>
                <a:cs typeface="Open Sans"/>
              </a:rPr>
              <a:t>Partial Reconfiguration changes one hardware partition at runtime.</a:t>
            </a:r>
          </a:p>
        </p:txBody>
      </p:sp>
      <p:sp>
        <p:nvSpPr>
          <p:cNvPr id="47" name="文本框 46">
            <a:extLst>
              <a:ext uri="{FF2B5EF4-FFF2-40B4-BE49-F238E27FC236}">
                <a16:creationId xmlns:a16="http://schemas.microsoft.com/office/drawing/2014/main" id="{305F1CB1-6D7E-3CE9-EE81-08CF0692D5FD}"/>
              </a:ext>
            </a:extLst>
          </p:cNvPr>
          <p:cNvSpPr txBox="1"/>
          <p:nvPr/>
        </p:nvSpPr>
        <p:spPr>
          <a:xfrm>
            <a:off x="1933303" y="5878652"/>
            <a:ext cx="10258697" cy="206210"/>
          </a:xfrm>
          <a:prstGeom prst="rect">
            <a:avLst/>
          </a:prstGeom>
          <a:noFill/>
        </p:spPr>
        <p:txBody>
          <a:bodyPr wrap="square" rtlCol="0">
            <a:spAutoFit/>
          </a:bodyPr>
          <a:lstStyle/>
          <a:p>
            <a:pPr algn="ctr"/>
            <a:r>
              <a:rPr lang="en-US" altLang="zh-CN" sz="740" dirty="0">
                <a:latin typeface="Open Sans" panose="020B0606030504020204" pitchFamily="34" charset="0"/>
                <a:ea typeface="Open Sans" panose="020B0606030504020204" pitchFamily="34" charset="0"/>
                <a:cs typeface="Open Sans" panose="020B0606030504020204" pitchFamily="34" charset="0"/>
              </a:rPr>
              <a:t>[2] Gambardella, Giulio,</a:t>
            </a:r>
            <a:r>
              <a:rPr lang="zh-CN" altLang="en-US" sz="740" dirty="0">
                <a:latin typeface="Open Sans" panose="020B0606030504020204" pitchFamily="34" charset="0"/>
                <a:cs typeface="Open Sans" panose="020B0606030504020204" pitchFamily="34" charset="0"/>
              </a:rPr>
              <a:t> </a:t>
            </a:r>
            <a:r>
              <a:rPr lang="en-US" altLang="zh-CN" sz="740" dirty="0">
                <a:latin typeface="Open Sans" panose="020B0606030504020204" pitchFamily="34" charset="0"/>
                <a:ea typeface="Open Sans" panose="020B0606030504020204" pitchFamily="34" charset="0"/>
                <a:cs typeface="Open Sans" panose="020B0606030504020204" pitchFamily="34" charset="0"/>
              </a:rPr>
              <a:t>Di Carlo, Stefano, </a:t>
            </a:r>
            <a:r>
              <a:rPr lang="en-US" altLang="zh-CN" sz="740" dirty="0" err="1">
                <a:latin typeface="Open Sans" panose="020B0606030504020204" pitchFamily="34" charset="0"/>
                <a:ea typeface="Open Sans" panose="020B0606030504020204" pitchFamily="34" charset="0"/>
                <a:cs typeface="Open Sans" panose="020B0606030504020204" pitchFamily="34" charset="0"/>
              </a:rPr>
              <a:t>Prinetto</a:t>
            </a:r>
            <a:r>
              <a:rPr lang="en-US" altLang="zh-CN" sz="740" dirty="0">
                <a:latin typeface="Open Sans" panose="020B0606030504020204" pitchFamily="34" charset="0"/>
                <a:ea typeface="Open Sans" panose="020B0606030504020204" pitchFamily="34" charset="0"/>
                <a:cs typeface="Open Sans" panose="020B0606030504020204" pitchFamily="34" charset="0"/>
              </a:rPr>
              <a:t>, Paolo, </a:t>
            </a:r>
            <a:r>
              <a:rPr lang="en-US" altLang="zh-CN" sz="740" dirty="0" err="1">
                <a:latin typeface="Open Sans" panose="020B0606030504020204" pitchFamily="34" charset="0"/>
                <a:ea typeface="Open Sans" panose="020B0606030504020204" pitchFamily="34" charset="0"/>
                <a:cs typeface="Open Sans" panose="020B0606030504020204" pitchFamily="34" charset="0"/>
              </a:rPr>
              <a:t>Rolfo</a:t>
            </a:r>
            <a:r>
              <a:rPr lang="en-US" altLang="zh-CN" sz="740" dirty="0">
                <a:latin typeface="Open Sans" panose="020B0606030504020204" pitchFamily="34" charset="0"/>
                <a:ea typeface="Open Sans" panose="020B0606030504020204" pitchFamily="34" charset="0"/>
                <a:cs typeface="Open Sans" panose="020B0606030504020204" pitchFamily="34" charset="0"/>
              </a:rPr>
              <a:t>, Daniele, Trotta, Pascal, Bao, Trong. 2013. </a:t>
            </a:r>
            <a:r>
              <a:rPr lang="en-US" altLang="zh-CN" sz="740" dirty="0" err="1">
                <a:latin typeface="Open Sans" panose="020B0606030504020204" pitchFamily="34" charset="0"/>
                <a:ea typeface="Open Sans" panose="020B0606030504020204" pitchFamily="34" charset="0"/>
                <a:cs typeface="Open Sans" panose="020B0606030504020204" pitchFamily="34" charset="0"/>
              </a:rPr>
              <a:t>ZipStream</a:t>
            </a:r>
            <a:r>
              <a:rPr lang="en-US" altLang="zh-CN" sz="740" dirty="0">
                <a:latin typeface="Open Sans" panose="020B0606030504020204" pitchFamily="34" charset="0"/>
                <a:ea typeface="Open Sans" panose="020B0606030504020204" pitchFamily="34" charset="0"/>
                <a:cs typeface="Open Sans" panose="020B0606030504020204" pitchFamily="34" charset="0"/>
              </a:rPr>
              <a:t>: Improving dependability in dynamic partial reconfiguration. 2013 8th IEEE Design and Test Symposium, IDT 2013</a:t>
            </a:r>
            <a:endParaRPr lang="zh-CN" altLang="en-US" sz="740" dirty="0">
              <a:latin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8899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147FEF1C-A020-41BB-B60F-CFE6CE48BA58}"/>
              </a:ext>
            </a:extLst>
          </p:cNvPr>
          <p:cNvSpPr>
            <a:spLocks noGrp="1"/>
          </p:cNvSpPr>
          <p:nvPr>
            <p:ph type="title"/>
          </p:nvPr>
        </p:nvSpPr>
        <p:spPr/>
        <p:txBody>
          <a:bodyPr/>
          <a:lstStyle/>
          <a:p>
            <a:r>
              <a:rPr lang="de-DE" dirty="0"/>
              <a:t>Related Work</a:t>
            </a:r>
          </a:p>
        </p:txBody>
      </p:sp>
      <p:graphicFrame>
        <p:nvGraphicFramePr>
          <p:cNvPr id="4" name="Online-learning SNN hardware comparison">
            <a:extLst>
              <a:ext uri="{FF2B5EF4-FFF2-40B4-BE49-F238E27FC236}">
                <a16:creationId xmlns:a16="http://schemas.microsoft.com/office/drawing/2014/main" id="{0E50047F-A22C-C61E-9FE7-7F68F8A0C030}"/>
              </a:ext>
            </a:extLst>
          </p:cNvPr>
          <p:cNvGraphicFramePr/>
          <p:nvPr>
            <p:extLst>
              <p:ext uri="{D42A27DB-BD31-4B8C-83A1-F6EECF244321}">
                <p14:modId xmlns:p14="http://schemas.microsoft.com/office/powerpoint/2010/main" val="73990409"/>
              </p:ext>
            </p:extLst>
          </p:nvPr>
        </p:nvGraphicFramePr>
        <p:xfrm>
          <a:off x="873157" y="1257300"/>
          <a:ext cx="10582275" cy="4078034"/>
        </p:xfrm>
        <a:graphic>
          <a:graphicData uri="http://schemas.openxmlformats.org/drawingml/2006/table">
            <a:tbl>
              <a:tblPr/>
              <a:tblGrid>
                <a:gridCol w="1381125">
                  <a:extLst>
                    <a:ext uri="{9D8B030D-6E8A-4147-A177-3AD203B41FA5}">
                      <a16:colId xmlns:a16="http://schemas.microsoft.com/office/drawing/2014/main" val="20000"/>
                    </a:ext>
                  </a:extLst>
                </a:gridCol>
                <a:gridCol w="1314450">
                  <a:extLst>
                    <a:ext uri="{9D8B030D-6E8A-4147-A177-3AD203B41FA5}">
                      <a16:colId xmlns:a16="http://schemas.microsoft.com/office/drawing/2014/main" val="20001"/>
                    </a:ext>
                  </a:extLst>
                </a:gridCol>
                <a:gridCol w="1314450">
                  <a:extLst>
                    <a:ext uri="{9D8B030D-6E8A-4147-A177-3AD203B41FA5}">
                      <a16:colId xmlns:a16="http://schemas.microsoft.com/office/drawing/2014/main" val="20002"/>
                    </a:ext>
                  </a:extLst>
                </a:gridCol>
                <a:gridCol w="1314450">
                  <a:extLst>
                    <a:ext uri="{9D8B030D-6E8A-4147-A177-3AD203B41FA5}">
                      <a16:colId xmlns:a16="http://schemas.microsoft.com/office/drawing/2014/main" val="20003"/>
                    </a:ext>
                  </a:extLst>
                </a:gridCol>
                <a:gridCol w="1314450">
                  <a:extLst>
                    <a:ext uri="{9D8B030D-6E8A-4147-A177-3AD203B41FA5}">
                      <a16:colId xmlns:a16="http://schemas.microsoft.com/office/drawing/2014/main" val="20004"/>
                    </a:ext>
                  </a:extLst>
                </a:gridCol>
                <a:gridCol w="1314450">
                  <a:extLst>
                    <a:ext uri="{9D8B030D-6E8A-4147-A177-3AD203B41FA5}">
                      <a16:colId xmlns:a16="http://schemas.microsoft.com/office/drawing/2014/main" val="20005"/>
                    </a:ext>
                  </a:extLst>
                </a:gridCol>
                <a:gridCol w="1314450">
                  <a:extLst>
                    <a:ext uri="{9D8B030D-6E8A-4147-A177-3AD203B41FA5}">
                      <a16:colId xmlns:a16="http://schemas.microsoft.com/office/drawing/2014/main" val="20006"/>
                    </a:ext>
                  </a:extLst>
                </a:gridCol>
                <a:gridCol w="1314450">
                  <a:extLst>
                    <a:ext uri="{9D8B030D-6E8A-4147-A177-3AD203B41FA5}">
                      <a16:colId xmlns:a16="http://schemas.microsoft.com/office/drawing/2014/main" val="20007"/>
                    </a:ext>
                  </a:extLst>
                </a:gridCol>
              </a:tblGrid>
              <a:tr h="400050">
                <a:tc>
                  <a:txBody>
                    <a:bodyPr/>
                    <a:lstStyle/>
                    <a:p>
                      <a:pPr algn="ctr">
                        <a:buNone/>
                      </a:pPr>
                      <a:r>
                        <a:rPr sz="878" b="1">
                          <a:solidFill>
                            <a:srgbClr val="FFFFFF"/>
                          </a:solidFill>
                          <a:latin typeface="Open Sans"/>
                          <a:ea typeface="Open Sans"/>
                          <a:cs typeface="Open Sans"/>
                        </a:rPr>
                        <a:t>Work</a:t>
                      </a:r>
                    </a:p>
                  </a:txBody>
                  <a:tcPr marL="28575" marR="28575" marT="19050" marB="19050" anchor="ctr">
                    <a:solidFill>
                      <a:srgbClr val="00008C"/>
                    </a:solidFill>
                  </a:tcPr>
                </a:tc>
                <a:tc>
                  <a:txBody>
                    <a:bodyPr/>
                    <a:lstStyle/>
                    <a:p>
                      <a:pPr algn="ctr"/>
                      <a:r>
                        <a:rPr lang="en-US" altLang="zh-CN" sz="878" b="1" dirty="0">
                          <a:solidFill>
                            <a:srgbClr val="FFFFFF"/>
                          </a:solidFill>
                          <a:latin typeface="+mn-lt"/>
                          <a:ea typeface="Open Sans"/>
                          <a:cs typeface="Open Sans"/>
                        </a:rPr>
                        <a:t>[3] ODIN</a:t>
                      </a:r>
                    </a:p>
                    <a:p>
                      <a:pPr algn="ctr"/>
                      <a:r>
                        <a:rPr lang="en-US" altLang="zh-CN" sz="878" b="1" dirty="0">
                          <a:solidFill>
                            <a:srgbClr val="FFFFFF"/>
                          </a:solidFill>
                          <a:latin typeface="+mn-lt"/>
                          <a:ea typeface="Open Sans"/>
                          <a:cs typeface="Open Sans"/>
                        </a:rPr>
                        <a:t>Frenkel et al.</a:t>
                      </a:r>
                    </a:p>
                    <a:p>
                      <a:pPr algn="ctr"/>
                      <a:r>
                        <a:rPr lang="en-US" altLang="zh-CN" sz="878" b="1" dirty="0">
                          <a:solidFill>
                            <a:srgbClr val="FFFFFF"/>
                          </a:solidFill>
                          <a:latin typeface="+mn-lt"/>
                          <a:ea typeface="Open Sans"/>
                          <a:cs typeface="Open Sans"/>
                        </a:rPr>
                        <a:t>(2019, </a:t>
                      </a:r>
                      <a:r>
                        <a:rPr lang="en-US" altLang="zh-CN" sz="878" b="1" dirty="0" err="1">
                          <a:solidFill>
                            <a:srgbClr val="FFFFFF"/>
                          </a:solidFill>
                          <a:latin typeface="+mn-lt"/>
                          <a:ea typeface="Open Sans"/>
                          <a:cs typeface="Open Sans"/>
                        </a:rPr>
                        <a:t>TBioCAS</a:t>
                      </a:r>
                      <a:r>
                        <a:rPr lang="en-US" altLang="zh-CN" sz="878" b="1" dirty="0">
                          <a:solidFill>
                            <a:srgbClr val="FFFFFF"/>
                          </a:solidFill>
                          <a:latin typeface="+mn-lt"/>
                          <a:ea typeface="Open Sans"/>
                          <a:cs typeface="Open Sans"/>
                        </a:rPr>
                        <a:t>)</a:t>
                      </a:r>
                      <a:endParaRPr sz="878" b="1" dirty="0">
                        <a:solidFill>
                          <a:srgbClr val="FFFFFF"/>
                        </a:solidFill>
                        <a:latin typeface="Open Sans"/>
                        <a:ea typeface="Open Sans"/>
                        <a:cs typeface="Open Sans"/>
                      </a:endParaRPr>
                    </a:p>
                  </a:txBody>
                  <a:tcPr marL="28575" marR="28575" marT="19050" marB="19050" anchor="ctr">
                    <a:solidFill>
                      <a:srgbClr val="00008C"/>
                    </a:solidFill>
                  </a:tcPr>
                </a:tc>
                <a:tc>
                  <a:txBody>
                    <a:bodyPr/>
                    <a:lstStyle/>
                    <a:p>
                      <a:pPr algn="ctr"/>
                      <a:r>
                        <a:rPr lang="en-US" altLang="zh-CN" sz="878" b="1" dirty="0">
                          <a:solidFill>
                            <a:srgbClr val="FFFFFF"/>
                          </a:solidFill>
                          <a:latin typeface="+mn-lt"/>
                          <a:ea typeface="Open Sans"/>
                          <a:cs typeface="Open Sans"/>
                        </a:rPr>
                        <a:t>[4] </a:t>
                      </a:r>
                      <a:r>
                        <a:rPr lang="en-US" altLang="zh-CN" sz="878" b="1" dirty="0" err="1">
                          <a:solidFill>
                            <a:srgbClr val="FFFFFF"/>
                          </a:solidFill>
                          <a:latin typeface="+mn-lt"/>
                          <a:ea typeface="Open Sans"/>
                          <a:cs typeface="Open Sans"/>
                        </a:rPr>
                        <a:t>MorphIC</a:t>
                      </a:r>
                      <a:endParaRPr lang="en-US" altLang="zh-CN" sz="878" b="1" dirty="0">
                        <a:solidFill>
                          <a:srgbClr val="FFFFFF"/>
                        </a:solidFill>
                        <a:latin typeface="+mn-lt"/>
                        <a:ea typeface="Open Sans"/>
                        <a:cs typeface="Open Sans"/>
                      </a:endParaRPr>
                    </a:p>
                    <a:p>
                      <a:pPr algn="ctr"/>
                      <a:r>
                        <a:rPr lang="en-US" altLang="zh-CN" sz="878" b="1" dirty="0">
                          <a:solidFill>
                            <a:srgbClr val="FFFFFF"/>
                          </a:solidFill>
                          <a:latin typeface="+mn-lt"/>
                          <a:ea typeface="Open Sans"/>
                          <a:cs typeface="Open Sans"/>
                        </a:rPr>
                        <a:t>Frenkel et al.</a:t>
                      </a:r>
                    </a:p>
                    <a:p>
                      <a:pPr algn="ctr"/>
                      <a:r>
                        <a:rPr lang="en-US" altLang="zh-CN" sz="878" b="1" dirty="0">
                          <a:solidFill>
                            <a:srgbClr val="FFFFFF"/>
                          </a:solidFill>
                          <a:latin typeface="+mn-lt"/>
                          <a:ea typeface="Open Sans"/>
                          <a:cs typeface="Open Sans"/>
                        </a:rPr>
                        <a:t>(2019, </a:t>
                      </a:r>
                      <a:r>
                        <a:rPr lang="en-US" altLang="zh-CN" sz="878" b="1" dirty="0" err="1">
                          <a:solidFill>
                            <a:srgbClr val="FFFFFF"/>
                          </a:solidFill>
                          <a:latin typeface="+mn-lt"/>
                          <a:ea typeface="Open Sans"/>
                          <a:cs typeface="Open Sans"/>
                        </a:rPr>
                        <a:t>TBioCAS</a:t>
                      </a:r>
                      <a:r>
                        <a:rPr lang="en-US" altLang="zh-CN" sz="878" b="1" dirty="0">
                          <a:solidFill>
                            <a:srgbClr val="FFFFFF"/>
                          </a:solidFill>
                          <a:latin typeface="+mn-lt"/>
                          <a:ea typeface="Open Sans"/>
                          <a:cs typeface="Open Sans"/>
                        </a:rPr>
                        <a:t>)</a:t>
                      </a:r>
                    </a:p>
                  </a:txBody>
                  <a:tcPr marL="28575" marR="28575" marT="19050" marB="19050" anchor="ctr">
                    <a:solidFill>
                      <a:srgbClr val="00008C"/>
                    </a:solidFill>
                  </a:tcPr>
                </a:tc>
                <a:tc>
                  <a:txBody>
                    <a:bodyPr/>
                    <a:lstStyle/>
                    <a:p>
                      <a:pPr algn="ctr"/>
                      <a:r>
                        <a:rPr lang="en-US" altLang="zh-CN" sz="878" b="1" dirty="0">
                          <a:solidFill>
                            <a:srgbClr val="FFFFFF"/>
                          </a:solidFill>
                          <a:latin typeface="+mn-lt"/>
                          <a:ea typeface="Open Sans"/>
                          <a:cs typeface="Open Sans"/>
                        </a:rPr>
                        <a:t>[5] Asgari et al.</a:t>
                      </a:r>
                    </a:p>
                    <a:p>
                      <a:pPr algn="ctr"/>
                      <a:r>
                        <a:rPr lang="en-US" altLang="zh-CN" sz="878" b="1" dirty="0">
                          <a:solidFill>
                            <a:srgbClr val="FFFFFF"/>
                          </a:solidFill>
                          <a:latin typeface="+mn-lt"/>
                          <a:ea typeface="Open Sans"/>
                          <a:cs typeface="Open Sans"/>
                        </a:rPr>
                        <a:t>(2020, Int J Circ Theor App)</a:t>
                      </a:r>
                    </a:p>
                  </a:txBody>
                  <a:tcPr marL="28575" marR="28575" marT="19050" marB="19050" anchor="ctr">
                    <a:solidFill>
                      <a:srgbClr val="00008C"/>
                    </a:solidFill>
                  </a:tcPr>
                </a:tc>
                <a:tc>
                  <a:txBody>
                    <a:bodyPr/>
                    <a:lstStyle/>
                    <a:p>
                      <a:pPr algn="ctr"/>
                      <a:r>
                        <a:rPr lang="it-IT" altLang="zh-CN" sz="878" b="1" dirty="0">
                          <a:solidFill>
                            <a:srgbClr val="FFFFFF"/>
                          </a:solidFill>
                          <a:latin typeface="+mn-lt"/>
                          <a:ea typeface="Open Sans"/>
                          <a:cs typeface="Open Sans"/>
                        </a:rPr>
                        <a:t>[6] Li et al.</a:t>
                      </a:r>
                    </a:p>
                    <a:p>
                      <a:pPr algn="ctr"/>
                      <a:r>
                        <a:rPr lang="it-IT" altLang="zh-CN" sz="878" b="1" dirty="0">
                          <a:solidFill>
                            <a:srgbClr val="FFFFFF"/>
                          </a:solidFill>
                          <a:latin typeface="+mn-lt"/>
                          <a:ea typeface="Open Sans"/>
                          <a:cs typeface="Open Sans"/>
                        </a:rPr>
                        <a:t>(2021, TCAS-I)</a:t>
                      </a:r>
                    </a:p>
                  </a:txBody>
                  <a:tcPr marL="28575" marR="28575" marT="19050" marB="19050" anchor="ctr">
                    <a:solidFill>
                      <a:srgbClr val="00008C"/>
                    </a:solidFill>
                  </a:tcPr>
                </a:tc>
                <a:tc>
                  <a:txBody>
                    <a:bodyPr/>
                    <a:lstStyle/>
                    <a:p>
                      <a:pPr algn="ctr"/>
                      <a:r>
                        <a:rPr lang="da-DK" altLang="zh-CN" sz="878" b="1" dirty="0">
                          <a:solidFill>
                            <a:srgbClr val="FFFFFF"/>
                          </a:solidFill>
                          <a:latin typeface="+mn-lt"/>
                          <a:ea typeface="Open Sans"/>
                          <a:cs typeface="Open Sans"/>
                        </a:rPr>
                        <a:t>[7] TEDOP</a:t>
                      </a:r>
                    </a:p>
                    <a:p>
                      <a:pPr algn="ctr"/>
                      <a:r>
                        <a:rPr lang="da-DK" altLang="zh-CN" sz="878" b="1" dirty="0">
                          <a:solidFill>
                            <a:srgbClr val="FFFFFF"/>
                          </a:solidFill>
                          <a:latin typeface="+mn-lt"/>
                          <a:ea typeface="Open Sans"/>
                          <a:cs typeface="Open Sans"/>
                        </a:rPr>
                        <a:t>Shi et al.</a:t>
                      </a:r>
                    </a:p>
                    <a:p>
                      <a:pPr algn="ctr"/>
                      <a:r>
                        <a:rPr lang="da-DK" altLang="zh-CN" sz="878" b="1" dirty="0">
                          <a:solidFill>
                            <a:srgbClr val="FFFFFF"/>
                          </a:solidFill>
                          <a:latin typeface="+mn-lt"/>
                          <a:ea typeface="Open Sans"/>
                          <a:cs typeface="Open Sans"/>
                        </a:rPr>
                        <a:t>(2022, ICTA)</a:t>
                      </a:r>
                    </a:p>
                  </a:txBody>
                  <a:tcPr marL="28575" marR="28575" marT="19050" marB="19050" anchor="ctr">
                    <a:solidFill>
                      <a:srgbClr val="00008C"/>
                    </a:solidFill>
                  </a:tcPr>
                </a:tc>
                <a:tc>
                  <a:txBody>
                    <a:bodyPr/>
                    <a:lstStyle/>
                    <a:p>
                      <a:pPr algn="ctr"/>
                      <a:r>
                        <a:rPr lang="en-US" altLang="zh-CN" sz="878" b="1" dirty="0">
                          <a:solidFill>
                            <a:srgbClr val="FFFFFF"/>
                          </a:solidFill>
                          <a:latin typeface="+mn-lt"/>
                          <a:ea typeface="Open Sans"/>
                          <a:cs typeface="Open Sans"/>
                        </a:rPr>
                        <a:t>[8] RAINE</a:t>
                      </a:r>
                    </a:p>
                    <a:p>
                      <a:pPr algn="ctr"/>
                      <a:r>
                        <a:rPr lang="en-US" altLang="zh-CN" sz="878" b="1" dirty="0">
                          <a:solidFill>
                            <a:srgbClr val="FFFFFF"/>
                          </a:solidFill>
                          <a:latin typeface="+mn-lt"/>
                          <a:ea typeface="Open Sans"/>
                          <a:cs typeface="Open Sans"/>
                        </a:rPr>
                        <a:t>Fang et al.</a:t>
                      </a:r>
                    </a:p>
                    <a:p>
                      <a:pPr algn="ctr"/>
                      <a:r>
                        <a:rPr lang="en-US" altLang="zh-CN" sz="878" b="1" dirty="0">
                          <a:solidFill>
                            <a:srgbClr val="FFFFFF"/>
                          </a:solidFill>
                          <a:latin typeface="+mn-lt"/>
                          <a:ea typeface="Open Sans"/>
                          <a:cs typeface="Open Sans"/>
                        </a:rPr>
                        <a:t>(2022,  A-SSCC)</a:t>
                      </a:r>
                    </a:p>
                  </a:txBody>
                  <a:tcPr marL="28575" marR="28575" marT="19050" marB="19050" anchor="ctr">
                    <a:solidFill>
                      <a:srgbClr val="00008C"/>
                    </a:solidFill>
                  </a:tcPr>
                </a:tc>
                <a:tc>
                  <a:txBody>
                    <a:bodyPr/>
                    <a:lstStyle/>
                    <a:p>
                      <a:pPr algn="ctr"/>
                      <a:r>
                        <a:rPr sz="791" b="1">
                          <a:solidFill>
                            <a:srgbClr val="FFFFFF"/>
                          </a:solidFill>
                          <a:latin typeface="Open Sans"/>
                          <a:ea typeface="Open Sans"/>
                          <a:cs typeface="Open Sans"/>
                        </a:rPr>
                        <a:t>This Work</a:t>
                      </a:r>
                    </a:p>
                    <a:p>
                      <a:pPr algn="ctr"/>
                      <a:r>
                        <a:rPr sz="791" b="1">
                          <a:solidFill>
                            <a:srgbClr val="FFFFFF"/>
                          </a:solidFill>
                          <a:latin typeface="Open Sans"/>
                          <a:ea typeface="Open Sans"/>
                          <a:cs typeface="Open Sans"/>
                        </a:rPr>
                        <a:t>(ongoing)</a:t>
                      </a:r>
                    </a:p>
                  </a:txBody>
                  <a:tcPr marL="28575" marR="28575" marT="19050" marB="19050" anchor="ctr">
                    <a:solidFill>
                      <a:srgbClr val="2F75B5"/>
                    </a:solidFill>
                  </a:tcPr>
                </a:tc>
                <a:extLst>
                  <a:ext uri="{0D108BD9-81ED-4DB2-BD59-A6C34878D82A}">
                    <a16:rowId xmlns:a16="http://schemas.microsoft.com/office/drawing/2014/main" val="10000"/>
                  </a:ext>
                </a:extLst>
              </a:tr>
              <a:tr h="485775">
                <a:tc>
                  <a:txBody>
                    <a:bodyPr/>
                    <a:lstStyle/>
                    <a:p>
                      <a:pPr algn="l">
                        <a:buNone/>
                      </a:pPr>
                      <a:r>
                        <a:rPr sz="832" b="1">
                          <a:solidFill>
                            <a:srgbClr val="00008C"/>
                          </a:solidFill>
                          <a:latin typeface="Open Sans"/>
                          <a:ea typeface="Open Sans"/>
                          <a:cs typeface="Open Sans"/>
                        </a:rPr>
                        <a:t>Platform and scale</a:t>
                      </a:r>
                    </a:p>
                  </a:txBody>
                  <a:tcPr marL="28575" marR="28575" marT="19050" marB="19050" anchor="ctr">
                    <a:solidFill>
                      <a:srgbClr val="E3EAF7"/>
                    </a:solidFill>
                  </a:tcPr>
                </a:tc>
                <a:tc>
                  <a:txBody>
                    <a:bodyPr/>
                    <a:lstStyle/>
                    <a:p>
                      <a:pPr algn="ctr">
                        <a:buNone/>
                      </a:pPr>
                      <a:r>
                        <a:rPr sz="818">
                          <a:solidFill>
                            <a:srgbClr val="001450"/>
                          </a:solidFill>
                          <a:latin typeface="Open Sans"/>
                          <a:ea typeface="Open Sans"/>
                          <a:cs typeface="Open Sans"/>
                        </a:rPr>
                        <a:t>28 nm ASIC</a:t>
                      </a:r>
                    </a:p>
                    <a:p>
                      <a:pPr algn="ctr">
                        <a:buNone/>
                      </a:pPr>
                      <a:r>
                        <a:rPr sz="818">
                          <a:solidFill>
                            <a:srgbClr val="001450"/>
                          </a:solidFill>
                          <a:latin typeface="Open Sans"/>
                          <a:ea typeface="Open Sans"/>
                          <a:cs typeface="Open Sans"/>
                        </a:rPr>
                        <a:t>256 neurons</a:t>
                      </a:r>
                    </a:p>
                    <a:p>
                      <a:pPr algn="ctr">
                        <a:buNone/>
                      </a:pPr>
                      <a:r>
                        <a:rPr sz="818">
                          <a:solidFill>
                            <a:srgbClr val="001450"/>
                          </a:solidFill>
                          <a:latin typeface="Open Sans"/>
                          <a:ea typeface="Open Sans"/>
                          <a:cs typeface="Open Sans"/>
                        </a:rPr>
                        <a:t>64k synapses</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65 nm ASIC</a:t>
                      </a:r>
                    </a:p>
                    <a:p>
                      <a:pPr algn="ctr">
                        <a:buNone/>
                      </a:pPr>
                      <a:r>
                        <a:rPr sz="818">
                          <a:solidFill>
                            <a:srgbClr val="001450"/>
                          </a:solidFill>
                          <a:latin typeface="Open Sans"/>
                          <a:ea typeface="Open Sans"/>
                          <a:cs typeface="Open Sans"/>
                        </a:rPr>
                        <a:t>2,048 neurons</a:t>
                      </a:r>
                    </a:p>
                    <a:p>
                      <a:pPr algn="ctr">
                        <a:buNone/>
                      </a:pPr>
                      <a:r>
                        <a:rPr sz="818">
                          <a:solidFill>
                            <a:srgbClr val="001450"/>
                          </a:solidFill>
                          <a:latin typeface="Open Sans"/>
                          <a:ea typeface="Open Sans"/>
                          <a:cs typeface="Open Sans"/>
                        </a:rPr>
                        <a:t>&gt;2M synapses</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Spartan-6 LX45</a:t>
                      </a:r>
                    </a:p>
                    <a:p>
                      <a:pPr algn="ctr">
                        <a:buNone/>
                      </a:pPr>
                      <a:r>
                        <a:rPr sz="818">
                          <a:solidFill>
                            <a:srgbClr val="001450"/>
                          </a:solidFill>
                          <a:latin typeface="Open Sans"/>
                          <a:ea typeface="Open Sans"/>
                          <a:cs typeface="Open Sans"/>
                        </a:rPr>
                        <a:t>2 neurons</a:t>
                      </a:r>
                    </a:p>
                    <a:p>
                      <a:pPr algn="ctr">
                        <a:buNone/>
                      </a:pPr>
                      <a:r>
                        <a:rPr sz="818">
                          <a:solidFill>
                            <a:srgbClr val="001450"/>
                          </a:solidFill>
                          <a:latin typeface="Open Sans"/>
                          <a:ea typeface="Open Sans"/>
                          <a:cs typeface="Open Sans"/>
                        </a:rPr>
                        <a:t>1 plastic synapse</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VC707, Virtex-7</a:t>
                      </a:r>
                    </a:p>
                    <a:p>
                      <a:pPr algn="ctr">
                        <a:buNone/>
                      </a:pPr>
                      <a:r>
                        <a:rPr sz="818">
                          <a:solidFill>
                            <a:srgbClr val="001450"/>
                          </a:solidFill>
                          <a:latin typeface="Open Sans"/>
                          <a:ea typeface="Open Sans"/>
                          <a:cs typeface="Open Sans"/>
                        </a:rPr>
                        <a:t>984 neurons</a:t>
                      </a:r>
                    </a:p>
                    <a:p>
                      <a:pPr algn="ctr">
                        <a:buNone/>
                      </a:pPr>
                      <a:r>
                        <a:rPr sz="818">
                          <a:solidFill>
                            <a:srgbClr val="001450"/>
                          </a:solidFill>
                          <a:latin typeface="Open Sans"/>
                          <a:ea typeface="Open Sans"/>
                          <a:cs typeface="Open Sans"/>
                        </a:rPr>
                        <a:t>88.4k synapses</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Zynq-7010</a:t>
                      </a:r>
                    </a:p>
                    <a:p>
                      <a:pPr algn="ctr">
                        <a:buNone/>
                      </a:pPr>
                      <a:r>
                        <a:rPr sz="818">
                          <a:solidFill>
                            <a:srgbClr val="001450"/>
                          </a:solidFill>
                          <a:latin typeface="Open Sans"/>
                          <a:ea typeface="Open Sans"/>
                          <a:cs typeface="Open Sans"/>
                        </a:rPr>
                        <a:t>Up to 1,024 × 10</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Alveo U250</a:t>
                      </a:r>
                    </a:p>
                    <a:p>
                      <a:pPr algn="ctr">
                        <a:buNone/>
                      </a:pPr>
                      <a:r>
                        <a:rPr sz="818">
                          <a:solidFill>
                            <a:srgbClr val="001450"/>
                          </a:solidFill>
                          <a:latin typeface="Open Sans"/>
                          <a:ea typeface="Open Sans"/>
                          <a:cs typeface="Open Sans"/>
                        </a:rPr>
                        <a:t>16 UDLEs</a:t>
                      </a:r>
                    </a:p>
                  </a:txBody>
                  <a:tcPr marL="28575" marR="28575" marT="19050" marB="19050" anchor="ctr">
                    <a:solidFill>
                      <a:srgbClr val="FFFFFF"/>
                    </a:solidFill>
                  </a:tcPr>
                </a:tc>
                <a:tc>
                  <a:txBody>
                    <a:bodyPr/>
                    <a:lstStyle/>
                    <a:p>
                      <a:pPr algn="ctr"/>
                      <a:r>
                        <a:rPr lang="en-US" sz="754" b="1" dirty="0">
                          <a:solidFill>
                            <a:srgbClr val="001450"/>
                          </a:solidFill>
                          <a:latin typeface="Open Sans"/>
                          <a:ea typeface="Open Sans"/>
                          <a:cs typeface="Open Sans"/>
                        </a:rPr>
                        <a:t>ZCU 102,</a:t>
                      </a:r>
                      <a:r>
                        <a:rPr lang="zh-CN" altLang="en-US" sz="754" b="1" dirty="0">
                          <a:solidFill>
                            <a:srgbClr val="001450"/>
                          </a:solidFill>
                          <a:latin typeface="Open Sans"/>
                          <a:ea typeface="Open Sans"/>
                          <a:cs typeface="Open Sans"/>
                        </a:rPr>
                        <a:t> </a:t>
                      </a:r>
                      <a:r>
                        <a:rPr lang="en-US" altLang="zh-CN" sz="754" b="1" dirty="0">
                          <a:solidFill>
                            <a:srgbClr val="001450"/>
                          </a:solidFill>
                          <a:latin typeface="Open Sans"/>
                          <a:ea typeface="Open Sans"/>
                          <a:cs typeface="Open Sans"/>
                        </a:rPr>
                        <a:t>Zynq</a:t>
                      </a:r>
                      <a:r>
                        <a:rPr lang="zh-CN" altLang="en-US" sz="754" b="1" dirty="0">
                          <a:solidFill>
                            <a:srgbClr val="001450"/>
                          </a:solidFill>
                          <a:latin typeface="Open Sans"/>
                          <a:ea typeface="Open Sans"/>
                          <a:cs typeface="Open Sans"/>
                        </a:rPr>
                        <a:t> </a:t>
                      </a:r>
                      <a:r>
                        <a:rPr lang="en-US" altLang="zh-CN" sz="754" b="1" dirty="0" err="1">
                          <a:solidFill>
                            <a:srgbClr val="001450"/>
                          </a:solidFill>
                          <a:latin typeface="Open Sans"/>
                          <a:ea typeface="Open Sans"/>
                          <a:cs typeface="Open Sans"/>
                        </a:rPr>
                        <a:t>Ultrascale</a:t>
                      </a:r>
                      <a:r>
                        <a:rPr lang="en-US" altLang="zh-CN" sz="754" b="1" dirty="0">
                          <a:solidFill>
                            <a:srgbClr val="001450"/>
                          </a:solidFill>
                          <a:latin typeface="Open Sans"/>
                          <a:ea typeface="Open Sans"/>
                          <a:cs typeface="Open Sans"/>
                        </a:rPr>
                        <a:t>+</a:t>
                      </a:r>
                      <a:endParaRPr sz="754" b="1" dirty="0">
                        <a:solidFill>
                          <a:srgbClr val="001450"/>
                        </a:solidFill>
                        <a:latin typeface="Open Sans"/>
                        <a:ea typeface="Open Sans"/>
                        <a:cs typeface="Open Sans"/>
                      </a:endParaRPr>
                    </a:p>
                    <a:p>
                      <a:pPr algn="ctr"/>
                      <a:r>
                        <a:rPr sz="754" b="1" dirty="0">
                          <a:solidFill>
                            <a:srgbClr val="001450"/>
                          </a:solidFill>
                          <a:latin typeface="Open Sans"/>
                          <a:ea typeface="Open Sans"/>
                          <a:cs typeface="Open Sans"/>
                        </a:rPr>
                        <a:t>SNN integration ongoing</a:t>
                      </a:r>
                    </a:p>
                  </a:txBody>
                  <a:tcPr marL="28575" marR="28575" marT="19050" marB="19050" anchor="ctr">
                    <a:solidFill>
                      <a:srgbClr val="EAF3FA"/>
                    </a:solidFill>
                  </a:tcPr>
                </a:tc>
                <a:extLst>
                  <a:ext uri="{0D108BD9-81ED-4DB2-BD59-A6C34878D82A}">
                    <a16:rowId xmlns:a16="http://schemas.microsoft.com/office/drawing/2014/main" val="10001"/>
                  </a:ext>
                </a:extLst>
              </a:tr>
              <a:tr h="400050">
                <a:tc>
                  <a:txBody>
                    <a:bodyPr/>
                    <a:lstStyle/>
                    <a:p>
                      <a:pPr algn="l">
                        <a:buNone/>
                      </a:pPr>
                      <a:r>
                        <a:rPr sz="832" b="1">
                          <a:solidFill>
                            <a:srgbClr val="00008C"/>
                          </a:solidFill>
                          <a:latin typeface="Open Sans"/>
                          <a:ea typeface="Open Sans"/>
                          <a:cs typeface="Open Sans"/>
                        </a:rPr>
                        <a:t>Neuron model</a:t>
                      </a:r>
                    </a:p>
                  </a:txBody>
                  <a:tcPr marL="28575" marR="28575" marT="19050" marB="19050" anchor="ctr">
                    <a:solidFill>
                      <a:srgbClr val="E3EAF7"/>
                    </a:solidFill>
                  </a:tcPr>
                </a:tc>
                <a:tc>
                  <a:txBody>
                    <a:bodyPr/>
                    <a:lstStyle/>
                    <a:p>
                      <a:pPr algn="ctr">
                        <a:buNone/>
                      </a:pPr>
                      <a:r>
                        <a:rPr sz="818">
                          <a:solidFill>
                            <a:srgbClr val="001450"/>
                          </a:solidFill>
                          <a:latin typeface="Open Sans"/>
                          <a:ea typeface="Open Sans"/>
                          <a:cs typeface="Open Sans"/>
                        </a:rPr>
                        <a:t>8-bit LIF /</a:t>
                      </a:r>
                    </a:p>
                    <a:p>
                      <a:pPr algn="ctr">
                        <a:buNone/>
                      </a:pPr>
                      <a:r>
                        <a:rPr sz="818">
                          <a:solidFill>
                            <a:srgbClr val="001450"/>
                          </a:solidFill>
                          <a:latin typeface="Open Sans"/>
                          <a:ea typeface="Open Sans"/>
                          <a:cs typeface="Open Sans"/>
                        </a:rPr>
                        <a:t>Izhikevich-like</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LIF</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LIF + CAVE</a:t>
                      </a:r>
                    </a:p>
                    <a:p>
                      <a:pPr algn="ctr">
                        <a:buNone/>
                      </a:pPr>
                      <a:r>
                        <a:rPr sz="818">
                          <a:solidFill>
                            <a:srgbClr val="001450"/>
                          </a:solidFill>
                          <a:latin typeface="Open Sans"/>
                          <a:ea typeface="Open Sans"/>
                          <a:cs typeface="Open Sans"/>
                        </a:rPr>
                        <a:t>Ca estimator</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LIF</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16-bit TI</a:t>
                      </a:r>
                    </a:p>
                    <a:p>
                      <a:pPr algn="ctr">
                        <a:buNone/>
                      </a:pPr>
                      <a:r>
                        <a:rPr sz="818">
                          <a:solidFill>
                            <a:srgbClr val="001450"/>
                          </a:solidFill>
                          <a:latin typeface="Open Sans"/>
                          <a:ea typeface="Open Sans"/>
                          <a:cs typeface="Open Sans"/>
                        </a:rPr>
                        <a:t>(non-spiking)</a:t>
                      </a:r>
                    </a:p>
                  </a:txBody>
                  <a:tcPr marL="28575" marR="28575" marT="19050" marB="19050" anchor="ctr">
                    <a:solidFill>
                      <a:srgbClr val="F2F5FA"/>
                    </a:solidFill>
                  </a:tcPr>
                </a:tc>
                <a:tc>
                  <a:txBody>
                    <a:bodyPr/>
                    <a:lstStyle/>
                    <a:p>
                      <a:pPr algn="ctr">
                        <a:buNone/>
                      </a:pPr>
                      <a:r>
                        <a:rPr sz="818" dirty="0">
                          <a:solidFill>
                            <a:srgbClr val="001450"/>
                          </a:solidFill>
                          <a:latin typeface="Open Sans"/>
                          <a:ea typeface="Open Sans"/>
                          <a:cs typeface="Open Sans"/>
                        </a:rPr>
                        <a:t>LIF</a:t>
                      </a:r>
                    </a:p>
                  </a:txBody>
                  <a:tcPr marL="28575" marR="28575" marT="19050" marB="19050" anchor="ctr">
                    <a:solidFill>
                      <a:srgbClr val="F2F5FA"/>
                    </a:solidFill>
                  </a:tcPr>
                </a:tc>
                <a:tc>
                  <a:txBody>
                    <a:bodyPr/>
                    <a:lstStyle/>
                    <a:p>
                      <a:pPr algn="ctr"/>
                      <a:r>
                        <a:rPr sz="754" b="1" dirty="0">
                          <a:solidFill>
                            <a:srgbClr val="001450"/>
                          </a:solidFill>
                          <a:latin typeface="Open Sans"/>
                          <a:ea typeface="Open Sans"/>
                          <a:cs typeface="Open Sans"/>
                        </a:rPr>
                        <a:t>LIF</a:t>
                      </a:r>
                    </a:p>
                  </a:txBody>
                  <a:tcPr marL="28575" marR="28575" marT="19050" marB="19050" anchor="ctr">
                    <a:solidFill>
                      <a:srgbClr val="EAF3FA"/>
                    </a:solidFill>
                  </a:tcPr>
                </a:tc>
                <a:extLst>
                  <a:ext uri="{0D108BD9-81ED-4DB2-BD59-A6C34878D82A}">
                    <a16:rowId xmlns:a16="http://schemas.microsoft.com/office/drawing/2014/main" val="10002"/>
                  </a:ext>
                </a:extLst>
              </a:tr>
              <a:tr h="447675">
                <a:tc>
                  <a:txBody>
                    <a:bodyPr/>
                    <a:lstStyle/>
                    <a:p>
                      <a:pPr algn="l">
                        <a:buNone/>
                      </a:pPr>
                      <a:r>
                        <a:rPr sz="832" b="1">
                          <a:solidFill>
                            <a:srgbClr val="00008C"/>
                          </a:solidFill>
                          <a:latin typeface="Open Sans"/>
                          <a:ea typeface="Open Sans"/>
                          <a:cs typeface="Open Sans"/>
                        </a:rPr>
                        <a:t>Resources / area</a:t>
                      </a:r>
                    </a:p>
                  </a:txBody>
                  <a:tcPr marL="28575" marR="28575" marT="19050" marB="19050" anchor="ctr">
                    <a:solidFill>
                      <a:srgbClr val="E3EAF7"/>
                    </a:solidFill>
                  </a:tcPr>
                </a:tc>
                <a:tc>
                  <a:txBody>
                    <a:bodyPr/>
                    <a:lstStyle/>
                    <a:p>
                      <a:pPr algn="ctr">
                        <a:buNone/>
                      </a:pPr>
                      <a:r>
                        <a:rPr sz="818">
                          <a:solidFill>
                            <a:srgbClr val="001450"/>
                          </a:solidFill>
                          <a:latin typeface="Open Sans"/>
                          <a:ea typeface="Open Sans"/>
                          <a:cs typeface="Open Sans"/>
                        </a:rPr>
                        <a:t>0.086 mm²</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2.86 mm²</a:t>
                      </a:r>
                    </a:p>
                    <a:p>
                      <a:pPr algn="ctr">
                        <a:buNone/>
                      </a:pPr>
                      <a:r>
                        <a:rPr sz="818">
                          <a:solidFill>
                            <a:srgbClr val="001450"/>
                          </a:solidFill>
                          <a:latin typeface="Open Sans"/>
                          <a:ea typeface="Open Sans"/>
                          <a:cs typeface="Open Sans"/>
                        </a:rPr>
                        <a:t>738k syn./mm²</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249 registers</a:t>
                      </a:r>
                    </a:p>
                    <a:p>
                      <a:pPr algn="ctr">
                        <a:buNone/>
                      </a:pPr>
                      <a:r>
                        <a:rPr sz="818">
                          <a:solidFill>
                            <a:srgbClr val="001450"/>
                          </a:solidFill>
                          <a:latin typeface="Open Sans"/>
                          <a:ea typeface="Open Sans"/>
                          <a:cs typeface="Open Sans"/>
                        </a:rPr>
                        <a:t>450 LUTs</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Not reported</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952 LUTs; 741 FF</a:t>
                      </a:r>
                    </a:p>
                    <a:p>
                      <a:pPr algn="ctr">
                        <a:buNone/>
                      </a:pPr>
                      <a:r>
                        <a:rPr sz="818">
                          <a:solidFill>
                            <a:srgbClr val="001450"/>
                          </a:solidFill>
                          <a:latin typeface="Open Sans"/>
                          <a:ea typeface="Open Sans"/>
                          <a:cs typeface="Open Sans"/>
                        </a:rPr>
                        <a:t>360 slices; 4 BRAM</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21,560 LUTs</a:t>
                      </a:r>
                    </a:p>
                    <a:p>
                      <a:pPr algn="ctr">
                        <a:buNone/>
                      </a:pPr>
                      <a:r>
                        <a:rPr sz="818">
                          <a:solidFill>
                            <a:srgbClr val="001450"/>
                          </a:solidFill>
                          <a:latin typeface="Open Sans"/>
                          <a:ea typeface="Open Sans"/>
                          <a:cs typeface="Open Sans"/>
                        </a:rPr>
                        <a:t>20,863 FF</a:t>
                      </a:r>
                    </a:p>
                  </a:txBody>
                  <a:tcPr marL="28575" marR="28575" marT="19050" marB="19050" anchor="ctr">
                    <a:solidFill>
                      <a:srgbClr val="FFFFFF"/>
                    </a:solidFill>
                  </a:tcPr>
                </a:tc>
                <a:tc>
                  <a:txBody>
                    <a:bodyPr/>
                    <a:lstStyle/>
                    <a:p>
                      <a:pPr algn="ctr"/>
                      <a:r>
                        <a:rPr lang="en-US" sz="754" b="1" dirty="0">
                          <a:solidFill>
                            <a:srgbClr val="001450"/>
                          </a:solidFill>
                          <a:latin typeface="Open Sans"/>
                          <a:ea typeface="Open Sans"/>
                          <a:cs typeface="Open Sans"/>
                        </a:rPr>
                        <a:t>TBD after integration</a:t>
                      </a:r>
                      <a:endParaRPr sz="754" b="1" dirty="0">
                        <a:solidFill>
                          <a:srgbClr val="001450"/>
                        </a:solidFill>
                        <a:latin typeface="Open Sans"/>
                        <a:ea typeface="Open Sans"/>
                        <a:cs typeface="Open Sans"/>
                      </a:endParaRPr>
                    </a:p>
                  </a:txBody>
                  <a:tcPr marL="28575" marR="28575" marT="19050" marB="19050" anchor="ctr">
                    <a:solidFill>
                      <a:srgbClr val="EAF3FA"/>
                    </a:solidFill>
                  </a:tcPr>
                </a:tc>
                <a:extLst>
                  <a:ext uri="{0D108BD9-81ED-4DB2-BD59-A6C34878D82A}">
                    <a16:rowId xmlns:a16="http://schemas.microsoft.com/office/drawing/2014/main" val="10003"/>
                  </a:ext>
                </a:extLst>
              </a:tr>
              <a:tr h="352425">
                <a:tc>
                  <a:txBody>
                    <a:bodyPr/>
                    <a:lstStyle/>
                    <a:p>
                      <a:pPr algn="l">
                        <a:buNone/>
                      </a:pPr>
                      <a:r>
                        <a:rPr sz="832" b="1">
                          <a:solidFill>
                            <a:srgbClr val="00008C"/>
                          </a:solidFill>
                          <a:latin typeface="Open Sans"/>
                          <a:ea typeface="Open Sans"/>
                          <a:cs typeface="Open Sans"/>
                        </a:rPr>
                        <a:t>Frequency</a:t>
                      </a:r>
                    </a:p>
                  </a:txBody>
                  <a:tcPr marL="28575" marR="28575" marT="19050" marB="19050" anchor="ctr">
                    <a:solidFill>
                      <a:srgbClr val="E3EAF7"/>
                    </a:solidFill>
                  </a:tcPr>
                </a:tc>
                <a:tc>
                  <a:txBody>
                    <a:bodyPr/>
                    <a:lstStyle/>
                    <a:p>
                      <a:pPr algn="ctr">
                        <a:buNone/>
                      </a:pPr>
                      <a:r>
                        <a:rPr sz="818">
                          <a:solidFill>
                            <a:srgbClr val="001450"/>
                          </a:solidFill>
                          <a:latin typeface="Open Sans"/>
                          <a:ea typeface="Open Sans"/>
                          <a:cs typeface="Open Sans"/>
                        </a:rPr>
                        <a:t>75 MHz</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55 MHz @ 0.8 V</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131 MHz</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100 MHz</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250 MHz</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75 MHz</a:t>
                      </a:r>
                    </a:p>
                  </a:txBody>
                  <a:tcPr marL="28575" marR="28575" marT="19050" marB="19050" anchor="ctr">
                    <a:solidFill>
                      <a:srgbClr val="F2F5FA"/>
                    </a:solidFill>
                  </a:tcPr>
                </a:tc>
                <a:tc>
                  <a:txBody>
                    <a:bodyPr/>
                    <a:lstStyle/>
                    <a:p>
                      <a:pPr algn="ctr"/>
                      <a:r>
                        <a:rPr sz="754" b="1">
                          <a:solidFill>
                            <a:srgbClr val="001450"/>
                          </a:solidFill>
                          <a:latin typeface="Open Sans"/>
                          <a:ea typeface="Open Sans"/>
                          <a:cs typeface="Open Sans"/>
                        </a:rPr>
                        <a:t>TBD after</a:t>
                      </a:r>
                    </a:p>
                    <a:p>
                      <a:pPr algn="ctr"/>
                      <a:r>
                        <a:rPr sz="754" b="1">
                          <a:solidFill>
                            <a:srgbClr val="001450"/>
                          </a:solidFill>
                          <a:latin typeface="Open Sans"/>
                          <a:ea typeface="Open Sans"/>
                          <a:cs typeface="Open Sans"/>
                        </a:rPr>
                        <a:t>implementation</a:t>
                      </a:r>
                    </a:p>
                  </a:txBody>
                  <a:tcPr marL="28575" marR="28575" marT="19050" marB="19050" anchor="ctr">
                    <a:solidFill>
                      <a:srgbClr val="EAF3FA"/>
                    </a:solidFill>
                  </a:tcPr>
                </a:tc>
                <a:extLst>
                  <a:ext uri="{0D108BD9-81ED-4DB2-BD59-A6C34878D82A}">
                    <a16:rowId xmlns:a16="http://schemas.microsoft.com/office/drawing/2014/main" val="10004"/>
                  </a:ext>
                </a:extLst>
              </a:tr>
              <a:tr h="523875">
                <a:tc>
                  <a:txBody>
                    <a:bodyPr/>
                    <a:lstStyle/>
                    <a:p>
                      <a:pPr algn="l">
                        <a:buNone/>
                      </a:pPr>
                      <a:r>
                        <a:rPr sz="832" b="1">
                          <a:solidFill>
                            <a:srgbClr val="00008C"/>
                          </a:solidFill>
                          <a:latin typeface="Open Sans"/>
                          <a:ea typeface="Open Sans"/>
                          <a:cs typeface="Open Sans"/>
                        </a:rPr>
                        <a:t>SNN model (topology)</a:t>
                      </a:r>
                    </a:p>
                  </a:txBody>
                  <a:tcPr marL="28575" marR="28575" marT="19050" marB="19050" anchor="ctr">
                    <a:solidFill>
                      <a:srgbClr val="E3EAF7"/>
                    </a:solidFill>
                  </a:tcPr>
                </a:tc>
                <a:tc>
                  <a:txBody>
                    <a:bodyPr/>
                    <a:lstStyle/>
                    <a:p>
                      <a:pPr algn="ctr">
                        <a:buNone/>
                      </a:pPr>
                      <a:r>
                        <a:rPr sz="818">
                          <a:solidFill>
                            <a:srgbClr val="001450"/>
                          </a:solidFill>
                          <a:latin typeface="Open Sans"/>
                          <a:ea typeface="Open Sans"/>
                          <a:cs typeface="Open Sans"/>
                        </a:rPr>
                        <a:t>256–10</a:t>
                      </a:r>
                    </a:p>
                    <a:p>
                      <a:pPr algn="ctr">
                        <a:buNone/>
                      </a:pPr>
                      <a:r>
                        <a:rPr sz="818">
                          <a:solidFill>
                            <a:srgbClr val="001450"/>
                          </a:solidFill>
                          <a:latin typeface="Open Sans"/>
                          <a:ea typeface="Open Sans"/>
                          <a:cs typeface="Open Sans"/>
                        </a:rPr>
                        <a:t>fully connected</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4 conv. kernels</a:t>
                      </a:r>
                    </a:p>
                    <a:p>
                      <a:pPr algn="ctr">
                        <a:buNone/>
                      </a:pPr>
                      <a:r>
                        <a:rPr sz="818">
                          <a:solidFill>
                            <a:srgbClr val="001450"/>
                          </a:solidFill>
                          <a:latin typeface="Open Sans"/>
                          <a:ea typeface="Open Sans"/>
                          <a:cs typeface="Open Sans"/>
                        </a:rPr>
                        <a:t>+ pooling + FC–8</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2-neuron</a:t>
                      </a:r>
                    </a:p>
                    <a:p>
                      <a:pPr algn="ctr">
                        <a:buNone/>
                      </a:pPr>
                      <a:r>
                        <a:rPr sz="818">
                          <a:solidFill>
                            <a:srgbClr val="001450"/>
                          </a:solidFill>
                          <a:latin typeface="Open Sans"/>
                          <a:ea typeface="Open Sans"/>
                          <a:cs typeface="Open Sans"/>
                        </a:rPr>
                        <a:t>minimum network</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784 input</a:t>
                      </a:r>
                    </a:p>
                    <a:p>
                      <a:pPr algn="ctr">
                        <a:buNone/>
                      </a:pPr>
                      <a:r>
                        <a:rPr sz="818">
                          <a:solidFill>
                            <a:srgbClr val="001450"/>
                          </a:solidFill>
                          <a:latin typeface="Open Sans"/>
                          <a:ea typeface="Open Sans"/>
                          <a:cs typeface="Open Sans"/>
                        </a:rPr>
                        <a:t>100 excitatory</a:t>
                      </a:r>
                    </a:p>
                    <a:p>
                      <a:pPr algn="ctr">
                        <a:buNone/>
                      </a:pPr>
                      <a:r>
                        <a:rPr sz="818">
                          <a:solidFill>
                            <a:srgbClr val="001450"/>
                          </a:solidFill>
                          <a:latin typeface="Open Sans"/>
                          <a:ea typeface="Open Sans"/>
                          <a:cs typeface="Open Sans"/>
                        </a:rPr>
                        <a:t>+ 100 inhibitory</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784–10</a:t>
                      </a:r>
                    </a:p>
                    <a:p>
                      <a:pPr algn="ctr">
                        <a:buNone/>
                      </a:pPr>
                      <a:r>
                        <a:rPr sz="818">
                          <a:solidFill>
                            <a:srgbClr val="001450"/>
                          </a:solidFill>
                          <a:latin typeface="Open Sans"/>
                          <a:ea typeface="Open Sans"/>
                          <a:cs typeface="Open Sans"/>
                        </a:rPr>
                        <a:t>fully connected</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251–100–4 SFNN</a:t>
                      </a:r>
                    </a:p>
                    <a:p>
                      <a:pPr algn="ctr">
                        <a:buNone/>
                      </a:pPr>
                      <a:r>
                        <a:rPr sz="818">
                          <a:solidFill>
                            <a:srgbClr val="001450"/>
                          </a:solidFill>
                          <a:latin typeface="Open Sans"/>
                          <a:ea typeface="Open Sans"/>
                          <a:cs typeface="Open Sans"/>
                        </a:rPr>
                        <a:t>256–100–2 SRNN</a:t>
                      </a:r>
                    </a:p>
                    <a:p>
                      <a:pPr algn="ctr">
                        <a:buNone/>
                      </a:pPr>
                      <a:r>
                        <a:rPr sz="818">
                          <a:solidFill>
                            <a:srgbClr val="001450"/>
                          </a:solidFill>
                          <a:latin typeface="Open Sans"/>
                          <a:ea typeface="Open Sans"/>
                          <a:cs typeface="Open Sans"/>
                        </a:rPr>
                        <a:t>784–1000–10 SCNN</a:t>
                      </a:r>
                    </a:p>
                  </a:txBody>
                  <a:tcPr marL="28575" marR="28575" marT="19050" marB="19050" anchor="ctr">
                    <a:solidFill>
                      <a:srgbClr val="FFFFFF"/>
                    </a:solidFill>
                  </a:tcPr>
                </a:tc>
                <a:tc>
                  <a:txBody>
                    <a:bodyPr/>
                    <a:lstStyle/>
                    <a:p>
                      <a:pPr algn="ctr"/>
                      <a:r>
                        <a:rPr lang="en-US" sz="754" b="1" dirty="0">
                          <a:solidFill>
                            <a:srgbClr val="001450"/>
                          </a:solidFill>
                          <a:latin typeface="Open Sans"/>
                          <a:ea typeface="Open Sans"/>
                          <a:cs typeface="Open Sans"/>
                        </a:rPr>
                        <a:t>784-10</a:t>
                      </a:r>
                    </a:p>
                    <a:p>
                      <a:pPr algn="ctr"/>
                      <a:r>
                        <a:rPr lang="en-US" sz="754" b="1" dirty="0">
                          <a:solidFill>
                            <a:srgbClr val="001450"/>
                          </a:solidFill>
                          <a:latin typeface="Open Sans"/>
                          <a:ea typeface="Open Sans"/>
                          <a:cs typeface="Open Sans"/>
                        </a:rPr>
                        <a:t>fully connected</a:t>
                      </a:r>
                    </a:p>
                    <a:p>
                      <a:pPr algn="ctr"/>
                      <a:r>
                        <a:rPr lang="en-US" sz="754" b="1" dirty="0">
                          <a:solidFill>
                            <a:srgbClr val="001450"/>
                          </a:solidFill>
                          <a:latin typeface="Open Sans"/>
                          <a:ea typeface="Open Sans"/>
                          <a:cs typeface="Open Sans"/>
                        </a:rPr>
                        <a:t>(planned)</a:t>
                      </a:r>
                      <a:endParaRPr sz="754" b="1" dirty="0">
                        <a:solidFill>
                          <a:srgbClr val="001450"/>
                        </a:solidFill>
                        <a:latin typeface="Open Sans"/>
                        <a:ea typeface="Open Sans"/>
                        <a:cs typeface="Open Sans"/>
                      </a:endParaRPr>
                    </a:p>
                  </a:txBody>
                  <a:tcPr marL="28575" marR="28575" marT="19050" marB="19050" anchor="ctr">
                    <a:solidFill>
                      <a:srgbClr val="EAF3FA"/>
                    </a:solidFill>
                  </a:tcPr>
                </a:tc>
                <a:extLst>
                  <a:ext uri="{0D108BD9-81ED-4DB2-BD59-A6C34878D82A}">
                    <a16:rowId xmlns:a16="http://schemas.microsoft.com/office/drawing/2014/main" val="10005"/>
                  </a:ext>
                </a:extLst>
              </a:tr>
              <a:tr h="466725">
                <a:tc>
                  <a:txBody>
                    <a:bodyPr/>
                    <a:lstStyle/>
                    <a:p>
                      <a:pPr algn="l">
                        <a:buNone/>
                      </a:pPr>
                      <a:r>
                        <a:rPr sz="832" b="1">
                          <a:solidFill>
                            <a:srgbClr val="00008C"/>
                          </a:solidFill>
                          <a:latin typeface="Open Sans"/>
                          <a:ea typeface="Open Sans"/>
                          <a:cs typeface="Open Sans"/>
                        </a:rPr>
                        <a:t>On-chip learning</a:t>
                      </a:r>
                    </a:p>
                    <a:p>
                      <a:pPr algn="l">
                        <a:buNone/>
                      </a:pPr>
                      <a:r>
                        <a:rPr sz="832" b="1">
                          <a:solidFill>
                            <a:srgbClr val="00008C"/>
                          </a:solidFill>
                          <a:latin typeface="Open Sans"/>
                          <a:ea typeface="Open Sans"/>
                          <a:cs typeface="Open Sans"/>
                        </a:rPr>
                        <a:t>(algorithm)</a:t>
                      </a:r>
                    </a:p>
                  </a:txBody>
                  <a:tcPr marL="28575" marR="28575" marT="19050" marB="19050" anchor="ctr">
                    <a:solidFill>
                      <a:srgbClr val="E3EAF7"/>
                    </a:solidFill>
                  </a:tcPr>
                </a:tc>
                <a:tc>
                  <a:txBody>
                    <a:bodyPr/>
                    <a:lstStyle/>
                    <a:p>
                      <a:pPr algn="ctr">
                        <a:buNone/>
                      </a:pPr>
                      <a:r>
                        <a:rPr sz="818">
                          <a:solidFill>
                            <a:srgbClr val="001450"/>
                          </a:solidFill>
                          <a:latin typeface="Open Sans"/>
                          <a:ea typeface="Open Sans"/>
                          <a:cs typeface="Open Sans"/>
                        </a:rPr>
                        <a:t>SDSP</a:t>
                      </a:r>
                    </a:p>
                    <a:p>
                      <a:pPr algn="ctr">
                        <a:buNone/>
                      </a:pPr>
                      <a:r>
                        <a:rPr sz="818">
                          <a:solidFill>
                            <a:srgbClr val="001450"/>
                          </a:solidFill>
                          <a:latin typeface="Open Sans"/>
                          <a:ea typeface="Open Sans"/>
                          <a:cs typeface="Open Sans"/>
                        </a:rPr>
                        <a:t>teacher-supervised</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Stochastic</a:t>
                      </a:r>
                    </a:p>
                    <a:p>
                      <a:pPr algn="ctr">
                        <a:buNone/>
                      </a:pPr>
                      <a:r>
                        <a:rPr sz="818">
                          <a:solidFill>
                            <a:srgbClr val="001450"/>
                          </a:solidFill>
                          <a:latin typeface="Open Sans"/>
                          <a:ea typeface="Open Sans"/>
                          <a:cs typeface="Open Sans"/>
                        </a:rPr>
                        <a:t>S-SDSP</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High-precision</a:t>
                      </a:r>
                    </a:p>
                    <a:p>
                      <a:pPr algn="ctr">
                        <a:buNone/>
                      </a:pPr>
                      <a:r>
                        <a:rPr sz="818">
                          <a:solidFill>
                            <a:srgbClr val="001450"/>
                          </a:solidFill>
                          <a:latin typeface="Open Sans"/>
                          <a:ea typeface="Open Sans"/>
                          <a:cs typeface="Open Sans"/>
                        </a:rPr>
                        <a:t>SDSP</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Trace-based STDP</a:t>
                      </a:r>
                    </a:p>
                    <a:p>
                      <a:pPr algn="ctr">
                        <a:buNone/>
                      </a:pPr>
                      <a:r>
                        <a:rPr sz="818">
                          <a:solidFill>
                            <a:srgbClr val="001450"/>
                          </a:solidFill>
                          <a:latin typeface="Open Sans"/>
                          <a:ea typeface="Open Sans"/>
                          <a:cs typeface="Open Sans"/>
                        </a:rPr>
                        <a:t>(unsupervised)</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S4DSP</a:t>
                      </a:r>
                    </a:p>
                    <a:p>
                      <a:pPr algn="ctr">
                        <a:buNone/>
                      </a:pPr>
                      <a:r>
                        <a:rPr sz="818">
                          <a:solidFill>
                            <a:srgbClr val="001450"/>
                          </a:solidFill>
                          <a:latin typeface="Open Sans"/>
                          <a:ea typeface="Open Sans"/>
                          <a:cs typeface="Open Sans"/>
                        </a:rPr>
                        <a:t>(supervised)</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Rewarded</a:t>
                      </a:r>
                    </a:p>
                    <a:p>
                      <a:pPr algn="ctr">
                        <a:buNone/>
                      </a:pPr>
                      <a:r>
                        <a:rPr sz="818">
                          <a:solidFill>
                            <a:srgbClr val="001450"/>
                          </a:solidFill>
                          <a:latin typeface="Open Sans"/>
                          <a:ea typeface="Open Sans"/>
                          <a:cs typeface="Open Sans"/>
                        </a:rPr>
                        <a:t>Trace-STDP</a:t>
                      </a:r>
                    </a:p>
                  </a:txBody>
                  <a:tcPr marL="28575" marR="28575" marT="19050" marB="19050" anchor="ctr">
                    <a:solidFill>
                      <a:srgbClr val="F2F5FA"/>
                    </a:solidFill>
                  </a:tcPr>
                </a:tc>
                <a:tc>
                  <a:txBody>
                    <a:bodyPr/>
                    <a:lstStyle/>
                    <a:p>
                      <a:pPr algn="ctr"/>
                      <a:r>
                        <a:rPr sz="754" b="1" dirty="0">
                          <a:solidFill>
                            <a:srgbClr val="001450"/>
                          </a:solidFill>
                          <a:latin typeface="Open Sans"/>
                          <a:ea typeface="Open Sans"/>
                          <a:cs typeface="Open Sans"/>
                        </a:rPr>
                        <a:t>SDSP</a:t>
                      </a:r>
                    </a:p>
                  </a:txBody>
                  <a:tcPr marL="28575" marR="28575" marT="19050" marB="19050" anchor="ctr">
                    <a:solidFill>
                      <a:srgbClr val="EAF3FA"/>
                    </a:solidFill>
                  </a:tcPr>
                </a:tc>
                <a:extLst>
                  <a:ext uri="{0D108BD9-81ED-4DB2-BD59-A6C34878D82A}">
                    <a16:rowId xmlns:a16="http://schemas.microsoft.com/office/drawing/2014/main" val="10006"/>
                  </a:ext>
                </a:extLst>
              </a:tr>
              <a:tr h="457200">
                <a:tc>
                  <a:txBody>
                    <a:bodyPr/>
                    <a:lstStyle/>
                    <a:p>
                      <a:pPr algn="l">
                        <a:buNone/>
                      </a:pPr>
                      <a:r>
                        <a:rPr sz="832" b="1">
                          <a:solidFill>
                            <a:srgbClr val="00008C"/>
                          </a:solidFill>
                          <a:latin typeface="Open Sans"/>
                          <a:ea typeface="Open Sans"/>
                          <a:cs typeface="Open Sans"/>
                        </a:rPr>
                        <a:t>Dataset</a:t>
                      </a:r>
                    </a:p>
                  </a:txBody>
                  <a:tcPr marL="28575" marR="28575" marT="19050" marB="19050" anchor="ctr">
                    <a:solidFill>
                      <a:srgbClr val="E3EAF7"/>
                    </a:solidFill>
                  </a:tcPr>
                </a:tc>
                <a:tc>
                  <a:txBody>
                    <a:bodyPr/>
                    <a:lstStyle/>
                    <a:p>
                      <a:pPr algn="ctr">
                        <a:buNone/>
                      </a:pPr>
                      <a:r>
                        <a:rPr sz="818">
                          <a:solidFill>
                            <a:srgbClr val="001450"/>
                          </a:solidFill>
                          <a:latin typeface="Open Sans"/>
                          <a:ea typeface="Open Sans"/>
                          <a:cs typeface="Open Sans"/>
                        </a:rPr>
                        <a:t>MNIST</a:t>
                      </a:r>
                    </a:p>
                    <a:p>
                      <a:pPr algn="ctr">
                        <a:buNone/>
                      </a:pPr>
                      <a:r>
                        <a:rPr sz="818">
                          <a:solidFill>
                            <a:srgbClr val="001450"/>
                          </a:solidFill>
                          <a:latin typeface="Open Sans"/>
                          <a:ea typeface="Open Sans"/>
                          <a:cs typeface="Open Sans"/>
                        </a:rPr>
                        <a:t>(16 × 16)</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8-pattern</a:t>
                      </a:r>
                    </a:p>
                    <a:p>
                      <a:pPr algn="ctr">
                        <a:buNone/>
                      </a:pPr>
                      <a:r>
                        <a:rPr sz="818">
                          <a:solidFill>
                            <a:srgbClr val="001450"/>
                          </a:solidFill>
                          <a:latin typeface="Open Sans"/>
                          <a:ea typeface="Open Sans"/>
                          <a:cs typeface="Open Sans"/>
                        </a:rPr>
                        <a:t>benchmark</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Synthetic spikes</a:t>
                      </a:r>
                    </a:p>
                    <a:p>
                      <a:pPr algn="ctr">
                        <a:buNone/>
                      </a:pPr>
                      <a:r>
                        <a:rPr sz="818">
                          <a:solidFill>
                            <a:srgbClr val="001450"/>
                          </a:solidFill>
                          <a:latin typeface="Open Sans"/>
                          <a:ea typeface="Open Sans"/>
                          <a:cs typeface="Open Sans"/>
                        </a:rPr>
                        <a:t>(no dataset)</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MNIST</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MNIST</a:t>
                      </a:r>
                    </a:p>
                  </a:txBody>
                  <a:tcPr marL="28575" marR="28575" marT="19050" marB="19050" anchor="ctr">
                    <a:solidFill>
                      <a:srgbClr val="FFFFFF"/>
                    </a:solidFill>
                  </a:tcPr>
                </a:tc>
                <a:tc>
                  <a:txBody>
                    <a:bodyPr/>
                    <a:lstStyle/>
                    <a:p>
                      <a:pPr algn="ctr">
                        <a:buNone/>
                      </a:pPr>
                      <a:r>
                        <a:rPr sz="818">
                          <a:solidFill>
                            <a:srgbClr val="001450"/>
                          </a:solidFill>
                          <a:latin typeface="Open Sans"/>
                          <a:ea typeface="Open Sans"/>
                          <a:cs typeface="Open Sans"/>
                        </a:rPr>
                        <a:t>MIT-BIH ECG</a:t>
                      </a:r>
                    </a:p>
                    <a:p>
                      <a:pPr algn="ctr">
                        <a:buNone/>
                      </a:pPr>
                      <a:r>
                        <a:rPr sz="818">
                          <a:solidFill>
                            <a:srgbClr val="001450"/>
                          </a:solidFill>
                          <a:latin typeface="Open Sans"/>
                          <a:ea typeface="Open Sans"/>
                          <a:cs typeface="Open Sans"/>
                        </a:rPr>
                        <a:t>CHB-MIT EEG</a:t>
                      </a:r>
                    </a:p>
                    <a:p>
                      <a:pPr algn="ctr">
                        <a:buNone/>
                      </a:pPr>
                      <a:r>
                        <a:rPr sz="818">
                          <a:solidFill>
                            <a:srgbClr val="001450"/>
                          </a:solidFill>
                          <a:latin typeface="Open Sans"/>
                          <a:ea typeface="Open Sans"/>
                          <a:cs typeface="Open Sans"/>
                        </a:rPr>
                        <a:t>MNIST</a:t>
                      </a:r>
                    </a:p>
                  </a:txBody>
                  <a:tcPr marL="28575" marR="28575" marT="19050" marB="19050" anchor="ctr">
                    <a:solidFill>
                      <a:srgbClr val="FFFFFF"/>
                    </a:solidFill>
                  </a:tcPr>
                </a:tc>
                <a:tc>
                  <a:txBody>
                    <a:bodyPr/>
                    <a:lstStyle/>
                    <a:p>
                      <a:pPr algn="ctr"/>
                      <a:r>
                        <a:rPr sz="754" b="1">
                          <a:solidFill>
                            <a:srgbClr val="001450"/>
                          </a:solidFill>
                          <a:latin typeface="Open Sans"/>
                          <a:ea typeface="Open Sans"/>
                          <a:cs typeface="Open Sans"/>
                        </a:rPr>
                        <a:t>MNIST</a:t>
                      </a:r>
                    </a:p>
                    <a:p>
                      <a:pPr algn="ctr"/>
                      <a:r>
                        <a:rPr sz="754" b="1">
                          <a:solidFill>
                            <a:srgbClr val="001450"/>
                          </a:solidFill>
                          <a:latin typeface="Open Sans"/>
                          <a:ea typeface="Open Sans"/>
                          <a:cs typeface="Open Sans"/>
                        </a:rPr>
                        <a:t>(planned)</a:t>
                      </a:r>
                    </a:p>
                  </a:txBody>
                  <a:tcPr marL="28575" marR="28575" marT="19050" marB="19050" anchor="ctr">
                    <a:solidFill>
                      <a:srgbClr val="EAF3FA"/>
                    </a:solidFill>
                  </a:tcPr>
                </a:tc>
                <a:extLst>
                  <a:ext uri="{0D108BD9-81ED-4DB2-BD59-A6C34878D82A}">
                    <a16:rowId xmlns:a16="http://schemas.microsoft.com/office/drawing/2014/main" val="10007"/>
                  </a:ext>
                </a:extLst>
              </a:tr>
              <a:tr h="504825">
                <a:tc>
                  <a:txBody>
                    <a:bodyPr/>
                    <a:lstStyle/>
                    <a:p>
                      <a:pPr algn="l">
                        <a:buNone/>
                      </a:pPr>
                      <a:r>
                        <a:rPr sz="832" b="1">
                          <a:solidFill>
                            <a:srgbClr val="00008C"/>
                          </a:solidFill>
                          <a:latin typeface="Open Sans"/>
                          <a:ea typeface="Open Sans"/>
                          <a:cs typeface="Open Sans"/>
                        </a:rPr>
                        <a:t>Accuracy</a:t>
                      </a:r>
                    </a:p>
                  </a:txBody>
                  <a:tcPr marL="28575" marR="28575" marT="19050" marB="19050" anchor="ctr">
                    <a:solidFill>
                      <a:srgbClr val="E3EAF7"/>
                    </a:solidFill>
                  </a:tcPr>
                </a:tc>
                <a:tc>
                  <a:txBody>
                    <a:bodyPr/>
                    <a:lstStyle/>
                    <a:p>
                      <a:pPr algn="ctr">
                        <a:buNone/>
                      </a:pPr>
                      <a:r>
                        <a:rPr sz="818">
                          <a:solidFill>
                            <a:srgbClr val="001450"/>
                          </a:solidFill>
                          <a:latin typeface="Open Sans"/>
                          <a:ea typeface="Open Sans"/>
                          <a:cs typeface="Open Sans"/>
                        </a:rPr>
                        <a:t>85.0% rate</a:t>
                      </a:r>
                    </a:p>
                    <a:p>
                      <a:pPr algn="ctr">
                        <a:buNone/>
                      </a:pPr>
                      <a:r>
                        <a:rPr sz="818">
                          <a:solidFill>
                            <a:srgbClr val="001450"/>
                          </a:solidFill>
                          <a:latin typeface="Open Sans"/>
                          <a:ea typeface="Open Sans"/>
                          <a:cs typeface="Open Sans"/>
                        </a:rPr>
                        <a:t>84.5% rank-order</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100%</a:t>
                      </a:r>
                    </a:p>
                    <a:p>
                      <a:pPr algn="ctr">
                        <a:buNone/>
                      </a:pPr>
                      <a:r>
                        <a:rPr sz="818">
                          <a:solidFill>
                            <a:srgbClr val="001450"/>
                          </a:solidFill>
                          <a:latin typeface="Open Sans"/>
                          <a:ea typeface="Open Sans"/>
                          <a:cs typeface="Open Sans"/>
                        </a:rPr>
                        <a:t>(800/800 tests)</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N/A</a:t>
                      </a:r>
                    </a:p>
                    <a:p>
                      <a:pPr algn="ctr">
                        <a:buNone/>
                      </a:pPr>
                      <a:r>
                        <a:rPr sz="818">
                          <a:solidFill>
                            <a:srgbClr val="001450"/>
                          </a:solidFill>
                          <a:latin typeface="Open Sans"/>
                          <a:ea typeface="Open Sans"/>
                          <a:cs typeface="Open Sans"/>
                        </a:rPr>
                        <a:t>LTP/LTD only</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85.28% clean</a:t>
                      </a:r>
                    </a:p>
                    <a:p>
                      <a:pPr algn="ctr">
                        <a:buNone/>
                      </a:pPr>
                      <a:r>
                        <a:rPr sz="818">
                          <a:solidFill>
                            <a:srgbClr val="001450"/>
                          </a:solidFill>
                          <a:latin typeface="Open Sans"/>
                          <a:ea typeface="Open Sans"/>
                          <a:cs typeface="Open Sans"/>
                        </a:rPr>
                        <a:t>82.52% after</a:t>
                      </a:r>
                    </a:p>
                    <a:p>
                      <a:pPr algn="ctr">
                        <a:buNone/>
                      </a:pPr>
                      <a:r>
                        <a:rPr sz="818">
                          <a:solidFill>
                            <a:srgbClr val="001450"/>
                          </a:solidFill>
                          <a:latin typeface="Open Sans"/>
                          <a:ea typeface="Open Sans"/>
                          <a:cs typeface="Open Sans"/>
                        </a:rPr>
                        <a:t>noisy relearning</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90.4%</a:t>
                      </a:r>
                    </a:p>
                  </a:txBody>
                  <a:tcPr marL="28575" marR="28575" marT="19050" marB="19050" anchor="ctr">
                    <a:solidFill>
                      <a:srgbClr val="F2F5FA"/>
                    </a:solidFill>
                  </a:tcPr>
                </a:tc>
                <a:tc>
                  <a:txBody>
                    <a:bodyPr/>
                    <a:lstStyle/>
                    <a:p>
                      <a:pPr algn="ctr">
                        <a:buNone/>
                      </a:pPr>
                      <a:r>
                        <a:rPr sz="818">
                          <a:solidFill>
                            <a:srgbClr val="001450"/>
                          </a:solidFill>
                          <a:latin typeface="Open Sans"/>
                          <a:ea typeface="Open Sans"/>
                          <a:cs typeface="Open Sans"/>
                        </a:rPr>
                        <a:t>96.20% ECG</a:t>
                      </a:r>
                    </a:p>
                    <a:p>
                      <a:pPr algn="ctr">
                        <a:buNone/>
                      </a:pPr>
                      <a:r>
                        <a:rPr sz="818">
                          <a:solidFill>
                            <a:srgbClr val="001450"/>
                          </a:solidFill>
                          <a:latin typeface="Open Sans"/>
                          <a:ea typeface="Open Sans"/>
                          <a:cs typeface="Open Sans"/>
                        </a:rPr>
                        <a:t>91.09% EEG</a:t>
                      </a:r>
                    </a:p>
                    <a:p>
                      <a:pPr algn="ctr">
                        <a:buNone/>
                      </a:pPr>
                      <a:r>
                        <a:rPr sz="818">
                          <a:solidFill>
                            <a:srgbClr val="001450"/>
                          </a:solidFill>
                          <a:latin typeface="Open Sans"/>
                          <a:ea typeface="Open Sans"/>
                          <a:cs typeface="Open Sans"/>
                        </a:rPr>
                        <a:t>98.26% MNIST</a:t>
                      </a:r>
                    </a:p>
                  </a:txBody>
                  <a:tcPr marL="28575" marR="28575" marT="19050" marB="19050" anchor="ctr">
                    <a:solidFill>
                      <a:srgbClr val="F2F5FA"/>
                    </a:solidFill>
                  </a:tcPr>
                </a:tc>
                <a:tc>
                  <a:txBody>
                    <a:bodyPr/>
                    <a:lstStyle/>
                    <a:p>
                      <a:pPr algn="ctr"/>
                      <a:r>
                        <a:rPr sz="754" b="1" dirty="0">
                          <a:solidFill>
                            <a:srgbClr val="001450"/>
                          </a:solidFill>
                          <a:latin typeface="Open Sans"/>
                          <a:ea typeface="Open Sans"/>
                          <a:cs typeface="Open Sans"/>
                        </a:rPr>
                        <a:t>TBD</a:t>
                      </a:r>
                    </a:p>
                    <a:p>
                      <a:pPr algn="ctr"/>
                      <a:r>
                        <a:rPr sz="754" b="1" dirty="0">
                          <a:solidFill>
                            <a:srgbClr val="001450"/>
                          </a:solidFill>
                          <a:latin typeface="Open Sans"/>
                          <a:ea typeface="Open Sans"/>
                          <a:cs typeface="Open Sans"/>
                        </a:rPr>
                        <a:t>(system validation)</a:t>
                      </a:r>
                    </a:p>
                  </a:txBody>
                  <a:tcPr marL="28575" marR="28575" marT="19050" marB="19050" anchor="ctr">
                    <a:solidFill>
                      <a:srgbClr val="EAF3FA"/>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952154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5CAC8-B8CB-6429-27AC-9FDA8602D21D}"/>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959BCAA9-CF30-323C-C777-8487427847B0}"/>
              </a:ext>
            </a:extLst>
          </p:cNvPr>
          <p:cNvSpPr>
            <a:spLocks noGrp="1"/>
          </p:cNvSpPr>
          <p:nvPr>
            <p:ph type="title"/>
          </p:nvPr>
        </p:nvSpPr>
        <p:spPr/>
        <p:txBody>
          <a:bodyPr/>
          <a:lstStyle/>
          <a:p>
            <a:r>
              <a:rPr lang="de-DE" dirty="0"/>
              <a:t>Spiker+ Framework</a:t>
            </a:r>
          </a:p>
        </p:txBody>
      </p:sp>
      <p:sp>
        <p:nvSpPr>
          <p:cNvPr id="17" name="文本框 16">
            <a:extLst>
              <a:ext uri="{FF2B5EF4-FFF2-40B4-BE49-F238E27FC236}">
                <a16:creationId xmlns:a16="http://schemas.microsoft.com/office/drawing/2014/main" id="{545C3C6A-C48F-D573-6758-1F258C2E46B8}"/>
              </a:ext>
            </a:extLst>
          </p:cNvPr>
          <p:cNvSpPr txBox="1"/>
          <p:nvPr/>
        </p:nvSpPr>
        <p:spPr>
          <a:xfrm>
            <a:off x="4810298" y="5922014"/>
            <a:ext cx="7381702" cy="206210"/>
          </a:xfrm>
          <a:prstGeom prst="rect">
            <a:avLst/>
          </a:prstGeom>
          <a:noFill/>
        </p:spPr>
        <p:txBody>
          <a:bodyPr wrap="square" rtlCol="0">
            <a:spAutoFit/>
          </a:bodyPr>
          <a:lstStyle/>
          <a:p>
            <a:pPr algn="ctr"/>
            <a:r>
              <a:rPr lang="en-US" altLang="zh-CN" sz="740" dirty="0"/>
              <a:t>[9] A. </a:t>
            </a:r>
            <a:r>
              <a:rPr lang="en-US" altLang="zh-CN" sz="740" dirty="0" err="1"/>
              <a:t>Carpegna</a:t>
            </a:r>
            <a:r>
              <a:rPr lang="en-US" altLang="zh-CN" sz="740" dirty="0"/>
              <a:t>, A. Savino and S. D. Carlo, "Spiker+: A Framework for the Generation of Efficient Spiking Neural Networks FPGA Accelerators for Inference at the Edge"</a:t>
            </a:r>
            <a:endParaRPr lang="zh-CN" altLang="en-US" sz="740" dirty="0"/>
          </a:p>
        </p:txBody>
      </p:sp>
      <p:pic>
        <p:nvPicPr>
          <p:cNvPr id="3" name="图片 2">
            <a:extLst>
              <a:ext uri="{FF2B5EF4-FFF2-40B4-BE49-F238E27FC236}">
                <a16:creationId xmlns:a16="http://schemas.microsoft.com/office/drawing/2014/main" id="{B0F6B311-7AE8-6BC4-8D8E-2CA3522A7B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246" y="1158883"/>
            <a:ext cx="10951508" cy="3914868"/>
          </a:xfrm>
          <a:prstGeom prst="rect">
            <a:avLst/>
          </a:prstGeom>
        </p:spPr>
      </p:pic>
    </p:spTree>
    <p:extLst>
      <p:ext uri="{BB962C8B-B14F-4D97-AF65-F5344CB8AC3E}">
        <p14:creationId xmlns:p14="http://schemas.microsoft.com/office/powerpoint/2010/main" val="3021474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9341B-7113-7704-0808-B195892CA678}"/>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F8BA9F8-F82F-60EC-975E-99D075E30AEA}"/>
              </a:ext>
            </a:extLst>
          </p:cNvPr>
          <p:cNvSpPr>
            <a:spLocks noGrp="1"/>
          </p:cNvSpPr>
          <p:nvPr>
            <p:ph type="title"/>
          </p:nvPr>
        </p:nvSpPr>
        <p:spPr/>
        <p:txBody>
          <a:bodyPr/>
          <a:lstStyle/>
          <a:p>
            <a:r>
              <a:rPr lang="de-DE" dirty="0"/>
              <a:t>Spiker+ Framework</a:t>
            </a:r>
          </a:p>
        </p:txBody>
      </p:sp>
      <p:pic>
        <p:nvPicPr>
          <p:cNvPr id="7" name="图片 6">
            <a:extLst>
              <a:ext uri="{FF2B5EF4-FFF2-40B4-BE49-F238E27FC236}">
                <a16:creationId xmlns:a16="http://schemas.microsoft.com/office/drawing/2014/main" id="{7B25F4F9-0F55-8E0F-28E3-4867E41C95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1036" y="1761358"/>
            <a:ext cx="9749928" cy="3312393"/>
          </a:xfrm>
          <a:prstGeom prst="rect">
            <a:avLst/>
          </a:prstGeom>
        </p:spPr>
      </p:pic>
      <p:sp>
        <p:nvSpPr>
          <p:cNvPr id="2" name="文本框 1">
            <a:extLst>
              <a:ext uri="{FF2B5EF4-FFF2-40B4-BE49-F238E27FC236}">
                <a16:creationId xmlns:a16="http://schemas.microsoft.com/office/drawing/2014/main" id="{7DB3F1EA-487E-EAE9-C1CC-FD118098E6C3}"/>
              </a:ext>
            </a:extLst>
          </p:cNvPr>
          <p:cNvSpPr txBox="1"/>
          <p:nvPr/>
        </p:nvSpPr>
        <p:spPr>
          <a:xfrm>
            <a:off x="4810298" y="5922014"/>
            <a:ext cx="7381702" cy="206210"/>
          </a:xfrm>
          <a:prstGeom prst="rect">
            <a:avLst/>
          </a:prstGeom>
          <a:noFill/>
        </p:spPr>
        <p:txBody>
          <a:bodyPr wrap="square" rtlCol="0">
            <a:spAutoFit/>
          </a:bodyPr>
          <a:lstStyle/>
          <a:p>
            <a:pPr algn="ctr"/>
            <a:r>
              <a:rPr lang="en-US" altLang="zh-CN" sz="740" dirty="0"/>
              <a:t>[9] A. </a:t>
            </a:r>
            <a:r>
              <a:rPr lang="en-US" altLang="zh-CN" sz="740" dirty="0" err="1"/>
              <a:t>Carpegna</a:t>
            </a:r>
            <a:r>
              <a:rPr lang="en-US" altLang="zh-CN" sz="740" dirty="0"/>
              <a:t>, A. Savino and S. D. Carlo, "Spiker+: A Framework for the Generation of Efficient Spiking Neural Networks FPGA Accelerators for Inference at the Edge"</a:t>
            </a:r>
            <a:endParaRPr lang="zh-CN" altLang="en-US" sz="740" dirty="0"/>
          </a:p>
        </p:txBody>
      </p:sp>
    </p:spTree>
    <p:extLst>
      <p:ext uri="{BB962C8B-B14F-4D97-AF65-F5344CB8AC3E}">
        <p14:creationId xmlns:p14="http://schemas.microsoft.com/office/powerpoint/2010/main" val="249521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EA8E9-FF6F-319C-55C5-7AC4DE9A8905}"/>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E980FCB0-CC4E-7C0C-9B06-EA0410809D93}"/>
              </a:ext>
            </a:extLst>
          </p:cNvPr>
          <p:cNvSpPr>
            <a:spLocks noGrp="1"/>
          </p:cNvSpPr>
          <p:nvPr>
            <p:ph type="title"/>
          </p:nvPr>
        </p:nvSpPr>
        <p:spPr/>
        <p:txBody>
          <a:bodyPr/>
          <a:lstStyle/>
          <a:p>
            <a:r>
              <a:rPr lang="de-DE" dirty="0"/>
              <a:t>S</a:t>
            </a:r>
            <a:r>
              <a:rPr lang="en-US" altLang="zh-CN" dirty="0"/>
              <a:t>pike-Driven Synaptic Plasticity</a:t>
            </a:r>
            <a:endParaRPr lang="de-DE" dirty="0"/>
          </a:p>
        </p:txBody>
      </p:sp>
      <mc:AlternateContent xmlns:mc="http://schemas.openxmlformats.org/markup-compatibility/2006" xmlns:a14="http://schemas.microsoft.com/office/drawing/2010/main">
        <mc:Choice Requires="a14">
          <p:sp>
            <p:nvSpPr>
              <p:cNvPr id="2" name="Inhaltsplatzhalter 5">
                <a:extLst>
                  <a:ext uri="{FF2B5EF4-FFF2-40B4-BE49-F238E27FC236}">
                    <a16:creationId xmlns:a16="http://schemas.microsoft.com/office/drawing/2014/main" id="{184BA946-B086-D43C-6914-3D1496A2D0FA}"/>
                  </a:ext>
                </a:extLst>
              </p:cNvPr>
              <p:cNvSpPr>
                <a:spLocks noGrp="1"/>
              </p:cNvSpPr>
              <p:nvPr>
                <p:ph sz="quarter" idx="10"/>
              </p:nvPr>
            </p:nvSpPr>
            <p:spPr>
              <a:xfrm>
                <a:off x="874712" y="1030288"/>
                <a:ext cx="7825151" cy="816795"/>
              </a:xfrm>
            </p:spPr>
            <p:txBody>
              <a:bodyPr/>
              <a:lstStyle/>
              <a:p>
                <a:r>
                  <a:rPr lang="de-DE" altLang="zh-CN" b="1" dirty="0"/>
                  <a:t>Neuron</a:t>
                </a:r>
                <a:r>
                  <a:rPr lang="en-US" altLang="zh-CN" b="1" dirty="0"/>
                  <a:t> Model</a:t>
                </a:r>
                <a:r>
                  <a:rPr lang="en-US" altLang="zh-CN" dirty="0"/>
                  <a:t>:</a:t>
                </a:r>
              </a:p>
              <a:p>
                <a:pPr algn="ctr"/>
                <a14:m>
                  <m:oMathPara xmlns:m="http://schemas.openxmlformats.org/officeDocument/2006/math">
                    <m:oMath>
                      <m:f>
                        <m:fPr>
                          <m:ctrlPr>
                            <a:rPr lang="de-DE" altLang="zh-CN" dirty="0">
                              <a:latin typeface="Cambria Math" panose="02040503050406030204" pitchFamily="18" charset="0"/>
                            </a:rPr>
                          </m:ctrlPr>
                        </m:fPr>
                        <m:num>
                          <m:r>
                            <a:rPr lang="de-DE" altLang="zh-CN" dirty="0">
                              <a:latin typeface="Cambria Math" panose="02040503050406030204" pitchFamily="18" charset="0"/>
                            </a:rPr>
                            <m:t>ⅆ</m:t>
                          </m:r>
                          <m:r>
                            <a:rPr lang="zh-CN" altLang="de-DE" i="1" dirty="0">
                              <a:latin typeface="Cambria Math" panose="02040503050406030204" pitchFamily="18" charset="0"/>
                            </a:rPr>
                            <m:t>𝑉</m:t>
                          </m:r>
                        </m:num>
                        <m:den>
                          <m:r>
                            <a:rPr lang="de-DE" altLang="zh-CN" i="0" dirty="0">
                              <a:latin typeface="Cambria Math" panose="02040503050406030204" pitchFamily="18" charset="0"/>
                            </a:rPr>
                            <m:t>ⅆ</m:t>
                          </m:r>
                          <m:r>
                            <a:rPr lang="zh-CN" altLang="de-DE" i="1" dirty="0">
                              <a:latin typeface="Cambria Math" panose="02040503050406030204" pitchFamily="18" charset="0"/>
                            </a:rPr>
                            <m:t>𝑡</m:t>
                          </m:r>
                        </m:den>
                      </m:f>
                      <m:r>
                        <a:rPr lang="de-DE" altLang="zh-CN" i="0" dirty="0">
                          <a:latin typeface="Cambria Math" panose="02040503050406030204" pitchFamily="18" charset="0"/>
                        </a:rPr>
                        <m:t>=−</m:t>
                      </m:r>
                      <m:r>
                        <a:rPr lang="zh-CN" altLang="de-DE" i="1" dirty="0">
                          <a:latin typeface="Cambria Math" panose="02040503050406030204" pitchFamily="18" charset="0"/>
                        </a:rPr>
                        <m:t>𝜆</m:t>
                      </m:r>
                      <m:r>
                        <a:rPr lang="de-DE" altLang="zh-CN" i="0" dirty="0">
                          <a:latin typeface="Cambria Math" panose="02040503050406030204" pitchFamily="18" charset="0"/>
                        </a:rPr>
                        <m:t>+</m:t>
                      </m:r>
                      <m:r>
                        <a:rPr lang="zh-CN" altLang="de-DE" i="1" dirty="0">
                          <a:latin typeface="Cambria Math" panose="02040503050406030204" pitchFamily="18" charset="0"/>
                        </a:rPr>
                        <m:t>𝐼</m:t>
                      </m:r>
                      <m:d>
                        <m:dPr>
                          <m:ctrlPr>
                            <a:rPr lang="zh-CN" altLang="de-DE" i="1" dirty="0">
                              <a:latin typeface="Cambria Math" panose="02040503050406030204" pitchFamily="18" charset="0"/>
                            </a:rPr>
                          </m:ctrlPr>
                        </m:dPr>
                        <m:e>
                          <m:r>
                            <a:rPr lang="zh-CN" altLang="de-DE" i="1" dirty="0">
                              <a:latin typeface="Cambria Math" panose="02040503050406030204" pitchFamily="18" charset="0"/>
                            </a:rPr>
                            <m:t>𝑡</m:t>
                          </m:r>
                        </m:e>
                      </m:d>
                    </m:oMath>
                  </m:oMathPara>
                </a14:m>
                <a:endParaRPr lang="de-DE" dirty="0"/>
              </a:p>
              <a:p>
                <a:endParaRPr lang="de-DE" dirty="0"/>
              </a:p>
            </p:txBody>
          </p:sp>
        </mc:Choice>
        <mc:Fallback xmlns="">
          <p:sp>
            <p:nvSpPr>
              <p:cNvPr id="2" name="Inhaltsplatzhalter 5">
                <a:extLst>
                  <a:ext uri="{FF2B5EF4-FFF2-40B4-BE49-F238E27FC236}">
                    <a16:creationId xmlns:a16="http://schemas.microsoft.com/office/drawing/2014/main" id="{184BA946-B086-D43C-6914-3D1496A2D0FA}"/>
                  </a:ext>
                </a:extLst>
              </p:cNvPr>
              <p:cNvSpPr>
                <a:spLocks noGrp="1" noRot="1" noChangeAspect="1" noMove="1" noResize="1" noEditPoints="1" noAdjustHandles="1" noChangeArrowheads="1" noChangeShapeType="1" noTextEdit="1"/>
              </p:cNvSpPr>
              <p:nvPr>
                <p:ph sz="quarter" idx="10"/>
              </p:nvPr>
            </p:nvSpPr>
            <p:spPr>
              <a:xfrm>
                <a:off x="874712" y="1030288"/>
                <a:ext cx="7825151" cy="816795"/>
              </a:xfrm>
              <a:blipFill>
                <a:blip r:embed="rId3"/>
                <a:stretch>
                  <a:fillRect l="-1558" t="-74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Inhaltsplatzhalter 5">
                <a:extLst>
                  <a:ext uri="{FF2B5EF4-FFF2-40B4-BE49-F238E27FC236}">
                    <a16:creationId xmlns:a16="http://schemas.microsoft.com/office/drawing/2014/main" id="{2B432A97-2CC3-A682-1051-F09AAD269939}"/>
                  </a:ext>
                </a:extLst>
              </p:cNvPr>
              <p:cNvSpPr txBox="1">
                <a:spLocks/>
              </p:cNvSpPr>
              <p:nvPr/>
            </p:nvSpPr>
            <p:spPr>
              <a:xfrm>
                <a:off x="874712" y="1999483"/>
                <a:ext cx="7825151" cy="816795"/>
              </a:xfrm>
              <a:prstGeom prst="rect">
                <a:avLst/>
              </a:prstGeom>
              <a:ln>
                <a:noFill/>
              </a:ln>
            </p:spPr>
            <p:txBody>
              <a:bodyPr vert="horz" lIns="0" tIns="0" rIns="0" bIns="0" rtlCol="0">
                <a:noAutofit/>
              </a:bodyPr>
              <a:lstStyle>
                <a:lvl1pPr marL="0" indent="0" algn="l" defTabSz="914269" rtl="0" eaLnBrk="1" latinLnBrk="0" hangingPunct="1">
                  <a:spcBef>
                    <a:spcPts val="1200"/>
                  </a:spcBef>
                  <a:buFont typeface="Arial" panose="020B0604020202020204" pitchFamily="34" charset="0"/>
                  <a:buNone/>
                  <a:defRPr sz="1600" kern="1200">
                    <a:solidFill>
                      <a:schemeClr val="tx2"/>
                    </a:solidFill>
                    <a:latin typeface="Noto Sans" panose="020B0502040504020204" pitchFamily="34"/>
                    <a:ea typeface="Noto Sans" panose="020B0502040504020204" pitchFamily="34"/>
                    <a:cs typeface="Noto Sans" panose="020B0502040504020204" pitchFamily="34"/>
                  </a:defRPr>
                </a:lvl1pPr>
                <a:lvl2pPr marL="395942" indent="-323953" algn="l" defTabSz="914269" rtl="0" eaLnBrk="1" latinLnBrk="0" hangingPunct="1">
                  <a:spcBef>
                    <a:spcPts val="300"/>
                  </a:spcBef>
                  <a:buFont typeface="Open Sans" panose="020B0606030504020204" pitchFamily="34" charset="0"/>
                  <a:buChar char="—"/>
                  <a:defRPr sz="1600" kern="1200">
                    <a:solidFill>
                      <a:schemeClr val="tx2"/>
                    </a:solidFill>
                    <a:latin typeface="Noto Sans" panose="020B0502040504020204" pitchFamily="34"/>
                    <a:ea typeface="Noto Sans" panose="020B0502040504020204" pitchFamily="34"/>
                    <a:cs typeface="Noto Sans" panose="020B0502040504020204" pitchFamily="34"/>
                  </a:defRPr>
                </a:lvl2pPr>
                <a:lvl3pPr marL="0" indent="0" algn="l" defTabSz="914269" rtl="0" eaLnBrk="1" latinLnBrk="0" hangingPunct="1">
                  <a:spcBef>
                    <a:spcPts val="1200"/>
                  </a:spcBef>
                  <a:buFont typeface="Arial" panose="020B0604020202020204" pitchFamily="34" charset="0"/>
                  <a:buNone/>
                  <a:defRPr sz="1400" kern="1200">
                    <a:solidFill>
                      <a:schemeClr val="tx2"/>
                    </a:solidFill>
                    <a:latin typeface="Noto Sans" panose="020B0502040504020204" pitchFamily="34"/>
                    <a:ea typeface="Noto Sans" panose="020B0502040504020204" pitchFamily="34"/>
                    <a:cs typeface="Noto Sans" panose="020B0502040504020204" pitchFamily="34"/>
                  </a:defRPr>
                </a:lvl3pPr>
                <a:lvl4pPr marL="395942" indent="-215969" algn="l" defTabSz="914269" rtl="0" eaLnBrk="1" latinLnBrk="0" hangingPunct="1">
                  <a:spcBef>
                    <a:spcPts val="300"/>
                  </a:spcBef>
                  <a:buFont typeface="Symbol" panose="05050102010706020507" pitchFamily="18" charset="2"/>
                  <a:buChar char="-"/>
                  <a:defRPr sz="1400" kern="1200">
                    <a:solidFill>
                      <a:schemeClr val="tx2"/>
                    </a:solidFill>
                    <a:latin typeface="Noto Sans" panose="020B0502040504020204" pitchFamily="34"/>
                    <a:ea typeface="Noto Sans" panose="020B0502040504020204" pitchFamily="34"/>
                    <a:cs typeface="Noto Sans" panose="020B0502040504020204" pitchFamily="34"/>
                  </a:defRPr>
                </a:lvl4pPr>
                <a:lvl5pPr marL="575916" indent="-179362" algn="l" defTabSz="914269" rtl="0" eaLnBrk="1" latinLnBrk="0" hangingPunct="1">
                  <a:spcBef>
                    <a:spcPts val="300"/>
                  </a:spcBef>
                  <a:buFont typeface="Symbol" panose="05050102010706020507" pitchFamily="18" charset="2"/>
                  <a:buChar char="-"/>
                  <a:defRPr sz="1400" kern="1200" baseline="0">
                    <a:solidFill>
                      <a:schemeClr val="tx2"/>
                    </a:solidFill>
                    <a:latin typeface="Noto Sans" panose="020B0502040504020204" pitchFamily="34"/>
                    <a:ea typeface="Noto Sans" panose="020B0502040504020204" pitchFamily="34"/>
                    <a:cs typeface="Noto Sans" panose="020B0502040504020204" pitchFamily="34"/>
                  </a:defRPr>
                </a:lvl5pPr>
                <a:lvl6pPr marL="358723" indent="0" algn="l" defTabSz="914269" rtl="0" eaLnBrk="1" latinLnBrk="0" hangingPunct="1">
                  <a:spcBef>
                    <a:spcPts val="0"/>
                  </a:spcBef>
                  <a:buFont typeface="Arial" panose="020B0604020202020204" pitchFamily="34" charset="0"/>
                  <a:buNone/>
                  <a:defRPr sz="3200" b="1" kern="1200">
                    <a:solidFill>
                      <a:schemeClr val="bg1"/>
                    </a:solidFill>
                    <a:latin typeface="+mn-lt"/>
                    <a:ea typeface="+mn-ea"/>
                    <a:cs typeface="+mn-cs"/>
                  </a:defRPr>
                </a:lvl6pPr>
                <a:lvl7pPr marL="358723" indent="0" algn="l" defTabSz="914269" rtl="0" eaLnBrk="1" latinLnBrk="0" hangingPunct="1">
                  <a:spcBef>
                    <a:spcPts val="0"/>
                  </a:spcBef>
                  <a:buFont typeface="Arial" panose="020B0604020202020204" pitchFamily="34" charset="0"/>
                  <a:buNone/>
                  <a:defRPr sz="3200" kern="1200">
                    <a:solidFill>
                      <a:schemeClr val="bg1"/>
                    </a:solidFill>
                    <a:latin typeface="+mn-lt"/>
                    <a:ea typeface="+mn-ea"/>
                    <a:cs typeface="+mn-cs"/>
                  </a:defRPr>
                </a:lvl7pPr>
                <a:lvl8pPr marL="3428502" indent="-228566" algn="l" defTabSz="91426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635" indent="-228566" algn="l" defTabSz="91426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de-DE" altLang="zh-CN" b="1" dirty="0"/>
                  <a:t>Calcium Variable</a:t>
                </a:r>
                <a:r>
                  <a:rPr lang="en-US" altLang="zh-CN" dirty="0"/>
                  <a:t>:</a:t>
                </a:r>
              </a:p>
              <a:p>
                <a:pPr algn="ctr"/>
                <a14:m>
                  <m:oMath xmlns:m="http://schemas.openxmlformats.org/officeDocument/2006/math">
                    <m:r>
                      <a:rPr lang="zh-CN" altLang="de-DE" i="1" dirty="0" smtClean="0">
                        <a:latin typeface="Cambria Math" panose="02040503050406030204" pitchFamily="18" charset="0"/>
                      </a:rPr>
                      <m:t>𝐶</m:t>
                    </m:r>
                    <m:r>
                      <a:rPr lang="de-DE" altLang="zh-CN" i="0" dirty="0">
                        <a:latin typeface="Cambria Math" panose="02040503050406030204" pitchFamily="18" charset="0"/>
                      </a:rPr>
                      <m:t>=</m:t>
                    </m:r>
                    <m:r>
                      <a:rPr lang="zh-CN" altLang="de-DE" i="1" dirty="0">
                        <a:latin typeface="Cambria Math" panose="02040503050406030204" pitchFamily="18" charset="0"/>
                      </a:rPr>
                      <m:t>𝐶</m:t>
                    </m:r>
                    <m:r>
                      <a:rPr lang="de-DE" altLang="zh-CN" i="0" dirty="0">
                        <a:latin typeface="Cambria Math" panose="02040503050406030204" pitchFamily="18" charset="0"/>
                      </a:rPr>
                      <m:t>+1</m:t>
                    </m:r>
                  </m:oMath>
                </a14:m>
                <a:r>
                  <a:rPr lang="de-DE" dirty="0"/>
                  <a:t> </a:t>
                </a:r>
                <a14:m>
                  <m:oMath xmlns:m="http://schemas.openxmlformats.org/officeDocument/2006/math">
                    <m:r>
                      <a:rPr lang="en-US" b="0" i="1" dirty="0" smtClean="0">
                        <a:latin typeface="Cambria Math" panose="02040503050406030204" pitchFamily="18" charset="0"/>
                      </a:rPr>
                      <m:t>𝑖𝑓</m:t>
                    </m:r>
                    <m:r>
                      <a:rPr lang="en-US" b="0" i="1" dirty="0" smtClean="0">
                        <a:latin typeface="Cambria Math" panose="02040503050406030204" pitchFamily="18" charset="0"/>
                      </a:rPr>
                      <m:t> </m:t>
                    </m:r>
                    <m:r>
                      <a:rPr lang="en-US" b="0" i="1" dirty="0" smtClean="0">
                        <a:latin typeface="Cambria Math" panose="02040503050406030204" pitchFamily="18" charset="0"/>
                      </a:rPr>
                      <m:t>𝑠𝑝𝑘</m:t>
                    </m:r>
                    <m:r>
                      <a:rPr lang="en-US" b="0" i="1" dirty="0" smtClean="0">
                        <a:latin typeface="Cambria Math" panose="02040503050406030204" pitchFamily="18" charset="0"/>
                      </a:rPr>
                      <m:t>_</m:t>
                    </m:r>
                    <m:r>
                      <a:rPr lang="en-US" b="0" i="1" dirty="0" smtClean="0">
                        <a:latin typeface="Cambria Math" panose="02040503050406030204" pitchFamily="18" charset="0"/>
                      </a:rPr>
                      <m:t>𝑝𝑜𝑠𝑡</m:t>
                    </m:r>
                    <m:r>
                      <a:rPr lang="en-US" b="0" i="1" dirty="0" smtClean="0">
                        <a:latin typeface="Cambria Math" panose="02040503050406030204" pitchFamily="18" charset="0"/>
                      </a:rPr>
                      <m:t>=1</m:t>
                    </m:r>
                  </m:oMath>
                </a14:m>
                <a:endParaRPr lang="en-US" b="0" dirty="0"/>
              </a:p>
              <a:p>
                <a:pPr algn="ctr"/>
                <a14:m>
                  <m:oMath xmlns:m="http://schemas.openxmlformats.org/officeDocument/2006/math">
                    <m:r>
                      <a:rPr lang="zh-CN" altLang="de-DE" i="1" dirty="0">
                        <a:latin typeface="Cambria Math" panose="02040503050406030204" pitchFamily="18" charset="0"/>
                      </a:rPr>
                      <m:t>𝐶</m:t>
                    </m:r>
                    <m:r>
                      <a:rPr lang="de-DE" altLang="zh-CN" dirty="0">
                        <a:latin typeface="Cambria Math" panose="02040503050406030204" pitchFamily="18" charset="0"/>
                      </a:rPr>
                      <m:t>=</m:t>
                    </m:r>
                    <m:r>
                      <a:rPr lang="zh-CN" altLang="de-DE" i="1" dirty="0">
                        <a:latin typeface="Cambria Math" panose="02040503050406030204" pitchFamily="18" charset="0"/>
                      </a:rPr>
                      <m:t>𝐶</m:t>
                    </m:r>
                    <m:r>
                      <a:rPr lang="en-US" altLang="zh-CN" b="0" i="0" dirty="0" smtClean="0">
                        <a:latin typeface="Cambria Math" panose="02040503050406030204" pitchFamily="18" charset="0"/>
                      </a:rPr>
                      <m:t>−1</m:t>
                    </m:r>
                  </m:oMath>
                </a14:m>
                <a:r>
                  <a:rPr lang="de-DE" altLang="zh-CN" dirty="0"/>
                  <a:t> </a:t>
                </a:r>
                <a14:m>
                  <m:oMath xmlns:m="http://schemas.openxmlformats.org/officeDocument/2006/math">
                    <m:r>
                      <a:rPr lang="en-US" altLang="zh-CN" i="1" dirty="0">
                        <a:latin typeface="Cambria Math" panose="02040503050406030204" pitchFamily="18" charset="0"/>
                      </a:rPr>
                      <m:t>𝑖𝑓</m:t>
                    </m:r>
                    <m:r>
                      <a:rPr lang="en-US" altLang="zh-CN" i="1" dirty="0">
                        <a:latin typeface="Cambria Math" panose="02040503050406030204" pitchFamily="18" charset="0"/>
                      </a:rPr>
                      <m:t> </m:t>
                    </m:r>
                    <m:r>
                      <a:rPr lang="en-US" altLang="zh-CN" b="0" i="1" dirty="0" smtClean="0">
                        <a:latin typeface="Cambria Math" panose="02040503050406030204" pitchFamily="18" charset="0"/>
                      </a:rPr>
                      <m:t>𝑡𝑖𝑚𝑒</m:t>
                    </m:r>
                    <m:r>
                      <a:rPr lang="en-US" altLang="zh-CN" b="0" i="1" dirty="0" smtClean="0">
                        <a:latin typeface="Cambria Math" panose="02040503050406030204" pitchFamily="18" charset="0"/>
                      </a:rPr>
                      <m:t>_</m:t>
                    </m:r>
                    <m:r>
                      <a:rPr lang="en-US" altLang="zh-CN" b="0" i="1" dirty="0" smtClean="0">
                        <a:latin typeface="Cambria Math" panose="02040503050406030204" pitchFamily="18" charset="0"/>
                      </a:rPr>
                      <m:t>𝑟𝑒𝑓</m:t>
                    </m:r>
                    <m:r>
                      <a:rPr lang="en-US" altLang="zh-CN" i="1" dirty="0">
                        <a:latin typeface="Cambria Math" panose="02040503050406030204" pitchFamily="18" charset="0"/>
                      </a:rPr>
                      <m:t>=1</m:t>
                    </m:r>
                  </m:oMath>
                </a14:m>
                <a:endParaRPr lang="en-US" altLang="zh-CN" dirty="0"/>
              </a:p>
              <a:p>
                <a:pPr algn="ctr"/>
                <a:endParaRPr lang="de-DE" dirty="0"/>
              </a:p>
              <a:p>
                <a:endParaRPr lang="de-DE" dirty="0"/>
              </a:p>
            </p:txBody>
          </p:sp>
        </mc:Choice>
        <mc:Fallback xmlns="">
          <p:sp>
            <p:nvSpPr>
              <p:cNvPr id="3" name="Inhaltsplatzhalter 5">
                <a:extLst>
                  <a:ext uri="{FF2B5EF4-FFF2-40B4-BE49-F238E27FC236}">
                    <a16:creationId xmlns:a16="http://schemas.microsoft.com/office/drawing/2014/main" id="{2B432A97-2CC3-A682-1051-F09AAD269939}"/>
                  </a:ext>
                </a:extLst>
              </p:cNvPr>
              <p:cNvSpPr txBox="1">
                <a:spLocks noRot="1" noChangeAspect="1" noMove="1" noResize="1" noEditPoints="1" noAdjustHandles="1" noChangeArrowheads="1" noChangeShapeType="1" noTextEdit="1"/>
              </p:cNvSpPr>
              <p:nvPr/>
            </p:nvSpPr>
            <p:spPr>
              <a:xfrm>
                <a:off x="874712" y="1999483"/>
                <a:ext cx="7825151" cy="816795"/>
              </a:xfrm>
              <a:prstGeom prst="rect">
                <a:avLst/>
              </a:prstGeom>
              <a:blipFill>
                <a:blip r:embed="rId4"/>
                <a:stretch>
                  <a:fillRect l="-1558" t="-7463" b="-3656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Inhaltsplatzhalter 5">
                <a:extLst>
                  <a:ext uri="{FF2B5EF4-FFF2-40B4-BE49-F238E27FC236}">
                    <a16:creationId xmlns:a16="http://schemas.microsoft.com/office/drawing/2014/main" id="{53B92B6A-004F-CA6B-4824-8E2FFBEBA26F}"/>
                  </a:ext>
                </a:extLst>
              </p:cNvPr>
              <p:cNvSpPr txBox="1">
                <a:spLocks/>
              </p:cNvSpPr>
              <p:nvPr/>
            </p:nvSpPr>
            <p:spPr>
              <a:xfrm>
                <a:off x="874712" y="3160525"/>
                <a:ext cx="7825151" cy="2876193"/>
              </a:xfrm>
              <a:prstGeom prst="rect">
                <a:avLst/>
              </a:prstGeom>
              <a:ln>
                <a:noFill/>
              </a:ln>
            </p:spPr>
            <p:txBody>
              <a:bodyPr vert="horz" lIns="0" tIns="0" rIns="0" bIns="0" rtlCol="0">
                <a:noAutofit/>
              </a:bodyPr>
              <a:lstStyle>
                <a:lvl1pPr marL="0" indent="0" algn="l" defTabSz="914269" rtl="0" eaLnBrk="1" latinLnBrk="0" hangingPunct="1">
                  <a:spcBef>
                    <a:spcPts val="1200"/>
                  </a:spcBef>
                  <a:buFont typeface="Arial" panose="020B0604020202020204" pitchFamily="34" charset="0"/>
                  <a:buNone/>
                  <a:defRPr sz="1600" kern="1200">
                    <a:solidFill>
                      <a:schemeClr val="tx2"/>
                    </a:solidFill>
                    <a:latin typeface="Noto Sans" panose="020B0502040504020204" pitchFamily="34"/>
                    <a:ea typeface="Noto Sans" panose="020B0502040504020204" pitchFamily="34"/>
                    <a:cs typeface="Noto Sans" panose="020B0502040504020204" pitchFamily="34"/>
                  </a:defRPr>
                </a:lvl1pPr>
                <a:lvl2pPr marL="395942" indent="-323953" algn="l" defTabSz="914269" rtl="0" eaLnBrk="1" latinLnBrk="0" hangingPunct="1">
                  <a:spcBef>
                    <a:spcPts val="300"/>
                  </a:spcBef>
                  <a:buFont typeface="Open Sans" panose="020B0606030504020204" pitchFamily="34" charset="0"/>
                  <a:buChar char="—"/>
                  <a:defRPr sz="1600" kern="1200">
                    <a:solidFill>
                      <a:schemeClr val="tx2"/>
                    </a:solidFill>
                    <a:latin typeface="Noto Sans" panose="020B0502040504020204" pitchFamily="34"/>
                    <a:ea typeface="Noto Sans" panose="020B0502040504020204" pitchFamily="34"/>
                    <a:cs typeface="Noto Sans" panose="020B0502040504020204" pitchFamily="34"/>
                  </a:defRPr>
                </a:lvl2pPr>
                <a:lvl3pPr marL="0" indent="0" algn="l" defTabSz="914269" rtl="0" eaLnBrk="1" latinLnBrk="0" hangingPunct="1">
                  <a:spcBef>
                    <a:spcPts val="1200"/>
                  </a:spcBef>
                  <a:buFont typeface="Arial" panose="020B0604020202020204" pitchFamily="34" charset="0"/>
                  <a:buNone/>
                  <a:defRPr sz="1400" kern="1200">
                    <a:solidFill>
                      <a:schemeClr val="tx2"/>
                    </a:solidFill>
                    <a:latin typeface="Noto Sans" panose="020B0502040504020204" pitchFamily="34"/>
                    <a:ea typeface="Noto Sans" panose="020B0502040504020204" pitchFamily="34"/>
                    <a:cs typeface="Noto Sans" panose="020B0502040504020204" pitchFamily="34"/>
                  </a:defRPr>
                </a:lvl3pPr>
                <a:lvl4pPr marL="395942" indent="-215969" algn="l" defTabSz="914269" rtl="0" eaLnBrk="1" latinLnBrk="0" hangingPunct="1">
                  <a:spcBef>
                    <a:spcPts val="300"/>
                  </a:spcBef>
                  <a:buFont typeface="Symbol" panose="05050102010706020507" pitchFamily="18" charset="2"/>
                  <a:buChar char="-"/>
                  <a:defRPr sz="1400" kern="1200">
                    <a:solidFill>
                      <a:schemeClr val="tx2"/>
                    </a:solidFill>
                    <a:latin typeface="Noto Sans" panose="020B0502040504020204" pitchFamily="34"/>
                    <a:ea typeface="Noto Sans" panose="020B0502040504020204" pitchFamily="34"/>
                    <a:cs typeface="Noto Sans" panose="020B0502040504020204" pitchFamily="34"/>
                  </a:defRPr>
                </a:lvl4pPr>
                <a:lvl5pPr marL="575916" indent="-179362" algn="l" defTabSz="914269" rtl="0" eaLnBrk="1" latinLnBrk="0" hangingPunct="1">
                  <a:spcBef>
                    <a:spcPts val="300"/>
                  </a:spcBef>
                  <a:buFont typeface="Symbol" panose="05050102010706020507" pitchFamily="18" charset="2"/>
                  <a:buChar char="-"/>
                  <a:defRPr sz="1400" kern="1200" baseline="0">
                    <a:solidFill>
                      <a:schemeClr val="tx2"/>
                    </a:solidFill>
                    <a:latin typeface="Noto Sans" panose="020B0502040504020204" pitchFamily="34"/>
                    <a:ea typeface="Noto Sans" panose="020B0502040504020204" pitchFamily="34"/>
                    <a:cs typeface="Noto Sans" panose="020B0502040504020204" pitchFamily="34"/>
                  </a:defRPr>
                </a:lvl5pPr>
                <a:lvl6pPr marL="358723" indent="0" algn="l" defTabSz="914269" rtl="0" eaLnBrk="1" latinLnBrk="0" hangingPunct="1">
                  <a:spcBef>
                    <a:spcPts val="0"/>
                  </a:spcBef>
                  <a:buFont typeface="Arial" panose="020B0604020202020204" pitchFamily="34" charset="0"/>
                  <a:buNone/>
                  <a:defRPr sz="3200" b="1" kern="1200">
                    <a:solidFill>
                      <a:schemeClr val="bg1"/>
                    </a:solidFill>
                    <a:latin typeface="+mn-lt"/>
                    <a:ea typeface="+mn-ea"/>
                    <a:cs typeface="+mn-cs"/>
                  </a:defRPr>
                </a:lvl6pPr>
                <a:lvl7pPr marL="358723" indent="0" algn="l" defTabSz="914269" rtl="0" eaLnBrk="1" latinLnBrk="0" hangingPunct="1">
                  <a:spcBef>
                    <a:spcPts val="0"/>
                  </a:spcBef>
                  <a:buFont typeface="Arial" panose="020B0604020202020204" pitchFamily="34" charset="0"/>
                  <a:buNone/>
                  <a:defRPr sz="3200" kern="1200">
                    <a:solidFill>
                      <a:schemeClr val="bg1"/>
                    </a:solidFill>
                    <a:latin typeface="+mn-lt"/>
                    <a:ea typeface="+mn-ea"/>
                    <a:cs typeface="+mn-cs"/>
                  </a:defRPr>
                </a:lvl7pPr>
                <a:lvl8pPr marL="3428502" indent="-228566" algn="l" defTabSz="91426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635" indent="-228566" algn="l" defTabSz="91426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de-DE" altLang="zh-CN" b="1" dirty="0"/>
                  <a:t>Learning Conditions</a:t>
                </a:r>
                <a:r>
                  <a:rPr lang="en-US" altLang="zh-CN" dirty="0"/>
                  <a:t>:</a:t>
                </a:r>
              </a:p>
              <a:p>
                <a:r>
                  <a:rPr lang="en-US" altLang="zh-CN" dirty="0"/>
                  <a:t>1. Presence of a presynaptic spike: Jump</a:t>
                </a:r>
              </a:p>
              <a:p>
                <a:pPr algn="ctr"/>
                <a14:m>
                  <m:oMath xmlns:m="http://schemas.openxmlformats.org/officeDocument/2006/math">
                    <m:r>
                      <a:rPr lang="zh-CN" altLang="de-DE" i="1" dirty="0">
                        <a:latin typeface="Cambria Math" panose="02040503050406030204" pitchFamily="18" charset="0"/>
                      </a:rPr>
                      <m:t>𝑤</m:t>
                    </m:r>
                    <m:r>
                      <a:rPr lang="de-DE" altLang="zh-CN" i="0" dirty="0" smtClean="0">
                        <a:latin typeface="Cambria Math" panose="02040503050406030204" pitchFamily="18" charset="0"/>
                      </a:rPr>
                      <m:t>→</m:t>
                    </m:r>
                    <m:r>
                      <a:rPr lang="zh-CN" altLang="de-DE" i="1" dirty="0">
                        <a:latin typeface="Cambria Math" panose="02040503050406030204" pitchFamily="18" charset="0"/>
                      </a:rPr>
                      <m:t>𝑤</m:t>
                    </m:r>
                    <m:r>
                      <a:rPr lang="de-DE" altLang="zh-CN" i="0" dirty="0" smtClean="0">
                        <a:latin typeface="Cambria Math" panose="02040503050406030204" pitchFamily="18" charset="0"/>
                      </a:rPr>
                      <m:t>+</m:t>
                    </m:r>
                    <m:r>
                      <a:rPr lang="en-US" altLang="zh-CN" b="0" i="0" dirty="0" smtClean="0">
                        <a:latin typeface="Cambria Math" panose="02040503050406030204" pitchFamily="18" charset="0"/>
                      </a:rPr>
                      <m:t>1  </m:t>
                    </m:r>
                    <m:r>
                      <m:rPr>
                        <m:sty m:val="p"/>
                      </m:rPr>
                      <a:rPr lang="en-US" altLang="zh-CN" b="0" i="0" dirty="0" smtClean="0">
                        <a:latin typeface="Cambria Math" panose="02040503050406030204" pitchFamily="18" charset="0"/>
                      </a:rPr>
                      <m:t>if</m:t>
                    </m:r>
                  </m:oMath>
                </a14:m>
                <a:r>
                  <a:rPr lang="de-DE" dirty="0"/>
                  <a:t>  </a:t>
                </a:r>
                <a14:m>
                  <m:oMath xmlns:m="http://schemas.openxmlformats.org/officeDocument/2006/math">
                    <m:r>
                      <a:rPr lang="zh-CN" altLang="de-DE" i="1" dirty="0" smtClean="0">
                        <a:latin typeface="Cambria Math" panose="02040503050406030204" pitchFamily="18" charset="0"/>
                      </a:rPr>
                      <m:t>𝑉</m:t>
                    </m:r>
                    <m:d>
                      <m:dPr>
                        <m:ctrlPr>
                          <a:rPr lang="de-DE" altLang="zh-CN" i="1" dirty="0" smtClean="0">
                            <a:latin typeface="Cambria Math" panose="02040503050406030204" pitchFamily="18" charset="0"/>
                          </a:rPr>
                        </m:ctrlPr>
                      </m:dPr>
                      <m:e>
                        <m:sSub>
                          <m:sSubPr>
                            <m:ctrlPr>
                              <a:rPr lang="zh-CN" altLang="de-DE" i="1" dirty="0" smtClean="0">
                                <a:latin typeface="Cambria Math" panose="02040503050406030204" pitchFamily="18" charset="0"/>
                              </a:rPr>
                            </m:ctrlPr>
                          </m:sSubPr>
                          <m:e>
                            <m:r>
                              <a:rPr lang="zh-CN" altLang="de-DE" i="1" dirty="0" smtClean="0">
                                <a:latin typeface="Cambria Math" panose="02040503050406030204" pitchFamily="18" charset="0"/>
                              </a:rPr>
                              <m:t>𝑡</m:t>
                            </m:r>
                          </m:e>
                          <m:sub>
                            <m:r>
                              <a:rPr lang="en-US" altLang="zh-CN" b="0" i="1" dirty="0" smtClean="0">
                                <a:latin typeface="Cambria Math" panose="02040503050406030204" pitchFamily="18" charset="0"/>
                              </a:rPr>
                              <m:t>𝑝</m:t>
                            </m:r>
                            <m:r>
                              <a:rPr lang="zh-CN" altLang="de-DE" i="1" dirty="0" smtClean="0">
                                <a:latin typeface="Cambria Math" panose="02040503050406030204" pitchFamily="18" charset="0"/>
                              </a:rPr>
                              <m:t>𝑟𝑒</m:t>
                            </m:r>
                          </m:sub>
                        </m:sSub>
                      </m:e>
                    </m:d>
                    <m:r>
                      <a:rPr lang="de-DE" altLang="zh-CN" i="0" dirty="0" smtClean="0">
                        <a:latin typeface="Cambria Math" panose="02040503050406030204" pitchFamily="18" charset="0"/>
                      </a:rPr>
                      <m:t>&gt;</m:t>
                    </m:r>
                    <m:sSub>
                      <m:sSubPr>
                        <m:ctrlPr>
                          <a:rPr lang="zh-CN" altLang="de-DE" i="1" dirty="0" smtClean="0">
                            <a:latin typeface="Cambria Math" panose="02040503050406030204" pitchFamily="18" charset="0"/>
                          </a:rPr>
                        </m:ctrlPr>
                      </m:sSubPr>
                      <m:e>
                        <m:r>
                          <a:rPr lang="zh-CN" altLang="de-DE" i="1" dirty="0" smtClean="0">
                            <a:latin typeface="Cambria Math" panose="02040503050406030204" pitchFamily="18" charset="0"/>
                          </a:rPr>
                          <m:t>𝜃</m:t>
                        </m:r>
                      </m:e>
                      <m:sub>
                        <m:r>
                          <a:rPr lang="en-US" altLang="zh-CN" b="0" i="1" dirty="0" smtClean="0">
                            <a:latin typeface="Cambria Math" panose="02040503050406030204" pitchFamily="18" charset="0"/>
                          </a:rPr>
                          <m:t>𝑚</m:t>
                        </m:r>
                      </m:sub>
                    </m:sSub>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𝑎𝑛𝑑</m:t>
                    </m:r>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 </m:t>
                        </m:r>
                        <m:r>
                          <a:rPr lang="zh-CN" altLang="de-DE" i="1" dirty="0">
                            <a:latin typeface="Cambria Math" panose="02040503050406030204" pitchFamily="18" charset="0"/>
                          </a:rPr>
                          <m:t>𝜃</m:t>
                        </m:r>
                      </m:e>
                      <m:sub>
                        <m:r>
                          <a:rPr lang="en-US" altLang="zh-CN" b="0" i="1" dirty="0" smtClean="0">
                            <a:latin typeface="Cambria Math" panose="02040503050406030204" pitchFamily="18" charset="0"/>
                          </a:rPr>
                          <m:t>1</m:t>
                        </m:r>
                      </m:sub>
                    </m:sSub>
                    <m:r>
                      <a:rPr lang="de-DE" altLang="zh-CN" i="0" dirty="0" smtClean="0">
                        <a:latin typeface="Cambria Math" panose="02040503050406030204" pitchFamily="18" charset="0"/>
                      </a:rPr>
                      <m:t>&lt;</m:t>
                    </m:r>
                    <m:r>
                      <a:rPr lang="zh-CN" altLang="de-DE" i="1" dirty="0" smtClean="0">
                        <a:latin typeface="Cambria Math" panose="02040503050406030204" pitchFamily="18" charset="0"/>
                      </a:rPr>
                      <m:t>𝐶</m:t>
                    </m:r>
                    <m:d>
                      <m:dPr>
                        <m:ctrlPr>
                          <a:rPr lang="de-DE" altLang="zh-CN" i="1" dirty="0" smtClean="0">
                            <a:latin typeface="Cambria Math" panose="02040503050406030204" pitchFamily="18" charset="0"/>
                          </a:rPr>
                        </m:ctrlPr>
                      </m:dPr>
                      <m:e>
                        <m:sSub>
                          <m:sSubPr>
                            <m:ctrlPr>
                              <a:rPr lang="zh-CN" altLang="de-DE" i="1" dirty="0" smtClean="0">
                                <a:latin typeface="Cambria Math" panose="02040503050406030204" pitchFamily="18" charset="0"/>
                              </a:rPr>
                            </m:ctrlPr>
                          </m:sSubPr>
                          <m:e>
                            <m:r>
                              <a:rPr lang="zh-CN" altLang="de-DE" i="1" dirty="0" smtClean="0">
                                <a:latin typeface="Cambria Math" panose="02040503050406030204" pitchFamily="18" charset="0"/>
                              </a:rPr>
                              <m:t>𝑡</m:t>
                            </m:r>
                          </m:e>
                          <m:sub>
                            <m:r>
                              <a:rPr lang="zh-CN" altLang="de-DE" i="1" dirty="0" smtClean="0">
                                <a:latin typeface="Cambria Math" panose="02040503050406030204" pitchFamily="18" charset="0"/>
                              </a:rPr>
                              <m:t>𝑝𝑟𝑒</m:t>
                            </m:r>
                          </m:sub>
                        </m:sSub>
                      </m:e>
                    </m:d>
                    <m:r>
                      <a:rPr lang="de-DE" altLang="zh-CN" i="0" dirty="0" smtClean="0">
                        <a:latin typeface="Cambria Math" panose="02040503050406030204" pitchFamily="18" charset="0"/>
                      </a:rPr>
                      <m:t>&lt;</m:t>
                    </m:r>
                    <m:sSub>
                      <m:sSubPr>
                        <m:ctrlPr>
                          <a:rPr lang="zh-CN" altLang="de-DE" i="1" dirty="0">
                            <a:latin typeface="Cambria Math" panose="02040503050406030204" pitchFamily="18" charset="0"/>
                          </a:rPr>
                        </m:ctrlPr>
                      </m:sSubPr>
                      <m:e>
                        <m:r>
                          <a:rPr lang="zh-CN" altLang="de-DE" i="1" dirty="0">
                            <a:latin typeface="Cambria Math" panose="02040503050406030204" pitchFamily="18" charset="0"/>
                          </a:rPr>
                          <m:t>𝜃</m:t>
                        </m:r>
                      </m:e>
                      <m:sub>
                        <m:r>
                          <a:rPr lang="en-US" altLang="zh-CN" b="0" i="1" dirty="0" smtClean="0">
                            <a:latin typeface="Cambria Math" panose="02040503050406030204" pitchFamily="18" charset="0"/>
                          </a:rPr>
                          <m:t>3</m:t>
                        </m:r>
                      </m:sub>
                    </m:sSub>
                  </m:oMath>
                </a14:m>
                <a:endParaRPr lang="de-DE" dirty="0"/>
              </a:p>
              <a:p>
                <a:pPr algn="ctr"/>
                <a14:m>
                  <m:oMath xmlns:m="http://schemas.openxmlformats.org/officeDocument/2006/math">
                    <m:r>
                      <a:rPr lang="zh-CN" altLang="de-DE" i="1" dirty="0">
                        <a:latin typeface="Cambria Math" panose="02040503050406030204" pitchFamily="18" charset="0"/>
                      </a:rPr>
                      <m:t>𝑤</m:t>
                    </m:r>
                    <m:r>
                      <a:rPr lang="de-DE" altLang="zh-CN" i="0" dirty="0" smtClean="0">
                        <a:latin typeface="Cambria Math" panose="02040503050406030204" pitchFamily="18" charset="0"/>
                      </a:rPr>
                      <m:t>→</m:t>
                    </m:r>
                    <m:r>
                      <a:rPr lang="zh-CN" altLang="de-DE" i="1" dirty="0">
                        <a:latin typeface="Cambria Math" panose="02040503050406030204" pitchFamily="18" charset="0"/>
                      </a:rPr>
                      <m:t>𝑤</m:t>
                    </m:r>
                    <m:r>
                      <a:rPr lang="de-DE" altLang="zh-CN" i="0" dirty="0" smtClean="0">
                        <a:latin typeface="Cambria Math" panose="02040503050406030204" pitchFamily="18" charset="0"/>
                      </a:rPr>
                      <m:t>−</m:t>
                    </m:r>
                    <m:r>
                      <a:rPr lang="en-US" altLang="zh-CN" b="0" i="0" dirty="0" smtClean="0">
                        <a:latin typeface="Cambria Math" panose="02040503050406030204" pitchFamily="18" charset="0"/>
                      </a:rPr>
                      <m:t>1  </m:t>
                    </m:r>
                    <m:r>
                      <m:rPr>
                        <m:sty m:val="p"/>
                      </m:rPr>
                      <a:rPr lang="en-US" altLang="zh-CN" b="0" i="0" dirty="0" smtClean="0">
                        <a:latin typeface="Cambria Math" panose="02040503050406030204" pitchFamily="18" charset="0"/>
                      </a:rPr>
                      <m:t>if</m:t>
                    </m:r>
                  </m:oMath>
                </a14:m>
                <a:r>
                  <a:rPr lang="de-DE" dirty="0"/>
                  <a:t>  </a:t>
                </a:r>
                <a14:m>
                  <m:oMath xmlns:m="http://schemas.openxmlformats.org/officeDocument/2006/math">
                    <m:r>
                      <a:rPr lang="zh-CN" altLang="de-DE" i="1" dirty="0" smtClean="0">
                        <a:latin typeface="Cambria Math" panose="02040503050406030204" pitchFamily="18" charset="0"/>
                      </a:rPr>
                      <m:t>𝑉</m:t>
                    </m:r>
                    <m:d>
                      <m:dPr>
                        <m:ctrlPr>
                          <a:rPr lang="de-DE" altLang="zh-CN" i="1" dirty="0" smtClean="0">
                            <a:latin typeface="Cambria Math" panose="02040503050406030204" pitchFamily="18" charset="0"/>
                          </a:rPr>
                        </m:ctrlPr>
                      </m:dPr>
                      <m:e>
                        <m:sSub>
                          <m:sSubPr>
                            <m:ctrlPr>
                              <a:rPr lang="zh-CN" altLang="de-DE" i="1" dirty="0" smtClean="0">
                                <a:latin typeface="Cambria Math" panose="02040503050406030204" pitchFamily="18" charset="0"/>
                              </a:rPr>
                            </m:ctrlPr>
                          </m:sSubPr>
                          <m:e>
                            <m:r>
                              <a:rPr lang="zh-CN" altLang="de-DE" i="1" dirty="0" smtClean="0">
                                <a:latin typeface="Cambria Math" panose="02040503050406030204" pitchFamily="18" charset="0"/>
                              </a:rPr>
                              <m:t>𝑡</m:t>
                            </m:r>
                          </m:e>
                          <m:sub>
                            <m:r>
                              <a:rPr lang="en-US" altLang="zh-CN" b="0" i="1" dirty="0" smtClean="0">
                                <a:latin typeface="Cambria Math" panose="02040503050406030204" pitchFamily="18" charset="0"/>
                              </a:rPr>
                              <m:t>𝑝</m:t>
                            </m:r>
                            <m:r>
                              <a:rPr lang="zh-CN" altLang="de-DE" i="1" dirty="0" smtClean="0">
                                <a:latin typeface="Cambria Math" panose="02040503050406030204" pitchFamily="18" charset="0"/>
                              </a:rPr>
                              <m:t>𝑟𝑒</m:t>
                            </m:r>
                          </m:sub>
                        </m:sSub>
                      </m:e>
                    </m:d>
                    <m:r>
                      <a:rPr lang="de-DE" altLang="zh-CN" i="0" dirty="0" smtClean="0">
                        <a:latin typeface="Cambria Math" panose="02040503050406030204" pitchFamily="18" charset="0"/>
                      </a:rPr>
                      <m:t>≤</m:t>
                    </m:r>
                    <m:sSub>
                      <m:sSubPr>
                        <m:ctrlPr>
                          <a:rPr lang="zh-CN" altLang="de-DE" i="1" dirty="0" smtClean="0">
                            <a:latin typeface="Cambria Math" panose="02040503050406030204" pitchFamily="18" charset="0"/>
                          </a:rPr>
                        </m:ctrlPr>
                      </m:sSubPr>
                      <m:e>
                        <m:r>
                          <a:rPr lang="zh-CN" altLang="de-DE" i="1" dirty="0" smtClean="0">
                            <a:latin typeface="Cambria Math" panose="02040503050406030204" pitchFamily="18" charset="0"/>
                          </a:rPr>
                          <m:t>𝜃</m:t>
                        </m:r>
                      </m:e>
                      <m:sub>
                        <m:r>
                          <a:rPr lang="en-US" altLang="zh-CN" b="0" i="1" dirty="0" smtClean="0">
                            <a:latin typeface="Cambria Math" panose="02040503050406030204" pitchFamily="18" charset="0"/>
                          </a:rPr>
                          <m:t>𝑚</m:t>
                        </m:r>
                      </m:sub>
                    </m:sSub>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𝑎𝑛𝑑</m:t>
                    </m:r>
                    <m:r>
                      <a:rPr lang="en-US" altLang="zh-CN" b="0" i="1" dirty="0" smtClean="0">
                        <a:latin typeface="Cambria Math" panose="02040503050406030204" pitchFamily="18" charset="0"/>
                      </a:rPr>
                      <m:t>  </m:t>
                    </m:r>
                    <m:sSub>
                      <m:sSubPr>
                        <m:ctrlPr>
                          <a:rPr lang="zh-CN" altLang="de-DE" i="1" dirty="0">
                            <a:latin typeface="Cambria Math" panose="02040503050406030204" pitchFamily="18" charset="0"/>
                          </a:rPr>
                        </m:ctrlPr>
                      </m:sSubPr>
                      <m:e>
                        <m:r>
                          <a:rPr lang="zh-CN" altLang="de-DE" i="1" dirty="0">
                            <a:latin typeface="Cambria Math" panose="02040503050406030204" pitchFamily="18" charset="0"/>
                          </a:rPr>
                          <m:t>𝜃</m:t>
                        </m:r>
                      </m:e>
                      <m:sub>
                        <m:r>
                          <a:rPr lang="en-US" altLang="zh-CN" b="0" i="1" dirty="0" smtClean="0">
                            <a:latin typeface="Cambria Math" panose="02040503050406030204" pitchFamily="18" charset="0"/>
                          </a:rPr>
                          <m:t>1</m:t>
                        </m:r>
                      </m:sub>
                    </m:sSub>
                    <m:r>
                      <a:rPr lang="de-DE" altLang="zh-CN" i="0" dirty="0" smtClean="0">
                        <a:latin typeface="Cambria Math" panose="02040503050406030204" pitchFamily="18" charset="0"/>
                      </a:rPr>
                      <m:t>&lt;</m:t>
                    </m:r>
                    <m:r>
                      <a:rPr lang="zh-CN" altLang="de-DE" i="1" dirty="0" smtClean="0">
                        <a:latin typeface="Cambria Math" panose="02040503050406030204" pitchFamily="18" charset="0"/>
                      </a:rPr>
                      <m:t>𝐶</m:t>
                    </m:r>
                    <m:d>
                      <m:dPr>
                        <m:ctrlPr>
                          <a:rPr lang="de-DE" altLang="zh-CN" i="1" dirty="0" smtClean="0">
                            <a:latin typeface="Cambria Math" panose="02040503050406030204" pitchFamily="18" charset="0"/>
                          </a:rPr>
                        </m:ctrlPr>
                      </m:dPr>
                      <m:e>
                        <m:sSub>
                          <m:sSubPr>
                            <m:ctrlPr>
                              <a:rPr lang="zh-CN" altLang="de-DE" i="1" dirty="0" smtClean="0">
                                <a:latin typeface="Cambria Math" panose="02040503050406030204" pitchFamily="18" charset="0"/>
                              </a:rPr>
                            </m:ctrlPr>
                          </m:sSubPr>
                          <m:e>
                            <m:r>
                              <a:rPr lang="zh-CN" altLang="de-DE" i="1" dirty="0" smtClean="0">
                                <a:latin typeface="Cambria Math" panose="02040503050406030204" pitchFamily="18" charset="0"/>
                              </a:rPr>
                              <m:t>𝑡</m:t>
                            </m:r>
                          </m:e>
                          <m:sub>
                            <m:r>
                              <a:rPr lang="zh-CN" altLang="de-DE" i="1" dirty="0" smtClean="0">
                                <a:latin typeface="Cambria Math" panose="02040503050406030204" pitchFamily="18" charset="0"/>
                              </a:rPr>
                              <m:t>𝑝𝑟𝑒</m:t>
                            </m:r>
                          </m:sub>
                        </m:sSub>
                      </m:e>
                    </m:d>
                    <m:r>
                      <a:rPr lang="de-DE" altLang="zh-CN" i="0" dirty="0" smtClean="0">
                        <a:latin typeface="Cambria Math" panose="02040503050406030204" pitchFamily="18" charset="0"/>
                      </a:rPr>
                      <m:t>&lt;</m:t>
                    </m:r>
                    <m:sSub>
                      <m:sSubPr>
                        <m:ctrlPr>
                          <a:rPr lang="zh-CN" altLang="de-DE" i="1" dirty="0">
                            <a:latin typeface="Cambria Math" panose="02040503050406030204" pitchFamily="18" charset="0"/>
                          </a:rPr>
                        </m:ctrlPr>
                      </m:sSubPr>
                      <m:e>
                        <m:r>
                          <a:rPr lang="zh-CN" altLang="de-DE" i="1" dirty="0">
                            <a:latin typeface="Cambria Math" panose="02040503050406030204" pitchFamily="18" charset="0"/>
                          </a:rPr>
                          <m:t>𝜃</m:t>
                        </m:r>
                      </m:e>
                      <m:sub>
                        <m:r>
                          <a:rPr lang="en-US" altLang="zh-CN" b="0" i="1" dirty="0" smtClean="0">
                            <a:latin typeface="Cambria Math" panose="02040503050406030204" pitchFamily="18" charset="0"/>
                          </a:rPr>
                          <m:t>2</m:t>
                        </m:r>
                      </m:sub>
                    </m:sSub>
                  </m:oMath>
                </a14:m>
                <a:endParaRPr lang="de-DE" dirty="0"/>
              </a:p>
              <a:p>
                <a:r>
                  <a:rPr lang="de-DE" dirty="0"/>
                  <a:t>2. Absence of a spike: Bistability</a:t>
                </a:r>
              </a:p>
              <a:p>
                <a:pPr algn="ctr"/>
                <a14:m>
                  <m:oMath xmlns:m="http://schemas.openxmlformats.org/officeDocument/2006/math">
                    <m:r>
                      <a:rPr lang="zh-CN" altLang="de-DE" i="1" dirty="0">
                        <a:latin typeface="Cambria Math" panose="02040503050406030204" pitchFamily="18" charset="0"/>
                      </a:rPr>
                      <m:t>𝑤</m:t>
                    </m:r>
                    <m:r>
                      <a:rPr lang="de-DE" altLang="zh-CN" dirty="0">
                        <a:latin typeface="Cambria Math" panose="02040503050406030204" pitchFamily="18" charset="0"/>
                      </a:rPr>
                      <m:t>→</m:t>
                    </m:r>
                    <m:r>
                      <a:rPr lang="zh-CN" altLang="de-DE" i="1" dirty="0">
                        <a:latin typeface="Cambria Math" panose="02040503050406030204" pitchFamily="18" charset="0"/>
                      </a:rPr>
                      <m:t>𝑤</m:t>
                    </m:r>
                    <m:r>
                      <a:rPr lang="de-DE" altLang="zh-CN" dirty="0">
                        <a:latin typeface="Cambria Math" panose="02040503050406030204" pitchFamily="18" charset="0"/>
                      </a:rPr>
                      <m:t>+</m:t>
                    </m:r>
                    <m:r>
                      <a:rPr lang="en-US" altLang="zh-CN" dirty="0">
                        <a:latin typeface="Cambria Math" panose="02040503050406030204" pitchFamily="18" charset="0"/>
                      </a:rPr>
                      <m:t>1</m:t>
                    </m:r>
                  </m:oMath>
                </a14:m>
                <a:r>
                  <a:rPr lang="de-DE" dirty="0"/>
                  <a:t> </a:t>
                </a:r>
                <a14:m>
                  <m:oMath xmlns:m="http://schemas.openxmlformats.org/officeDocument/2006/math">
                    <m:r>
                      <a:rPr lang="en-US" altLang="zh-CN" i="1" dirty="0">
                        <a:latin typeface="Cambria Math" panose="02040503050406030204" pitchFamily="18" charset="0"/>
                      </a:rPr>
                      <m:t>𝑖𝑓</m:t>
                    </m:r>
                    <m:r>
                      <a:rPr lang="en-US" altLang="zh-CN" i="1" dirty="0">
                        <a:latin typeface="Cambria Math" panose="02040503050406030204" pitchFamily="18" charset="0"/>
                      </a:rPr>
                      <m:t> </m:t>
                    </m:r>
                    <m:r>
                      <a:rPr lang="en-US" altLang="zh-CN" b="0" i="1" dirty="0" smtClean="0">
                        <a:latin typeface="Cambria Math" panose="02040503050406030204" pitchFamily="18" charset="0"/>
                      </a:rPr>
                      <m:t>𝑤</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𝑛</m:t>
                    </m:r>
                    <m:r>
                      <a:rPr lang="en-US" altLang="zh-CN" b="0" i="1" dirty="0" smtClean="0">
                        <a:latin typeface="Cambria Math" panose="02040503050406030204" pitchFamily="18" charset="0"/>
                      </a:rPr>
                      <m:t>−1]=1</m:t>
                    </m:r>
                  </m:oMath>
                </a14:m>
                <a:r>
                  <a:rPr lang="en-US" altLang="zh-CN" dirty="0"/>
                  <a:t> </a:t>
                </a:r>
                <a14:m>
                  <m:oMath xmlns:m="http://schemas.openxmlformats.org/officeDocument/2006/math">
                    <m:r>
                      <a:rPr lang="en-US" altLang="zh-CN" i="1" dirty="0">
                        <a:latin typeface="Cambria Math" panose="02040503050406030204" pitchFamily="18" charset="0"/>
                      </a:rPr>
                      <m:t>𝑎𝑛𝑑</m:t>
                    </m:r>
                  </m:oMath>
                </a14:m>
                <a:r>
                  <a:rPr lang="en-US" altLang="zh-CN" dirty="0"/>
                  <a:t> </a:t>
                </a:r>
                <a14:m>
                  <m:oMath xmlns:m="http://schemas.openxmlformats.org/officeDocument/2006/math">
                    <m:r>
                      <a:rPr lang="en-US" altLang="zh-CN" b="0" i="1" dirty="0" smtClean="0">
                        <a:latin typeface="Cambria Math" panose="02040503050406030204" pitchFamily="18" charset="0"/>
                      </a:rPr>
                      <m:t>𝑏𝑖𝑠𝑡</m:t>
                    </m:r>
                    <m:r>
                      <a:rPr lang="en-US" altLang="zh-CN" b="0" i="1" dirty="0" smtClean="0">
                        <a:latin typeface="Cambria Math" panose="02040503050406030204" pitchFamily="18" charset="0"/>
                      </a:rPr>
                      <m:t>=1</m:t>
                    </m:r>
                  </m:oMath>
                </a14:m>
                <a:endParaRPr lang="en-US" altLang="zh-CN" dirty="0"/>
              </a:p>
              <a:p>
                <a:pPr algn="ctr"/>
                <a14:m>
                  <m:oMath xmlns:m="http://schemas.openxmlformats.org/officeDocument/2006/math">
                    <m:r>
                      <a:rPr lang="zh-CN" altLang="de-DE" i="1" dirty="0">
                        <a:latin typeface="Cambria Math" panose="02040503050406030204" pitchFamily="18" charset="0"/>
                      </a:rPr>
                      <m:t>𝑤</m:t>
                    </m:r>
                    <m:r>
                      <a:rPr lang="de-DE" altLang="zh-CN" dirty="0">
                        <a:latin typeface="Cambria Math" panose="02040503050406030204" pitchFamily="18" charset="0"/>
                      </a:rPr>
                      <m:t>→</m:t>
                    </m:r>
                    <m:r>
                      <a:rPr lang="zh-CN" altLang="de-DE" i="1" dirty="0">
                        <a:latin typeface="Cambria Math" panose="02040503050406030204" pitchFamily="18" charset="0"/>
                      </a:rPr>
                      <m:t>𝑤</m:t>
                    </m:r>
                    <m:r>
                      <a:rPr lang="en-US" altLang="zh-CN" b="0" i="0" dirty="0" smtClean="0">
                        <a:latin typeface="Cambria Math" panose="02040503050406030204" pitchFamily="18" charset="0"/>
                      </a:rPr>
                      <m:t>−</m:t>
                    </m:r>
                    <m:r>
                      <a:rPr lang="en-US" altLang="zh-CN" dirty="0">
                        <a:latin typeface="Cambria Math" panose="02040503050406030204" pitchFamily="18" charset="0"/>
                      </a:rPr>
                      <m:t>1</m:t>
                    </m:r>
                  </m:oMath>
                </a14:m>
                <a:r>
                  <a:rPr lang="de-DE" altLang="zh-CN" dirty="0"/>
                  <a:t> </a:t>
                </a:r>
                <a14:m>
                  <m:oMath xmlns:m="http://schemas.openxmlformats.org/officeDocument/2006/math">
                    <m:r>
                      <a:rPr lang="en-US" altLang="zh-CN" i="1" dirty="0">
                        <a:latin typeface="Cambria Math" panose="02040503050406030204" pitchFamily="18" charset="0"/>
                      </a:rPr>
                      <m:t>𝑖𝑓</m:t>
                    </m:r>
                    <m:r>
                      <a:rPr lang="en-US" altLang="zh-CN" i="1" dirty="0">
                        <a:latin typeface="Cambria Math" panose="02040503050406030204" pitchFamily="18" charset="0"/>
                      </a:rPr>
                      <m:t> </m:t>
                    </m:r>
                    <m:r>
                      <a:rPr lang="en-US" altLang="zh-CN" i="1" dirty="0">
                        <a:latin typeface="Cambria Math" panose="02040503050406030204" pitchFamily="18" charset="0"/>
                      </a:rPr>
                      <m:t>𝑤</m:t>
                    </m:r>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−1]=0</m:t>
                    </m:r>
                  </m:oMath>
                </a14:m>
                <a:r>
                  <a:rPr lang="de-DE" dirty="0"/>
                  <a:t> </a:t>
                </a:r>
                <a14:m>
                  <m:oMath xmlns:m="http://schemas.openxmlformats.org/officeDocument/2006/math">
                    <m:r>
                      <a:rPr lang="en-US" altLang="zh-CN" i="1" dirty="0">
                        <a:latin typeface="Cambria Math" panose="02040503050406030204" pitchFamily="18" charset="0"/>
                      </a:rPr>
                      <m:t>𝑎𝑛𝑑</m:t>
                    </m:r>
                  </m:oMath>
                </a14:m>
                <a:r>
                  <a:rPr lang="de-DE" dirty="0"/>
                  <a:t> </a:t>
                </a:r>
                <a14:m>
                  <m:oMath xmlns:m="http://schemas.openxmlformats.org/officeDocument/2006/math">
                    <m:r>
                      <a:rPr lang="en-US" altLang="zh-CN" i="1" dirty="0">
                        <a:latin typeface="Cambria Math" panose="02040503050406030204" pitchFamily="18" charset="0"/>
                      </a:rPr>
                      <m:t>𝑏𝑖𝑠𝑡</m:t>
                    </m:r>
                    <m:r>
                      <a:rPr lang="en-US" altLang="zh-CN" i="1" dirty="0">
                        <a:latin typeface="Cambria Math" panose="02040503050406030204" pitchFamily="18" charset="0"/>
                      </a:rPr>
                      <m:t>=1</m:t>
                    </m:r>
                  </m:oMath>
                </a14:m>
                <a:endParaRPr lang="de-DE" dirty="0"/>
              </a:p>
              <a:p>
                <a:endParaRPr lang="de-DE" dirty="0"/>
              </a:p>
            </p:txBody>
          </p:sp>
        </mc:Choice>
        <mc:Fallback xmlns="">
          <p:sp>
            <p:nvSpPr>
              <p:cNvPr id="4" name="Inhaltsplatzhalter 5">
                <a:extLst>
                  <a:ext uri="{FF2B5EF4-FFF2-40B4-BE49-F238E27FC236}">
                    <a16:creationId xmlns:a16="http://schemas.microsoft.com/office/drawing/2014/main" id="{53B92B6A-004F-CA6B-4824-8E2FFBEBA26F}"/>
                  </a:ext>
                </a:extLst>
              </p:cNvPr>
              <p:cNvSpPr txBox="1">
                <a:spLocks noRot="1" noChangeAspect="1" noMove="1" noResize="1" noEditPoints="1" noAdjustHandles="1" noChangeArrowheads="1" noChangeShapeType="1" noTextEdit="1"/>
              </p:cNvSpPr>
              <p:nvPr/>
            </p:nvSpPr>
            <p:spPr>
              <a:xfrm>
                <a:off x="874712" y="3160525"/>
                <a:ext cx="7825151" cy="2876193"/>
              </a:xfrm>
              <a:prstGeom prst="rect">
                <a:avLst/>
              </a:prstGeom>
              <a:blipFill>
                <a:blip r:embed="rId5"/>
                <a:stretch>
                  <a:fillRect l="-1558" t="-2119"/>
                </a:stretch>
              </a:blipFill>
              <a:ln>
                <a:noFill/>
              </a:ln>
            </p:spPr>
            <p:txBody>
              <a:bodyPr/>
              <a:lstStyle/>
              <a:p>
                <a:r>
                  <a:rPr lang="zh-CN" altLang="en-US">
                    <a:noFill/>
                  </a:rPr>
                  <a:t> </a:t>
                </a:r>
              </a:p>
            </p:txBody>
          </p:sp>
        </mc:Fallback>
      </mc:AlternateContent>
      <p:sp>
        <p:nvSpPr>
          <p:cNvPr id="7" name="symbol-legend-accent">
            <a:extLst>
              <a:ext uri="{FF2B5EF4-FFF2-40B4-BE49-F238E27FC236}">
                <a16:creationId xmlns:a16="http://schemas.microsoft.com/office/drawing/2014/main" id="{A9E88DF9-B334-4BED-2A8D-21B89A4DD2FC}"/>
              </a:ext>
            </a:extLst>
          </p:cNvPr>
          <p:cNvSpPr>
            <a:spLocks noGrp="1"/>
          </p:cNvSpPr>
          <p:nvPr/>
        </p:nvSpPr>
        <p:spPr>
          <a:xfrm>
            <a:off x="7905750" y="1114425"/>
            <a:ext cx="28575" cy="4752975"/>
          </a:xfrm>
          <a:prstGeom prst="rect">
            <a:avLst/>
          </a:prstGeom>
          <a:solidFill>
            <a:srgbClr val="2F75B5"/>
          </a:solidFill>
          <a:ln w="0">
            <a:noFill/>
            <a:prstDash val="solid"/>
          </a:ln>
        </p:spPr>
      </p:sp>
      <p:sp>
        <p:nvSpPr>
          <p:cNvPr id="9" name="symbol-legend-title">
            <a:extLst>
              <a:ext uri="{FF2B5EF4-FFF2-40B4-BE49-F238E27FC236}">
                <a16:creationId xmlns:a16="http://schemas.microsoft.com/office/drawing/2014/main" id="{2A59B9BB-F35B-D217-0C7D-491ABE021041}"/>
              </a:ext>
            </a:extLst>
          </p:cNvPr>
          <p:cNvSpPr>
            <a:spLocks noGrp="1"/>
          </p:cNvSpPr>
          <p:nvPr/>
        </p:nvSpPr>
        <p:spPr>
          <a:xfrm>
            <a:off x="8067675" y="1076325"/>
            <a:ext cx="3286125" cy="266700"/>
          </a:xfrm>
          <a:prstGeom prst="rect">
            <a:avLst/>
          </a:prstGeom>
          <a:noFill/>
          <a:ln w="0">
            <a:noFill/>
            <a:prstDash val="solid"/>
          </a:ln>
        </p:spPr>
        <p:txBody>
          <a:bodyPr/>
          <a:lstStyle/>
          <a:p>
            <a:pPr>
              <a:defRPr sz="1313" b="1">
                <a:solidFill>
                  <a:srgbClr val="17365D"/>
                </a:solidFill>
              </a:defRPr>
            </a:pPr>
            <a:r>
              <a:rPr sz="1313" b="1">
                <a:solidFill>
                  <a:srgbClr val="17365D"/>
                </a:solidFill>
              </a:rPr>
              <a:t>SYMBOL LEGEND</a:t>
            </a:r>
          </a:p>
        </p:txBody>
      </p:sp>
      <p:sp>
        <p:nvSpPr>
          <p:cNvPr id="11" name="symbol-legend-title-rule">
            <a:extLst>
              <a:ext uri="{FF2B5EF4-FFF2-40B4-BE49-F238E27FC236}">
                <a16:creationId xmlns:a16="http://schemas.microsoft.com/office/drawing/2014/main" id="{5FB935D0-568A-C1AB-D24A-2410FEF61AC9}"/>
              </a:ext>
            </a:extLst>
          </p:cNvPr>
          <p:cNvSpPr>
            <a:spLocks noGrp="1"/>
          </p:cNvSpPr>
          <p:nvPr/>
        </p:nvSpPr>
        <p:spPr>
          <a:xfrm>
            <a:off x="8067675" y="1381125"/>
            <a:ext cx="3286125" cy="19050"/>
          </a:xfrm>
          <a:prstGeom prst="rect">
            <a:avLst/>
          </a:prstGeom>
          <a:solidFill>
            <a:srgbClr val="2F75B5"/>
          </a:solidFill>
          <a:ln w="0">
            <a:noFill/>
            <a:prstDash val="solid"/>
          </a:ln>
        </p:spPr>
      </p:sp>
      <p:sp>
        <p:nvSpPr>
          <p:cNvPr id="13" name="symbol-legend-symbol-1">
            <a:extLst>
              <a:ext uri="{FF2B5EF4-FFF2-40B4-BE49-F238E27FC236}">
                <a16:creationId xmlns:a16="http://schemas.microsoft.com/office/drawing/2014/main" id="{FFE0580F-976A-0ADB-6A05-846F63B4D123}"/>
              </a:ext>
            </a:extLst>
          </p:cNvPr>
          <p:cNvSpPr>
            <a:spLocks noGrp="1"/>
          </p:cNvSpPr>
          <p:nvPr/>
        </p:nvSpPr>
        <p:spPr>
          <a:xfrm>
            <a:off x="8067675" y="1485900"/>
            <a:ext cx="885825" cy="257175"/>
          </a:xfrm>
          <a:prstGeom prst="rect">
            <a:avLst/>
          </a:prstGeom>
          <a:noFill/>
          <a:ln w="0">
            <a:noFill/>
            <a:prstDash val="solid"/>
          </a:ln>
        </p:spPr>
        <p:txBody>
          <a:bodyPr/>
          <a:lstStyle/>
          <a:p>
            <a:pPr>
              <a:defRPr sz="1170" b="1">
                <a:solidFill>
                  <a:srgbClr val="2F75B5"/>
                </a:solidFill>
              </a:defRPr>
            </a:pPr>
            <a:r>
              <a:rPr sz="1170" b="1">
                <a:solidFill>
                  <a:srgbClr val="2F75B5"/>
                </a:solidFill>
              </a:rPr>
              <a:t>V(t)</a:t>
            </a:r>
          </a:p>
        </p:txBody>
      </p:sp>
      <p:sp>
        <p:nvSpPr>
          <p:cNvPr id="15" name="symbol-legend-meaning-1">
            <a:extLst>
              <a:ext uri="{FF2B5EF4-FFF2-40B4-BE49-F238E27FC236}">
                <a16:creationId xmlns:a16="http://schemas.microsoft.com/office/drawing/2014/main" id="{1599AC70-85DC-3A2A-9727-0AAD93AF8A92}"/>
              </a:ext>
            </a:extLst>
          </p:cNvPr>
          <p:cNvSpPr>
            <a:spLocks noGrp="1"/>
          </p:cNvSpPr>
          <p:nvPr/>
        </p:nvSpPr>
        <p:spPr>
          <a:xfrm>
            <a:off x="9048750" y="1485900"/>
            <a:ext cx="2305050" cy="276225"/>
          </a:xfrm>
          <a:prstGeom prst="rect">
            <a:avLst/>
          </a:prstGeom>
          <a:noFill/>
          <a:ln w="0">
            <a:noFill/>
            <a:prstDash val="solid"/>
          </a:ln>
        </p:spPr>
        <p:txBody>
          <a:bodyPr/>
          <a:lstStyle/>
          <a:p>
            <a:pPr>
              <a:defRPr sz="1095">
                <a:solidFill>
                  <a:srgbClr val="44546A"/>
                </a:solidFill>
              </a:defRPr>
            </a:pPr>
            <a:r>
              <a:rPr sz="1095">
                <a:solidFill>
                  <a:srgbClr val="44546A"/>
                </a:solidFill>
              </a:rPr>
              <a:t>Neuron membrane potential</a:t>
            </a:r>
          </a:p>
        </p:txBody>
      </p:sp>
      <p:sp>
        <p:nvSpPr>
          <p:cNvPr id="17" name="symbol-legend-rule-1">
            <a:extLst>
              <a:ext uri="{FF2B5EF4-FFF2-40B4-BE49-F238E27FC236}">
                <a16:creationId xmlns:a16="http://schemas.microsoft.com/office/drawing/2014/main" id="{4550B671-1972-D094-CEF6-57E255FAC843}"/>
              </a:ext>
            </a:extLst>
          </p:cNvPr>
          <p:cNvSpPr>
            <a:spLocks noGrp="1"/>
          </p:cNvSpPr>
          <p:nvPr/>
        </p:nvSpPr>
        <p:spPr>
          <a:xfrm>
            <a:off x="8067675" y="1781175"/>
            <a:ext cx="3286125" cy="9525"/>
          </a:xfrm>
          <a:prstGeom prst="rect">
            <a:avLst/>
          </a:prstGeom>
          <a:solidFill>
            <a:srgbClr val="D9E2F3"/>
          </a:solidFill>
          <a:ln w="0">
            <a:noFill/>
            <a:prstDash val="solid"/>
          </a:ln>
        </p:spPr>
      </p:sp>
      <p:sp>
        <p:nvSpPr>
          <p:cNvPr id="19" name="symbol-legend-symbol-2">
            <a:extLst>
              <a:ext uri="{FF2B5EF4-FFF2-40B4-BE49-F238E27FC236}">
                <a16:creationId xmlns:a16="http://schemas.microsoft.com/office/drawing/2014/main" id="{218DCA1D-30AB-30A9-7EFB-11B3834CE22B}"/>
              </a:ext>
            </a:extLst>
          </p:cNvPr>
          <p:cNvSpPr>
            <a:spLocks noGrp="1"/>
          </p:cNvSpPr>
          <p:nvPr/>
        </p:nvSpPr>
        <p:spPr>
          <a:xfrm>
            <a:off x="8067675" y="1847850"/>
            <a:ext cx="885825" cy="257175"/>
          </a:xfrm>
          <a:prstGeom prst="rect">
            <a:avLst/>
          </a:prstGeom>
          <a:noFill/>
          <a:ln w="0">
            <a:noFill/>
            <a:prstDash val="solid"/>
          </a:ln>
        </p:spPr>
        <p:txBody>
          <a:bodyPr/>
          <a:lstStyle/>
          <a:p>
            <a:pPr>
              <a:defRPr sz="1170" b="1">
                <a:solidFill>
                  <a:srgbClr val="2F75B5"/>
                </a:solidFill>
              </a:defRPr>
            </a:pPr>
            <a:r>
              <a:rPr sz="1170" b="1">
                <a:solidFill>
                  <a:srgbClr val="2F75B5"/>
                </a:solidFill>
              </a:rPr>
              <a:t>C(t)</a:t>
            </a:r>
          </a:p>
        </p:txBody>
      </p:sp>
      <p:sp>
        <p:nvSpPr>
          <p:cNvPr id="21" name="symbol-legend-meaning-2">
            <a:extLst>
              <a:ext uri="{FF2B5EF4-FFF2-40B4-BE49-F238E27FC236}">
                <a16:creationId xmlns:a16="http://schemas.microsoft.com/office/drawing/2014/main" id="{A62B903C-D617-8425-BC06-B6A266EE453E}"/>
              </a:ext>
            </a:extLst>
          </p:cNvPr>
          <p:cNvSpPr>
            <a:spLocks noGrp="1"/>
          </p:cNvSpPr>
          <p:nvPr/>
        </p:nvSpPr>
        <p:spPr>
          <a:xfrm>
            <a:off x="9048750" y="1847850"/>
            <a:ext cx="2305050" cy="276225"/>
          </a:xfrm>
          <a:prstGeom prst="rect">
            <a:avLst/>
          </a:prstGeom>
          <a:noFill/>
          <a:ln w="0">
            <a:noFill/>
            <a:prstDash val="solid"/>
          </a:ln>
        </p:spPr>
        <p:txBody>
          <a:bodyPr/>
          <a:lstStyle/>
          <a:p>
            <a:pPr>
              <a:defRPr sz="1095">
                <a:solidFill>
                  <a:srgbClr val="44546A"/>
                </a:solidFill>
              </a:defRPr>
            </a:pPr>
            <a:r>
              <a:rPr sz="1095">
                <a:solidFill>
                  <a:srgbClr val="44546A"/>
                </a:solidFill>
              </a:rPr>
              <a:t>Calcium variable</a:t>
            </a:r>
          </a:p>
        </p:txBody>
      </p:sp>
      <p:sp>
        <p:nvSpPr>
          <p:cNvPr id="23" name="symbol-legend-rule-2">
            <a:extLst>
              <a:ext uri="{FF2B5EF4-FFF2-40B4-BE49-F238E27FC236}">
                <a16:creationId xmlns:a16="http://schemas.microsoft.com/office/drawing/2014/main" id="{E7894426-3158-F668-8C3A-B6BF3D9B6A20}"/>
              </a:ext>
            </a:extLst>
          </p:cNvPr>
          <p:cNvSpPr>
            <a:spLocks noGrp="1"/>
          </p:cNvSpPr>
          <p:nvPr/>
        </p:nvSpPr>
        <p:spPr>
          <a:xfrm>
            <a:off x="8067675" y="2143125"/>
            <a:ext cx="3286125" cy="9525"/>
          </a:xfrm>
          <a:prstGeom prst="rect">
            <a:avLst/>
          </a:prstGeom>
          <a:solidFill>
            <a:srgbClr val="D9E2F3"/>
          </a:solidFill>
          <a:ln w="0">
            <a:noFill/>
            <a:prstDash val="solid"/>
          </a:ln>
        </p:spPr>
      </p:sp>
      <p:sp>
        <p:nvSpPr>
          <p:cNvPr id="25" name="symbol-legend-symbol-3">
            <a:extLst>
              <a:ext uri="{FF2B5EF4-FFF2-40B4-BE49-F238E27FC236}">
                <a16:creationId xmlns:a16="http://schemas.microsoft.com/office/drawing/2014/main" id="{4CB09262-2F88-6EF0-0E59-D5B67724478D}"/>
              </a:ext>
            </a:extLst>
          </p:cNvPr>
          <p:cNvSpPr>
            <a:spLocks noGrp="1"/>
          </p:cNvSpPr>
          <p:nvPr/>
        </p:nvSpPr>
        <p:spPr>
          <a:xfrm>
            <a:off x="8067675" y="2209800"/>
            <a:ext cx="885825" cy="257175"/>
          </a:xfrm>
          <a:prstGeom prst="rect">
            <a:avLst/>
          </a:prstGeom>
          <a:noFill/>
          <a:ln w="0">
            <a:noFill/>
            <a:prstDash val="solid"/>
          </a:ln>
        </p:spPr>
        <p:txBody>
          <a:bodyPr/>
          <a:lstStyle/>
          <a:p>
            <a:pPr>
              <a:defRPr sz="1170" b="1">
                <a:solidFill>
                  <a:srgbClr val="2F75B5"/>
                </a:solidFill>
              </a:defRPr>
            </a:pPr>
            <a:r>
              <a:rPr sz="1170" b="1">
                <a:solidFill>
                  <a:srgbClr val="2F75B5"/>
                </a:solidFill>
              </a:rPr>
              <a:t>w</a:t>
            </a:r>
          </a:p>
        </p:txBody>
      </p:sp>
      <p:sp>
        <p:nvSpPr>
          <p:cNvPr id="27" name="symbol-legend-meaning-3">
            <a:extLst>
              <a:ext uri="{FF2B5EF4-FFF2-40B4-BE49-F238E27FC236}">
                <a16:creationId xmlns:a16="http://schemas.microsoft.com/office/drawing/2014/main" id="{EC77EDD1-4C33-C194-2F39-67F72BDBDC85}"/>
              </a:ext>
            </a:extLst>
          </p:cNvPr>
          <p:cNvSpPr>
            <a:spLocks noGrp="1"/>
          </p:cNvSpPr>
          <p:nvPr/>
        </p:nvSpPr>
        <p:spPr>
          <a:xfrm>
            <a:off x="9048750" y="2209800"/>
            <a:ext cx="2305050" cy="276225"/>
          </a:xfrm>
          <a:prstGeom prst="rect">
            <a:avLst/>
          </a:prstGeom>
          <a:noFill/>
          <a:ln w="0">
            <a:noFill/>
            <a:prstDash val="solid"/>
          </a:ln>
        </p:spPr>
        <p:txBody>
          <a:bodyPr/>
          <a:lstStyle/>
          <a:p>
            <a:pPr>
              <a:defRPr sz="1095">
                <a:solidFill>
                  <a:srgbClr val="44546A"/>
                </a:solidFill>
              </a:defRPr>
            </a:pPr>
            <a:r>
              <a:rPr sz="1095">
                <a:solidFill>
                  <a:srgbClr val="44546A"/>
                </a:solidFill>
              </a:rPr>
              <a:t>Synaptic weight</a:t>
            </a:r>
          </a:p>
        </p:txBody>
      </p:sp>
      <p:sp>
        <p:nvSpPr>
          <p:cNvPr id="29" name="symbol-legend-rule-3">
            <a:extLst>
              <a:ext uri="{FF2B5EF4-FFF2-40B4-BE49-F238E27FC236}">
                <a16:creationId xmlns:a16="http://schemas.microsoft.com/office/drawing/2014/main" id="{1186D59B-3D27-E231-9D99-1D50F5A28EA3}"/>
              </a:ext>
            </a:extLst>
          </p:cNvPr>
          <p:cNvSpPr>
            <a:spLocks noGrp="1"/>
          </p:cNvSpPr>
          <p:nvPr/>
        </p:nvSpPr>
        <p:spPr>
          <a:xfrm>
            <a:off x="8067675" y="2505075"/>
            <a:ext cx="3286125" cy="9525"/>
          </a:xfrm>
          <a:prstGeom prst="rect">
            <a:avLst/>
          </a:prstGeom>
          <a:solidFill>
            <a:srgbClr val="D9E2F3"/>
          </a:solidFill>
          <a:ln w="0">
            <a:noFill/>
            <a:prstDash val="solid"/>
          </a:ln>
        </p:spPr>
      </p:sp>
      <p:sp>
        <p:nvSpPr>
          <p:cNvPr id="31" name="symbol-legend-symbol-4">
            <a:extLst>
              <a:ext uri="{FF2B5EF4-FFF2-40B4-BE49-F238E27FC236}">
                <a16:creationId xmlns:a16="http://schemas.microsoft.com/office/drawing/2014/main" id="{1177FF95-2804-C7FC-C540-D7A6BDE3790A}"/>
              </a:ext>
            </a:extLst>
          </p:cNvPr>
          <p:cNvSpPr>
            <a:spLocks noGrp="1"/>
          </p:cNvSpPr>
          <p:nvPr/>
        </p:nvSpPr>
        <p:spPr>
          <a:xfrm>
            <a:off x="8067675" y="2571750"/>
            <a:ext cx="885825" cy="257175"/>
          </a:xfrm>
          <a:prstGeom prst="rect">
            <a:avLst/>
          </a:prstGeom>
          <a:noFill/>
          <a:ln w="0">
            <a:noFill/>
            <a:prstDash val="solid"/>
          </a:ln>
        </p:spPr>
        <p:txBody>
          <a:bodyPr/>
          <a:lstStyle/>
          <a:p>
            <a:pPr>
              <a:defRPr sz="1170" b="1">
                <a:solidFill>
                  <a:srgbClr val="2F75B5"/>
                </a:solidFill>
              </a:defRPr>
            </a:pPr>
            <a:r>
              <a:rPr sz="1170" b="1">
                <a:solidFill>
                  <a:srgbClr val="2F75B5"/>
                </a:solidFill>
              </a:rPr>
              <a:t>θₘ</a:t>
            </a:r>
          </a:p>
        </p:txBody>
      </p:sp>
      <p:sp>
        <p:nvSpPr>
          <p:cNvPr id="33" name="symbol-legend-meaning-4">
            <a:extLst>
              <a:ext uri="{FF2B5EF4-FFF2-40B4-BE49-F238E27FC236}">
                <a16:creationId xmlns:a16="http://schemas.microsoft.com/office/drawing/2014/main" id="{96D927B1-8A05-A905-DC01-BF810D948A71}"/>
              </a:ext>
            </a:extLst>
          </p:cNvPr>
          <p:cNvSpPr>
            <a:spLocks noGrp="1"/>
          </p:cNvSpPr>
          <p:nvPr/>
        </p:nvSpPr>
        <p:spPr>
          <a:xfrm>
            <a:off x="9048750" y="2571750"/>
            <a:ext cx="2305050" cy="276225"/>
          </a:xfrm>
          <a:prstGeom prst="rect">
            <a:avLst/>
          </a:prstGeom>
          <a:noFill/>
          <a:ln w="0">
            <a:noFill/>
            <a:prstDash val="solid"/>
          </a:ln>
        </p:spPr>
        <p:txBody>
          <a:bodyPr/>
          <a:lstStyle/>
          <a:p>
            <a:pPr>
              <a:defRPr sz="1095">
                <a:solidFill>
                  <a:srgbClr val="44546A"/>
                </a:solidFill>
              </a:defRPr>
            </a:pPr>
            <a:r>
              <a:rPr sz="1095">
                <a:solidFill>
                  <a:srgbClr val="44546A"/>
                </a:solidFill>
              </a:rPr>
              <a:t>Membrane-voltage threshold</a:t>
            </a:r>
          </a:p>
        </p:txBody>
      </p:sp>
      <p:sp>
        <p:nvSpPr>
          <p:cNvPr id="35" name="symbol-legend-rule-4">
            <a:extLst>
              <a:ext uri="{FF2B5EF4-FFF2-40B4-BE49-F238E27FC236}">
                <a16:creationId xmlns:a16="http://schemas.microsoft.com/office/drawing/2014/main" id="{9D5D9E3A-C926-E603-8BC2-0D79414D3EF8}"/>
              </a:ext>
            </a:extLst>
          </p:cNvPr>
          <p:cNvSpPr>
            <a:spLocks noGrp="1"/>
          </p:cNvSpPr>
          <p:nvPr/>
        </p:nvSpPr>
        <p:spPr>
          <a:xfrm>
            <a:off x="8067675" y="2867025"/>
            <a:ext cx="3286125" cy="9525"/>
          </a:xfrm>
          <a:prstGeom prst="rect">
            <a:avLst/>
          </a:prstGeom>
          <a:solidFill>
            <a:srgbClr val="D9E2F3"/>
          </a:solidFill>
          <a:ln w="0">
            <a:noFill/>
            <a:prstDash val="solid"/>
          </a:ln>
        </p:spPr>
      </p:sp>
      <p:sp>
        <p:nvSpPr>
          <p:cNvPr id="37" name="symbol-legend-symbol-5">
            <a:extLst>
              <a:ext uri="{FF2B5EF4-FFF2-40B4-BE49-F238E27FC236}">
                <a16:creationId xmlns:a16="http://schemas.microsoft.com/office/drawing/2014/main" id="{1B00C830-AC73-238E-1E93-79FECA33C755}"/>
              </a:ext>
            </a:extLst>
          </p:cNvPr>
          <p:cNvSpPr>
            <a:spLocks noGrp="1"/>
          </p:cNvSpPr>
          <p:nvPr/>
        </p:nvSpPr>
        <p:spPr>
          <a:xfrm>
            <a:off x="8067675" y="2933700"/>
            <a:ext cx="885825" cy="257175"/>
          </a:xfrm>
          <a:prstGeom prst="rect">
            <a:avLst/>
          </a:prstGeom>
          <a:noFill/>
          <a:ln w="0">
            <a:noFill/>
            <a:prstDash val="solid"/>
          </a:ln>
        </p:spPr>
        <p:txBody>
          <a:bodyPr/>
          <a:lstStyle/>
          <a:p>
            <a:pPr>
              <a:defRPr sz="1170" b="1">
                <a:solidFill>
                  <a:srgbClr val="2F75B5"/>
                </a:solidFill>
              </a:defRPr>
            </a:pPr>
            <a:r>
              <a:rPr sz="1170" b="1">
                <a:solidFill>
                  <a:srgbClr val="2F75B5"/>
                </a:solidFill>
              </a:rPr>
              <a:t>θ₁, θ₂, θ₃</a:t>
            </a:r>
          </a:p>
        </p:txBody>
      </p:sp>
      <p:sp>
        <p:nvSpPr>
          <p:cNvPr id="39" name="symbol-legend-meaning-5">
            <a:extLst>
              <a:ext uri="{FF2B5EF4-FFF2-40B4-BE49-F238E27FC236}">
                <a16:creationId xmlns:a16="http://schemas.microsoft.com/office/drawing/2014/main" id="{88E328F8-44CA-91A8-3DA0-1C99A0C03459}"/>
              </a:ext>
            </a:extLst>
          </p:cNvPr>
          <p:cNvSpPr>
            <a:spLocks noGrp="1"/>
          </p:cNvSpPr>
          <p:nvPr/>
        </p:nvSpPr>
        <p:spPr>
          <a:xfrm>
            <a:off x="9048750" y="2933700"/>
            <a:ext cx="2305050" cy="276225"/>
          </a:xfrm>
          <a:prstGeom prst="rect">
            <a:avLst/>
          </a:prstGeom>
          <a:noFill/>
          <a:ln w="0">
            <a:noFill/>
            <a:prstDash val="solid"/>
          </a:ln>
        </p:spPr>
        <p:txBody>
          <a:bodyPr/>
          <a:lstStyle/>
          <a:p>
            <a:pPr>
              <a:defRPr sz="1095">
                <a:solidFill>
                  <a:srgbClr val="44546A"/>
                </a:solidFill>
              </a:defRPr>
            </a:pPr>
            <a:r>
              <a:rPr sz="1095">
                <a:solidFill>
                  <a:srgbClr val="44546A"/>
                </a:solidFill>
              </a:rPr>
              <a:t>Calcium-variable thresholds</a:t>
            </a:r>
          </a:p>
        </p:txBody>
      </p:sp>
      <p:sp>
        <p:nvSpPr>
          <p:cNvPr id="41" name="symbol-legend-rule-5">
            <a:extLst>
              <a:ext uri="{FF2B5EF4-FFF2-40B4-BE49-F238E27FC236}">
                <a16:creationId xmlns:a16="http://schemas.microsoft.com/office/drawing/2014/main" id="{D212BB47-0E6F-484D-A413-F712F83AC556}"/>
              </a:ext>
            </a:extLst>
          </p:cNvPr>
          <p:cNvSpPr>
            <a:spLocks noGrp="1"/>
          </p:cNvSpPr>
          <p:nvPr/>
        </p:nvSpPr>
        <p:spPr>
          <a:xfrm>
            <a:off x="8067675" y="3228975"/>
            <a:ext cx="3286125" cy="9525"/>
          </a:xfrm>
          <a:prstGeom prst="rect">
            <a:avLst/>
          </a:prstGeom>
          <a:solidFill>
            <a:srgbClr val="D9E2F3"/>
          </a:solidFill>
          <a:ln w="0">
            <a:noFill/>
            <a:prstDash val="solid"/>
          </a:ln>
        </p:spPr>
      </p:sp>
      <p:sp>
        <p:nvSpPr>
          <p:cNvPr id="43" name="symbol-legend-symbol-6">
            <a:extLst>
              <a:ext uri="{FF2B5EF4-FFF2-40B4-BE49-F238E27FC236}">
                <a16:creationId xmlns:a16="http://schemas.microsoft.com/office/drawing/2014/main" id="{AE4E6329-2916-236A-5342-0A90741A7411}"/>
              </a:ext>
            </a:extLst>
          </p:cNvPr>
          <p:cNvSpPr>
            <a:spLocks noGrp="1"/>
          </p:cNvSpPr>
          <p:nvPr/>
        </p:nvSpPr>
        <p:spPr>
          <a:xfrm>
            <a:off x="8067675" y="3295650"/>
            <a:ext cx="885825" cy="257175"/>
          </a:xfrm>
          <a:prstGeom prst="rect">
            <a:avLst/>
          </a:prstGeom>
          <a:noFill/>
          <a:ln w="0">
            <a:noFill/>
            <a:prstDash val="solid"/>
          </a:ln>
        </p:spPr>
        <p:txBody>
          <a:bodyPr/>
          <a:lstStyle/>
          <a:p>
            <a:pPr>
              <a:defRPr sz="1170" b="1">
                <a:solidFill>
                  <a:srgbClr val="2F75B5"/>
                </a:solidFill>
              </a:defRPr>
            </a:pPr>
            <a:r>
              <a:rPr sz="1170" b="1">
                <a:solidFill>
                  <a:srgbClr val="2F75B5"/>
                </a:solidFill>
              </a:rPr>
              <a:t>λ</a:t>
            </a:r>
          </a:p>
        </p:txBody>
      </p:sp>
      <p:sp>
        <p:nvSpPr>
          <p:cNvPr id="45" name="symbol-legend-meaning-6">
            <a:extLst>
              <a:ext uri="{FF2B5EF4-FFF2-40B4-BE49-F238E27FC236}">
                <a16:creationId xmlns:a16="http://schemas.microsoft.com/office/drawing/2014/main" id="{734E1263-D17E-2753-7FEE-8106D2A79F8E}"/>
              </a:ext>
            </a:extLst>
          </p:cNvPr>
          <p:cNvSpPr>
            <a:spLocks noGrp="1"/>
          </p:cNvSpPr>
          <p:nvPr/>
        </p:nvSpPr>
        <p:spPr>
          <a:xfrm>
            <a:off x="9048750" y="3295650"/>
            <a:ext cx="2305050" cy="276225"/>
          </a:xfrm>
          <a:prstGeom prst="rect">
            <a:avLst/>
          </a:prstGeom>
          <a:noFill/>
          <a:ln w="0">
            <a:noFill/>
            <a:prstDash val="solid"/>
          </a:ln>
        </p:spPr>
        <p:txBody>
          <a:bodyPr/>
          <a:lstStyle/>
          <a:p>
            <a:pPr>
              <a:defRPr sz="1095">
                <a:solidFill>
                  <a:srgbClr val="44546A"/>
                </a:solidFill>
              </a:defRPr>
            </a:pPr>
            <a:r>
              <a:rPr sz="1095">
                <a:solidFill>
                  <a:srgbClr val="44546A"/>
                </a:solidFill>
              </a:rPr>
              <a:t>Membrane leakage term</a:t>
            </a:r>
          </a:p>
        </p:txBody>
      </p:sp>
      <p:sp>
        <p:nvSpPr>
          <p:cNvPr id="47" name="symbol-legend-rule-6">
            <a:extLst>
              <a:ext uri="{FF2B5EF4-FFF2-40B4-BE49-F238E27FC236}">
                <a16:creationId xmlns:a16="http://schemas.microsoft.com/office/drawing/2014/main" id="{C58BB811-8037-E3BD-F9F0-8171E5420374}"/>
              </a:ext>
            </a:extLst>
          </p:cNvPr>
          <p:cNvSpPr>
            <a:spLocks noGrp="1"/>
          </p:cNvSpPr>
          <p:nvPr/>
        </p:nvSpPr>
        <p:spPr>
          <a:xfrm>
            <a:off x="8067675" y="3590925"/>
            <a:ext cx="3286125" cy="9525"/>
          </a:xfrm>
          <a:prstGeom prst="rect">
            <a:avLst/>
          </a:prstGeom>
          <a:solidFill>
            <a:srgbClr val="D9E2F3"/>
          </a:solidFill>
          <a:ln w="0">
            <a:noFill/>
            <a:prstDash val="solid"/>
          </a:ln>
        </p:spPr>
      </p:sp>
      <p:sp>
        <p:nvSpPr>
          <p:cNvPr id="49" name="symbol-legend-symbol-7">
            <a:extLst>
              <a:ext uri="{FF2B5EF4-FFF2-40B4-BE49-F238E27FC236}">
                <a16:creationId xmlns:a16="http://schemas.microsoft.com/office/drawing/2014/main" id="{0E0DB07A-C93C-8D59-05D6-F54B9ED821F5}"/>
              </a:ext>
            </a:extLst>
          </p:cNvPr>
          <p:cNvSpPr>
            <a:spLocks noGrp="1"/>
          </p:cNvSpPr>
          <p:nvPr/>
        </p:nvSpPr>
        <p:spPr>
          <a:xfrm>
            <a:off x="8067675" y="3657600"/>
            <a:ext cx="885825" cy="257175"/>
          </a:xfrm>
          <a:prstGeom prst="rect">
            <a:avLst/>
          </a:prstGeom>
          <a:noFill/>
          <a:ln w="0">
            <a:noFill/>
            <a:prstDash val="solid"/>
          </a:ln>
        </p:spPr>
        <p:txBody>
          <a:bodyPr/>
          <a:lstStyle/>
          <a:p>
            <a:pPr>
              <a:defRPr sz="1170" b="1">
                <a:solidFill>
                  <a:srgbClr val="2F75B5"/>
                </a:solidFill>
              </a:defRPr>
            </a:pPr>
            <a:r>
              <a:rPr sz="1170" b="1">
                <a:solidFill>
                  <a:srgbClr val="2F75B5"/>
                </a:solidFill>
              </a:rPr>
              <a:t>I(t)</a:t>
            </a:r>
          </a:p>
        </p:txBody>
      </p:sp>
      <p:sp>
        <p:nvSpPr>
          <p:cNvPr id="51" name="symbol-legend-meaning-7">
            <a:extLst>
              <a:ext uri="{FF2B5EF4-FFF2-40B4-BE49-F238E27FC236}">
                <a16:creationId xmlns:a16="http://schemas.microsoft.com/office/drawing/2014/main" id="{1239D5A0-D4D7-CD4B-7A37-EEA764C3F39C}"/>
              </a:ext>
            </a:extLst>
          </p:cNvPr>
          <p:cNvSpPr>
            <a:spLocks noGrp="1"/>
          </p:cNvSpPr>
          <p:nvPr/>
        </p:nvSpPr>
        <p:spPr>
          <a:xfrm>
            <a:off x="9048750" y="3657600"/>
            <a:ext cx="2305050" cy="276225"/>
          </a:xfrm>
          <a:prstGeom prst="rect">
            <a:avLst/>
          </a:prstGeom>
          <a:noFill/>
          <a:ln w="0">
            <a:noFill/>
            <a:prstDash val="solid"/>
          </a:ln>
        </p:spPr>
        <p:txBody>
          <a:bodyPr/>
          <a:lstStyle/>
          <a:p>
            <a:pPr>
              <a:defRPr sz="1095">
                <a:solidFill>
                  <a:srgbClr val="44546A"/>
                </a:solidFill>
              </a:defRPr>
            </a:pPr>
            <a:r>
              <a:rPr sz="1095">
                <a:solidFill>
                  <a:srgbClr val="44546A"/>
                </a:solidFill>
              </a:rPr>
              <a:t>Input current at time t</a:t>
            </a:r>
          </a:p>
        </p:txBody>
      </p:sp>
      <p:sp>
        <p:nvSpPr>
          <p:cNvPr id="53" name="symbol-legend-rule-7">
            <a:extLst>
              <a:ext uri="{FF2B5EF4-FFF2-40B4-BE49-F238E27FC236}">
                <a16:creationId xmlns:a16="http://schemas.microsoft.com/office/drawing/2014/main" id="{6E84C7F7-D82F-F417-3242-8D8D8AB266E1}"/>
              </a:ext>
            </a:extLst>
          </p:cNvPr>
          <p:cNvSpPr>
            <a:spLocks noGrp="1"/>
          </p:cNvSpPr>
          <p:nvPr/>
        </p:nvSpPr>
        <p:spPr>
          <a:xfrm>
            <a:off x="8067675" y="3952875"/>
            <a:ext cx="3286125" cy="9525"/>
          </a:xfrm>
          <a:prstGeom prst="rect">
            <a:avLst/>
          </a:prstGeom>
          <a:solidFill>
            <a:srgbClr val="D9E2F3"/>
          </a:solidFill>
          <a:ln w="0">
            <a:noFill/>
            <a:prstDash val="solid"/>
          </a:ln>
        </p:spPr>
      </p:sp>
      <p:sp>
        <p:nvSpPr>
          <p:cNvPr id="55" name="symbol-legend-symbol-8">
            <a:extLst>
              <a:ext uri="{FF2B5EF4-FFF2-40B4-BE49-F238E27FC236}">
                <a16:creationId xmlns:a16="http://schemas.microsoft.com/office/drawing/2014/main" id="{3465E54D-CA57-420A-9E72-DC7B735A0FAF}"/>
              </a:ext>
            </a:extLst>
          </p:cNvPr>
          <p:cNvSpPr>
            <a:spLocks noGrp="1"/>
          </p:cNvSpPr>
          <p:nvPr/>
        </p:nvSpPr>
        <p:spPr>
          <a:xfrm>
            <a:off x="8067675" y="4019550"/>
            <a:ext cx="885825" cy="257175"/>
          </a:xfrm>
          <a:prstGeom prst="rect">
            <a:avLst/>
          </a:prstGeom>
          <a:noFill/>
          <a:ln w="0">
            <a:noFill/>
            <a:prstDash val="solid"/>
          </a:ln>
        </p:spPr>
        <p:txBody>
          <a:bodyPr/>
          <a:lstStyle/>
          <a:p>
            <a:pPr>
              <a:defRPr sz="1170" b="1">
                <a:solidFill>
                  <a:srgbClr val="2F75B5"/>
                </a:solidFill>
              </a:defRPr>
            </a:pPr>
            <a:r>
              <a:rPr sz="1170" b="1">
                <a:solidFill>
                  <a:srgbClr val="2F75B5"/>
                </a:solidFill>
              </a:rPr>
              <a:t>t_pre</a:t>
            </a:r>
          </a:p>
        </p:txBody>
      </p:sp>
      <p:sp>
        <p:nvSpPr>
          <p:cNvPr id="57" name="symbol-legend-meaning-8">
            <a:extLst>
              <a:ext uri="{FF2B5EF4-FFF2-40B4-BE49-F238E27FC236}">
                <a16:creationId xmlns:a16="http://schemas.microsoft.com/office/drawing/2014/main" id="{1CCA59E5-44D5-9EB8-8175-005BEB892E98}"/>
              </a:ext>
            </a:extLst>
          </p:cNvPr>
          <p:cNvSpPr>
            <a:spLocks noGrp="1"/>
          </p:cNvSpPr>
          <p:nvPr/>
        </p:nvSpPr>
        <p:spPr>
          <a:xfrm>
            <a:off x="9048750" y="4019550"/>
            <a:ext cx="2305050" cy="276225"/>
          </a:xfrm>
          <a:prstGeom prst="rect">
            <a:avLst/>
          </a:prstGeom>
          <a:noFill/>
          <a:ln w="0">
            <a:noFill/>
            <a:prstDash val="solid"/>
          </a:ln>
        </p:spPr>
        <p:txBody>
          <a:bodyPr/>
          <a:lstStyle/>
          <a:p>
            <a:pPr>
              <a:defRPr sz="1095">
                <a:solidFill>
                  <a:srgbClr val="44546A"/>
                </a:solidFill>
              </a:defRPr>
            </a:pPr>
            <a:r>
              <a:rPr sz="1095" dirty="0">
                <a:solidFill>
                  <a:srgbClr val="44546A"/>
                </a:solidFill>
              </a:rPr>
              <a:t>Presynaptic </a:t>
            </a:r>
            <a:r>
              <a:rPr lang="en-US" altLang="zh-CN" sz="1095" dirty="0">
                <a:solidFill>
                  <a:srgbClr val="44546A"/>
                </a:solidFill>
              </a:rPr>
              <a:t>spike arrival</a:t>
            </a:r>
            <a:r>
              <a:rPr sz="1095" dirty="0">
                <a:solidFill>
                  <a:srgbClr val="44546A"/>
                </a:solidFill>
              </a:rPr>
              <a:t> time</a:t>
            </a:r>
          </a:p>
        </p:txBody>
      </p:sp>
      <p:sp>
        <p:nvSpPr>
          <p:cNvPr id="59" name="symbol-legend-rule-8">
            <a:extLst>
              <a:ext uri="{FF2B5EF4-FFF2-40B4-BE49-F238E27FC236}">
                <a16:creationId xmlns:a16="http://schemas.microsoft.com/office/drawing/2014/main" id="{FBF70203-D6E2-80C2-BC56-2AF1DA2142BE}"/>
              </a:ext>
            </a:extLst>
          </p:cNvPr>
          <p:cNvSpPr>
            <a:spLocks noGrp="1"/>
          </p:cNvSpPr>
          <p:nvPr/>
        </p:nvSpPr>
        <p:spPr>
          <a:xfrm>
            <a:off x="8067675" y="4314825"/>
            <a:ext cx="3286125" cy="9525"/>
          </a:xfrm>
          <a:prstGeom prst="rect">
            <a:avLst/>
          </a:prstGeom>
          <a:solidFill>
            <a:srgbClr val="D9E2F3"/>
          </a:solidFill>
          <a:ln w="0">
            <a:noFill/>
            <a:prstDash val="solid"/>
          </a:ln>
        </p:spPr>
      </p:sp>
      <p:sp>
        <p:nvSpPr>
          <p:cNvPr id="61" name="symbol-legend-symbol-9">
            <a:extLst>
              <a:ext uri="{FF2B5EF4-FFF2-40B4-BE49-F238E27FC236}">
                <a16:creationId xmlns:a16="http://schemas.microsoft.com/office/drawing/2014/main" id="{F35589B4-207B-1EA4-A399-AD8FC50A1125}"/>
              </a:ext>
            </a:extLst>
          </p:cNvPr>
          <p:cNvSpPr>
            <a:spLocks noGrp="1"/>
          </p:cNvSpPr>
          <p:nvPr/>
        </p:nvSpPr>
        <p:spPr>
          <a:xfrm>
            <a:off x="8067675" y="4381500"/>
            <a:ext cx="885825" cy="257175"/>
          </a:xfrm>
          <a:prstGeom prst="rect">
            <a:avLst/>
          </a:prstGeom>
          <a:noFill/>
          <a:ln w="0">
            <a:noFill/>
            <a:prstDash val="solid"/>
          </a:ln>
        </p:spPr>
        <p:txBody>
          <a:bodyPr/>
          <a:lstStyle/>
          <a:p>
            <a:pPr>
              <a:defRPr sz="1170" b="1">
                <a:solidFill>
                  <a:srgbClr val="2F75B5"/>
                </a:solidFill>
              </a:defRPr>
            </a:pPr>
            <a:r>
              <a:rPr sz="1170" b="1">
                <a:solidFill>
                  <a:srgbClr val="2F75B5"/>
                </a:solidFill>
              </a:rPr>
              <a:t>spk_post</a:t>
            </a:r>
          </a:p>
        </p:txBody>
      </p:sp>
      <p:sp>
        <p:nvSpPr>
          <p:cNvPr id="63" name="symbol-legend-meaning-9">
            <a:extLst>
              <a:ext uri="{FF2B5EF4-FFF2-40B4-BE49-F238E27FC236}">
                <a16:creationId xmlns:a16="http://schemas.microsoft.com/office/drawing/2014/main" id="{0889CB29-5BFF-80E1-7E7C-26EA3FE4EF38}"/>
              </a:ext>
            </a:extLst>
          </p:cNvPr>
          <p:cNvSpPr>
            <a:spLocks noGrp="1"/>
          </p:cNvSpPr>
          <p:nvPr/>
        </p:nvSpPr>
        <p:spPr>
          <a:xfrm>
            <a:off x="9048750" y="4381500"/>
            <a:ext cx="2305050" cy="276225"/>
          </a:xfrm>
          <a:prstGeom prst="rect">
            <a:avLst/>
          </a:prstGeom>
          <a:noFill/>
          <a:ln w="0">
            <a:noFill/>
            <a:prstDash val="solid"/>
          </a:ln>
        </p:spPr>
        <p:txBody>
          <a:bodyPr/>
          <a:lstStyle/>
          <a:p>
            <a:pPr>
              <a:defRPr sz="1095">
                <a:solidFill>
                  <a:srgbClr val="44546A"/>
                </a:solidFill>
              </a:defRPr>
            </a:pPr>
            <a:r>
              <a:rPr sz="1095">
                <a:solidFill>
                  <a:srgbClr val="44546A"/>
                </a:solidFill>
              </a:rPr>
              <a:t>Postsynaptic-spike indicator</a:t>
            </a:r>
          </a:p>
        </p:txBody>
      </p:sp>
      <p:sp>
        <p:nvSpPr>
          <p:cNvPr id="65" name="symbol-legend-rule-9">
            <a:extLst>
              <a:ext uri="{FF2B5EF4-FFF2-40B4-BE49-F238E27FC236}">
                <a16:creationId xmlns:a16="http://schemas.microsoft.com/office/drawing/2014/main" id="{C3140E4F-B6C7-6E6E-A49D-998356292281}"/>
              </a:ext>
            </a:extLst>
          </p:cNvPr>
          <p:cNvSpPr>
            <a:spLocks noGrp="1"/>
          </p:cNvSpPr>
          <p:nvPr/>
        </p:nvSpPr>
        <p:spPr>
          <a:xfrm>
            <a:off x="8067675" y="4676775"/>
            <a:ext cx="3286125" cy="9525"/>
          </a:xfrm>
          <a:prstGeom prst="rect">
            <a:avLst/>
          </a:prstGeom>
          <a:solidFill>
            <a:srgbClr val="D9E2F3"/>
          </a:solidFill>
          <a:ln w="0">
            <a:noFill/>
            <a:prstDash val="solid"/>
          </a:ln>
        </p:spPr>
      </p:sp>
      <p:sp>
        <p:nvSpPr>
          <p:cNvPr id="67" name="symbol-legend-symbol-10">
            <a:extLst>
              <a:ext uri="{FF2B5EF4-FFF2-40B4-BE49-F238E27FC236}">
                <a16:creationId xmlns:a16="http://schemas.microsoft.com/office/drawing/2014/main" id="{AFA84C16-44E4-CE61-5A5E-4272AD0B8350}"/>
              </a:ext>
            </a:extLst>
          </p:cNvPr>
          <p:cNvSpPr>
            <a:spLocks noGrp="1"/>
          </p:cNvSpPr>
          <p:nvPr/>
        </p:nvSpPr>
        <p:spPr>
          <a:xfrm>
            <a:off x="8067675" y="4743450"/>
            <a:ext cx="885825" cy="257175"/>
          </a:xfrm>
          <a:prstGeom prst="rect">
            <a:avLst/>
          </a:prstGeom>
          <a:noFill/>
          <a:ln w="0">
            <a:noFill/>
            <a:prstDash val="solid"/>
          </a:ln>
        </p:spPr>
        <p:txBody>
          <a:bodyPr/>
          <a:lstStyle/>
          <a:p>
            <a:pPr>
              <a:defRPr sz="1170" b="1">
                <a:solidFill>
                  <a:srgbClr val="2F75B5"/>
                </a:solidFill>
              </a:defRPr>
            </a:pPr>
            <a:r>
              <a:rPr sz="1170" b="1">
                <a:solidFill>
                  <a:srgbClr val="2F75B5"/>
                </a:solidFill>
              </a:rPr>
              <a:t>time_ref</a:t>
            </a:r>
          </a:p>
        </p:txBody>
      </p:sp>
      <p:sp>
        <p:nvSpPr>
          <p:cNvPr id="69" name="symbol-legend-meaning-10">
            <a:extLst>
              <a:ext uri="{FF2B5EF4-FFF2-40B4-BE49-F238E27FC236}">
                <a16:creationId xmlns:a16="http://schemas.microsoft.com/office/drawing/2014/main" id="{091C3632-A041-8D12-8549-6E5D59834142}"/>
              </a:ext>
            </a:extLst>
          </p:cNvPr>
          <p:cNvSpPr>
            <a:spLocks noGrp="1"/>
          </p:cNvSpPr>
          <p:nvPr/>
        </p:nvSpPr>
        <p:spPr>
          <a:xfrm>
            <a:off x="9048750" y="4743450"/>
            <a:ext cx="2305050" cy="276225"/>
          </a:xfrm>
          <a:prstGeom prst="rect">
            <a:avLst/>
          </a:prstGeom>
          <a:noFill/>
          <a:ln w="0">
            <a:noFill/>
            <a:prstDash val="solid"/>
          </a:ln>
        </p:spPr>
        <p:txBody>
          <a:bodyPr/>
          <a:lstStyle/>
          <a:p>
            <a:pPr>
              <a:defRPr sz="1095">
                <a:solidFill>
                  <a:srgbClr val="44546A"/>
                </a:solidFill>
              </a:defRPr>
            </a:pPr>
            <a:r>
              <a:rPr sz="1095">
                <a:solidFill>
                  <a:srgbClr val="44546A"/>
                </a:solidFill>
              </a:rPr>
              <a:t>Reference event for C decay</a:t>
            </a:r>
          </a:p>
        </p:txBody>
      </p:sp>
      <p:sp>
        <p:nvSpPr>
          <p:cNvPr id="71" name="symbol-legend-rule-10">
            <a:extLst>
              <a:ext uri="{FF2B5EF4-FFF2-40B4-BE49-F238E27FC236}">
                <a16:creationId xmlns:a16="http://schemas.microsoft.com/office/drawing/2014/main" id="{46EEAC6C-556F-A179-D749-2B178F343C95}"/>
              </a:ext>
            </a:extLst>
          </p:cNvPr>
          <p:cNvSpPr>
            <a:spLocks noGrp="1"/>
          </p:cNvSpPr>
          <p:nvPr/>
        </p:nvSpPr>
        <p:spPr>
          <a:xfrm>
            <a:off x="8067675" y="5038725"/>
            <a:ext cx="3286125" cy="9525"/>
          </a:xfrm>
          <a:prstGeom prst="rect">
            <a:avLst/>
          </a:prstGeom>
          <a:solidFill>
            <a:srgbClr val="D9E2F3"/>
          </a:solidFill>
          <a:ln w="0">
            <a:noFill/>
            <a:prstDash val="solid"/>
          </a:ln>
        </p:spPr>
      </p:sp>
      <p:sp>
        <p:nvSpPr>
          <p:cNvPr id="73" name="symbol-legend-symbol-11">
            <a:extLst>
              <a:ext uri="{FF2B5EF4-FFF2-40B4-BE49-F238E27FC236}">
                <a16:creationId xmlns:a16="http://schemas.microsoft.com/office/drawing/2014/main" id="{43C6EF61-A52C-8295-336D-70EAE0758F79}"/>
              </a:ext>
            </a:extLst>
          </p:cNvPr>
          <p:cNvSpPr>
            <a:spLocks noGrp="1"/>
          </p:cNvSpPr>
          <p:nvPr/>
        </p:nvSpPr>
        <p:spPr>
          <a:xfrm>
            <a:off x="8067675" y="5105400"/>
            <a:ext cx="885825" cy="257175"/>
          </a:xfrm>
          <a:prstGeom prst="rect">
            <a:avLst/>
          </a:prstGeom>
          <a:noFill/>
          <a:ln w="0">
            <a:noFill/>
            <a:prstDash val="solid"/>
          </a:ln>
        </p:spPr>
        <p:txBody>
          <a:bodyPr/>
          <a:lstStyle/>
          <a:p>
            <a:pPr>
              <a:defRPr sz="1170" b="1">
                <a:solidFill>
                  <a:srgbClr val="2F75B5"/>
                </a:solidFill>
              </a:defRPr>
            </a:pPr>
            <a:r>
              <a:rPr sz="1170" b="1">
                <a:solidFill>
                  <a:srgbClr val="2F75B5"/>
                </a:solidFill>
              </a:rPr>
              <a:t>bist</a:t>
            </a:r>
          </a:p>
        </p:txBody>
      </p:sp>
      <p:sp>
        <p:nvSpPr>
          <p:cNvPr id="75" name="symbol-legend-meaning-11">
            <a:extLst>
              <a:ext uri="{FF2B5EF4-FFF2-40B4-BE49-F238E27FC236}">
                <a16:creationId xmlns:a16="http://schemas.microsoft.com/office/drawing/2014/main" id="{07EF5F1C-EFEE-B98B-EFB7-12B4DC7C9102}"/>
              </a:ext>
            </a:extLst>
          </p:cNvPr>
          <p:cNvSpPr>
            <a:spLocks noGrp="1"/>
          </p:cNvSpPr>
          <p:nvPr/>
        </p:nvSpPr>
        <p:spPr>
          <a:xfrm>
            <a:off x="9048750" y="5105400"/>
            <a:ext cx="2305050" cy="276225"/>
          </a:xfrm>
          <a:prstGeom prst="rect">
            <a:avLst/>
          </a:prstGeom>
          <a:noFill/>
          <a:ln w="0">
            <a:noFill/>
            <a:prstDash val="solid"/>
          </a:ln>
        </p:spPr>
        <p:txBody>
          <a:bodyPr/>
          <a:lstStyle/>
          <a:p>
            <a:pPr>
              <a:defRPr sz="1095">
                <a:solidFill>
                  <a:srgbClr val="44546A"/>
                </a:solidFill>
              </a:defRPr>
            </a:pPr>
            <a:r>
              <a:rPr sz="1095">
                <a:solidFill>
                  <a:srgbClr val="44546A"/>
                </a:solidFill>
              </a:rPr>
              <a:t>Bistability control signal</a:t>
            </a:r>
          </a:p>
        </p:txBody>
      </p:sp>
      <p:sp>
        <p:nvSpPr>
          <p:cNvPr id="77" name="symbol-legend-rule-11">
            <a:extLst>
              <a:ext uri="{FF2B5EF4-FFF2-40B4-BE49-F238E27FC236}">
                <a16:creationId xmlns:a16="http://schemas.microsoft.com/office/drawing/2014/main" id="{04F09710-DF95-0388-390C-AEEEB7497003}"/>
              </a:ext>
            </a:extLst>
          </p:cNvPr>
          <p:cNvSpPr>
            <a:spLocks noGrp="1"/>
          </p:cNvSpPr>
          <p:nvPr/>
        </p:nvSpPr>
        <p:spPr>
          <a:xfrm>
            <a:off x="8067675" y="5400675"/>
            <a:ext cx="3286125" cy="9525"/>
          </a:xfrm>
          <a:prstGeom prst="rect">
            <a:avLst/>
          </a:prstGeom>
          <a:solidFill>
            <a:srgbClr val="D9E2F3"/>
          </a:solidFill>
          <a:ln w="0">
            <a:noFill/>
            <a:prstDash val="solid"/>
          </a:ln>
        </p:spPr>
      </p:sp>
      <p:sp>
        <p:nvSpPr>
          <p:cNvPr id="79" name="symbol-legend-symbol-12">
            <a:extLst>
              <a:ext uri="{FF2B5EF4-FFF2-40B4-BE49-F238E27FC236}">
                <a16:creationId xmlns:a16="http://schemas.microsoft.com/office/drawing/2014/main" id="{0E5451BE-966D-3516-E64D-DF5CABE09349}"/>
              </a:ext>
            </a:extLst>
          </p:cNvPr>
          <p:cNvSpPr>
            <a:spLocks noGrp="1"/>
          </p:cNvSpPr>
          <p:nvPr/>
        </p:nvSpPr>
        <p:spPr>
          <a:xfrm>
            <a:off x="8067675" y="5467350"/>
            <a:ext cx="885825" cy="257175"/>
          </a:xfrm>
          <a:prstGeom prst="rect">
            <a:avLst/>
          </a:prstGeom>
          <a:noFill/>
          <a:ln w="0">
            <a:noFill/>
            <a:prstDash val="solid"/>
          </a:ln>
        </p:spPr>
        <p:txBody>
          <a:bodyPr/>
          <a:lstStyle/>
          <a:p>
            <a:pPr>
              <a:defRPr sz="1170" b="1">
                <a:solidFill>
                  <a:srgbClr val="2F75B5"/>
                </a:solidFill>
              </a:defRPr>
            </a:pPr>
            <a:r>
              <a:rPr sz="1170" b="1">
                <a:solidFill>
                  <a:srgbClr val="2F75B5"/>
                </a:solidFill>
              </a:rPr>
              <a:t>n; w[n−1]</a:t>
            </a:r>
          </a:p>
        </p:txBody>
      </p:sp>
      <p:sp>
        <p:nvSpPr>
          <p:cNvPr id="81" name="symbol-legend-meaning-12">
            <a:extLst>
              <a:ext uri="{FF2B5EF4-FFF2-40B4-BE49-F238E27FC236}">
                <a16:creationId xmlns:a16="http://schemas.microsoft.com/office/drawing/2014/main" id="{F6E6E634-BCED-653E-EB44-BBD0AFD5C509}"/>
              </a:ext>
            </a:extLst>
          </p:cNvPr>
          <p:cNvSpPr>
            <a:spLocks noGrp="1"/>
          </p:cNvSpPr>
          <p:nvPr/>
        </p:nvSpPr>
        <p:spPr>
          <a:xfrm>
            <a:off x="9048750" y="5467350"/>
            <a:ext cx="2305050" cy="276225"/>
          </a:xfrm>
          <a:prstGeom prst="rect">
            <a:avLst/>
          </a:prstGeom>
          <a:noFill/>
          <a:ln w="0">
            <a:noFill/>
            <a:prstDash val="solid"/>
          </a:ln>
        </p:spPr>
        <p:txBody>
          <a:bodyPr/>
          <a:lstStyle/>
          <a:p>
            <a:pPr>
              <a:defRPr sz="1095">
                <a:solidFill>
                  <a:srgbClr val="44546A"/>
                </a:solidFill>
              </a:defRPr>
            </a:pPr>
            <a:r>
              <a:rPr sz="1095">
                <a:solidFill>
                  <a:srgbClr val="44546A"/>
                </a:solidFill>
              </a:rPr>
              <a:t>Weight width; most-significant bit</a:t>
            </a:r>
          </a:p>
        </p:txBody>
      </p:sp>
    </p:spTree>
    <p:extLst>
      <p:ext uri="{BB962C8B-B14F-4D97-AF65-F5344CB8AC3E}">
        <p14:creationId xmlns:p14="http://schemas.microsoft.com/office/powerpoint/2010/main" val="4286327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147FEF1C-A020-41BB-B60F-CFE6CE48BA58}"/>
              </a:ext>
            </a:extLst>
          </p:cNvPr>
          <p:cNvSpPr>
            <a:spLocks noGrp="1"/>
          </p:cNvSpPr>
          <p:nvPr>
            <p:ph type="title"/>
          </p:nvPr>
        </p:nvSpPr>
        <p:spPr/>
        <p:txBody>
          <a:bodyPr/>
          <a:lstStyle/>
          <a:p>
            <a:r>
              <a:t>SDSP Weight Update Uses a Compact Signed-Increment Datapath</a:t>
            </a:r>
          </a:p>
        </p:txBody>
      </p:sp>
      <p:sp>
        <p:nvSpPr>
          <p:cNvPr id="6" name="anchor up start">
            <a:extLst>
              <a:ext uri="{FF2B5EF4-FFF2-40B4-BE49-F238E27FC236}">
                <a16:creationId xmlns:a16="http://schemas.microsoft.com/office/drawing/2014/main" id="{D17F133C-5860-41EA-9762-D42D36CCD1A6}"/>
              </a:ext>
            </a:extLst>
          </p:cNvPr>
          <p:cNvSpPr>
            <a:spLocks noGrp="1"/>
          </p:cNvSpPr>
          <p:nvPr/>
        </p:nvSpPr>
        <p:spPr>
          <a:xfrm>
            <a:off x="2085975" y="2085975"/>
            <a:ext cx="19050" cy="19050"/>
          </a:xfrm>
          <a:prstGeom prst="ellipse">
            <a:avLst/>
          </a:prstGeom>
          <a:noFill/>
          <a:ln w="0">
            <a:noFill/>
            <a:prstDash val="solid"/>
          </a:ln>
        </p:spPr>
      </p:sp>
      <p:sp>
        <p:nvSpPr>
          <p:cNvPr id="7" name="anchor down start">
            <a:extLst>
              <a:ext uri="{FF2B5EF4-FFF2-40B4-BE49-F238E27FC236}">
                <a16:creationId xmlns:a16="http://schemas.microsoft.com/office/drawing/2014/main" id="{D2E600E0-58A5-4765-B890-A2A857F1ACD5}"/>
              </a:ext>
            </a:extLst>
          </p:cNvPr>
          <p:cNvSpPr>
            <a:spLocks noGrp="1"/>
          </p:cNvSpPr>
          <p:nvPr/>
        </p:nvSpPr>
        <p:spPr>
          <a:xfrm>
            <a:off x="2085975" y="2705100"/>
            <a:ext cx="19050" cy="19050"/>
          </a:xfrm>
          <a:prstGeom prst="ellipse">
            <a:avLst/>
          </a:prstGeom>
          <a:noFill/>
          <a:ln w="0">
            <a:noFill/>
            <a:prstDash val="solid"/>
          </a:ln>
        </p:spPr>
      </p:sp>
      <p:sp>
        <p:nvSpPr>
          <p:cNvPr id="8" name="anchor spk_pre start">
            <a:extLst>
              <a:ext uri="{FF2B5EF4-FFF2-40B4-BE49-F238E27FC236}">
                <a16:creationId xmlns:a16="http://schemas.microsoft.com/office/drawing/2014/main" id="{1863772E-4A68-4BCE-9E2F-DA67D959EBA6}"/>
              </a:ext>
            </a:extLst>
          </p:cNvPr>
          <p:cNvSpPr>
            <a:spLocks noGrp="1"/>
          </p:cNvSpPr>
          <p:nvPr/>
        </p:nvSpPr>
        <p:spPr>
          <a:xfrm>
            <a:off x="2085975" y="3324225"/>
            <a:ext cx="19050" cy="19050"/>
          </a:xfrm>
          <a:prstGeom prst="ellipse">
            <a:avLst/>
          </a:prstGeom>
          <a:noFill/>
          <a:ln w="0">
            <a:noFill/>
            <a:prstDash val="solid"/>
          </a:ln>
        </p:spPr>
      </p:sp>
      <p:sp>
        <p:nvSpPr>
          <p:cNvPr id="9" name="anchor bistability start">
            <a:extLst>
              <a:ext uri="{FF2B5EF4-FFF2-40B4-BE49-F238E27FC236}">
                <a16:creationId xmlns:a16="http://schemas.microsoft.com/office/drawing/2014/main" id="{81006BEA-14F8-49D5-8666-F5E2A258F5F9}"/>
              </a:ext>
            </a:extLst>
          </p:cNvPr>
          <p:cNvSpPr>
            <a:spLocks noGrp="1"/>
          </p:cNvSpPr>
          <p:nvPr/>
        </p:nvSpPr>
        <p:spPr>
          <a:xfrm>
            <a:off x="2085975" y="3943350"/>
            <a:ext cx="19050" cy="19050"/>
          </a:xfrm>
          <a:prstGeom prst="ellipse">
            <a:avLst/>
          </a:prstGeom>
          <a:noFill/>
          <a:ln w="0">
            <a:noFill/>
            <a:prstDash val="solid"/>
          </a:ln>
        </p:spPr>
      </p:sp>
      <p:sp>
        <p:nvSpPr>
          <p:cNvPr id="10" name="anchor weight start">
            <a:extLst>
              <a:ext uri="{FF2B5EF4-FFF2-40B4-BE49-F238E27FC236}">
                <a16:creationId xmlns:a16="http://schemas.microsoft.com/office/drawing/2014/main" id="{A4BBFAFD-B618-4A4E-8EC7-7093C655CA2C}"/>
              </a:ext>
            </a:extLst>
          </p:cNvPr>
          <p:cNvSpPr>
            <a:spLocks noGrp="1"/>
          </p:cNvSpPr>
          <p:nvPr/>
        </p:nvSpPr>
        <p:spPr>
          <a:xfrm>
            <a:off x="2085975" y="4562475"/>
            <a:ext cx="19050" cy="19050"/>
          </a:xfrm>
          <a:prstGeom prst="ellipse">
            <a:avLst/>
          </a:prstGeom>
          <a:noFill/>
          <a:ln w="0">
            <a:noFill/>
            <a:prstDash val="solid"/>
          </a:ln>
        </p:spPr>
      </p:sp>
      <p:sp>
        <p:nvSpPr>
          <p:cNvPr id="11" name="anchor delta start">
            <a:extLst>
              <a:ext uri="{FF2B5EF4-FFF2-40B4-BE49-F238E27FC236}">
                <a16:creationId xmlns:a16="http://schemas.microsoft.com/office/drawing/2014/main" id="{BCF21A4E-BB5E-4CEE-9588-17847AAD5161}"/>
              </a:ext>
            </a:extLst>
          </p:cNvPr>
          <p:cNvSpPr>
            <a:spLocks noGrp="1"/>
          </p:cNvSpPr>
          <p:nvPr/>
        </p:nvSpPr>
        <p:spPr>
          <a:xfrm>
            <a:off x="8039100" y="3181350"/>
            <a:ext cx="19050" cy="19050"/>
          </a:xfrm>
          <a:prstGeom prst="ellipse">
            <a:avLst/>
          </a:prstGeom>
          <a:noFill/>
          <a:ln w="0">
            <a:noFill/>
            <a:prstDash val="solid"/>
          </a:ln>
        </p:spPr>
      </p:sp>
      <p:sp>
        <p:nvSpPr>
          <p:cNvPr id="12" name="anchor bypass start">
            <a:extLst>
              <a:ext uri="{FF2B5EF4-FFF2-40B4-BE49-F238E27FC236}">
                <a16:creationId xmlns:a16="http://schemas.microsoft.com/office/drawing/2014/main" id="{A24DD609-022E-4233-B57C-776F5656CF6C}"/>
              </a:ext>
            </a:extLst>
          </p:cNvPr>
          <p:cNvSpPr>
            <a:spLocks noGrp="1"/>
          </p:cNvSpPr>
          <p:nvPr/>
        </p:nvSpPr>
        <p:spPr>
          <a:xfrm>
            <a:off x="8562975" y="4038600"/>
            <a:ext cx="19050" cy="19050"/>
          </a:xfrm>
          <a:prstGeom prst="ellipse">
            <a:avLst/>
          </a:prstGeom>
          <a:noFill/>
          <a:ln w="0">
            <a:noFill/>
            <a:prstDash val="solid"/>
          </a:ln>
        </p:spPr>
      </p:sp>
      <p:sp>
        <p:nvSpPr>
          <p:cNvPr id="13" name="anchor output start">
            <a:extLst>
              <a:ext uri="{FF2B5EF4-FFF2-40B4-BE49-F238E27FC236}">
                <a16:creationId xmlns:a16="http://schemas.microsoft.com/office/drawing/2014/main" id="{DD8D2F64-823D-425F-BEB7-B4C4FF02E2B3}"/>
              </a:ext>
            </a:extLst>
          </p:cNvPr>
          <p:cNvSpPr>
            <a:spLocks noGrp="1"/>
          </p:cNvSpPr>
          <p:nvPr/>
        </p:nvSpPr>
        <p:spPr>
          <a:xfrm>
            <a:off x="9848850" y="3629025"/>
            <a:ext cx="19050" cy="19050"/>
          </a:xfrm>
          <a:prstGeom prst="ellipse">
            <a:avLst/>
          </a:prstGeom>
          <a:noFill/>
          <a:ln w="0">
            <a:noFill/>
            <a:prstDash val="solid"/>
          </a:ln>
        </p:spPr>
      </p:sp>
      <p:sp>
        <p:nvSpPr>
          <p:cNvPr id="14" name="anchor up target">
            <a:extLst>
              <a:ext uri="{FF2B5EF4-FFF2-40B4-BE49-F238E27FC236}">
                <a16:creationId xmlns:a16="http://schemas.microsoft.com/office/drawing/2014/main" id="{4EBF62AA-9D6E-4D68-B0CF-346C920BB1BB}"/>
              </a:ext>
            </a:extLst>
          </p:cNvPr>
          <p:cNvSpPr>
            <a:spLocks noGrp="1"/>
          </p:cNvSpPr>
          <p:nvPr/>
        </p:nvSpPr>
        <p:spPr>
          <a:xfrm>
            <a:off x="5848350" y="2085975"/>
            <a:ext cx="19050" cy="19050"/>
          </a:xfrm>
          <a:prstGeom prst="ellipse">
            <a:avLst/>
          </a:prstGeom>
          <a:noFill/>
          <a:ln w="0">
            <a:noFill/>
            <a:prstDash val="solid"/>
          </a:ln>
        </p:spPr>
      </p:sp>
      <p:sp>
        <p:nvSpPr>
          <p:cNvPr id="15" name="anchor down target">
            <a:extLst>
              <a:ext uri="{FF2B5EF4-FFF2-40B4-BE49-F238E27FC236}">
                <a16:creationId xmlns:a16="http://schemas.microsoft.com/office/drawing/2014/main" id="{17C3A507-4B73-4C15-9560-80222209B43C}"/>
              </a:ext>
            </a:extLst>
          </p:cNvPr>
          <p:cNvSpPr>
            <a:spLocks noGrp="1"/>
          </p:cNvSpPr>
          <p:nvPr/>
        </p:nvSpPr>
        <p:spPr>
          <a:xfrm>
            <a:off x="5848350" y="2705100"/>
            <a:ext cx="19050" cy="19050"/>
          </a:xfrm>
          <a:prstGeom prst="ellipse">
            <a:avLst/>
          </a:prstGeom>
          <a:noFill/>
          <a:ln w="0">
            <a:noFill/>
            <a:prstDash val="solid"/>
          </a:ln>
        </p:spPr>
      </p:sp>
      <p:sp>
        <p:nvSpPr>
          <p:cNvPr id="16" name="anchor spk_pre target">
            <a:extLst>
              <a:ext uri="{FF2B5EF4-FFF2-40B4-BE49-F238E27FC236}">
                <a16:creationId xmlns:a16="http://schemas.microsoft.com/office/drawing/2014/main" id="{5C111C30-BAF4-4CCF-8E48-B22619DBD1C9}"/>
              </a:ext>
            </a:extLst>
          </p:cNvPr>
          <p:cNvSpPr>
            <a:spLocks noGrp="1"/>
          </p:cNvSpPr>
          <p:nvPr/>
        </p:nvSpPr>
        <p:spPr>
          <a:xfrm>
            <a:off x="5848350" y="3324225"/>
            <a:ext cx="19050" cy="19050"/>
          </a:xfrm>
          <a:prstGeom prst="ellipse">
            <a:avLst/>
          </a:prstGeom>
          <a:noFill/>
          <a:ln w="0">
            <a:noFill/>
            <a:prstDash val="solid"/>
          </a:ln>
        </p:spPr>
      </p:sp>
      <p:sp>
        <p:nvSpPr>
          <p:cNvPr id="17" name="anchor bistability target">
            <a:extLst>
              <a:ext uri="{FF2B5EF4-FFF2-40B4-BE49-F238E27FC236}">
                <a16:creationId xmlns:a16="http://schemas.microsoft.com/office/drawing/2014/main" id="{37003A6D-9185-4CC5-A624-CE3A1B9882CF}"/>
              </a:ext>
            </a:extLst>
          </p:cNvPr>
          <p:cNvSpPr>
            <a:spLocks noGrp="1"/>
          </p:cNvSpPr>
          <p:nvPr/>
        </p:nvSpPr>
        <p:spPr>
          <a:xfrm>
            <a:off x="5848350" y="3943350"/>
            <a:ext cx="19050" cy="19050"/>
          </a:xfrm>
          <a:prstGeom prst="ellipse">
            <a:avLst/>
          </a:prstGeom>
          <a:noFill/>
          <a:ln w="0">
            <a:noFill/>
            <a:prstDash val="solid"/>
          </a:ln>
        </p:spPr>
      </p:sp>
      <p:sp>
        <p:nvSpPr>
          <p:cNvPr id="18" name="anchor weight target">
            <a:extLst>
              <a:ext uri="{FF2B5EF4-FFF2-40B4-BE49-F238E27FC236}">
                <a16:creationId xmlns:a16="http://schemas.microsoft.com/office/drawing/2014/main" id="{0A0E8F91-13B3-4D76-8011-772B256F5D5C}"/>
              </a:ext>
            </a:extLst>
          </p:cNvPr>
          <p:cNvSpPr>
            <a:spLocks noGrp="1"/>
          </p:cNvSpPr>
          <p:nvPr/>
        </p:nvSpPr>
        <p:spPr>
          <a:xfrm>
            <a:off x="5848350" y="4562475"/>
            <a:ext cx="19050" cy="19050"/>
          </a:xfrm>
          <a:prstGeom prst="ellipse">
            <a:avLst/>
          </a:prstGeom>
          <a:noFill/>
          <a:ln w="0">
            <a:noFill/>
            <a:prstDash val="solid"/>
          </a:ln>
        </p:spPr>
      </p:sp>
      <p:sp>
        <p:nvSpPr>
          <p:cNvPr id="19" name="anchor delta target">
            <a:extLst>
              <a:ext uri="{FF2B5EF4-FFF2-40B4-BE49-F238E27FC236}">
                <a16:creationId xmlns:a16="http://schemas.microsoft.com/office/drawing/2014/main" id="{83BA9C3E-51EE-466C-A7A4-90EDEF59BD73}"/>
              </a:ext>
            </a:extLst>
          </p:cNvPr>
          <p:cNvSpPr>
            <a:spLocks noGrp="1"/>
          </p:cNvSpPr>
          <p:nvPr/>
        </p:nvSpPr>
        <p:spPr>
          <a:xfrm>
            <a:off x="8848725" y="3181350"/>
            <a:ext cx="19050" cy="19050"/>
          </a:xfrm>
          <a:prstGeom prst="ellipse">
            <a:avLst/>
          </a:prstGeom>
          <a:noFill/>
          <a:ln w="0">
            <a:noFill/>
            <a:prstDash val="solid"/>
          </a:ln>
        </p:spPr>
      </p:sp>
      <p:sp>
        <p:nvSpPr>
          <p:cNvPr id="20" name="anchor bypass target">
            <a:extLst>
              <a:ext uri="{FF2B5EF4-FFF2-40B4-BE49-F238E27FC236}">
                <a16:creationId xmlns:a16="http://schemas.microsoft.com/office/drawing/2014/main" id="{12C8484B-D1EB-4665-9474-75C7A848A868}"/>
              </a:ext>
            </a:extLst>
          </p:cNvPr>
          <p:cNvSpPr>
            <a:spLocks noGrp="1"/>
          </p:cNvSpPr>
          <p:nvPr/>
        </p:nvSpPr>
        <p:spPr>
          <a:xfrm>
            <a:off x="8848725" y="4038600"/>
            <a:ext cx="19050" cy="19050"/>
          </a:xfrm>
          <a:prstGeom prst="ellipse">
            <a:avLst/>
          </a:prstGeom>
          <a:noFill/>
          <a:ln w="0">
            <a:noFill/>
            <a:prstDash val="solid"/>
          </a:ln>
        </p:spPr>
      </p:sp>
      <p:sp>
        <p:nvSpPr>
          <p:cNvPr id="21" name="anchor output target">
            <a:extLst>
              <a:ext uri="{FF2B5EF4-FFF2-40B4-BE49-F238E27FC236}">
                <a16:creationId xmlns:a16="http://schemas.microsoft.com/office/drawing/2014/main" id="{197A430A-2790-478E-9F81-81D96171CCBB}"/>
              </a:ext>
            </a:extLst>
          </p:cNvPr>
          <p:cNvSpPr>
            <a:spLocks noGrp="1"/>
          </p:cNvSpPr>
          <p:nvPr/>
        </p:nvSpPr>
        <p:spPr>
          <a:xfrm>
            <a:off x="11134725" y="3629025"/>
            <a:ext cx="19050" cy="19050"/>
          </a:xfrm>
          <a:prstGeom prst="ellipse">
            <a:avLst/>
          </a:prstGeom>
          <a:noFill/>
          <a:ln w="0">
            <a:noFill/>
            <a:prstDash val="solid"/>
          </a:ln>
        </p:spPr>
      </p:sp>
      <p:cxnSp>
        <p:nvCxnSpPr>
          <p:cNvPr id="68" name="直接箭头连接符 67"/>
          <p:cNvCxnSpPr>
            <a:stCxn id="6" idx="6"/>
            <a:endCxn id="14" idx="2"/>
          </p:cNvCxnSpPr>
          <p:nvPr/>
        </p:nvCxnSpPr>
        <p:spPr>
          <a:xfrm>
            <a:off x="2105025" y="2095500"/>
            <a:ext cx="3743325" cy="0"/>
          </a:xfrm>
          <a:prstGeom prst="straightConnector1">
            <a:avLst/>
          </a:prstGeom>
          <a:ln w="23813">
            <a:solidFill>
              <a:srgbClr val="F58220"/>
            </a:solidFill>
            <a:prstDash val="solid"/>
            <a:tailEnd type="triangle" w="med" len="med"/>
          </a:ln>
        </p:spPr>
      </p:cxnSp>
      <p:cxnSp>
        <p:nvCxnSpPr>
          <p:cNvPr id="69" name="直接箭头连接符 68"/>
          <p:cNvCxnSpPr>
            <a:stCxn id="7" idx="6"/>
            <a:endCxn id="15" idx="2"/>
          </p:cNvCxnSpPr>
          <p:nvPr/>
        </p:nvCxnSpPr>
        <p:spPr>
          <a:xfrm>
            <a:off x="2105025" y="2714625"/>
            <a:ext cx="3743325" cy="0"/>
          </a:xfrm>
          <a:prstGeom prst="straightConnector1">
            <a:avLst/>
          </a:prstGeom>
          <a:ln w="23813">
            <a:solidFill>
              <a:srgbClr val="F58220"/>
            </a:solidFill>
            <a:prstDash val="solid"/>
            <a:tailEnd type="triangle" w="med" len="med"/>
          </a:ln>
        </p:spPr>
      </p:cxnSp>
      <p:cxnSp>
        <p:nvCxnSpPr>
          <p:cNvPr id="70" name="直接箭头连接符 69"/>
          <p:cNvCxnSpPr>
            <a:stCxn id="8" idx="6"/>
            <a:endCxn id="16" idx="2"/>
          </p:cNvCxnSpPr>
          <p:nvPr/>
        </p:nvCxnSpPr>
        <p:spPr>
          <a:xfrm>
            <a:off x="2105025" y="3333750"/>
            <a:ext cx="3743325" cy="0"/>
          </a:xfrm>
          <a:prstGeom prst="straightConnector1">
            <a:avLst/>
          </a:prstGeom>
          <a:ln w="23813">
            <a:solidFill>
              <a:srgbClr val="0070C0"/>
            </a:solidFill>
            <a:prstDash val="solid"/>
            <a:tailEnd type="triangle" w="med" len="med"/>
          </a:ln>
        </p:spPr>
      </p:cxnSp>
      <p:cxnSp>
        <p:nvCxnSpPr>
          <p:cNvPr id="71" name="直接箭头连接符 70"/>
          <p:cNvCxnSpPr>
            <a:stCxn id="9" idx="6"/>
            <a:endCxn id="17" idx="2"/>
          </p:cNvCxnSpPr>
          <p:nvPr/>
        </p:nvCxnSpPr>
        <p:spPr>
          <a:xfrm>
            <a:off x="2105025" y="3952875"/>
            <a:ext cx="3743325" cy="0"/>
          </a:xfrm>
          <a:prstGeom prst="straightConnector1">
            <a:avLst/>
          </a:prstGeom>
          <a:ln w="23813">
            <a:solidFill>
              <a:srgbClr val="0070C0"/>
            </a:solidFill>
            <a:prstDash val="solid"/>
            <a:tailEnd type="triangle" w="med" len="med"/>
          </a:ln>
        </p:spPr>
      </p:cxnSp>
      <p:cxnSp>
        <p:nvCxnSpPr>
          <p:cNvPr id="72" name="直接箭头连接符 71"/>
          <p:cNvCxnSpPr>
            <a:stCxn id="10" idx="6"/>
            <a:endCxn id="18" idx="2"/>
          </p:cNvCxnSpPr>
          <p:nvPr/>
        </p:nvCxnSpPr>
        <p:spPr>
          <a:xfrm>
            <a:off x="2105025" y="4572000"/>
            <a:ext cx="3743325" cy="0"/>
          </a:xfrm>
          <a:prstGeom prst="straightConnector1">
            <a:avLst/>
          </a:prstGeom>
          <a:ln w="23813">
            <a:solidFill>
              <a:srgbClr val="001450"/>
            </a:solidFill>
            <a:prstDash val="solid"/>
            <a:tailEnd type="triangle" w="med" len="med"/>
          </a:ln>
        </p:spPr>
      </p:cxnSp>
      <p:cxnSp>
        <p:nvCxnSpPr>
          <p:cNvPr id="73" name="直接箭头连接符 72"/>
          <p:cNvCxnSpPr>
            <a:stCxn id="11" idx="6"/>
            <a:endCxn id="19" idx="2"/>
          </p:cNvCxnSpPr>
          <p:nvPr/>
        </p:nvCxnSpPr>
        <p:spPr>
          <a:xfrm>
            <a:off x="8058150" y="3190875"/>
            <a:ext cx="790575" cy="0"/>
          </a:xfrm>
          <a:prstGeom prst="straightConnector1">
            <a:avLst/>
          </a:prstGeom>
          <a:ln w="26670">
            <a:solidFill>
              <a:srgbClr val="001450"/>
            </a:solidFill>
            <a:prstDash val="solid"/>
            <a:tailEnd type="triangle" w="med" len="med"/>
          </a:ln>
        </p:spPr>
      </p:cxnSp>
      <p:cxnSp>
        <p:nvCxnSpPr>
          <p:cNvPr id="74" name="直接箭头连接符 73"/>
          <p:cNvCxnSpPr>
            <a:stCxn id="12" idx="6"/>
            <a:endCxn id="20" idx="2"/>
          </p:cNvCxnSpPr>
          <p:nvPr/>
        </p:nvCxnSpPr>
        <p:spPr>
          <a:xfrm>
            <a:off x="8582025" y="4048125"/>
            <a:ext cx="266700" cy="0"/>
          </a:xfrm>
          <a:prstGeom prst="straightConnector1">
            <a:avLst/>
          </a:prstGeom>
          <a:ln w="26670">
            <a:solidFill>
              <a:srgbClr val="001450"/>
            </a:solidFill>
            <a:prstDash val="solid"/>
            <a:tailEnd type="triangle" w="med" len="med"/>
          </a:ln>
        </p:spPr>
      </p:cxnSp>
      <p:cxnSp>
        <p:nvCxnSpPr>
          <p:cNvPr id="75" name="直接箭头连接符 74"/>
          <p:cNvCxnSpPr>
            <a:cxnSpLocks/>
          </p:cNvCxnSpPr>
          <p:nvPr/>
        </p:nvCxnSpPr>
        <p:spPr>
          <a:xfrm>
            <a:off x="9867900" y="3629025"/>
            <a:ext cx="1266825" cy="0"/>
          </a:xfrm>
          <a:prstGeom prst="straightConnector1">
            <a:avLst/>
          </a:prstGeom>
          <a:ln w="26670">
            <a:solidFill>
              <a:srgbClr val="001450"/>
            </a:solidFill>
            <a:prstDash val="solid"/>
            <a:tailEnd type="triangle" w="med" len="med"/>
          </a:ln>
        </p:spPr>
      </p:cxnSp>
      <p:sp>
        <p:nvSpPr>
          <p:cNvPr id="30" name="weight bypass vertical left">
            <a:extLst>
              <a:ext uri="{FF2B5EF4-FFF2-40B4-BE49-F238E27FC236}">
                <a16:creationId xmlns:a16="http://schemas.microsoft.com/office/drawing/2014/main" id="{4E09BD09-FD87-4643-AAB7-E15B7107C529}"/>
              </a:ext>
            </a:extLst>
          </p:cNvPr>
          <p:cNvSpPr>
            <a:spLocks noGrp="1"/>
          </p:cNvSpPr>
          <p:nvPr/>
        </p:nvSpPr>
        <p:spPr>
          <a:xfrm>
            <a:off x="5619750" y="4572000"/>
            <a:ext cx="953" cy="381000"/>
          </a:xfrm>
          <a:prstGeom prst="line">
            <a:avLst/>
          </a:prstGeom>
          <a:noFill/>
          <a:ln w="26670">
            <a:solidFill>
              <a:srgbClr val="001450"/>
            </a:solidFill>
            <a:prstDash val="solid"/>
          </a:ln>
        </p:spPr>
      </p:sp>
      <p:sp>
        <p:nvSpPr>
          <p:cNvPr id="31" name="weight bypass horizontal">
            <a:extLst>
              <a:ext uri="{FF2B5EF4-FFF2-40B4-BE49-F238E27FC236}">
                <a16:creationId xmlns:a16="http://schemas.microsoft.com/office/drawing/2014/main" id="{12262F80-635B-426F-BD8D-1E9EA8BE02D3}"/>
              </a:ext>
            </a:extLst>
          </p:cNvPr>
          <p:cNvSpPr>
            <a:spLocks noGrp="1"/>
          </p:cNvSpPr>
          <p:nvPr/>
        </p:nvSpPr>
        <p:spPr>
          <a:xfrm>
            <a:off x="5619750" y="4953000"/>
            <a:ext cx="2952750" cy="953"/>
          </a:xfrm>
          <a:prstGeom prst="line">
            <a:avLst/>
          </a:prstGeom>
          <a:noFill/>
          <a:ln w="26670">
            <a:solidFill>
              <a:srgbClr val="001450"/>
            </a:solidFill>
            <a:prstDash val="solid"/>
          </a:ln>
        </p:spPr>
      </p:sp>
      <p:sp>
        <p:nvSpPr>
          <p:cNvPr id="32" name="weight bypass vertical right">
            <a:extLst>
              <a:ext uri="{FF2B5EF4-FFF2-40B4-BE49-F238E27FC236}">
                <a16:creationId xmlns:a16="http://schemas.microsoft.com/office/drawing/2014/main" id="{91170130-FBD6-46BF-83A4-3A34BAE2001F}"/>
              </a:ext>
            </a:extLst>
          </p:cNvPr>
          <p:cNvSpPr>
            <a:spLocks noGrp="1"/>
          </p:cNvSpPr>
          <p:nvPr/>
        </p:nvSpPr>
        <p:spPr>
          <a:xfrm>
            <a:off x="8572500" y="4048125"/>
            <a:ext cx="953" cy="904875"/>
          </a:xfrm>
          <a:prstGeom prst="line">
            <a:avLst/>
          </a:prstGeom>
          <a:noFill/>
          <a:ln w="26670">
            <a:solidFill>
              <a:srgbClr val="001450"/>
            </a:solidFill>
            <a:prstDash val="solid"/>
          </a:ln>
        </p:spPr>
      </p:sp>
      <p:sp>
        <p:nvSpPr>
          <p:cNvPr id="33" name="SDSP update logic boundary">
            <a:extLst>
              <a:ext uri="{FF2B5EF4-FFF2-40B4-BE49-F238E27FC236}">
                <a16:creationId xmlns:a16="http://schemas.microsoft.com/office/drawing/2014/main" id="{102541B4-8EA7-4772-BF4C-C2EB204C58A4}"/>
              </a:ext>
            </a:extLst>
          </p:cNvPr>
          <p:cNvSpPr>
            <a:spLocks noGrp="1"/>
          </p:cNvSpPr>
          <p:nvPr/>
        </p:nvSpPr>
        <p:spPr>
          <a:xfrm>
            <a:off x="2571750" y="1666875"/>
            <a:ext cx="5810250" cy="3476625"/>
          </a:xfrm>
          <a:prstGeom prst="rect">
            <a:avLst/>
          </a:prstGeom>
          <a:noFill/>
          <a:ln w="20955">
            <a:solidFill>
              <a:srgbClr val="566371"/>
            </a:solidFill>
            <a:prstDash val="dot"/>
          </a:ln>
        </p:spPr>
      </p:sp>
      <p:sp>
        <p:nvSpPr>
          <p:cNvPr id="34" name="Signed increment generator">
            <a:extLst>
              <a:ext uri="{FF2B5EF4-FFF2-40B4-BE49-F238E27FC236}">
                <a16:creationId xmlns:a16="http://schemas.microsoft.com/office/drawing/2014/main" id="{3149F088-E5FE-4D19-9317-827BFD90F172}"/>
              </a:ext>
            </a:extLst>
          </p:cNvPr>
          <p:cNvSpPr>
            <a:spLocks noGrp="1"/>
          </p:cNvSpPr>
          <p:nvPr/>
        </p:nvSpPr>
        <p:spPr>
          <a:xfrm>
            <a:off x="5857875" y="1952625"/>
            <a:ext cx="2190750" cy="2714625"/>
          </a:xfrm>
          <a:prstGeom prst="roundRect">
            <a:avLst>
              <a:gd name="adj" fmla="val 3478"/>
            </a:avLst>
          </a:prstGeom>
          <a:solidFill>
            <a:srgbClr val="FFFFFF"/>
          </a:solidFill>
          <a:ln w="22860">
            <a:solidFill>
              <a:srgbClr val="001450"/>
            </a:solidFill>
            <a:prstDash val="solid"/>
          </a:ln>
        </p:spPr>
        <p:txBody>
          <a:bodyPr lIns="114300" tIns="133350" rIns="114300" bIns="133350" anchor="ctr">
            <a:normAutofit/>
          </a:bodyPr>
          <a:lstStyle/>
          <a:p>
            <a:pPr algn="ctr">
              <a:defRPr sz="1875" b="1">
                <a:solidFill>
                  <a:srgbClr val="001450"/>
                </a:solidFill>
                <a:latin typeface="Open Sans"/>
                <a:ea typeface="Open Sans"/>
                <a:cs typeface="Open Sans"/>
              </a:defRPr>
            </a:pPr>
            <a:r>
              <a:rPr sz="1875" b="1" dirty="0">
                <a:solidFill>
                  <a:srgbClr val="001450"/>
                </a:solidFill>
                <a:latin typeface="Open Sans"/>
                <a:ea typeface="Open Sans"/>
                <a:cs typeface="Open Sans"/>
              </a:rPr>
              <a:t>-1 / 0 / +1</a:t>
            </a:r>
          </a:p>
          <a:p>
            <a:pPr algn="ctr">
              <a:defRPr sz="1875" b="1">
                <a:solidFill>
                  <a:srgbClr val="001450"/>
                </a:solidFill>
                <a:latin typeface="Open Sans"/>
                <a:ea typeface="Open Sans"/>
                <a:cs typeface="Open Sans"/>
              </a:defRPr>
            </a:pPr>
            <a:r>
              <a:rPr sz="1875" b="1" dirty="0">
                <a:solidFill>
                  <a:srgbClr val="001450"/>
                </a:solidFill>
                <a:latin typeface="Open Sans"/>
                <a:ea typeface="Open Sans"/>
                <a:cs typeface="Open Sans"/>
              </a:rPr>
              <a:t>generation</a:t>
            </a:r>
          </a:p>
          <a:p>
            <a:pPr algn="ctr">
              <a:defRPr sz="1875" b="1">
                <a:solidFill>
                  <a:srgbClr val="001450"/>
                </a:solidFill>
                <a:latin typeface="Open Sans"/>
                <a:ea typeface="Open Sans"/>
                <a:cs typeface="Open Sans"/>
              </a:defRPr>
            </a:pPr>
            <a:r>
              <a:rPr sz="1875" b="1" dirty="0">
                <a:solidFill>
                  <a:srgbClr val="001450"/>
                </a:solidFill>
                <a:latin typeface="Open Sans"/>
                <a:ea typeface="Open Sans"/>
                <a:cs typeface="Open Sans"/>
              </a:rPr>
              <a:t>with overflow</a:t>
            </a:r>
          </a:p>
          <a:p>
            <a:pPr algn="ctr">
              <a:defRPr sz="1875" b="1">
                <a:solidFill>
                  <a:srgbClr val="001450"/>
                </a:solidFill>
                <a:latin typeface="Open Sans"/>
                <a:ea typeface="Open Sans"/>
                <a:cs typeface="Open Sans"/>
              </a:defRPr>
            </a:pPr>
            <a:r>
              <a:rPr sz="1875" b="1" dirty="0">
                <a:solidFill>
                  <a:srgbClr val="001450"/>
                </a:solidFill>
                <a:latin typeface="Open Sans"/>
                <a:ea typeface="Open Sans"/>
                <a:cs typeface="Open Sans"/>
              </a:rPr>
              <a:t>detection</a:t>
            </a:r>
          </a:p>
        </p:txBody>
      </p:sp>
      <p:sp>
        <p:nvSpPr>
          <p:cNvPr id="35" name="Three-bit adder">
            <a:extLst>
              <a:ext uri="{FF2B5EF4-FFF2-40B4-BE49-F238E27FC236}">
                <a16:creationId xmlns:a16="http://schemas.microsoft.com/office/drawing/2014/main" id="{2EC9DD94-42F3-4740-A932-547D21BC5280}"/>
              </a:ext>
            </a:extLst>
          </p:cNvPr>
          <p:cNvSpPr>
            <a:spLocks noGrp="1"/>
          </p:cNvSpPr>
          <p:nvPr/>
        </p:nvSpPr>
        <p:spPr>
          <a:xfrm>
            <a:off x="8867775" y="2700337"/>
            <a:ext cx="990600" cy="1857375"/>
          </a:xfrm>
          <a:prstGeom prst="rightArrow">
            <a:avLst/>
          </a:prstGeom>
          <a:solidFill>
            <a:srgbClr val="FFFFFF"/>
          </a:solidFill>
          <a:ln w="24765">
            <a:solidFill>
              <a:srgbClr val="001450"/>
            </a:solidFill>
            <a:prstDash val="solid"/>
          </a:ln>
        </p:spPr>
        <p:txBody>
          <a:bodyPr lIns="0" tIns="0" rIns="19050" bIns="0" anchor="ctr"/>
          <a:lstStyle/>
          <a:p>
            <a:pPr algn="ctr">
              <a:defRPr sz="2850" b="1">
                <a:solidFill>
                  <a:srgbClr val="001450"/>
                </a:solidFill>
                <a:latin typeface="Open Sans"/>
                <a:ea typeface="Open Sans"/>
                <a:cs typeface="Open Sans"/>
              </a:defRPr>
            </a:pPr>
            <a:r>
              <a:rPr sz="2850" b="1">
                <a:solidFill>
                  <a:srgbClr val="001450"/>
                </a:solidFill>
                <a:latin typeface="Open Sans"/>
                <a:ea typeface="Open Sans"/>
                <a:cs typeface="Open Sans"/>
              </a:rPr>
              <a:t>+</a:t>
            </a:r>
          </a:p>
        </p:txBody>
      </p:sp>
      <p:sp>
        <p:nvSpPr>
          <p:cNvPr id="36" name="Weight bus junction">
            <a:extLst>
              <a:ext uri="{FF2B5EF4-FFF2-40B4-BE49-F238E27FC236}">
                <a16:creationId xmlns:a16="http://schemas.microsoft.com/office/drawing/2014/main" id="{A66FDAB4-FD80-4C10-8430-83D7470988A2}"/>
              </a:ext>
            </a:extLst>
          </p:cNvPr>
          <p:cNvSpPr>
            <a:spLocks noGrp="1"/>
          </p:cNvSpPr>
          <p:nvPr/>
        </p:nvSpPr>
        <p:spPr>
          <a:xfrm>
            <a:off x="5572125" y="4524375"/>
            <a:ext cx="95250" cy="95250"/>
          </a:xfrm>
          <a:prstGeom prst="ellipse">
            <a:avLst/>
          </a:prstGeom>
          <a:solidFill>
            <a:srgbClr val="001450"/>
          </a:solidFill>
          <a:ln w="4763">
            <a:solidFill>
              <a:srgbClr val="001450"/>
            </a:solidFill>
            <a:prstDash val="solid"/>
          </a:ln>
        </p:spPr>
      </p:sp>
      <p:sp>
        <p:nvSpPr>
          <p:cNvPr id="37" name="up label">
            <a:extLst>
              <a:ext uri="{FF2B5EF4-FFF2-40B4-BE49-F238E27FC236}">
                <a16:creationId xmlns:a16="http://schemas.microsoft.com/office/drawing/2014/main" id="{D98BEB97-DCCF-4283-B819-933DA9A040BE}"/>
              </a:ext>
            </a:extLst>
          </p:cNvPr>
          <p:cNvSpPr>
            <a:spLocks noGrp="1"/>
          </p:cNvSpPr>
          <p:nvPr/>
        </p:nvSpPr>
        <p:spPr>
          <a:xfrm>
            <a:off x="876300" y="1914525"/>
            <a:ext cx="1104900" cy="361950"/>
          </a:xfrm>
          <a:prstGeom prst="rect">
            <a:avLst/>
          </a:prstGeom>
          <a:noFill/>
          <a:ln w="0">
            <a:noFill/>
            <a:prstDash val="solid"/>
          </a:ln>
        </p:spPr>
        <p:txBody>
          <a:bodyPr wrap="square" lIns="0" tIns="0" rIns="0" bIns="0" anchor="ctr">
            <a:normAutofit/>
          </a:bodyPr>
          <a:lstStyle/>
          <a:p>
            <a:pPr algn="r">
              <a:defRPr sz="1575" b="1">
                <a:solidFill>
                  <a:srgbClr val="001450"/>
                </a:solidFill>
                <a:latin typeface="Open Sans"/>
                <a:ea typeface="Open Sans"/>
                <a:cs typeface="Open Sans"/>
              </a:defRPr>
            </a:pPr>
            <a:r>
              <a:rPr sz="1575" b="1">
                <a:solidFill>
                  <a:srgbClr val="001450"/>
                </a:solidFill>
                <a:latin typeface="Open Sans"/>
                <a:ea typeface="Open Sans"/>
                <a:cs typeface="Open Sans"/>
              </a:rPr>
              <a:t>up</a:t>
            </a:r>
          </a:p>
        </p:txBody>
      </p:sp>
      <p:sp>
        <p:nvSpPr>
          <p:cNvPr id="38" name="down label">
            <a:extLst>
              <a:ext uri="{FF2B5EF4-FFF2-40B4-BE49-F238E27FC236}">
                <a16:creationId xmlns:a16="http://schemas.microsoft.com/office/drawing/2014/main" id="{644A794F-727D-4A9F-B42F-8442091B7ABD}"/>
              </a:ext>
            </a:extLst>
          </p:cNvPr>
          <p:cNvSpPr>
            <a:spLocks noGrp="1"/>
          </p:cNvSpPr>
          <p:nvPr/>
        </p:nvSpPr>
        <p:spPr>
          <a:xfrm>
            <a:off x="876300" y="2533650"/>
            <a:ext cx="1104900" cy="361950"/>
          </a:xfrm>
          <a:prstGeom prst="rect">
            <a:avLst/>
          </a:prstGeom>
          <a:noFill/>
          <a:ln w="0">
            <a:noFill/>
            <a:prstDash val="solid"/>
          </a:ln>
        </p:spPr>
        <p:txBody>
          <a:bodyPr wrap="square" lIns="0" tIns="0" rIns="0" bIns="0" anchor="ctr">
            <a:normAutofit/>
          </a:bodyPr>
          <a:lstStyle/>
          <a:p>
            <a:pPr algn="r">
              <a:defRPr sz="1575" b="1">
                <a:solidFill>
                  <a:srgbClr val="001450"/>
                </a:solidFill>
                <a:latin typeface="Open Sans"/>
                <a:ea typeface="Open Sans"/>
                <a:cs typeface="Open Sans"/>
              </a:defRPr>
            </a:pPr>
            <a:r>
              <a:rPr sz="1575" b="1">
                <a:solidFill>
                  <a:srgbClr val="001450"/>
                </a:solidFill>
                <a:latin typeface="Open Sans"/>
                <a:ea typeface="Open Sans"/>
                <a:cs typeface="Open Sans"/>
              </a:rPr>
              <a:t>down</a:t>
            </a:r>
          </a:p>
        </p:txBody>
      </p:sp>
      <p:sp>
        <p:nvSpPr>
          <p:cNvPr id="39" name="spk_pre label">
            <a:extLst>
              <a:ext uri="{FF2B5EF4-FFF2-40B4-BE49-F238E27FC236}">
                <a16:creationId xmlns:a16="http://schemas.microsoft.com/office/drawing/2014/main" id="{AF4F13AA-D9AF-4C4F-B050-7F9581F315EB}"/>
              </a:ext>
            </a:extLst>
          </p:cNvPr>
          <p:cNvSpPr>
            <a:spLocks noGrp="1"/>
          </p:cNvSpPr>
          <p:nvPr/>
        </p:nvSpPr>
        <p:spPr>
          <a:xfrm>
            <a:off x="685800" y="3152775"/>
            <a:ext cx="1295400" cy="361950"/>
          </a:xfrm>
          <a:prstGeom prst="rect">
            <a:avLst/>
          </a:prstGeom>
          <a:noFill/>
          <a:ln w="0">
            <a:noFill/>
            <a:prstDash val="solid"/>
          </a:ln>
        </p:spPr>
        <p:txBody>
          <a:bodyPr wrap="square" lIns="0" tIns="0" rIns="0" bIns="0" anchor="ctr">
            <a:normAutofit/>
          </a:bodyPr>
          <a:lstStyle/>
          <a:p>
            <a:pPr algn="r">
              <a:defRPr sz="1575" b="1">
                <a:solidFill>
                  <a:srgbClr val="001450"/>
                </a:solidFill>
                <a:latin typeface="Open Sans"/>
                <a:ea typeface="Open Sans"/>
                <a:cs typeface="Open Sans"/>
              </a:defRPr>
            </a:pPr>
            <a:r>
              <a:rPr sz="1575" b="1">
                <a:solidFill>
                  <a:srgbClr val="001450"/>
                </a:solidFill>
                <a:latin typeface="Open Sans"/>
                <a:ea typeface="Open Sans"/>
                <a:cs typeface="Open Sans"/>
              </a:rPr>
              <a:t>spk_pre</a:t>
            </a:r>
          </a:p>
        </p:txBody>
      </p:sp>
      <p:sp>
        <p:nvSpPr>
          <p:cNvPr id="40" name="bistability label">
            <a:extLst>
              <a:ext uri="{FF2B5EF4-FFF2-40B4-BE49-F238E27FC236}">
                <a16:creationId xmlns:a16="http://schemas.microsoft.com/office/drawing/2014/main" id="{E11EBAE8-3BD8-4E70-B3BF-7C9EFB9A3B85}"/>
              </a:ext>
            </a:extLst>
          </p:cNvPr>
          <p:cNvSpPr>
            <a:spLocks noGrp="1"/>
          </p:cNvSpPr>
          <p:nvPr/>
        </p:nvSpPr>
        <p:spPr>
          <a:xfrm>
            <a:off x="590550" y="3771900"/>
            <a:ext cx="1390650" cy="361950"/>
          </a:xfrm>
          <a:prstGeom prst="rect">
            <a:avLst/>
          </a:prstGeom>
          <a:noFill/>
          <a:ln w="0">
            <a:noFill/>
            <a:prstDash val="solid"/>
          </a:ln>
        </p:spPr>
        <p:txBody>
          <a:bodyPr wrap="square" lIns="0" tIns="0" rIns="0" bIns="0" anchor="ctr">
            <a:normAutofit/>
          </a:bodyPr>
          <a:lstStyle/>
          <a:p>
            <a:pPr algn="r">
              <a:defRPr sz="1500" b="1">
                <a:solidFill>
                  <a:srgbClr val="001450"/>
                </a:solidFill>
                <a:latin typeface="Open Sans"/>
                <a:ea typeface="Open Sans"/>
                <a:cs typeface="Open Sans"/>
              </a:defRPr>
            </a:pPr>
            <a:r>
              <a:rPr sz="1500" b="1" dirty="0" err="1">
                <a:solidFill>
                  <a:srgbClr val="001450"/>
                </a:solidFill>
                <a:latin typeface="Open Sans"/>
                <a:ea typeface="Open Sans"/>
                <a:cs typeface="Open Sans"/>
              </a:rPr>
              <a:t>bistability</a:t>
            </a:r>
            <a:endParaRPr sz="1500" b="1" dirty="0">
              <a:solidFill>
                <a:srgbClr val="001450"/>
              </a:solidFill>
              <a:latin typeface="Open Sans"/>
              <a:ea typeface="Open Sans"/>
              <a:cs typeface="Open Sans"/>
            </a:endParaRPr>
          </a:p>
        </p:txBody>
      </p:sp>
      <p:sp>
        <p:nvSpPr>
          <p:cNvPr id="41" name="weight input label">
            <a:extLst>
              <a:ext uri="{FF2B5EF4-FFF2-40B4-BE49-F238E27FC236}">
                <a16:creationId xmlns:a16="http://schemas.microsoft.com/office/drawing/2014/main" id="{C7A6C4C0-46AC-4D84-862C-BC4BF2200E4E}"/>
              </a:ext>
            </a:extLst>
          </p:cNvPr>
          <p:cNvSpPr>
            <a:spLocks noGrp="1"/>
          </p:cNvSpPr>
          <p:nvPr/>
        </p:nvSpPr>
        <p:spPr>
          <a:xfrm>
            <a:off x="723900" y="4391025"/>
            <a:ext cx="1257300" cy="361950"/>
          </a:xfrm>
          <a:prstGeom prst="rect">
            <a:avLst/>
          </a:prstGeom>
          <a:noFill/>
          <a:ln w="0">
            <a:noFill/>
            <a:prstDash val="solid"/>
          </a:ln>
        </p:spPr>
        <p:txBody>
          <a:bodyPr wrap="square" lIns="0" tIns="0" rIns="0" bIns="0" anchor="ctr">
            <a:normAutofit/>
          </a:bodyPr>
          <a:lstStyle/>
          <a:p>
            <a:pPr algn="r">
              <a:defRPr sz="1575" b="1">
                <a:solidFill>
                  <a:srgbClr val="001450"/>
                </a:solidFill>
                <a:latin typeface="Open Sans"/>
                <a:ea typeface="Open Sans"/>
                <a:cs typeface="Open Sans"/>
              </a:defRPr>
            </a:pPr>
            <a:r>
              <a:rPr sz="1575" b="1" dirty="0">
                <a:solidFill>
                  <a:srgbClr val="001450"/>
                </a:solidFill>
                <a:latin typeface="Open Sans"/>
                <a:ea typeface="Open Sans"/>
                <a:cs typeface="Open Sans"/>
              </a:rPr>
              <a:t>w[</a:t>
            </a:r>
            <a:r>
              <a:rPr lang="en-US" altLang="zh-CN" sz="1575" b="1" dirty="0">
                <a:solidFill>
                  <a:srgbClr val="001450"/>
                </a:solidFill>
                <a:latin typeface="Open Sans"/>
                <a:ea typeface="Open Sans"/>
                <a:cs typeface="Open Sans"/>
              </a:rPr>
              <a:t>n-1</a:t>
            </a:r>
            <a:r>
              <a:rPr sz="1575" b="1" dirty="0">
                <a:solidFill>
                  <a:srgbClr val="001450"/>
                </a:solidFill>
                <a:latin typeface="Open Sans"/>
                <a:ea typeface="Open Sans"/>
                <a:cs typeface="Open Sans"/>
              </a:rPr>
              <a:t>:0]</a:t>
            </a:r>
          </a:p>
        </p:txBody>
      </p:sp>
      <p:sp>
        <p:nvSpPr>
          <p:cNvPr id="42" name="direction caption">
            <a:extLst>
              <a:ext uri="{FF2B5EF4-FFF2-40B4-BE49-F238E27FC236}">
                <a16:creationId xmlns:a16="http://schemas.microsoft.com/office/drawing/2014/main" id="{5A408E2D-A7DB-4FE0-9C6D-FAF9683CD4B0}"/>
              </a:ext>
            </a:extLst>
          </p:cNvPr>
          <p:cNvSpPr>
            <a:spLocks noGrp="1"/>
          </p:cNvSpPr>
          <p:nvPr/>
        </p:nvSpPr>
        <p:spPr>
          <a:xfrm>
            <a:off x="2905125" y="2209800"/>
            <a:ext cx="2571750" cy="457200"/>
          </a:xfrm>
          <a:prstGeom prst="rect">
            <a:avLst/>
          </a:prstGeom>
          <a:noFill/>
          <a:ln w="0">
            <a:noFill/>
            <a:prstDash val="solid"/>
          </a:ln>
        </p:spPr>
        <p:txBody>
          <a:bodyPr wrap="square" lIns="0" tIns="0" rIns="0" bIns="0" anchor="ctr">
            <a:normAutofit/>
          </a:bodyPr>
          <a:lstStyle/>
          <a:p>
            <a:pPr algn="ctr">
              <a:defRPr sz="1388" b="1">
                <a:solidFill>
                  <a:srgbClr val="F58220"/>
                </a:solidFill>
                <a:latin typeface="Open Sans"/>
                <a:ea typeface="Open Sans"/>
                <a:cs typeface="Open Sans"/>
              </a:defRPr>
            </a:pPr>
            <a:r>
              <a:rPr sz="1388" b="1">
                <a:solidFill>
                  <a:srgbClr val="F58220"/>
                </a:solidFill>
                <a:latin typeface="Open Sans"/>
                <a:ea typeface="Open Sans"/>
                <a:cs typeface="Open Sans"/>
              </a:rPr>
              <a:t>Direction of change</a:t>
            </a:r>
          </a:p>
          <a:p>
            <a:pPr algn="ctr">
              <a:defRPr sz="1388" b="1">
                <a:solidFill>
                  <a:srgbClr val="F58220"/>
                </a:solidFill>
                <a:latin typeface="Open Sans"/>
                <a:ea typeface="Open Sans"/>
                <a:cs typeface="Open Sans"/>
              </a:defRPr>
            </a:pPr>
            <a:r>
              <a:rPr sz="1388" b="1">
                <a:solidFill>
                  <a:srgbClr val="F58220"/>
                </a:solidFill>
                <a:latin typeface="Open Sans"/>
                <a:ea typeface="Open Sans"/>
                <a:cs typeface="Open Sans"/>
              </a:rPr>
              <a:t>(from SDSP registers)</a:t>
            </a:r>
          </a:p>
        </p:txBody>
      </p:sp>
      <p:sp>
        <p:nvSpPr>
          <p:cNvPr id="43" name="enable caption">
            <a:extLst>
              <a:ext uri="{FF2B5EF4-FFF2-40B4-BE49-F238E27FC236}">
                <a16:creationId xmlns:a16="http://schemas.microsoft.com/office/drawing/2014/main" id="{2B0AB502-BBD7-403D-9931-18D2922A5031}"/>
              </a:ext>
            </a:extLst>
          </p:cNvPr>
          <p:cNvSpPr>
            <a:spLocks noGrp="1"/>
          </p:cNvSpPr>
          <p:nvPr/>
        </p:nvSpPr>
        <p:spPr>
          <a:xfrm>
            <a:off x="3000375" y="3476625"/>
            <a:ext cx="2428875" cy="400050"/>
          </a:xfrm>
          <a:prstGeom prst="rect">
            <a:avLst/>
          </a:prstGeom>
          <a:noFill/>
          <a:ln w="0">
            <a:noFill/>
            <a:prstDash val="solid"/>
          </a:ln>
        </p:spPr>
        <p:txBody>
          <a:bodyPr wrap="square" lIns="0" tIns="0" rIns="0" bIns="0" anchor="ctr">
            <a:normAutofit fontScale="94560"/>
          </a:bodyPr>
          <a:lstStyle/>
          <a:p>
            <a:pPr algn="ctr">
              <a:defRPr sz="1388" b="1">
                <a:solidFill>
                  <a:srgbClr val="0070C0"/>
                </a:solidFill>
                <a:latin typeface="Open Sans"/>
                <a:ea typeface="Open Sans"/>
                <a:cs typeface="Open Sans"/>
              </a:defRPr>
            </a:pPr>
            <a:r>
              <a:rPr sz="1388" b="1" dirty="0">
                <a:solidFill>
                  <a:srgbClr val="0070C0"/>
                </a:solidFill>
                <a:latin typeface="Open Sans"/>
                <a:ea typeface="Open Sans"/>
                <a:cs typeface="Open Sans"/>
              </a:rPr>
              <a:t>Update enable</a:t>
            </a:r>
          </a:p>
          <a:p>
            <a:pPr algn="ctr">
              <a:defRPr sz="1388" b="1">
                <a:solidFill>
                  <a:srgbClr val="0070C0"/>
                </a:solidFill>
                <a:latin typeface="Open Sans"/>
                <a:ea typeface="Open Sans"/>
                <a:cs typeface="Open Sans"/>
              </a:defRPr>
            </a:pPr>
            <a:r>
              <a:rPr sz="1388" b="1" dirty="0">
                <a:solidFill>
                  <a:srgbClr val="0070C0"/>
                </a:solidFill>
                <a:latin typeface="Open Sans"/>
                <a:ea typeface="Open Sans"/>
                <a:cs typeface="Open Sans"/>
              </a:rPr>
              <a:t>(from controller)</a:t>
            </a:r>
          </a:p>
        </p:txBody>
      </p:sp>
      <p:sp>
        <p:nvSpPr>
          <p:cNvPr id="44" name="weight caption">
            <a:extLst>
              <a:ext uri="{FF2B5EF4-FFF2-40B4-BE49-F238E27FC236}">
                <a16:creationId xmlns:a16="http://schemas.microsoft.com/office/drawing/2014/main" id="{8253B83C-6EEB-4D63-AF1E-F5DEA077DC0A}"/>
              </a:ext>
            </a:extLst>
          </p:cNvPr>
          <p:cNvSpPr>
            <a:spLocks noGrp="1"/>
          </p:cNvSpPr>
          <p:nvPr/>
        </p:nvSpPr>
        <p:spPr>
          <a:xfrm>
            <a:off x="2857500" y="4629150"/>
            <a:ext cx="2667000" cy="428625"/>
          </a:xfrm>
          <a:prstGeom prst="rect">
            <a:avLst/>
          </a:prstGeom>
          <a:noFill/>
          <a:ln w="0">
            <a:noFill/>
            <a:prstDash val="solid"/>
          </a:ln>
        </p:spPr>
        <p:txBody>
          <a:bodyPr wrap="square" lIns="0" tIns="0" rIns="0" bIns="0" anchor="ctr">
            <a:normAutofit/>
          </a:bodyPr>
          <a:lstStyle/>
          <a:p>
            <a:pPr algn="ctr">
              <a:defRPr sz="1313" b="1">
                <a:solidFill>
                  <a:srgbClr val="001450"/>
                </a:solidFill>
                <a:latin typeface="Open Sans"/>
                <a:ea typeface="Open Sans"/>
                <a:cs typeface="Open Sans"/>
              </a:defRPr>
            </a:pPr>
            <a:r>
              <a:rPr sz="1313" b="1" dirty="0">
                <a:solidFill>
                  <a:srgbClr val="001450"/>
                </a:solidFill>
                <a:latin typeface="Open Sans"/>
                <a:ea typeface="Open Sans"/>
                <a:cs typeface="Open Sans"/>
              </a:rPr>
              <a:t>Current synaptic weight</a:t>
            </a:r>
          </a:p>
          <a:p>
            <a:pPr algn="ctr">
              <a:defRPr sz="1313" b="1">
                <a:solidFill>
                  <a:srgbClr val="001450"/>
                </a:solidFill>
                <a:latin typeface="Open Sans"/>
                <a:ea typeface="Open Sans"/>
                <a:cs typeface="Open Sans"/>
              </a:defRPr>
            </a:pPr>
            <a:r>
              <a:rPr sz="1313" b="1" dirty="0">
                <a:solidFill>
                  <a:srgbClr val="001450"/>
                </a:solidFill>
                <a:latin typeface="Open Sans"/>
                <a:ea typeface="Open Sans"/>
                <a:cs typeface="Open Sans"/>
              </a:rPr>
              <a:t>(from synaptic memory)</a:t>
            </a:r>
          </a:p>
        </p:txBody>
      </p:sp>
      <p:sp>
        <p:nvSpPr>
          <p:cNvPr id="45" name="boundary label">
            <a:extLst>
              <a:ext uri="{FF2B5EF4-FFF2-40B4-BE49-F238E27FC236}">
                <a16:creationId xmlns:a16="http://schemas.microsoft.com/office/drawing/2014/main" id="{0E872871-B657-4E9C-8436-0E8E9D5B9BE8}"/>
              </a:ext>
            </a:extLst>
          </p:cNvPr>
          <p:cNvSpPr>
            <a:spLocks noGrp="1"/>
          </p:cNvSpPr>
          <p:nvPr/>
        </p:nvSpPr>
        <p:spPr>
          <a:xfrm>
            <a:off x="2724150" y="1724025"/>
            <a:ext cx="2190750" cy="247650"/>
          </a:xfrm>
          <a:prstGeom prst="rect">
            <a:avLst/>
          </a:prstGeom>
          <a:noFill/>
          <a:ln w="0">
            <a:noFill/>
            <a:prstDash val="solid"/>
          </a:ln>
        </p:spPr>
        <p:txBody>
          <a:bodyPr wrap="square" lIns="0" tIns="0" rIns="0" bIns="0" anchor="ctr">
            <a:normAutofit/>
          </a:bodyPr>
          <a:lstStyle/>
          <a:p>
            <a:pPr algn="l">
              <a:defRPr sz="1013" b="1">
                <a:solidFill>
                  <a:srgbClr val="566371"/>
                </a:solidFill>
                <a:latin typeface="Open Sans"/>
                <a:ea typeface="Open Sans"/>
                <a:cs typeface="Open Sans"/>
              </a:defRPr>
            </a:pPr>
            <a:r>
              <a:rPr sz="1013" b="1">
                <a:solidFill>
                  <a:srgbClr val="566371"/>
                </a:solidFill>
                <a:latin typeface="Open Sans"/>
                <a:ea typeface="Open Sans"/>
                <a:cs typeface="Open Sans"/>
              </a:rPr>
              <a:t>SDSP UPDATE LOGIC</a:t>
            </a:r>
          </a:p>
        </p:txBody>
      </p:sp>
      <p:sp>
        <p:nvSpPr>
          <p:cNvPr id="46" name="delta bus label">
            <a:extLst>
              <a:ext uri="{FF2B5EF4-FFF2-40B4-BE49-F238E27FC236}">
                <a16:creationId xmlns:a16="http://schemas.microsoft.com/office/drawing/2014/main" id="{BE7B6D8E-330A-4E93-8ECF-CAA3D802513A}"/>
              </a:ext>
            </a:extLst>
          </p:cNvPr>
          <p:cNvSpPr>
            <a:spLocks noGrp="1"/>
          </p:cNvSpPr>
          <p:nvPr/>
        </p:nvSpPr>
        <p:spPr>
          <a:xfrm>
            <a:off x="8096250" y="2724150"/>
            <a:ext cx="742950" cy="514350"/>
          </a:xfrm>
          <a:prstGeom prst="rect">
            <a:avLst/>
          </a:prstGeom>
          <a:noFill/>
          <a:ln w="0">
            <a:noFill/>
            <a:prstDash val="solid"/>
          </a:ln>
        </p:spPr>
        <p:txBody>
          <a:bodyPr wrap="square" lIns="0" tIns="0" rIns="0" bIns="0" anchor="ctr">
            <a:normAutofit/>
          </a:bodyPr>
          <a:lstStyle/>
          <a:p>
            <a:pPr algn="ctr">
              <a:defRPr sz="1163" b="1">
                <a:solidFill>
                  <a:srgbClr val="001450"/>
                </a:solidFill>
                <a:latin typeface="Open Sans"/>
                <a:ea typeface="Open Sans"/>
                <a:cs typeface="Open Sans"/>
              </a:defRPr>
            </a:pPr>
            <a:r>
              <a:rPr sz="1163" b="1" dirty="0">
                <a:solidFill>
                  <a:srgbClr val="001450"/>
                </a:solidFill>
                <a:latin typeface="Open Sans"/>
                <a:ea typeface="Open Sans"/>
                <a:cs typeface="Open Sans"/>
              </a:rPr>
              <a:t>delta w</a:t>
            </a:r>
          </a:p>
          <a:p>
            <a:pPr algn="ctr">
              <a:defRPr sz="1163" b="1">
                <a:solidFill>
                  <a:srgbClr val="001450"/>
                </a:solidFill>
                <a:latin typeface="Open Sans"/>
                <a:ea typeface="Open Sans"/>
                <a:cs typeface="Open Sans"/>
              </a:defRPr>
            </a:pPr>
            <a:r>
              <a:rPr sz="1163" b="1" dirty="0">
                <a:solidFill>
                  <a:srgbClr val="001450"/>
                </a:solidFill>
                <a:latin typeface="Open Sans"/>
                <a:ea typeface="Open Sans"/>
                <a:cs typeface="Open Sans"/>
              </a:rPr>
              <a:t>(</a:t>
            </a:r>
            <a:r>
              <a:rPr lang="en-US" sz="1163" b="1" dirty="0">
                <a:solidFill>
                  <a:srgbClr val="001450"/>
                </a:solidFill>
                <a:latin typeface="Open Sans"/>
                <a:ea typeface="Open Sans"/>
                <a:cs typeface="Open Sans"/>
              </a:rPr>
              <a:t>n</a:t>
            </a:r>
            <a:r>
              <a:rPr sz="1163" b="1" dirty="0">
                <a:solidFill>
                  <a:srgbClr val="001450"/>
                </a:solidFill>
                <a:latin typeface="Open Sans"/>
                <a:ea typeface="Open Sans"/>
                <a:cs typeface="Open Sans"/>
              </a:rPr>
              <a:t> bit)</a:t>
            </a:r>
          </a:p>
        </p:txBody>
      </p:sp>
      <p:sp>
        <p:nvSpPr>
          <p:cNvPr id="47" name="adder caption">
            <a:extLst>
              <a:ext uri="{FF2B5EF4-FFF2-40B4-BE49-F238E27FC236}">
                <a16:creationId xmlns:a16="http://schemas.microsoft.com/office/drawing/2014/main" id="{527013F2-E9EF-463C-B91D-3D9F72C38A54}"/>
              </a:ext>
            </a:extLst>
          </p:cNvPr>
          <p:cNvSpPr>
            <a:spLocks noGrp="1"/>
          </p:cNvSpPr>
          <p:nvPr/>
        </p:nvSpPr>
        <p:spPr>
          <a:xfrm>
            <a:off x="8810625" y="4495800"/>
            <a:ext cx="1104900" cy="333375"/>
          </a:xfrm>
          <a:prstGeom prst="rect">
            <a:avLst/>
          </a:prstGeom>
          <a:noFill/>
          <a:ln w="0">
            <a:noFill/>
            <a:prstDash val="solid"/>
          </a:ln>
        </p:spPr>
        <p:txBody>
          <a:bodyPr wrap="square" lIns="0" tIns="0" rIns="0" bIns="0" anchor="ctr">
            <a:normAutofit/>
          </a:bodyPr>
          <a:lstStyle/>
          <a:p>
            <a:pPr algn="ctr">
              <a:defRPr sz="1088" b="0">
                <a:solidFill>
                  <a:srgbClr val="566371"/>
                </a:solidFill>
                <a:latin typeface="Open Sans"/>
                <a:ea typeface="Open Sans"/>
                <a:cs typeface="Open Sans"/>
              </a:defRPr>
            </a:pPr>
            <a:r>
              <a:rPr lang="en-US" sz="1088" dirty="0">
                <a:solidFill>
                  <a:srgbClr val="566371"/>
                </a:solidFill>
                <a:latin typeface="Open Sans"/>
                <a:ea typeface="Open Sans"/>
                <a:cs typeface="Open Sans"/>
              </a:rPr>
              <a:t>n</a:t>
            </a:r>
            <a:r>
              <a:rPr sz="1088" b="0" dirty="0">
                <a:solidFill>
                  <a:srgbClr val="566371"/>
                </a:solidFill>
                <a:latin typeface="Open Sans"/>
                <a:ea typeface="Open Sans"/>
                <a:cs typeface="Open Sans"/>
              </a:rPr>
              <a:t>-bit add</a:t>
            </a:r>
          </a:p>
        </p:txBody>
      </p:sp>
      <p:sp>
        <p:nvSpPr>
          <p:cNvPr id="48" name="next weight label">
            <a:extLst>
              <a:ext uri="{FF2B5EF4-FFF2-40B4-BE49-F238E27FC236}">
                <a16:creationId xmlns:a16="http://schemas.microsoft.com/office/drawing/2014/main" id="{6C6037B1-8378-4EFF-BED3-A4FEF7521888}"/>
              </a:ext>
            </a:extLst>
          </p:cNvPr>
          <p:cNvSpPr>
            <a:spLocks noGrp="1"/>
          </p:cNvSpPr>
          <p:nvPr/>
        </p:nvSpPr>
        <p:spPr>
          <a:xfrm>
            <a:off x="9982200" y="3162300"/>
            <a:ext cx="1390650" cy="400050"/>
          </a:xfrm>
          <a:prstGeom prst="rect">
            <a:avLst/>
          </a:prstGeom>
          <a:noFill/>
          <a:ln w="0">
            <a:noFill/>
            <a:prstDash val="solid"/>
          </a:ln>
        </p:spPr>
        <p:txBody>
          <a:bodyPr wrap="square" lIns="0" tIns="0" rIns="0" bIns="0" anchor="ctr">
            <a:normAutofit/>
          </a:bodyPr>
          <a:lstStyle/>
          <a:p>
            <a:pPr algn="ctr">
              <a:defRPr sz="1538" b="1">
                <a:solidFill>
                  <a:srgbClr val="001450"/>
                </a:solidFill>
                <a:latin typeface="Open Sans"/>
                <a:ea typeface="Open Sans"/>
                <a:cs typeface="Open Sans"/>
              </a:defRPr>
            </a:pPr>
            <a:r>
              <a:rPr sz="1538" b="1" dirty="0" err="1">
                <a:solidFill>
                  <a:srgbClr val="001450"/>
                </a:solidFill>
                <a:latin typeface="Open Sans"/>
                <a:ea typeface="Open Sans"/>
                <a:cs typeface="Open Sans"/>
              </a:rPr>
              <a:t>w_next</a:t>
            </a:r>
            <a:r>
              <a:rPr sz="1538" b="1" dirty="0">
                <a:solidFill>
                  <a:srgbClr val="001450"/>
                </a:solidFill>
                <a:latin typeface="Open Sans"/>
                <a:ea typeface="Open Sans"/>
                <a:cs typeface="Open Sans"/>
              </a:rPr>
              <a:t>[</a:t>
            </a:r>
            <a:r>
              <a:rPr lang="en-US" sz="1538" b="1" dirty="0">
                <a:solidFill>
                  <a:srgbClr val="001450"/>
                </a:solidFill>
                <a:latin typeface="Open Sans"/>
                <a:ea typeface="Open Sans"/>
                <a:cs typeface="Open Sans"/>
              </a:rPr>
              <a:t>n-1</a:t>
            </a:r>
            <a:r>
              <a:rPr sz="1538" b="1" dirty="0">
                <a:solidFill>
                  <a:srgbClr val="001450"/>
                </a:solidFill>
                <a:latin typeface="Open Sans"/>
                <a:ea typeface="Open Sans"/>
                <a:cs typeface="Open Sans"/>
              </a:rPr>
              <a:t>:0]</a:t>
            </a:r>
          </a:p>
        </p:txBody>
      </p:sp>
      <p:sp>
        <p:nvSpPr>
          <p:cNvPr id="49" name="next weight caption">
            <a:extLst>
              <a:ext uri="{FF2B5EF4-FFF2-40B4-BE49-F238E27FC236}">
                <a16:creationId xmlns:a16="http://schemas.microsoft.com/office/drawing/2014/main" id="{8580C21E-8B4B-4CA9-B04A-7A3845DDEC63}"/>
              </a:ext>
            </a:extLst>
          </p:cNvPr>
          <p:cNvSpPr>
            <a:spLocks noGrp="1"/>
          </p:cNvSpPr>
          <p:nvPr/>
        </p:nvSpPr>
        <p:spPr>
          <a:xfrm>
            <a:off x="9953625" y="3790950"/>
            <a:ext cx="1428750" cy="381000"/>
          </a:xfrm>
          <a:prstGeom prst="rect">
            <a:avLst/>
          </a:prstGeom>
          <a:noFill/>
          <a:ln w="0">
            <a:noFill/>
            <a:prstDash val="solid"/>
          </a:ln>
        </p:spPr>
        <p:txBody>
          <a:bodyPr wrap="square" lIns="0" tIns="0" rIns="0" bIns="0" anchor="ctr">
            <a:normAutofit/>
          </a:bodyPr>
          <a:lstStyle/>
          <a:p>
            <a:pPr algn="ctr">
              <a:defRPr sz="1088" b="0">
                <a:solidFill>
                  <a:srgbClr val="566371"/>
                </a:solidFill>
                <a:latin typeface="Open Sans"/>
                <a:ea typeface="Open Sans"/>
                <a:cs typeface="Open Sans"/>
              </a:defRPr>
            </a:pPr>
            <a:r>
              <a:rPr sz="1088" b="0">
                <a:solidFill>
                  <a:srgbClr val="566371"/>
                </a:solidFill>
                <a:latin typeface="Open Sans"/>
                <a:ea typeface="Open Sans"/>
                <a:cs typeface="Open Sans"/>
              </a:rPr>
              <a:t>Next synaptic weight</a:t>
            </a:r>
          </a:p>
        </p:txBody>
      </p:sp>
      <p:sp>
        <p:nvSpPr>
          <p:cNvPr id="50" name="diagram takeaway">
            <a:extLst>
              <a:ext uri="{FF2B5EF4-FFF2-40B4-BE49-F238E27FC236}">
                <a16:creationId xmlns:a16="http://schemas.microsoft.com/office/drawing/2014/main" id="{F8BD6D4B-3257-4BE8-8E34-ECC2C36DE89A}"/>
              </a:ext>
            </a:extLst>
          </p:cNvPr>
          <p:cNvSpPr>
            <a:spLocks noGrp="1"/>
          </p:cNvSpPr>
          <p:nvPr/>
        </p:nvSpPr>
        <p:spPr>
          <a:xfrm>
            <a:off x="1714500" y="5381625"/>
            <a:ext cx="8763000" cy="400050"/>
          </a:xfrm>
          <a:prstGeom prst="rect">
            <a:avLst/>
          </a:prstGeom>
          <a:noFill/>
          <a:ln w="0">
            <a:noFill/>
            <a:prstDash val="solid"/>
          </a:ln>
        </p:spPr>
        <p:txBody>
          <a:bodyPr wrap="square" lIns="0" tIns="0" rIns="0" bIns="0" anchor="ctr">
            <a:normAutofit/>
          </a:bodyPr>
          <a:lstStyle/>
          <a:p>
            <a:pPr algn="ctr">
              <a:defRPr sz="1238" b="1">
                <a:solidFill>
                  <a:srgbClr val="2F57B2"/>
                </a:solidFill>
                <a:latin typeface="Open Sans"/>
                <a:ea typeface="Open Sans"/>
                <a:cs typeface="Open Sans"/>
              </a:defRPr>
            </a:pPr>
            <a:r>
              <a:rPr sz="1238" b="1" dirty="0">
                <a:solidFill>
                  <a:srgbClr val="2F57B2"/>
                </a:solidFill>
                <a:latin typeface="Open Sans"/>
                <a:ea typeface="Open Sans"/>
                <a:cs typeface="Open Sans"/>
              </a:rPr>
              <a:t>The SDSP state selects a signed increment; controller signals gate the update; the current 3-bit weight is accumulated to produce </a:t>
            </a:r>
            <a:r>
              <a:rPr sz="1238" b="1" dirty="0" err="1">
                <a:solidFill>
                  <a:srgbClr val="2F57B2"/>
                </a:solidFill>
                <a:latin typeface="Open Sans"/>
                <a:ea typeface="Open Sans"/>
                <a:cs typeface="Open Sans"/>
              </a:rPr>
              <a:t>w_next</a:t>
            </a:r>
            <a:r>
              <a:rPr sz="1238" b="1" dirty="0">
                <a:solidFill>
                  <a:srgbClr val="2F57B2"/>
                </a:solidFill>
                <a:latin typeface="Open Sans"/>
                <a:ea typeface="Open Sans"/>
                <a:cs typeface="Open Sans"/>
              </a:rPr>
              <a:t>.</a:t>
            </a:r>
          </a:p>
        </p:txBody>
      </p:sp>
    </p:spTree>
    <p:extLst>
      <p:ext uri="{BB962C8B-B14F-4D97-AF65-F5344CB8AC3E}">
        <p14:creationId xmlns:p14="http://schemas.microsoft.com/office/powerpoint/2010/main" val="3190475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92FE5F-FEFF-E58F-7C11-C546939578E6}"/>
              </a:ext>
            </a:extLst>
          </p:cNvPr>
          <p:cNvSpPr>
            <a:spLocks noGrp="1"/>
          </p:cNvSpPr>
          <p:nvPr>
            <p:ph type="title"/>
          </p:nvPr>
        </p:nvSpPr>
        <p:spPr/>
        <p:txBody>
          <a:bodyPr/>
          <a:lstStyle/>
          <a:p>
            <a:r>
              <a:t>Digital SDSP Implementation</a:t>
            </a:r>
          </a:p>
        </p:txBody>
      </p:sp>
      <p:sp>
        <p:nvSpPr>
          <p:cNvPr id="184" name="anchor spk start">
            <a:extLst>
              <a:ext uri="{FF2B5EF4-FFF2-40B4-BE49-F238E27FC236}">
                <a16:creationId xmlns:a16="http://schemas.microsoft.com/office/drawing/2014/main" id="{69DE8932-00F1-C695-E175-ECCA38587723}"/>
              </a:ext>
            </a:extLst>
          </p:cNvPr>
          <p:cNvSpPr>
            <a:spLocks noGrp="1"/>
          </p:cNvSpPr>
          <p:nvPr/>
        </p:nvSpPr>
        <p:spPr>
          <a:xfrm>
            <a:off x="1752600" y="2466975"/>
            <a:ext cx="19050" cy="19050"/>
          </a:xfrm>
          <a:prstGeom prst="ellipse">
            <a:avLst/>
          </a:prstGeom>
          <a:noFill/>
          <a:ln w="0">
            <a:noFill/>
            <a:prstDash val="solid"/>
          </a:ln>
        </p:spPr>
      </p:sp>
      <p:sp>
        <p:nvSpPr>
          <p:cNvPr id="185" name="anchor spk target">
            <a:extLst>
              <a:ext uri="{FF2B5EF4-FFF2-40B4-BE49-F238E27FC236}">
                <a16:creationId xmlns:a16="http://schemas.microsoft.com/office/drawing/2014/main" id="{D662C796-2E94-0CCD-7C7C-8E2EDAC6F225}"/>
              </a:ext>
            </a:extLst>
          </p:cNvPr>
          <p:cNvSpPr>
            <a:spLocks noGrp="1"/>
          </p:cNvSpPr>
          <p:nvPr/>
        </p:nvSpPr>
        <p:spPr>
          <a:xfrm>
            <a:off x="3562350" y="2466975"/>
            <a:ext cx="19050" cy="19050"/>
          </a:xfrm>
          <a:prstGeom prst="ellipse">
            <a:avLst/>
          </a:prstGeom>
          <a:noFill/>
          <a:ln w="0">
            <a:noFill/>
            <a:prstDash val="solid"/>
          </a:ln>
        </p:spPr>
      </p:sp>
      <p:sp>
        <p:nvSpPr>
          <p:cNvPr id="186" name="anchor bist start">
            <a:extLst>
              <a:ext uri="{FF2B5EF4-FFF2-40B4-BE49-F238E27FC236}">
                <a16:creationId xmlns:a16="http://schemas.microsoft.com/office/drawing/2014/main" id="{39115DBA-8C19-8089-D1F4-FCC0E28D20B2}"/>
              </a:ext>
            </a:extLst>
          </p:cNvPr>
          <p:cNvSpPr>
            <a:spLocks noGrp="1"/>
          </p:cNvSpPr>
          <p:nvPr/>
        </p:nvSpPr>
        <p:spPr>
          <a:xfrm>
            <a:off x="1752600" y="2847975"/>
            <a:ext cx="19050" cy="19050"/>
          </a:xfrm>
          <a:prstGeom prst="ellipse">
            <a:avLst/>
          </a:prstGeom>
          <a:noFill/>
          <a:ln w="0">
            <a:noFill/>
            <a:prstDash val="solid"/>
          </a:ln>
        </p:spPr>
      </p:sp>
      <p:sp>
        <p:nvSpPr>
          <p:cNvPr id="187" name="anchor bist target">
            <a:extLst>
              <a:ext uri="{FF2B5EF4-FFF2-40B4-BE49-F238E27FC236}">
                <a16:creationId xmlns:a16="http://schemas.microsoft.com/office/drawing/2014/main" id="{70E72025-E502-FEEA-4017-88013327202C}"/>
              </a:ext>
            </a:extLst>
          </p:cNvPr>
          <p:cNvSpPr>
            <a:spLocks noGrp="1"/>
          </p:cNvSpPr>
          <p:nvPr/>
        </p:nvSpPr>
        <p:spPr>
          <a:xfrm>
            <a:off x="3562350" y="2847975"/>
            <a:ext cx="19050" cy="19050"/>
          </a:xfrm>
          <a:prstGeom prst="ellipse">
            <a:avLst/>
          </a:prstGeom>
          <a:noFill/>
          <a:ln w="0">
            <a:noFill/>
            <a:prstDash val="solid"/>
          </a:ln>
        </p:spPr>
      </p:sp>
      <p:sp>
        <p:nvSpPr>
          <p:cNvPr id="188" name="anchor up start">
            <a:extLst>
              <a:ext uri="{FF2B5EF4-FFF2-40B4-BE49-F238E27FC236}">
                <a16:creationId xmlns:a16="http://schemas.microsoft.com/office/drawing/2014/main" id="{D151F714-CFFD-B789-4767-26337FFE54C6}"/>
              </a:ext>
            </a:extLst>
          </p:cNvPr>
          <p:cNvSpPr>
            <a:spLocks noGrp="1"/>
          </p:cNvSpPr>
          <p:nvPr/>
        </p:nvSpPr>
        <p:spPr>
          <a:xfrm>
            <a:off x="1752600" y="3228975"/>
            <a:ext cx="19050" cy="19050"/>
          </a:xfrm>
          <a:prstGeom prst="ellipse">
            <a:avLst/>
          </a:prstGeom>
          <a:noFill/>
          <a:ln w="0">
            <a:noFill/>
            <a:prstDash val="solid"/>
          </a:ln>
        </p:spPr>
      </p:sp>
      <p:sp>
        <p:nvSpPr>
          <p:cNvPr id="189" name="anchor up gen target">
            <a:extLst>
              <a:ext uri="{FF2B5EF4-FFF2-40B4-BE49-F238E27FC236}">
                <a16:creationId xmlns:a16="http://schemas.microsoft.com/office/drawing/2014/main" id="{A114AAED-0BD1-E58C-D2E2-9B059F0CF2BB}"/>
              </a:ext>
            </a:extLst>
          </p:cNvPr>
          <p:cNvSpPr>
            <a:spLocks noGrp="1"/>
          </p:cNvSpPr>
          <p:nvPr/>
        </p:nvSpPr>
        <p:spPr>
          <a:xfrm>
            <a:off x="3562350" y="3228975"/>
            <a:ext cx="19050" cy="19050"/>
          </a:xfrm>
          <a:prstGeom prst="ellipse">
            <a:avLst/>
          </a:prstGeom>
          <a:noFill/>
          <a:ln w="0">
            <a:noFill/>
            <a:prstDash val="solid"/>
          </a:ln>
        </p:spPr>
      </p:sp>
      <p:sp>
        <p:nvSpPr>
          <p:cNvPr id="192" name="anchor down start">
            <a:extLst>
              <a:ext uri="{FF2B5EF4-FFF2-40B4-BE49-F238E27FC236}">
                <a16:creationId xmlns:a16="http://schemas.microsoft.com/office/drawing/2014/main" id="{6676A36E-2B29-A8D4-8DFB-189EF599F968}"/>
              </a:ext>
            </a:extLst>
          </p:cNvPr>
          <p:cNvSpPr>
            <a:spLocks noGrp="1"/>
          </p:cNvSpPr>
          <p:nvPr/>
        </p:nvSpPr>
        <p:spPr>
          <a:xfrm>
            <a:off x="1752600" y="3609975"/>
            <a:ext cx="19050" cy="19050"/>
          </a:xfrm>
          <a:prstGeom prst="ellipse">
            <a:avLst/>
          </a:prstGeom>
          <a:noFill/>
          <a:ln w="0">
            <a:noFill/>
            <a:prstDash val="solid"/>
          </a:ln>
        </p:spPr>
      </p:sp>
      <p:sp>
        <p:nvSpPr>
          <p:cNvPr id="193" name="anchor down gen target">
            <a:extLst>
              <a:ext uri="{FF2B5EF4-FFF2-40B4-BE49-F238E27FC236}">
                <a16:creationId xmlns:a16="http://schemas.microsoft.com/office/drawing/2014/main" id="{78AD3E0D-0191-3E2C-BFC7-E195D2B2483C}"/>
              </a:ext>
            </a:extLst>
          </p:cNvPr>
          <p:cNvSpPr>
            <a:spLocks noGrp="1"/>
          </p:cNvSpPr>
          <p:nvPr/>
        </p:nvSpPr>
        <p:spPr>
          <a:xfrm>
            <a:off x="3562350" y="3609975"/>
            <a:ext cx="19050" cy="19050"/>
          </a:xfrm>
          <a:prstGeom prst="ellipse">
            <a:avLst/>
          </a:prstGeom>
          <a:noFill/>
          <a:ln w="0">
            <a:noFill/>
            <a:prstDash val="solid"/>
          </a:ln>
        </p:spPr>
      </p:sp>
      <p:sp>
        <p:nvSpPr>
          <p:cNvPr id="196" name="anchor weight input start">
            <a:extLst>
              <a:ext uri="{FF2B5EF4-FFF2-40B4-BE49-F238E27FC236}">
                <a16:creationId xmlns:a16="http://schemas.microsoft.com/office/drawing/2014/main" id="{1BB9BDA3-DA12-201F-DDA3-D0C68C7855DB}"/>
              </a:ext>
            </a:extLst>
          </p:cNvPr>
          <p:cNvSpPr>
            <a:spLocks noGrp="1"/>
          </p:cNvSpPr>
          <p:nvPr/>
        </p:nvSpPr>
        <p:spPr>
          <a:xfrm>
            <a:off x="5895975" y="1466850"/>
            <a:ext cx="19050" cy="19050"/>
          </a:xfrm>
          <a:prstGeom prst="ellipse">
            <a:avLst/>
          </a:prstGeom>
          <a:noFill/>
          <a:ln w="0">
            <a:noFill/>
            <a:prstDash val="solid"/>
          </a:ln>
        </p:spPr>
      </p:sp>
      <p:sp>
        <p:nvSpPr>
          <p:cNvPr id="197" name="anchor weight input target">
            <a:extLst>
              <a:ext uri="{FF2B5EF4-FFF2-40B4-BE49-F238E27FC236}">
                <a16:creationId xmlns:a16="http://schemas.microsoft.com/office/drawing/2014/main" id="{6A1569FB-636E-CA74-EDD1-ED21F8E233A2}"/>
              </a:ext>
            </a:extLst>
          </p:cNvPr>
          <p:cNvSpPr>
            <a:spLocks noGrp="1"/>
          </p:cNvSpPr>
          <p:nvPr/>
        </p:nvSpPr>
        <p:spPr>
          <a:xfrm>
            <a:off x="5895975" y="1800225"/>
            <a:ext cx="19050" cy="19050"/>
          </a:xfrm>
          <a:prstGeom prst="ellipse">
            <a:avLst/>
          </a:prstGeom>
          <a:noFill/>
          <a:ln w="0">
            <a:noFill/>
            <a:prstDash val="solid"/>
          </a:ln>
        </p:spPr>
      </p:sp>
      <p:sp>
        <p:nvSpPr>
          <p:cNvPr id="198" name="anchor weight gen start">
            <a:extLst>
              <a:ext uri="{FF2B5EF4-FFF2-40B4-BE49-F238E27FC236}">
                <a16:creationId xmlns:a16="http://schemas.microsoft.com/office/drawing/2014/main" id="{5D2D8DDD-4D56-369A-57B7-5CCBB8ED9D39}"/>
              </a:ext>
            </a:extLst>
          </p:cNvPr>
          <p:cNvSpPr>
            <a:spLocks noGrp="1"/>
          </p:cNvSpPr>
          <p:nvPr/>
        </p:nvSpPr>
        <p:spPr>
          <a:xfrm>
            <a:off x="4419600" y="1800225"/>
            <a:ext cx="19050" cy="19050"/>
          </a:xfrm>
          <a:prstGeom prst="ellipse">
            <a:avLst/>
          </a:prstGeom>
          <a:noFill/>
          <a:ln w="0">
            <a:noFill/>
            <a:prstDash val="solid"/>
          </a:ln>
        </p:spPr>
      </p:sp>
      <p:sp>
        <p:nvSpPr>
          <p:cNvPr id="199" name="anchor weight gen target">
            <a:extLst>
              <a:ext uri="{FF2B5EF4-FFF2-40B4-BE49-F238E27FC236}">
                <a16:creationId xmlns:a16="http://schemas.microsoft.com/office/drawing/2014/main" id="{C5305180-B164-DD7B-BF2F-16DBEC34877A}"/>
              </a:ext>
            </a:extLst>
          </p:cNvPr>
          <p:cNvSpPr>
            <a:spLocks noGrp="1"/>
          </p:cNvSpPr>
          <p:nvPr/>
        </p:nvSpPr>
        <p:spPr>
          <a:xfrm>
            <a:off x="4419600" y="2324100"/>
            <a:ext cx="19050" cy="19050"/>
          </a:xfrm>
          <a:prstGeom prst="ellipse">
            <a:avLst/>
          </a:prstGeom>
          <a:noFill/>
          <a:ln w="0">
            <a:noFill/>
            <a:prstDash val="solid"/>
          </a:ln>
        </p:spPr>
      </p:sp>
      <p:sp>
        <p:nvSpPr>
          <p:cNvPr id="200" name="anchor weight adder start">
            <a:extLst>
              <a:ext uri="{FF2B5EF4-FFF2-40B4-BE49-F238E27FC236}">
                <a16:creationId xmlns:a16="http://schemas.microsoft.com/office/drawing/2014/main" id="{7D850651-7CBE-5EAF-A5E8-570EEB718D99}"/>
              </a:ext>
            </a:extLst>
          </p:cNvPr>
          <p:cNvSpPr>
            <a:spLocks noGrp="1"/>
          </p:cNvSpPr>
          <p:nvPr/>
        </p:nvSpPr>
        <p:spPr>
          <a:xfrm>
            <a:off x="7229475" y="1800225"/>
            <a:ext cx="19050" cy="19050"/>
          </a:xfrm>
          <a:prstGeom prst="ellipse">
            <a:avLst/>
          </a:prstGeom>
          <a:noFill/>
          <a:ln w="0">
            <a:noFill/>
            <a:prstDash val="solid"/>
          </a:ln>
        </p:spPr>
      </p:sp>
      <p:sp>
        <p:nvSpPr>
          <p:cNvPr id="201" name="anchor weight adder target">
            <a:extLst>
              <a:ext uri="{FF2B5EF4-FFF2-40B4-BE49-F238E27FC236}">
                <a16:creationId xmlns:a16="http://schemas.microsoft.com/office/drawing/2014/main" id="{5B56606F-D275-AC9D-5928-623DC89D05A6}"/>
              </a:ext>
            </a:extLst>
          </p:cNvPr>
          <p:cNvSpPr>
            <a:spLocks noGrp="1"/>
          </p:cNvSpPr>
          <p:nvPr/>
        </p:nvSpPr>
        <p:spPr>
          <a:xfrm>
            <a:off x="7229475" y="2466975"/>
            <a:ext cx="19050" cy="19050"/>
          </a:xfrm>
          <a:prstGeom prst="ellipse">
            <a:avLst/>
          </a:prstGeom>
          <a:noFill/>
          <a:ln w="0">
            <a:noFill/>
            <a:prstDash val="solid"/>
          </a:ln>
        </p:spPr>
      </p:sp>
      <p:sp>
        <p:nvSpPr>
          <p:cNvPr id="202" name="anchor weight hold start">
            <a:extLst>
              <a:ext uri="{FF2B5EF4-FFF2-40B4-BE49-F238E27FC236}">
                <a16:creationId xmlns:a16="http://schemas.microsoft.com/office/drawing/2014/main" id="{1861B23A-7B8B-6B39-7A73-1AD697816889}"/>
              </a:ext>
            </a:extLst>
          </p:cNvPr>
          <p:cNvSpPr>
            <a:spLocks noGrp="1"/>
          </p:cNvSpPr>
          <p:nvPr/>
        </p:nvSpPr>
        <p:spPr>
          <a:xfrm>
            <a:off x="8420100" y="2895600"/>
            <a:ext cx="19050" cy="19050"/>
          </a:xfrm>
          <a:prstGeom prst="ellipse">
            <a:avLst/>
          </a:prstGeom>
          <a:noFill/>
          <a:ln w="0">
            <a:noFill/>
            <a:prstDash val="solid"/>
          </a:ln>
        </p:spPr>
      </p:sp>
      <p:sp>
        <p:nvSpPr>
          <p:cNvPr id="203" name="anchor weight hold target">
            <a:extLst>
              <a:ext uri="{FF2B5EF4-FFF2-40B4-BE49-F238E27FC236}">
                <a16:creationId xmlns:a16="http://schemas.microsoft.com/office/drawing/2014/main" id="{74E7AEF0-AE1D-C46D-FF9E-45C34ADC8FB4}"/>
              </a:ext>
            </a:extLst>
          </p:cNvPr>
          <p:cNvSpPr>
            <a:spLocks noGrp="1"/>
          </p:cNvSpPr>
          <p:nvPr/>
        </p:nvSpPr>
        <p:spPr>
          <a:xfrm>
            <a:off x="8658225" y="2895600"/>
            <a:ext cx="19050" cy="19050"/>
          </a:xfrm>
          <a:prstGeom prst="ellipse">
            <a:avLst/>
          </a:prstGeom>
          <a:noFill/>
          <a:ln w="0">
            <a:noFill/>
            <a:prstDash val="solid"/>
          </a:ln>
        </p:spPr>
      </p:sp>
      <p:sp>
        <p:nvSpPr>
          <p:cNvPr id="204" name="anchor delta start">
            <a:extLst>
              <a:ext uri="{FF2B5EF4-FFF2-40B4-BE49-F238E27FC236}">
                <a16:creationId xmlns:a16="http://schemas.microsoft.com/office/drawing/2014/main" id="{C9B5C5DB-E1EF-0050-CC2A-C2408776F1EC}"/>
              </a:ext>
            </a:extLst>
          </p:cNvPr>
          <p:cNvSpPr>
            <a:spLocks noGrp="1"/>
          </p:cNvSpPr>
          <p:nvPr/>
        </p:nvSpPr>
        <p:spPr>
          <a:xfrm>
            <a:off x="5276850" y="2847975"/>
            <a:ext cx="19050" cy="19050"/>
          </a:xfrm>
          <a:prstGeom prst="ellipse">
            <a:avLst/>
          </a:prstGeom>
          <a:noFill/>
          <a:ln w="0">
            <a:noFill/>
            <a:prstDash val="solid"/>
          </a:ln>
        </p:spPr>
      </p:sp>
      <p:sp>
        <p:nvSpPr>
          <p:cNvPr id="205" name="anchor delta target">
            <a:extLst>
              <a:ext uri="{FF2B5EF4-FFF2-40B4-BE49-F238E27FC236}">
                <a16:creationId xmlns:a16="http://schemas.microsoft.com/office/drawing/2014/main" id="{D7BB2900-7649-DB7B-065A-7514B7A1A5E5}"/>
              </a:ext>
            </a:extLst>
          </p:cNvPr>
          <p:cNvSpPr>
            <a:spLocks noGrp="1"/>
          </p:cNvSpPr>
          <p:nvPr/>
        </p:nvSpPr>
        <p:spPr>
          <a:xfrm>
            <a:off x="6419850" y="2847975"/>
            <a:ext cx="19050" cy="19050"/>
          </a:xfrm>
          <a:prstGeom prst="ellipse">
            <a:avLst/>
          </a:prstGeom>
          <a:noFill/>
          <a:ln w="0">
            <a:noFill/>
            <a:prstDash val="solid"/>
          </a:ln>
        </p:spPr>
      </p:sp>
      <p:sp>
        <p:nvSpPr>
          <p:cNvPr id="206" name="anchor sum start">
            <a:extLst>
              <a:ext uri="{FF2B5EF4-FFF2-40B4-BE49-F238E27FC236}">
                <a16:creationId xmlns:a16="http://schemas.microsoft.com/office/drawing/2014/main" id="{0B367903-D5DE-13DB-1888-19CE5EB941C3}"/>
              </a:ext>
            </a:extLst>
          </p:cNvPr>
          <p:cNvSpPr>
            <a:spLocks noGrp="1"/>
          </p:cNvSpPr>
          <p:nvPr/>
        </p:nvSpPr>
        <p:spPr>
          <a:xfrm>
            <a:off x="8039100" y="3419475"/>
            <a:ext cx="19050" cy="19050"/>
          </a:xfrm>
          <a:prstGeom prst="ellipse">
            <a:avLst/>
          </a:prstGeom>
          <a:noFill/>
          <a:ln w="0">
            <a:noFill/>
            <a:prstDash val="solid"/>
          </a:ln>
        </p:spPr>
      </p:sp>
      <p:sp>
        <p:nvSpPr>
          <p:cNvPr id="207" name="anchor sum target">
            <a:extLst>
              <a:ext uri="{FF2B5EF4-FFF2-40B4-BE49-F238E27FC236}">
                <a16:creationId xmlns:a16="http://schemas.microsoft.com/office/drawing/2014/main" id="{E7E30C2F-FDC4-58B5-8DD0-F2679C796615}"/>
              </a:ext>
            </a:extLst>
          </p:cNvPr>
          <p:cNvSpPr>
            <a:spLocks noGrp="1"/>
          </p:cNvSpPr>
          <p:nvPr/>
        </p:nvSpPr>
        <p:spPr>
          <a:xfrm>
            <a:off x="8658225" y="3419475"/>
            <a:ext cx="19050" cy="19050"/>
          </a:xfrm>
          <a:prstGeom prst="ellipse">
            <a:avLst/>
          </a:prstGeom>
          <a:noFill/>
          <a:ln w="0">
            <a:noFill/>
            <a:prstDash val="solid"/>
          </a:ln>
        </p:spPr>
      </p:sp>
      <p:sp>
        <p:nvSpPr>
          <p:cNvPr id="208" name="anchor mux output start">
            <a:extLst>
              <a:ext uri="{FF2B5EF4-FFF2-40B4-BE49-F238E27FC236}">
                <a16:creationId xmlns:a16="http://schemas.microsoft.com/office/drawing/2014/main" id="{538682EA-6BF7-3598-3F30-E7F3A8693366}"/>
              </a:ext>
            </a:extLst>
          </p:cNvPr>
          <p:cNvSpPr>
            <a:spLocks noGrp="1"/>
          </p:cNvSpPr>
          <p:nvPr/>
        </p:nvSpPr>
        <p:spPr>
          <a:xfrm>
            <a:off x="9801225" y="3181350"/>
            <a:ext cx="19050" cy="19050"/>
          </a:xfrm>
          <a:prstGeom prst="ellipse">
            <a:avLst/>
          </a:prstGeom>
          <a:noFill/>
          <a:ln w="0">
            <a:noFill/>
            <a:prstDash val="solid"/>
          </a:ln>
        </p:spPr>
      </p:sp>
      <p:sp>
        <p:nvSpPr>
          <p:cNvPr id="209" name="anchor register input target">
            <a:extLst>
              <a:ext uri="{FF2B5EF4-FFF2-40B4-BE49-F238E27FC236}">
                <a16:creationId xmlns:a16="http://schemas.microsoft.com/office/drawing/2014/main" id="{63D4CE9B-ACAA-045E-249E-B81D1776E0D5}"/>
              </a:ext>
            </a:extLst>
          </p:cNvPr>
          <p:cNvSpPr>
            <a:spLocks noGrp="1"/>
          </p:cNvSpPr>
          <p:nvPr/>
        </p:nvSpPr>
        <p:spPr>
          <a:xfrm>
            <a:off x="10182225" y="3181350"/>
            <a:ext cx="19050" cy="19050"/>
          </a:xfrm>
          <a:prstGeom prst="ellipse">
            <a:avLst/>
          </a:prstGeom>
          <a:noFill/>
          <a:ln w="0">
            <a:noFill/>
            <a:prstDash val="solid"/>
          </a:ln>
        </p:spPr>
      </p:sp>
      <p:sp>
        <p:nvSpPr>
          <p:cNvPr id="210" name="anchor register output start">
            <a:extLst>
              <a:ext uri="{FF2B5EF4-FFF2-40B4-BE49-F238E27FC236}">
                <a16:creationId xmlns:a16="http://schemas.microsoft.com/office/drawing/2014/main" id="{491D8A21-F7D3-5C3D-7D21-19C567597A31}"/>
              </a:ext>
            </a:extLst>
          </p:cNvPr>
          <p:cNvSpPr>
            <a:spLocks noGrp="1"/>
          </p:cNvSpPr>
          <p:nvPr/>
        </p:nvSpPr>
        <p:spPr>
          <a:xfrm>
            <a:off x="11134725" y="3181350"/>
            <a:ext cx="19050" cy="19050"/>
          </a:xfrm>
          <a:prstGeom prst="ellipse">
            <a:avLst/>
          </a:prstGeom>
          <a:noFill/>
          <a:ln w="0">
            <a:noFill/>
            <a:prstDash val="solid"/>
          </a:ln>
        </p:spPr>
      </p:sp>
      <p:sp>
        <p:nvSpPr>
          <p:cNvPr id="211" name="anchor output target">
            <a:extLst>
              <a:ext uri="{FF2B5EF4-FFF2-40B4-BE49-F238E27FC236}">
                <a16:creationId xmlns:a16="http://schemas.microsoft.com/office/drawing/2014/main" id="{40A29FB7-ADBB-E5DD-0C4A-AF6F36A2C818}"/>
              </a:ext>
            </a:extLst>
          </p:cNvPr>
          <p:cNvSpPr>
            <a:spLocks noGrp="1"/>
          </p:cNvSpPr>
          <p:nvPr/>
        </p:nvSpPr>
        <p:spPr>
          <a:xfrm>
            <a:off x="11658600" y="3181350"/>
            <a:ext cx="19050" cy="19050"/>
          </a:xfrm>
          <a:prstGeom prst="ellipse">
            <a:avLst/>
          </a:prstGeom>
          <a:noFill/>
          <a:ln w="0">
            <a:noFill/>
            <a:prstDash val="solid"/>
          </a:ln>
        </p:spPr>
      </p:sp>
      <p:sp>
        <p:nvSpPr>
          <p:cNvPr id="212" name="anchor status detector start">
            <a:extLst>
              <a:ext uri="{FF2B5EF4-FFF2-40B4-BE49-F238E27FC236}">
                <a16:creationId xmlns:a16="http://schemas.microsoft.com/office/drawing/2014/main" id="{A9A685D5-7A3E-0E03-BA02-52CAB76F2B47}"/>
              </a:ext>
            </a:extLst>
          </p:cNvPr>
          <p:cNvSpPr>
            <a:spLocks noGrp="1"/>
          </p:cNvSpPr>
          <p:nvPr/>
        </p:nvSpPr>
        <p:spPr>
          <a:xfrm>
            <a:off x="5562600" y="4229100"/>
            <a:ext cx="19050" cy="19050"/>
          </a:xfrm>
          <a:prstGeom prst="ellipse">
            <a:avLst/>
          </a:prstGeom>
          <a:noFill/>
          <a:ln w="0">
            <a:noFill/>
            <a:prstDash val="solid"/>
          </a:ln>
        </p:spPr>
      </p:sp>
      <p:sp>
        <p:nvSpPr>
          <p:cNvPr id="213" name="anchor status detector target">
            <a:extLst>
              <a:ext uri="{FF2B5EF4-FFF2-40B4-BE49-F238E27FC236}">
                <a16:creationId xmlns:a16="http://schemas.microsoft.com/office/drawing/2014/main" id="{1FC3742F-5CE5-FE66-F544-8660914417E1}"/>
              </a:ext>
            </a:extLst>
          </p:cNvPr>
          <p:cNvSpPr>
            <a:spLocks noGrp="1"/>
          </p:cNvSpPr>
          <p:nvPr/>
        </p:nvSpPr>
        <p:spPr>
          <a:xfrm>
            <a:off x="5276850" y="4229100"/>
            <a:ext cx="19050" cy="19050"/>
          </a:xfrm>
          <a:prstGeom prst="ellipse">
            <a:avLst/>
          </a:prstGeom>
          <a:noFill/>
          <a:ln w="0">
            <a:noFill/>
            <a:prstDash val="solid"/>
          </a:ln>
        </p:spPr>
      </p:sp>
      <p:sp>
        <p:nvSpPr>
          <p:cNvPr id="214" name="anchor boundary start">
            <a:extLst>
              <a:ext uri="{FF2B5EF4-FFF2-40B4-BE49-F238E27FC236}">
                <a16:creationId xmlns:a16="http://schemas.microsoft.com/office/drawing/2014/main" id="{53614FF7-7385-C987-8F01-F2756D3895B6}"/>
              </a:ext>
            </a:extLst>
          </p:cNvPr>
          <p:cNvSpPr>
            <a:spLocks noGrp="1"/>
          </p:cNvSpPr>
          <p:nvPr/>
        </p:nvSpPr>
        <p:spPr>
          <a:xfrm>
            <a:off x="5276850" y="4514850"/>
            <a:ext cx="19050" cy="19050"/>
          </a:xfrm>
          <a:prstGeom prst="ellipse">
            <a:avLst/>
          </a:prstGeom>
          <a:noFill/>
          <a:ln w="0">
            <a:noFill/>
            <a:prstDash val="solid"/>
          </a:ln>
        </p:spPr>
      </p:sp>
      <p:sp>
        <p:nvSpPr>
          <p:cNvPr id="215" name="anchor boundary target">
            <a:extLst>
              <a:ext uri="{FF2B5EF4-FFF2-40B4-BE49-F238E27FC236}">
                <a16:creationId xmlns:a16="http://schemas.microsoft.com/office/drawing/2014/main" id="{D2143C08-6743-CC68-A580-DC93DDC4D462}"/>
              </a:ext>
            </a:extLst>
          </p:cNvPr>
          <p:cNvSpPr>
            <a:spLocks noGrp="1"/>
          </p:cNvSpPr>
          <p:nvPr/>
        </p:nvSpPr>
        <p:spPr>
          <a:xfrm>
            <a:off x="9229725" y="3781425"/>
            <a:ext cx="19050" cy="19050"/>
          </a:xfrm>
          <a:prstGeom prst="ellipse">
            <a:avLst/>
          </a:prstGeom>
          <a:noFill/>
          <a:ln w="0">
            <a:noFill/>
            <a:prstDash val="solid"/>
          </a:ln>
        </p:spPr>
      </p:sp>
      <p:sp>
        <p:nvSpPr>
          <p:cNvPr id="216" name="anchor reset start">
            <a:extLst>
              <a:ext uri="{FF2B5EF4-FFF2-40B4-BE49-F238E27FC236}">
                <a16:creationId xmlns:a16="http://schemas.microsoft.com/office/drawing/2014/main" id="{A63347C8-9EB7-646E-AA7F-35B845A3A4F8}"/>
              </a:ext>
            </a:extLst>
          </p:cNvPr>
          <p:cNvSpPr>
            <a:spLocks noGrp="1"/>
          </p:cNvSpPr>
          <p:nvPr/>
        </p:nvSpPr>
        <p:spPr>
          <a:xfrm>
            <a:off x="10658475" y="1466850"/>
            <a:ext cx="19050" cy="19050"/>
          </a:xfrm>
          <a:prstGeom prst="ellipse">
            <a:avLst/>
          </a:prstGeom>
          <a:noFill/>
          <a:ln w="0">
            <a:noFill/>
            <a:prstDash val="solid"/>
          </a:ln>
        </p:spPr>
      </p:sp>
      <p:sp>
        <p:nvSpPr>
          <p:cNvPr id="217" name="anchor reset target">
            <a:extLst>
              <a:ext uri="{FF2B5EF4-FFF2-40B4-BE49-F238E27FC236}">
                <a16:creationId xmlns:a16="http://schemas.microsoft.com/office/drawing/2014/main" id="{A8AC1483-17DA-144C-1FFE-6E9CD21648EF}"/>
              </a:ext>
            </a:extLst>
          </p:cNvPr>
          <p:cNvSpPr>
            <a:spLocks noGrp="1"/>
          </p:cNvSpPr>
          <p:nvPr/>
        </p:nvSpPr>
        <p:spPr>
          <a:xfrm>
            <a:off x="10658475" y="2466975"/>
            <a:ext cx="19050" cy="19050"/>
          </a:xfrm>
          <a:prstGeom prst="ellipse">
            <a:avLst/>
          </a:prstGeom>
          <a:noFill/>
          <a:ln w="0">
            <a:noFill/>
            <a:prstDash val="solid"/>
          </a:ln>
        </p:spPr>
      </p:sp>
      <p:sp>
        <p:nvSpPr>
          <p:cNvPr id="218" name="anchor clock start">
            <a:extLst>
              <a:ext uri="{FF2B5EF4-FFF2-40B4-BE49-F238E27FC236}">
                <a16:creationId xmlns:a16="http://schemas.microsoft.com/office/drawing/2014/main" id="{12EF0C63-5A8E-8DCD-F141-70098F621EA3}"/>
              </a:ext>
            </a:extLst>
          </p:cNvPr>
          <p:cNvSpPr>
            <a:spLocks noGrp="1"/>
          </p:cNvSpPr>
          <p:nvPr/>
        </p:nvSpPr>
        <p:spPr>
          <a:xfrm>
            <a:off x="10658475" y="5419725"/>
            <a:ext cx="19050" cy="19050"/>
          </a:xfrm>
          <a:prstGeom prst="ellipse">
            <a:avLst/>
          </a:prstGeom>
          <a:noFill/>
          <a:ln w="0">
            <a:noFill/>
            <a:prstDash val="solid"/>
          </a:ln>
        </p:spPr>
      </p:sp>
      <p:sp>
        <p:nvSpPr>
          <p:cNvPr id="219" name="anchor clock target">
            <a:extLst>
              <a:ext uri="{FF2B5EF4-FFF2-40B4-BE49-F238E27FC236}">
                <a16:creationId xmlns:a16="http://schemas.microsoft.com/office/drawing/2014/main" id="{91EBAC8A-19DB-CFFD-7ED8-0843D3291996}"/>
              </a:ext>
            </a:extLst>
          </p:cNvPr>
          <p:cNvSpPr>
            <a:spLocks noGrp="1"/>
          </p:cNvSpPr>
          <p:nvPr/>
        </p:nvSpPr>
        <p:spPr>
          <a:xfrm>
            <a:off x="10658475" y="3990975"/>
            <a:ext cx="19050" cy="19050"/>
          </a:xfrm>
          <a:prstGeom prst="ellipse">
            <a:avLst/>
          </a:prstGeom>
          <a:noFill/>
          <a:ln w="0">
            <a:noFill/>
            <a:prstDash val="solid"/>
          </a:ln>
        </p:spPr>
      </p:sp>
      <p:cxnSp>
        <p:nvCxnSpPr>
          <p:cNvPr id="360" name="直接箭头连接符 219"/>
          <p:cNvCxnSpPr>
            <a:stCxn id="184" idx="6"/>
            <a:endCxn id="185" idx="2"/>
          </p:cNvCxnSpPr>
          <p:nvPr/>
        </p:nvCxnSpPr>
        <p:spPr>
          <a:xfrm>
            <a:off x="1771650" y="2476500"/>
            <a:ext cx="1790700" cy="0"/>
          </a:xfrm>
          <a:prstGeom prst="straightConnector1">
            <a:avLst/>
          </a:prstGeom>
          <a:ln w="23813">
            <a:solidFill>
              <a:srgbClr val="0070C0"/>
            </a:solidFill>
            <a:prstDash val="solid"/>
            <a:tailEnd type="triangle" w="med" len="med"/>
          </a:ln>
        </p:spPr>
      </p:cxnSp>
      <p:cxnSp>
        <p:nvCxnSpPr>
          <p:cNvPr id="361" name="直接箭头连接符 220"/>
          <p:cNvCxnSpPr>
            <a:stCxn id="186" idx="6"/>
            <a:endCxn id="187" idx="2"/>
          </p:cNvCxnSpPr>
          <p:nvPr/>
        </p:nvCxnSpPr>
        <p:spPr>
          <a:xfrm>
            <a:off x="1771650" y="2857500"/>
            <a:ext cx="1790700" cy="0"/>
          </a:xfrm>
          <a:prstGeom prst="straightConnector1">
            <a:avLst/>
          </a:prstGeom>
          <a:ln w="23813">
            <a:solidFill>
              <a:srgbClr val="0070C0"/>
            </a:solidFill>
            <a:prstDash val="solid"/>
            <a:tailEnd type="triangle" w="med" len="med"/>
          </a:ln>
        </p:spPr>
      </p:cxnSp>
      <p:cxnSp>
        <p:nvCxnSpPr>
          <p:cNvPr id="362" name="直接箭头连接符 221"/>
          <p:cNvCxnSpPr>
            <a:stCxn id="188" idx="6"/>
            <a:endCxn id="189" idx="2"/>
          </p:cNvCxnSpPr>
          <p:nvPr/>
        </p:nvCxnSpPr>
        <p:spPr>
          <a:xfrm>
            <a:off x="1771650" y="3238500"/>
            <a:ext cx="1790700" cy="0"/>
          </a:xfrm>
          <a:prstGeom prst="straightConnector1">
            <a:avLst/>
          </a:prstGeom>
          <a:ln w="23813">
            <a:solidFill>
              <a:srgbClr val="F58220"/>
            </a:solidFill>
            <a:prstDash val="solid"/>
            <a:tailEnd type="triangle" w="med" len="med"/>
          </a:ln>
        </p:spPr>
      </p:cxnSp>
      <p:cxnSp>
        <p:nvCxnSpPr>
          <p:cNvPr id="363" name="直接箭头连接符 223"/>
          <p:cNvCxnSpPr>
            <a:stCxn id="192" idx="6"/>
            <a:endCxn id="193" idx="2"/>
          </p:cNvCxnSpPr>
          <p:nvPr/>
        </p:nvCxnSpPr>
        <p:spPr>
          <a:xfrm>
            <a:off x="1771650" y="3619500"/>
            <a:ext cx="1790700" cy="0"/>
          </a:xfrm>
          <a:prstGeom prst="straightConnector1">
            <a:avLst/>
          </a:prstGeom>
          <a:ln w="23813">
            <a:solidFill>
              <a:srgbClr val="F58220"/>
            </a:solidFill>
            <a:prstDash val="solid"/>
            <a:tailEnd type="triangle" w="med" len="med"/>
          </a:ln>
        </p:spPr>
      </p:cxnSp>
      <p:cxnSp>
        <p:nvCxnSpPr>
          <p:cNvPr id="364" name="直接箭头连接符 225"/>
          <p:cNvCxnSpPr>
            <a:stCxn id="196" idx="4"/>
            <a:endCxn id="197" idx="0"/>
          </p:cNvCxnSpPr>
          <p:nvPr/>
        </p:nvCxnSpPr>
        <p:spPr>
          <a:xfrm>
            <a:off x="5905500" y="1485900"/>
            <a:ext cx="0" cy="314325"/>
          </a:xfrm>
          <a:prstGeom prst="straightConnector1">
            <a:avLst/>
          </a:prstGeom>
          <a:ln w="23813">
            <a:solidFill>
              <a:srgbClr val="001450"/>
            </a:solidFill>
            <a:prstDash val="solid"/>
            <a:tailEnd type="triangle" w="med" len="med"/>
          </a:ln>
        </p:spPr>
      </p:cxnSp>
      <p:cxnSp>
        <p:nvCxnSpPr>
          <p:cNvPr id="365" name="直接箭头连接符 226"/>
          <p:cNvCxnSpPr>
            <a:stCxn id="198" idx="4"/>
            <a:endCxn id="199" idx="0"/>
          </p:cNvCxnSpPr>
          <p:nvPr/>
        </p:nvCxnSpPr>
        <p:spPr>
          <a:xfrm>
            <a:off x="4429125" y="1819275"/>
            <a:ext cx="0" cy="504825"/>
          </a:xfrm>
          <a:prstGeom prst="straightConnector1">
            <a:avLst/>
          </a:prstGeom>
          <a:ln w="23813">
            <a:solidFill>
              <a:srgbClr val="001450"/>
            </a:solidFill>
            <a:prstDash val="solid"/>
            <a:tailEnd type="triangle" w="med" len="med"/>
          </a:ln>
        </p:spPr>
      </p:cxnSp>
      <p:cxnSp>
        <p:nvCxnSpPr>
          <p:cNvPr id="366" name="直接箭头连接符 228"/>
          <p:cNvCxnSpPr>
            <a:stCxn id="202" idx="6"/>
            <a:endCxn id="203" idx="2"/>
          </p:cNvCxnSpPr>
          <p:nvPr/>
        </p:nvCxnSpPr>
        <p:spPr>
          <a:xfrm>
            <a:off x="8439150" y="2905125"/>
            <a:ext cx="219075" cy="0"/>
          </a:xfrm>
          <a:prstGeom prst="straightConnector1">
            <a:avLst/>
          </a:prstGeom>
          <a:ln w="23813">
            <a:solidFill>
              <a:srgbClr val="001450"/>
            </a:solidFill>
            <a:prstDash val="solid"/>
            <a:tailEnd type="triangle" w="med" len="med"/>
          </a:ln>
        </p:spPr>
      </p:cxnSp>
      <p:cxnSp>
        <p:nvCxnSpPr>
          <p:cNvPr id="367" name="直接箭头连接符 229"/>
          <p:cNvCxnSpPr/>
          <p:nvPr/>
        </p:nvCxnSpPr>
        <p:spPr>
          <a:xfrm>
            <a:off x="5295900" y="3040380"/>
            <a:ext cx="1123950" cy="0"/>
          </a:xfrm>
          <a:prstGeom prst="straightConnector1">
            <a:avLst/>
          </a:prstGeom>
          <a:ln w="23813">
            <a:solidFill>
              <a:srgbClr val="2F57B2"/>
            </a:solidFill>
            <a:prstDash val="solid"/>
            <a:tailEnd type="triangle" w="med" len="med"/>
          </a:ln>
        </p:spPr>
      </p:cxnSp>
      <p:cxnSp>
        <p:nvCxnSpPr>
          <p:cNvPr id="368" name="直接箭头连接符 230"/>
          <p:cNvCxnSpPr>
            <a:stCxn id="206" idx="6"/>
            <a:endCxn id="207" idx="2"/>
          </p:cNvCxnSpPr>
          <p:nvPr/>
        </p:nvCxnSpPr>
        <p:spPr>
          <a:xfrm>
            <a:off x="8058150" y="3429000"/>
            <a:ext cx="600075" cy="0"/>
          </a:xfrm>
          <a:prstGeom prst="straightConnector1">
            <a:avLst/>
          </a:prstGeom>
          <a:ln w="23813">
            <a:solidFill>
              <a:srgbClr val="001450"/>
            </a:solidFill>
            <a:prstDash val="solid"/>
            <a:tailEnd type="triangle" w="med" len="med"/>
          </a:ln>
        </p:spPr>
      </p:cxnSp>
      <p:cxnSp>
        <p:nvCxnSpPr>
          <p:cNvPr id="369" name="直接箭头连接符 231"/>
          <p:cNvCxnSpPr>
            <a:stCxn id="208" idx="6"/>
            <a:endCxn id="209" idx="2"/>
          </p:cNvCxnSpPr>
          <p:nvPr/>
        </p:nvCxnSpPr>
        <p:spPr>
          <a:xfrm>
            <a:off x="9820275" y="3190875"/>
            <a:ext cx="361950" cy="0"/>
          </a:xfrm>
          <a:prstGeom prst="straightConnector1">
            <a:avLst/>
          </a:prstGeom>
          <a:ln w="23813">
            <a:solidFill>
              <a:srgbClr val="001450"/>
            </a:solidFill>
            <a:prstDash val="solid"/>
            <a:tailEnd type="triangle" w="med" len="med"/>
          </a:ln>
        </p:spPr>
      </p:cxnSp>
      <p:cxnSp>
        <p:nvCxnSpPr>
          <p:cNvPr id="370" name="直接箭头连接符 232"/>
          <p:cNvCxnSpPr>
            <a:stCxn id="210" idx="6"/>
            <a:endCxn id="211" idx="2"/>
          </p:cNvCxnSpPr>
          <p:nvPr/>
        </p:nvCxnSpPr>
        <p:spPr>
          <a:xfrm>
            <a:off x="11153775" y="3190875"/>
            <a:ext cx="504825" cy="0"/>
          </a:xfrm>
          <a:prstGeom prst="straightConnector1">
            <a:avLst/>
          </a:prstGeom>
          <a:ln w="23813">
            <a:solidFill>
              <a:srgbClr val="001450"/>
            </a:solidFill>
            <a:prstDash val="solid"/>
            <a:tailEnd type="triangle" w="med" len="med"/>
          </a:ln>
        </p:spPr>
      </p:cxnSp>
      <p:cxnSp>
        <p:nvCxnSpPr>
          <p:cNvPr id="371" name="直接箭头连接符 233"/>
          <p:cNvCxnSpPr>
            <a:stCxn id="212" idx="2"/>
            <a:endCxn id="213" idx="6"/>
          </p:cNvCxnSpPr>
          <p:nvPr/>
        </p:nvCxnSpPr>
        <p:spPr>
          <a:xfrm flipH="1">
            <a:off x="5295900" y="4238625"/>
            <a:ext cx="266700" cy="0"/>
          </a:xfrm>
          <a:prstGeom prst="straightConnector1">
            <a:avLst/>
          </a:prstGeom>
          <a:ln w="23813">
            <a:solidFill>
              <a:srgbClr val="0A777F"/>
            </a:solidFill>
            <a:prstDash val="solid"/>
            <a:tailEnd type="triangle" w="med" len="med"/>
          </a:ln>
        </p:spPr>
      </p:cxnSp>
      <p:cxnSp>
        <p:nvCxnSpPr>
          <p:cNvPr id="372" name="连接符: 肘形 234"/>
          <p:cNvCxnSpPr>
            <a:stCxn id="214" idx="6"/>
            <a:endCxn id="215" idx="4"/>
          </p:cNvCxnSpPr>
          <p:nvPr/>
        </p:nvCxnSpPr>
        <p:spPr>
          <a:xfrm flipV="1">
            <a:off x="5295900" y="3800475"/>
            <a:ext cx="3943350" cy="723900"/>
          </a:xfrm>
          <a:prstGeom prst="bentConnector2">
            <a:avLst/>
          </a:prstGeom>
          <a:ln w="23813">
            <a:solidFill>
              <a:srgbClr val="0A777F"/>
            </a:solidFill>
            <a:prstDash val="solid"/>
            <a:tailEnd type="triangle" w="med" len="med"/>
          </a:ln>
        </p:spPr>
      </p:cxnSp>
      <p:cxnSp>
        <p:nvCxnSpPr>
          <p:cNvPr id="373" name="直接箭头连接符 235"/>
          <p:cNvCxnSpPr>
            <a:stCxn id="216" idx="4"/>
            <a:endCxn id="217" idx="0"/>
          </p:cNvCxnSpPr>
          <p:nvPr/>
        </p:nvCxnSpPr>
        <p:spPr>
          <a:xfrm>
            <a:off x="10668000" y="1485900"/>
            <a:ext cx="0" cy="981075"/>
          </a:xfrm>
          <a:prstGeom prst="straightConnector1">
            <a:avLst/>
          </a:prstGeom>
          <a:ln w="23813">
            <a:solidFill>
              <a:srgbClr val="0070C0"/>
            </a:solidFill>
            <a:prstDash val="solid"/>
            <a:tailEnd type="triangle" w="med" len="med"/>
          </a:ln>
        </p:spPr>
      </p:cxnSp>
      <p:sp>
        <p:nvSpPr>
          <p:cNvPr id="239" name="weight rail">
            <a:extLst>
              <a:ext uri="{FF2B5EF4-FFF2-40B4-BE49-F238E27FC236}">
                <a16:creationId xmlns:a16="http://schemas.microsoft.com/office/drawing/2014/main" id="{16789719-F09A-6265-A5ED-C9E54027EFB4}"/>
              </a:ext>
            </a:extLst>
          </p:cNvPr>
          <p:cNvSpPr>
            <a:spLocks noGrp="1"/>
          </p:cNvSpPr>
          <p:nvPr/>
        </p:nvSpPr>
        <p:spPr>
          <a:xfrm>
            <a:off x="4429125" y="1809750"/>
            <a:ext cx="4000500" cy="953"/>
          </a:xfrm>
          <a:prstGeom prst="line">
            <a:avLst/>
          </a:prstGeom>
          <a:noFill/>
          <a:ln w="26670">
            <a:solidFill>
              <a:srgbClr val="001450"/>
            </a:solidFill>
            <a:prstDash val="solid"/>
          </a:ln>
        </p:spPr>
      </p:sp>
      <p:sp>
        <p:nvSpPr>
          <p:cNvPr id="240" name="weight hold drop">
            <a:extLst>
              <a:ext uri="{FF2B5EF4-FFF2-40B4-BE49-F238E27FC236}">
                <a16:creationId xmlns:a16="http://schemas.microsoft.com/office/drawing/2014/main" id="{0FDE29D0-5EC2-01CD-4E7F-48F88348CE53}"/>
              </a:ext>
            </a:extLst>
          </p:cNvPr>
          <p:cNvSpPr>
            <a:spLocks noGrp="1"/>
          </p:cNvSpPr>
          <p:nvPr/>
        </p:nvSpPr>
        <p:spPr>
          <a:xfrm>
            <a:off x="8429625" y="1809750"/>
            <a:ext cx="953" cy="1095375"/>
          </a:xfrm>
          <a:prstGeom prst="line">
            <a:avLst/>
          </a:prstGeom>
          <a:noFill/>
          <a:ln w="26670">
            <a:solidFill>
              <a:srgbClr val="001450"/>
            </a:solidFill>
            <a:prstDash val="solid"/>
          </a:ln>
        </p:spPr>
      </p:sp>
      <p:sp>
        <p:nvSpPr>
          <p:cNvPr id="241" name="adder status vertical">
            <a:extLst>
              <a:ext uri="{FF2B5EF4-FFF2-40B4-BE49-F238E27FC236}">
                <a16:creationId xmlns:a16="http://schemas.microsoft.com/office/drawing/2014/main" id="{7DF3C857-3933-36D3-A8C1-1A9FA653308A}"/>
              </a:ext>
            </a:extLst>
          </p:cNvPr>
          <p:cNvSpPr>
            <a:spLocks noGrp="1"/>
          </p:cNvSpPr>
          <p:nvPr/>
        </p:nvSpPr>
        <p:spPr>
          <a:xfrm>
            <a:off x="7096126" y="3714749"/>
            <a:ext cx="0" cy="191453"/>
          </a:xfrm>
          <a:prstGeom prst="line">
            <a:avLst/>
          </a:prstGeom>
          <a:noFill/>
          <a:ln w="23813">
            <a:solidFill>
              <a:srgbClr val="0A777F"/>
            </a:solidFill>
            <a:prstDash val="solid"/>
          </a:ln>
        </p:spPr>
      </p:sp>
      <p:sp>
        <p:nvSpPr>
          <p:cNvPr id="242" name="adder status horizontal">
            <a:extLst>
              <a:ext uri="{FF2B5EF4-FFF2-40B4-BE49-F238E27FC236}">
                <a16:creationId xmlns:a16="http://schemas.microsoft.com/office/drawing/2014/main" id="{4233F277-17A2-AA3F-7047-7C520180BCE6}"/>
              </a:ext>
            </a:extLst>
          </p:cNvPr>
          <p:cNvSpPr>
            <a:spLocks noGrp="1"/>
          </p:cNvSpPr>
          <p:nvPr/>
        </p:nvSpPr>
        <p:spPr>
          <a:xfrm>
            <a:off x="5572125" y="3905250"/>
            <a:ext cx="1524000" cy="953"/>
          </a:xfrm>
          <a:prstGeom prst="line">
            <a:avLst/>
          </a:prstGeom>
          <a:noFill/>
          <a:ln w="23813">
            <a:solidFill>
              <a:srgbClr val="0A777F"/>
            </a:solidFill>
            <a:prstDash val="solid"/>
          </a:ln>
        </p:spPr>
      </p:sp>
      <p:sp>
        <p:nvSpPr>
          <p:cNvPr id="243" name="adder status down">
            <a:extLst>
              <a:ext uri="{FF2B5EF4-FFF2-40B4-BE49-F238E27FC236}">
                <a16:creationId xmlns:a16="http://schemas.microsoft.com/office/drawing/2014/main" id="{EA80EB08-29B0-0A0A-97DC-5B7D45EC372C}"/>
              </a:ext>
            </a:extLst>
          </p:cNvPr>
          <p:cNvSpPr>
            <a:spLocks noGrp="1"/>
          </p:cNvSpPr>
          <p:nvPr/>
        </p:nvSpPr>
        <p:spPr>
          <a:xfrm flipH="1">
            <a:off x="5562600" y="3905251"/>
            <a:ext cx="9524" cy="342900"/>
          </a:xfrm>
          <a:prstGeom prst="line">
            <a:avLst/>
          </a:prstGeom>
          <a:noFill/>
          <a:ln w="23813">
            <a:solidFill>
              <a:srgbClr val="0A777F"/>
            </a:solidFill>
            <a:prstDash val="solid"/>
          </a:ln>
        </p:spPr>
      </p:sp>
      <p:sp>
        <p:nvSpPr>
          <p:cNvPr id="245" name="SDSP module boundary">
            <a:extLst>
              <a:ext uri="{FF2B5EF4-FFF2-40B4-BE49-F238E27FC236}">
                <a16:creationId xmlns:a16="http://schemas.microsoft.com/office/drawing/2014/main" id="{67ED1707-88A1-1B6C-68C0-D73593078253}"/>
              </a:ext>
            </a:extLst>
          </p:cNvPr>
          <p:cNvSpPr>
            <a:spLocks noGrp="1"/>
          </p:cNvSpPr>
          <p:nvPr/>
        </p:nvSpPr>
        <p:spPr>
          <a:xfrm>
            <a:off x="1619249" y="1571625"/>
            <a:ext cx="9656711" cy="3524250"/>
          </a:xfrm>
          <a:prstGeom prst="rect">
            <a:avLst/>
          </a:prstGeom>
          <a:noFill/>
          <a:ln w="20003">
            <a:solidFill>
              <a:srgbClr val="566371"/>
            </a:solidFill>
            <a:prstDash val="dot"/>
          </a:ln>
        </p:spPr>
      </p:sp>
      <p:sp>
        <p:nvSpPr>
          <p:cNvPr id="247" name="Delta-w Generator">
            <a:extLst>
              <a:ext uri="{FF2B5EF4-FFF2-40B4-BE49-F238E27FC236}">
                <a16:creationId xmlns:a16="http://schemas.microsoft.com/office/drawing/2014/main" id="{995DC7F7-1347-03BD-D3EB-300B464F77CA}"/>
              </a:ext>
            </a:extLst>
          </p:cNvPr>
          <p:cNvSpPr>
            <a:spLocks noGrp="1"/>
          </p:cNvSpPr>
          <p:nvPr/>
        </p:nvSpPr>
        <p:spPr>
          <a:xfrm>
            <a:off x="3571875" y="2333625"/>
            <a:ext cx="1714500" cy="1333500"/>
          </a:xfrm>
          <a:prstGeom prst="roundRect">
            <a:avLst>
              <a:gd name="adj" fmla="val 5714"/>
            </a:avLst>
          </a:prstGeom>
          <a:solidFill>
            <a:srgbClr val="E3EAF7"/>
          </a:solidFill>
          <a:ln w="20955">
            <a:solidFill>
              <a:srgbClr val="2F57B2"/>
            </a:solidFill>
            <a:prstDash val="solid"/>
          </a:ln>
        </p:spPr>
        <p:txBody>
          <a:bodyPr wrap="square" lIns="76200" tIns="76200" rIns="76200" bIns="76200" anchor="ctr">
            <a:normAutofit/>
          </a:bodyPr>
          <a:lstStyle/>
          <a:p>
            <a:pPr algn="ctr">
              <a:buNone/>
              <a:defRPr sz="1538" b="1">
                <a:solidFill>
                  <a:srgbClr val="001450"/>
                </a:solidFill>
                <a:latin typeface="Open Sans"/>
                <a:ea typeface="Open Sans"/>
                <a:cs typeface="Open Sans"/>
              </a:defRPr>
            </a:pPr>
            <a:r>
              <a:rPr sz="1538" b="1">
                <a:solidFill>
                  <a:srgbClr val="001450"/>
                </a:solidFill>
                <a:latin typeface="Open Sans"/>
                <a:ea typeface="Open Sans"/>
                <a:cs typeface="Open Sans"/>
              </a:rPr>
              <a:t>Delta-w</a:t>
            </a:r>
          </a:p>
          <a:p>
            <a:pPr algn="ctr">
              <a:buNone/>
              <a:defRPr sz="1538" b="1">
                <a:solidFill>
                  <a:srgbClr val="001450"/>
                </a:solidFill>
                <a:latin typeface="Open Sans"/>
                <a:ea typeface="Open Sans"/>
                <a:cs typeface="Open Sans"/>
              </a:defRPr>
            </a:pPr>
            <a:r>
              <a:rPr sz="1538" b="1">
                <a:solidFill>
                  <a:srgbClr val="001450"/>
                </a:solidFill>
                <a:latin typeface="Open Sans"/>
                <a:ea typeface="Open Sans"/>
                <a:cs typeface="Open Sans"/>
              </a:rPr>
              <a:t>Generator</a:t>
            </a:r>
          </a:p>
        </p:txBody>
      </p:sp>
      <p:sp>
        <p:nvSpPr>
          <p:cNvPr id="248" name="Overflow Underflow Detector">
            <a:extLst>
              <a:ext uri="{FF2B5EF4-FFF2-40B4-BE49-F238E27FC236}">
                <a16:creationId xmlns:a16="http://schemas.microsoft.com/office/drawing/2014/main" id="{BA2588EF-C7B6-F40E-4086-D08F554CC78F}"/>
              </a:ext>
            </a:extLst>
          </p:cNvPr>
          <p:cNvSpPr>
            <a:spLocks noGrp="1"/>
          </p:cNvSpPr>
          <p:nvPr/>
        </p:nvSpPr>
        <p:spPr>
          <a:xfrm>
            <a:off x="3571875" y="4000500"/>
            <a:ext cx="1714500" cy="666750"/>
          </a:xfrm>
          <a:prstGeom prst="roundRect">
            <a:avLst>
              <a:gd name="adj" fmla="val 11429"/>
            </a:avLst>
          </a:prstGeom>
          <a:solidFill>
            <a:srgbClr val="DDF4F0"/>
          </a:solidFill>
          <a:ln w="20955">
            <a:solidFill>
              <a:srgbClr val="0A777F"/>
            </a:solidFill>
            <a:prstDash val="solid"/>
          </a:ln>
        </p:spPr>
        <p:txBody>
          <a:bodyPr wrap="square" lIns="76200" tIns="76200" rIns="76200" bIns="76200" anchor="ctr">
            <a:normAutofit fontScale="89052"/>
          </a:bodyPr>
          <a:lstStyle/>
          <a:p>
            <a:pPr algn="ctr">
              <a:buNone/>
              <a:defRPr sz="1238" b="1">
                <a:solidFill>
                  <a:srgbClr val="001450"/>
                </a:solidFill>
                <a:latin typeface="Open Sans"/>
                <a:ea typeface="Open Sans"/>
                <a:cs typeface="Open Sans"/>
              </a:defRPr>
            </a:pPr>
            <a:r>
              <a:rPr sz="1238" b="1">
                <a:solidFill>
                  <a:srgbClr val="001450"/>
                </a:solidFill>
                <a:latin typeface="Open Sans"/>
                <a:ea typeface="Open Sans"/>
                <a:cs typeface="Open Sans"/>
              </a:rPr>
              <a:t>Overflow / Underflow</a:t>
            </a:r>
          </a:p>
          <a:p>
            <a:pPr algn="ctr">
              <a:buNone/>
              <a:defRPr sz="1238" b="1">
                <a:solidFill>
                  <a:srgbClr val="001450"/>
                </a:solidFill>
                <a:latin typeface="Open Sans"/>
                <a:ea typeface="Open Sans"/>
                <a:cs typeface="Open Sans"/>
              </a:defRPr>
            </a:pPr>
            <a:r>
              <a:rPr sz="1238" b="1">
                <a:solidFill>
                  <a:srgbClr val="001450"/>
                </a:solidFill>
                <a:latin typeface="Open Sans"/>
                <a:ea typeface="Open Sans"/>
                <a:cs typeface="Open Sans"/>
              </a:rPr>
              <a:t>Detector</a:t>
            </a:r>
          </a:p>
        </p:txBody>
      </p:sp>
      <p:sp>
        <p:nvSpPr>
          <p:cNvPr id="249" name="N-bit Adder">
            <a:extLst>
              <a:ext uri="{FF2B5EF4-FFF2-40B4-BE49-F238E27FC236}">
                <a16:creationId xmlns:a16="http://schemas.microsoft.com/office/drawing/2014/main" id="{ECD23A88-6FCC-EB79-DBE2-AA1FE678E916}"/>
              </a:ext>
            </a:extLst>
          </p:cNvPr>
          <p:cNvSpPr>
            <a:spLocks noGrp="1"/>
          </p:cNvSpPr>
          <p:nvPr/>
        </p:nvSpPr>
        <p:spPr>
          <a:xfrm>
            <a:off x="6429375" y="2476500"/>
            <a:ext cx="1619250" cy="1238250"/>
          </a:xfrm>
          <a:prstGeom prst="roundRect">
            <a:avLst>
              <a:gd name="adj" fmla="val 6154"/>
            </a:avLst>
          </a:prstGeom>
          <a:solidFill>
            <a:srgbClr val="FFFFFF"/>
          </a:solidFill>
          <a:ln w="20955">
            <a:solidFill>
              <a:srgbClr val="001450"/>
            </a:solidFill>
            <a:prstDash val="solid"/>
          </a:ln>
        </p:spPr>
        <p:txBody>
          <a:bodyPr wrap="square" lIns="76200" tIns="76200" rIns="76200" bIns="76200" anchor="ctr">
            <a:normAutofit/>
          </a:bodyPr>
          <a:lstStyle/>
          <a:p>
            <a:pPr algn="ctr">
              <a:buNone/>
              <a:defRPr sz="1575" b="1">
                <a:solidFill>
                  <a:srgbClr val="001450"/>
                </a:solidFill>
                <a:latin typeface="Open Sans"/>
                <a:ea typeface="Open Sans"/>
                <a:cs typeface="Open Sans"/>
              </a:defRPr>
            </a:pPr>
            <a:r>
              <a:rPr sz="1575" b="1">
                <a:solidFill>
                  <a:srgbClr val="001450"/>
                </a:solidFill>
                <a:latin typeface="Open Sans"/>
                <a:ea typeface="Open Sans"/>
                <a:cs typeface="Open Sans"/>
              </a:rPr>
              <a:t>N-bit</a:t>
            </a:r>
          </a:p>
          <a:p>
            <a:pPr algn="ctr">
              <a:buNone/>
              <a:defRPr sz="1575" b="1">
                <a:solidFill>
                  <a:srgbClr val="001450"/>
                </a:solidFill>
                <a:latin typeface="Open Sans"/>
                <a:ea typeface="Open Sans"/>
                <a:cs typeface="Open Sans"/>
              </a:defRPr>
            </a:pPr>
            <a:r>
              <a:rPr sz="1575" b="1">
                <a:solidFill>
                  <a:srgbClr val="001450"/>
                </a:solidFill>
                <a:latin typeface="Open Sans"/>
                <a:ea typeface="Open Sans"/>
                <a:cs typeface="Open Sans"/>
              </a:rPr>
              <a:t>Adder</a:t>
            </a:r>
          </a:p>
        </p:txBody>
      </p:sp>
      <p:sp>
        <p:nvSpPr>
          <p:cNvPr id="250" name="2-to-1 Multiplexer">
            <a:extLst>
              <a:ext uri="{FF2B5EF4-FFF2-40B4-BE49-F238E27FC236}">
                <a16:creationId xmlns:a16="http://schemas.microsoft.com/office/drawing/2014/main" id="{81F972AD-F8ED-28B7-7885-36DB3846FAF7}"/>
              </a:ext>
            </a:extLst>
          </p:cNvPr>
          <p:cNvSpPr>
            <a:spLocks noGrp="1"/>
          </p:cNvSpPr>
          <p:nvPr/>
        </p:nvSpPr>
        <p:spPr>
          <a:xfrm>
            <a:off x="8667750" y="2619375"/>
            <a:ext cx="1143000" cy="1285875"/>
          </a:xfrm>
          <a:custGeom>
            <a:avLst/>
            <a:gdLst/>
            <a:ahLst/>
            <a:cxnLst/>
            <a:rect l="0" t="0" r="0" b="0"/>
            <a:pathLst>
              <a:path w="1143000" h="1285875">
                <a:moveTo>
                  <a:pt x="0" y="0"/>
                </a:moveTo>
                <a:lnTo>
                  <a:pt x="1143000" y="238125"/>
                </a:lnTo>
                <a:lnTo>
                  <a:pt x="1143000" y="1047750"/>
                </a:lnTo>
                <a:lnTo>
                  <a:pt x="0" y="1285875"/>
                </a:lnTo>
                <a:close/>
              </a:path>
            </a:pathLst>
          </a:custGeom>
          <a:solidFill>
            <a:srgbClr val="F2F5FA"/>
          </a:solidFill>
          <a:ln w="20955">
            <a:solidFill>
              <a:srgbClr val="566371"/>
            </a:solidFill>
            <a:prstDash val="solid"/>
          </a:ln>
        </p:spPr>
      </p:sp>
      <p:sp>
        <p:nvSpPr>
          <p:cNvPr id="251" name="Weight D Flip-Flop">
            <a:extLst>
              <a:ext uri="{FF2B5EF4-FFF2-40B4-BE49-F238E27FC236}">
                <a16:creationId xmlns:a16="http://schemas.microsoft.com/office/drawing/2014/main" id="{641996BF-661C-6EA7-C57D-AD76C6CA4082}"/>
              </a:ext>
            </a:extLst>
          </p:cNvPr>
          <p:cNvSpPr>
            <a:spLocks noGrp="1"/>
          </p:cNvSpPr>
          <p:nvPr/>
        </p:nvSpPr>
        <p:spPr>
          <a:xfrm>
            <a:off x="10191750" y="2476500"/>
            <a:ext cx="952500" cy="1524000"/>
          </a:xfrm>
          <a:prstGeom prst="rect">
            <a:avLst/>
          </a:prstGeom>
          <a:solidFill>
            <a:srgbClr val="E3EAF7"/>
          </a:solidFill>
          <a:ln w="20955">
            <a:solidFill>
              <a:srgbClr val="2F57B2"/>
            </a:solidFill>
            <a:prstDash val="solid"/>
          </a:ln>
        </p:spPr>
      </p:sp>
      <p:sp>
        <p:nvSpPr>
          <p:cNvPr id="254" name="weight input junction">
            <a:extLst>
              <a:ext uri="{FF2B5EF4-FFF2-40B4-BE49-F238E27FC236}">
                <a16:creationId xmlns:a16="http://schemas.microsoft.com/office/drawing/2014/main" id="{9C8BFAF2-3290-3D1B-7A13-52F4E8980D21}"/>
              </a:ext>
            </a:extLst>
          </p:cNvPr>
          <p:cNvSpPr>
            <a:spLocks noGrp="1"/>
          </p:cNvSpPr>
          <p:nvPr/>
        </p:nvSpPr>
        <p:spPr>
          <a:xfrm>
            <a:off x="5857875" y="1762125"/>
            <a:ext cx="95250" cy="95250"/>
          </a:xfrm>
          <a:prstGeom prst="ellipse">
            <a:avLst/>
          </a:prstGeom>
          <a:solidFill>
            <a:srgbClr val="001450"/>
          </a:solidFill>
          <a:ln w="4763">
            <a:solidFill>
              <a:srgbClr val="001450"/>
            </a:solidFill>
            <a:prstDash val="solid"/>
          </a:ln>
        </p:spPr>
      </p:sp>
      <p:sp>
        <p:nvSpPr>
          <p:cNvPr id="256" name="weight adder junction">
            <a:extLst>
              <a:ext uri="{FF2B5EF4-FFF2-40B4-BE49-F238E27FC236}">
                <a16:creationId xmlns:a16="http://schemas.microsoft.com/office/drawing/2014/main" id="{A009B9FC-AC9C-6C99-2E5E-1A67DED76683}"/>
              </a:ext>
            </a:extLst>
          </p:cNvPr>
          <p:cNvSpPr>
            <a:spLocks noGrp="1"/>
          </p:cNvSpPr>
          <p:nvPr/>
        </p:nvSpPr>
        <p:spPr>
          <a:xfrm>
            <a:off x="6165055" y="1778454"/>
            <a:ext cx="95250" cy="95250"/>
          </a:xfrm>
          <a:prstGeom prst="ellipse">
            <a:avLst/>
          </a:prstGeom>
          <a:solidFill>
            <a:srgbClr val="001450"/>
          </a:solidFill>
          <a:ln w="4763">
            <a:solidFill>
              <a:srgbClr val="001450"/>
            </a:solidFill>
            <a:prstDash val="solid"/>
          </a:ln>
        </p:spPr>
      </p:sp>
      <p:sp>
        <p:nvSpPr>
          <p:cNvPr id="258" name="spk_pre label">
            <a:extLst>
              <a:ext uri="{FF2B5EF4-FFF2-40B4-BE49-F238E27FC236}">
                <a16:creationId xmlns:a16="http://schemas.microsoft.com/office/drawing/2014/main" id="{45EB7AB7-BDD8-033B-F3DB-0E71258C7D15}"/>
              </a:ext>
            </a:extLst>
          </p:cNvPr>
          <p:cNvSpPr>
            <a:spLocks noGrp="1"/>
          </p:cNvSpPr>
          <p:nvPr/>
        </p:nvSpPr>
        <p:spPr>
          <a:xfrm>
            <a:off x="523875" y="2286000"/>
            <a:ext cx="1095375" cy="381000"/>
          </a:xfrm>
          <a:prstGeom prst="rect">
            <a:avLst/>
          </a:prstGeom>
          <a:noFill/>
          <a:ln w="0">
            <a:noFill/>
            <a:prstDash val="solid"/>
          </a:ln>
        </p:spPr>
        <p:txBody>
          <a:bodyPr wrap="square" lIns="0" tIns="0" rIns="0" bIns="0" anchor="ctr">
            <a:normAutofit/>
          </a:bodyPr>
          <a:lstStyle/>
          <a:p>
            <a:pPr algn="r">
              <a:buNone/>
              <a:defRPr sz="1425" b="1">
                <a:solidFill>
                  <a:srgbClr val="001450"/>
                </a:solidFill>
                <a:latin typeface="Open Sans"/>
                <a:ea typeface="Open Sans"/>
                <a:cs typeface="Open Sans"/>
              </a:defRPr>
            </a:pPr>
            <a:r>
              <a:rPr sz="1425" b="1">
                <a:solidFill>
                  <a:srgbClr val="001450"/>
                </a:solidFill>
                <a:latin typeface="Open Sans"/>
                <a:ea typeface="Open Sans"/>
                <a:cs typeface="Open Sans"/>
              </a:rPr>
              <a:t>spk_pre</a:t>
            </a:r>
          </a:p>
        </p:txBody>
      </p:sp>
      <p:sp>
        <p:nvSpPr>
          <p:cNvPr id="259" name="up label">
            <a:extLst>
              <a:ext uri="{FF2B5EF4-FFF2-40B4-BE49-F238E27FC236}">
                <a16:creationId xmlns:a16="http://schemas.microsoft.com/office/drawing/2014/main" id="{87BFB2F0-63F8-027A-BE40-DC7CFE2254C7}"/>
              </a:ext>
            </a:extLst>
          </p:cNvPr>
          <p:cNvSpPr>
            <a:spLocks noGrp="1"/>
          </p:cNvSpPr>
          <p:nvPr/>
        </p:nvSpPr>
        <p:spPr>
          <a:xfrm>
            <a:off x="714375" y="3048000"/>
            <a:ext cx="904875" cy="381000"/>
          </a:xfrm>
          <a:prstGeom prst="rect">
            <a:avLst/>
          </a:prstGeom>
          <a:noFill/>
          <a:ln w="0">
            <a:noFill/>
            <a:prstDash val="solid"/>
          </a:ln>
        </p:spPr>
        <p:txBody>
          <a:bodyPr wrap="square" lIns="0" tIns="0" rIns="0" bIns="0" anchor="ctr">
            <a:normAutofit/>
          </a:bodyPr>
          <a:lstStyle/>
          <a:p>
            <a:pPr algn="r">
              <a:buNone/>
              <a:defRPr sz="1425" b="1">
                <a:solidFill>
                  <a:srgbClr val="001450"/>
                </a:solidFill>
                <a:latin typeface="Open Sans"/>
                <a:ea typeface="Open Sans"/>
                <a:cs typeface="Open Sans"/>
              </a:defRPr>
            </a:pPr>
            <a:r>
              <a:rPr sz="1425" b="1">
                <a:solidFill>
                  <a:srgbClr val="001450"/>
                </a:solidFill>
                <a:latin typeface="Open Sans"/>
                <a:ea typeface="Open Sans"/>
                <a:cs typeface="Open Sans"/>
              </a:rPr>
              <a:t>up</a:t>
            </a:r>
          </a:p>
        </p:txBody>
      </p:sp>
      <p:sp>
        <p:nvSpPr>
          <p:cNvPr id="260" name="down label">
            <a:extLst>
              <a:ext uri="{FF2B5EF4-FFF2-40B4-BE49-F238E27FC236}">
                <a16:creationId xmlns:a16="http://schemas.microsoft.com/office/drawing/2014/main" id="{76E91178-F2F9-496A-FBC5-035DAFD2932D}"/>
              </a:ext>
            </a:extLst>
          </p:cNvPr>
          <p:cNvSpPr>
            <a:spLocks noGrp="1"/>
          </p:cNvSpPr>
          <p:nvPr/>
        </p:nvSpPr>
        <p:spPr>
          <a:xfrm>
            <a:off x="619125" y="3429000"/>
            <a:ext cx="1000125" cy="381000"/>
          </a:xfrm>
          <a:prstGeom prst="rect">
            <a:avLst/>
          </a:prstGeom>
          <a:noFill/>
          <a:ln w="0">
            <a:noFill/>
            <a:prstDash val="solid"/>
          </a:ln>
        </p:spPr>
        <p:txBody>
          <a:bodyPr wrap="square" lIns="0" tIns="0" rIns="0" bIns="0" anchor="ctr">
            <a:normAutofit/>
          </a:bodyPr>
          <a:lstStyle/>
          <a:p>
            <a:pPr algn="r">
              <a:buNone/>
              <a:defRPr sz="1425" b="1">
                <a:solidFill>
                  <a:srgbClr val="001450"/>
                </a:solidFill>
                <a:latin typeface="Open Sans"/>
                <a:ea typeface="Open Sans"/>
                <a:cs typeface="Open Sans"/>
              </a:defRPr>
            </a:pPr>
            <a:r>
              <a:rPr sz="1425" b="1">
                <a:solidFill>
                  <a:srgbClr val="001450"/>
                </a:solidFill>
                <a:latin typeface="Open Sans"/>
                <a:ea typeface="Open Sans"/>
                <a:cs typeface="Open Sans"/>
              </a:rPr>
              <a:t>down</a:t>
            </a:r>
          </a:p>
        </p:txBody>
      </p:sp>
      <p:sp>
        <p:nvSpPr>
          <p:cNvPr id="261" name="current weight input label">
            <a:extLst>
              <a:ext uri="{FF2B5EF4-FFF2-40B4-BE49-F238E27FC236}">
                <a16:creationId xmlns:a16="http://schemas.microsoft.com/office/drawing/2014/main" id="{71B1D820-750B-A0A2-7F6A-D940E304791A}"/>
              </a:ext>
            </a:extLst>
          </p:cNvPr>
          <p:cNvSpPr>
            <a:spLocks noGrp="1"/>
          </p:cNvSpPr>
          <p:nvPr/>
        </p:nvSpPr>
        <p:spPr>
          <a:xfrm>
            <a:off x="4857750" y="1123950"/>
            <a:ext cx="2095500" cy="285750"/>
          </a:xfrm>
          <a:prstGeom prst="rect">
            <a:avLst/>
          </a:prstGeom>
          <a:noFill/>
          <a:ln w="0">
            <a:noFill/>
            <a:prstDash val="solid"/>
          </a:ln>
        </p:spPr>
        <p:txBody>
          <a:bodyPr wrap="square" lIns="0" tIns="0" rIns="0" bIns="0" anchor="ctr">
            <a:normAutofit/>
          </a:bodyPr>
          <a:lstStyle/>
          <a:p>
            <a:pPr algn="ctr">
              <a:buNone/>
              <a:defRPr sz="1388" b="1">
                <a:solidFill>
                  <a:srgbClr val="001450"/>
                </a:solidFill>
                <a:latin typeface="Open Sans"/>
                <a:ea typeface="Open Sans"/>
                <a:cs typeface="Open Sans"/>
              </a:defRPr>
            </a:pPr>
            <a:r>
              <a:rPr sz="1388" b="1">
                <a:solidFill>
                  <a:srgbClr val="001450"/>
                </a:solidFill>
                <a:latin typeface="Open Sans"/>
                <a:ea typeface="Open Sans"/>
                <a:cs typeface="Open Sans"/>
              </a:rPr>
              <a:t>w_current[N-1:0]</a:t>
            </a:r>
          </a:p>
        </p:txBody>
      </p:sp>
      <p:sp>
        <p:nvSpPr>
          <p:cNvPr id="262" name="reset label">
            <a:extLst>
              <a:ext uri="{FF2B5EF4-FFF2-40B4-BE49-F238E27FC236}">
                <a16:creationId xmlns:a16="http://schemas.microsoft.com/office/drawing/2014/main" id="{24DD2E71-0A4F-1FF5-D41F-BD3450242444}"/>
              </a:ext>
            </a:extLst>
          </p:cNvPr>
          <p:cNvSpPr>
            <a:spLocks noGrp="1"/>
          </p:cNvSpPr>
          <p:nvPr/>
        </p:nvSpPr>
        <p:spPr>
          <a:xfrm>
            <a:off x="10114461" y="1285875"/>
            <a:ext cx="666750" cy="266700"/>
          </a:xfrm>
          <a:prstGeom prst="rect">
            <a:avLst/>
          </a:prstGeom>
          <a:noFill/>
          <a:ln w="0">
            <a:noFill/>
            <a:prstDash val="solid"/>
          </a:ln>
        </p:spPr>
        <p:txBody>
          <a:bodyPr wrap="square" lIns="0" tIns="0" rIns="0" bIns="0" anchor="ctr">
            <a:normAutofit/>
          </a:bodyPr>
          <a:lstStyle/>
          <a:p>
            <a:pPr algn="r">
              <a:buNone/>
              <a:defRPr sz="1388" b="1">
                <a:solidFill>
                  <a:srgbClr val="0070C0"/>
                </a:solidFill>
                <a:latin typeface="Open Sans"/>
                <a:ea typeface="Open Sans"/>
                <a:cs typeface="Open Sans"/>
              </a:defRPr>
            </a:pPr>
            <a:r>
              <a:rPr sz="1388" b="1">
                <a:solidFill>
                  <a:srgbClr val="0070C0"/>
                </a:solidFill>
                <a:latin typeface="Open Sans"/>
                <a:ea typeface="Open Sans"/>
                <a:cs typeface="Open Sans"/>
              </a:rPr>
              <a:t>rst</a:t>
            </a:r>
          </a:p>
        </p:txBody>
      </p:sp>
      <p:sp>
        <p:nvSpPr>
          <p:cNvPr id="263" name="clock label">
            <a:extLst>
              <a:ext uri="{FF2B5EF4-FFF2-40B4-BE49-F238E27FC236}">
                <a16:creationId xmlns:a16="http://schemas.microsoft.com/office/drawing/2014/main" id="{15AE08D0-0426-416D-D0EC-8DE03710A44D}"/>
              </a:ext>
            </a:extLst>
          </p:cNvPr>
          <p:cNvSpPr>
            <a:spLocks noGrp="1"/>
          </p:cNvSpPr>
          <p:nvPr/>
        </p:nvSpPr>
        <p:spPr>
          <a:xfrm>
            <a:off x="10287000" y="5381625"/>
            <a:ext cx="762000" cy="285750"/>
          </a:xfrm>
          <a:prstGeom prst="rect">
            <a:avLst/>
          </a:prstGeom>
          <a:noFill/>
          <a:ln w="0">
            <a:noFill/>
            <a:prstDash val="solid"/>
          </a:ln>
        </p:spPr>
        <p:txBody>
          <a:bodyPr wrap="square" lIns="0" tIns="0" rIns="0" bIns="0" anchor="ctr">
            <a:normAutofit/>
          </a:bodyPr>
          <a:lstStyle/>
          <a:p>
            <a:pPr algn="ctr">
              <a:buNone/>
              <a:defRPr sz="1388" b="1">
                <a:solidFill>
                  <a:srgbClr val="0070C0"/>
                </a:solidFill>
                <a:latin typeface="Open Sans"/>
                <a:ea typeface="Open Sans"/>
                <a:cs typeface="Open Sans"/>
              </a:defRPr>
            </a:pPr>
            <a:r>
              <a:rPr sz="1388" b="1">
                <a:solidFill>
                  <a:srgbClr val="0070C0"/>
                </a:solidFill>
                <a:latin typeface="Open Sans"/>
                <a:ea typeface="Open Sans"/>
                <a:cs typeface="Open Sans"/>
              </a:rPr>
              <a:t>clk</a:t>
            </a:r>
          </a:p>
        </p:txBody>
      </p:sp>
      <p:sp>
        <p:nvSpPr>
          <p:cNvPr id="264" name="next weight output label">
            <a:extLst>
              <a:ext uri="{FF2B5EF4-FFF2-40B4-BE49-F238E27FC236}">
                <a16:creationId xmlns:a16="http://schemas.microsoft.com/office/drawing/2014/main" id="{81539F3B-A411-9AE3-9B23-9112B5FE8984}"/>
              </a:ext>
            </a:extLst>
          </p:cNvPr>
          <p:cNvSpPr>
            <a:spLocks noGrp="1"/>
          </p:cNvSpPr>
          <p:nvPr/>
        </p:nvSpPr>
        <p:spPr>
          <a:xfrm>
            <a:off x="11068050" y="2667000"/>
            <a:ext cx="1000125" cy="457200"/>
          </a:xfrm>
          <a:prstGeom prst="rect">
            <a:avLst/>
          </a:prstGeom>
          <a:noFill/>
          <a:ln w="0">
            <a:noFill/>
            <a:prstDash val="solid"/>
          </a:ln>
        </p:spPr>
        <p:txBody>
          <a:bodyPr wrap="square" lIns="0" tIns="0" rIns="0" bIns="0" anchor="ctr">
            <a:normAutofit/>
          </a:bodyPr>
          <a:lstStyle/>
          <a:p>
            <a:pPr algn="ctr">
              <a:buNone/>
              <a:defRPr sz="1350" b="1">
                <a:solidFill>
                  <a:srgbClr val="001450"/>
                </a:solidFill>
                <a:latin typeface="Open Sans"/>
                <a:ea typeface="Open Sans"/>
                <a:cs typeface="Open Sans"/>
              </a:defRPr>
            </a:pPr>
            <a:r>
              <a:rPr sz="1350" b="1">
                <a:solidFill>
                  <a:srgbClr val="001450"/>
                </a:solidFill>
                <a:latin typeface="Open Sans"/>
                <a:ea typeface="Open Sans"/>
                <a:cs typeface="Open Sans"/>
              </a:rPr>
              <a:t>w_next</a:t>
            </a:r>
          </a:p>
          <a:p>
            <a:pPr algn="ctr">
              <a:buNone/>
              <a:defRPr sz="1350" b="1">
                <a:solidFill>
                  <a:srgbClr val="001450"/>
                </a:solidFill>
                <a:latin typeface="Open Sans"/>
                <a:ea typeface="Open Sans"/>
                <a:cs typeface="Open Sans"/>
              </a:defRPr>
            </a:pPr>
            <a:r>
              <a:rPr sz="1350" b="1">
                <a:solidFill>
                  <a:srgbClr val="001450"/>
                </a:solidFill>
                <a:latin typeface="Open Sans"/>
                <a:ea typeface="Open Sans"/>
                <a:cs typeface="Open Sans"/>
              </a:rPr>
              <a:t>[N-1:0]</a:t>
            </a:r>
          </a:p>
        </p:txBody>
      </p:sp>
      <p:sp>
        <p:nvSpPr>
          <p:cNvPr id="266" name="module label">
            <a:extLst>
              <a:ext uri="{FF2B5EF4-FFF2-40B4-BE49-F238E27FC236}">
                <a16:creationId xmlns:a16="http://schemas.microsoft.com/office/drawing/2014/main" id="{B4A8C34F-7694-D363-E638-B80689B5E048}"/>
              </a:ext>
            </a:extLst>
          </p:cNvPr>
          <p:cNvSpPr>
            <a:spLocks noGrp="1"/>
          </p:cNvSpPr>
          <p:nvPr/>
        </p:nvSpPr>
        <p:spPr>
          <a:xfrm>
            <a:off x="1781175" y="1628775"/>
            <a:ext cx="1047750" cy="228600"/>
          </a:xfrm>
          <a:prstGeom prst="rect">
            <a:avLst/>
          </a:prstGeom>
          <a:noFill/>
          <a:ln w="0">
            <a:noFill/>
            <a:prstDash val="solid"/>
          </a:ln>
        </p:spPr>
        <p:txBody>
          <a:bodyPr wrap="square" lIns="0" tIns="0" rIns="0" bIns="0" anchor="ctr">
            <a:normAutofit/>
          </a:bodyPr>
          <a:lstStyle/>
          <a:p>
            <a:pPr algn="l">
              <a:buNone/>
              <a:defRPr sz="1013" b="1">
                <a:solidFill>
                  <a:srgbClr val="566371"/>
                </a:solidFill>
                <a:latin typeface="Open Sans"/>
                <a:ea typeface="Open Sans"/>
                <a:cs typeface="Open Sans"/>
              </a:defRPr>
            </a:pPr>
            <a:r>
              <a:rPr sz="1013" b="1">
                <a:solidFill>
                  <a:srgbClr val="566371"/>
                </a:solidFill>
                <a:latin typeface="Open Sans"/>
                <a:ea typeface="Open Sans"/>
                <a:cs typeface="Open Sans"/>
              </a:rPr>
              <a:t>SDSP TOP</a:t>
            </a:r>
          </a:p>
        </p:txBody>
      </p:sp>
      <p:sp>
        <p:nvSpPr>
          <p:cNvPr id="267" name="wmsb label">
            <a:extLst>
              <a:ext uri="{FF2B5EF4-FFF2-40B4-BE49-F238E27FC236}">
                <a16:creationId xmlns:a16="http://schemas.microsoft.com/office/drawing/2014/main" id="{5E38EE4D-5073-C22E-E8E5-70C6B978BBB0}"/>
              </a:ext>
            </a:extLst>
          </p:cNvPr>
          <p:cNvSpPr>
            <a:spLocks noGrp="1"/>
          </p:cNvSpPr>
          <p:nvPr/>
        </p:nvSpPr>
        <p:spPr>
          <a:xfrm>
            <a:off x="4471851" y="2005013"/>
            <a:ext cx="904875" cy="247650"/>
          </a:xfrm>
          <a:prstGeom prst="rect">
            <a:avLst/>
          </a:prstGeom>
          <a:noFill/>
          <a:ln w="0">
            <a:noFill/>
            <a:prstDash val="solid"/>
          </a:ln>
        </p:spPr>
        <p:txBody>
          <a:bodyPr wrap="square" lIns="0" tIns="0" rIns="0" bIns="0" anchor="ctr">
            <a:normAutofit/>
          </a:bodyPr>
          <a:lstStyle/>
          <a:p>
            <a:pPr algn="l">
              <a:buNone/>
              <a:defRPr sz="990" b="0">
                <a:solidFill>
                  <a:srgbClr val="566371"/>
                </a:solidFill>
                <a:latin typeface="Open Sans"/>
                <a:ea typeface="Open Sans"/>
                <a:cs typeface="Open Sans"/>
              </a:defRPr>
            </a:pPr>
            <a:r>
              <a:rPr sz="990" b="0">
                <a:solidFill>
                  <a:srgbClr val="566371"/>
                </a:solidFill>
                <a:latin typeface="Open Sans"/>
                <a:ea typeface="Open Sans"/>
                <a:cs typeface="Open Sans"/>
              </a:rPr>
              <a:t>w_msb</a:t>
            </a:r>
          </a:p>
        </p:txBody>
      </p:sp>
      <p:sp>
        <p:nvSpPr>
          <p:cNvPr id="268" name="adder weight label">
            <a:extLst>
              <a:ext uri="{FF2B5EF4-FFF2-40B4-BE49-F238E27FC236}">
                <a16:creationId xmlns:a16="http://schemas.microsoft.com/office/drawing/2014/main" id="{813E4896-0C04-48C9-DECD-430F23AC11D8}"/>
              </a:ext>
            </a:extLst>
          </p:cNvPr>
          <p:cNvSpPr>
            <a:spLocks noGrp="1"/>
          </p:cNvSpPr>
          <p:nvPr/>
        </p:nvSpPr>
        <p:spPr>
          <a:xfrm>
            <a:off x="5973265" y="2258378"/>
            <a:ext cx="1143000" cy="266700"/>
          </a:xfrm>
          <a:prstGeom prst="rect">
            <a:avLst/>
          </a:prstGeom>
          <a:noFill/>
          <a:ln w="0">
            <a:noFill/>
            <a:prstDash val="solid"/>
          </a:ln>
        </p:spPr>
        <p:txBody>
          <a:bodyPr wrap="square" lIns="0" tIns="0" rIns="0" bIns="0" anchor="ctr">
            <a:normAutofit/>
          </a:bodyPr>
          <a:lstStyle/>
          <a:p>
            <a:pPr algn="ctr">
              <a:buNone/>
              <a:defRPr sz="990" b="0">
                <a:solidFill>
                  <a:srgbClr val="566371"/>
                </a:solidFill>
                <a:latin typeface="Open Sans"/>
                <a:ea typeface="Open Sans"/>
                <a:cs typeface="Open Sans"/>
              </a:defRPr>
            </a:pPr>
            <a:r>
              <a:rPr sz="990" b="0" dirty="0" err="1">
                <a:solidFill>
                  <a:srgbClr val="566371"/>
                </a:solidFill>
                <a:latin typeface="Open Sans"/>
                <a:ea typeface="Open Sans"/>
                <a:cs typeface="Open Sans"/>
              </a:rPr>
              <a:t>w_current</a:t>
            </a:r>
            <a:endParaRPr sz="990" b="0" dirty="0">
              <a:solidFill>
                <a:srgbClr val="566371"/>
              </a:solidFill>
              <a:latin typeface="Open Sans"/>
              <a:ea typeface="Open Sans"/>
              <a:cs typeface="Open Sans"/>
            </a:endParaRPr>
          </a:p>
        </p:txBody>
      </p:sp>
      <p:sp>
        <p:nvSpPr>
          <p:cNvPr id="270" name="delta label">
            <a:extLst>
              <a:ext uri="{FF2B5EF4-FFF2-40B4-BE49-F238E27FC236}">
                <a16:creationId xmlns:a16="http://schemas.microsoft.com/office/drawing/2014/main" id="{DD3833A2-6B5C-2CF1-E8BC-425524BAB429}"/>
              </a:ext>
            </a:extLst>
          </p:cNvPr>
          <p:cNvSpPr>
            <a:spLocks noGrp="1"/>
          </p:cNvSpPr>
          <p:nvPr/>
        </p:nvSpPr>
        <p:spPr>
          <a:xfrm>
            <a:off x="5196799" y="2759801"/>
            <a:ext cx="1047750" cy="381000"/>
          </a:xfrm>
          <a:prstGeom prst="rect">
            <a:avLst/>
          </a:prstGeom>
          <a:noFill/>
          <a:ln w="0">
            <a:noFill/>
            <a:prstDash val="solid"/>
          </a:ln>
        </p:spPr>
        <p:txBody>
          <a:bodyPr wrap="square" lIns="0" tIns="0" rIns="0" bIns="0" anchor="ctr">
            <a:normAutofit/>
          </a:bodyPr>
          <a:lstStyle/>
          <a:p>
            <a:pPr algn="ctr">
              <a:buNone/>
              <a:defRPr sz="1065" b="1">
                <a:solidFill>
                  <a:srgbClr val="2F57B2"/>
                </a:solidFill>
                <a:latin typeface="Open Sans"/>
                <a:ea typeface="Open Sans"/>
                <a:cs typeface="Open Sans"/>
              </a:defRPr>
            </a:pPr>
            <a:r>
              <a:rPr sz="1065" b="1" dirty="0" err="1">
                <a:solidFill>
                  <a:srgbClr val="2F57B2"/>
                </a:solidFill>
                <a:latin typeface="Open Sans"/>
                <a:ea typeface="Open Sans"/>
                <a:cs typeface="Open Sans"/>
              </a:rPr>
              <a:t>delta_w</a:t>
            </a:r>
            <a:endParaRPr sz="1065" b="1" dirty="0">
              <a:solidFill>
                <a:srgbClr val="2F57B2"/>
              </a:solidFill>
              <a:latin typeface="Open Sans"/>
              <a:ea typeface="Open Sans"/>
              <a:cs typeface="Open Sans"/>
            </a:endParaRPr>
          </a:p>
        </p:txBody>
      </p:sp>
      <p:sp>
        <p:nvSpPr>
          <p:cNvPr id="271" name="sum label">
            <a:extLst>
              <a:ext uri="{FF2B5EF4-FFF2-40B4-BE49-F238E27FC236}">
                <a16:creationId xmlns:a16="http://schemas.microsoft.com/office/drawing/2014/main" id="{C8DFFC09-64C7-5179-FF28-A325FB85F72B}"/>
              </a:ext>
            </a:extLst>
          </p:cNvPr>
          <p:cNvSpPr>
            <a:spLocks noGrp="1"/>
          </p:cNvSpPr>
          <p:nvPr/>
        </p:nvSpPr>
        <p:spPr>
          <a:xfrm>
            <a:off x="7962900" y="3200400"/>
            <a:ext cx="590550" cy="266700"/>
          </a:xfrm>
          <a:prstGeom prst="rect">
            <a:avLst/>
          </a:prstGeom>
          <a:noFill/>
          <a:ln w="0">
            <a:noFill/>
            <a:prstDash val="solid"/>
          </a:ln>
        </p:spPr>
        <p:txBody>
          <a:bodyPr wrap="square" lIns="0" tIns="0" rIns="0" bIns="0" anchor="ctr">
            <a:normAutofit/>
          </a:bodyPr>
          <a:lstStyle/>
          <a:p>
            <a:pPr algn="r">
              <a:buNone/>
              <a:defRPr sz="990" b="0">
                <a:solidFill>
                  <a:srgbClr val="566371"/>
                </a:solidFill>
                <a:latin typeface="Open Sans"/>
                <a:ea typeface="Open Sans"/>
                <a:cs typeface="Open Sans"/>
              </a:defRPr>
            </a:pPr>
            <a:r>
              <a:rPr sz="990" b="0">
                <a:solidFill>
                  <a:srgbClr val="566371"/>
                </a:solidFill>
                <a:latin typeface="Open Sans"/>
                <a:ea typeface="Open Sans"/>
                <a:cs typeface="Open Sans"/>
              </a:rPr>
              <a:t>w_sum</a:t>
            </a:r>
          </a:p>
        </p:txBody>
      </p:sp>
      <p:sp>
        <p:nvSpPr>
          <p:cNvPr id="273" name="mux label">
            <a:extLst>
              <a:ext uri="{FF2B5EF4-FFF2-40B4-BE49-F238E27FC236}">
                <a16:creationId xmlns:a16="http://schemas.microsoft.com/office/drawing/2014/main" id="{43626608-957A-060E-4EEC-3882B66815B7}"/>
              </a:ext>
            </a:extLst>
          </p:cNvPr>
          <p:cNvSpPr>
            <a:spLocks noGrp="1"/>
          </p:cNvSpPr>
          <p:nvPr/>
        </p:nvSpPr>
        <p:spPr>
          <a:xfrm>
            <a:off x="8905875" y="2933700"/>
            <a:ext cx="666750" cy="495300"/>
          </a:xfrm>
          <a:prstGeom prst="rect">
            <a:avLst/>
          </a:prstGeom>
          <a:noFill/>
          <a:ln w="0">
            <a:noFill/>
            <a:prstDash val="solid"/>
          </a:ln>
        </p:spPr>
        <p:txBody>
          <a:bodyPr wrap="square" lIns="0" tIns="0" rIns="0" bIns="0" anchor="ctr">
            <a:normAutofit/>
          </a:bodyPr>
          <a:lstStyle/>
          <a:p>
            <a:pPr algn="ctr">
              <a:buNone/>
              <a:defRPr sz="1313" b="1">
                <a:solidFill>
                  <a:srgbClr val="001450"/>
                </a:solidFill>
                <a:latin typeface="Open Sans"/>
                <a:ea typeface="Open Sans"/>
                <a:cs typeface="Open Sans"/>
              </a:defRPr>
            </a:pPr>
            <a:r>
              <a:rPr sz="1313" b="1">
                <a:solidFill>
                  <a:srgbClr val="001450"/>
                </a:solidFill>
                <a:latin typeface="Open Sans"/>
                <a:ea typeface="Open Sans"/>
                <a:cs typeface="Open Sans"/>
              </a:rPr>
              <a:t>2:1</a:t>
            </a:r>
          </a:p>
          <a:p>
            <a:pPr algn="ctr">
              <a:buNone/>
              <a:defRPr sz="1313" b="1">
                <a:solidFill>
                  <a:srgbClr val="001450"/>
                </a:solidFill>
                <a:latin typeface="Open Sans"/>
                <a:ea typeface="Open Sans"/>
                <a:cs typeface="Open Sans"/>
              </a:defRPr>
            </a:pPr>
            <a:r>
              <a:rPr sz="1313" b="1">
                <a:solidFill>
                  <a:srgbClr val="001450"/>
                </a:solidFill>
                <a:latin typeface="Open Sans"/>
                <a:ea typeface="Open Sans"/>
                <a:cs typeface="Open Sans"/>
              </a:rPr>
              <a:t>MUX</a:t>
            </a:r>
          </a:p>
        </p:txBody>
      </p:sp>
      <p:sp>
        <p:nvSpPr>
          <p:cNvPr id="274" name="weight register label">
            <a:extLst>
              <a:ext uri="{FF2B5EF4-FFF2-40B4-BE49-F238E27FC236}">
                <a16:creationId xmlns:a16="http://schemas.microsoft.com/office/drawing/2014/main" id="{D78946FE-8E8A-3ACC-1C15-B56F9E31D6F2}"/>
              </a:ext>
            </a:extLst>
          </p:cNvPr>
          <p:cNvSpPr>
            <a:spLocks noGrp="1"/>
          </p:cNvSpPr>
          <p:nvPr/>
        </p:nvSpPr>
        <p:spPr>
          <a:xfrm>
            <a:off x="10334625" y="2619375"/>
            <a:ext cx="666750" cy="438150"/>
          </a:xfrm>
          <a:prstGeom prst="rect">
            <a:avLst/>
          </a:prstGeom>
          <a:noFill/>
          <a:ln w="0">
            <a:noFill/>
            <a:prstDash val="solid"/>
          </a:ln>
        </p:spPr>
        <p:txBody>
          <a:bodyPr wrap="square" lIns="0" tIns="0" rIns="0" bIns="0" anchor="ctr">
            <a:normAutofit/>
          </a:bodyPr>
          <a:lstStyle/>
          <a:p>
            <a:pPr algn="ctr">
              <a:buNone/>
              <a:defRPr sz="1238" b="1">
                <a:solidFill>
                  <a:srgbClr val="001450"/>
                </a:solidFill>
                <a:latin typeface="Open Sans"/>
                <a:ea typeface="Open Sans"/>
                <a:cs typeface="Open Sans"/>
              </a:defRPr>
            </a:pPr>
            <a:r>
              <a:rPr sz="1238" b="1">
                <a:solidFill>
                  <a:srgbClr val="001450"/>
                </a:solidFill>
                <a:latin typeface="Open Sans"/>
                <a:ea typeface="Open Sans"/>
                <a:cs typeface="Open Sans"/>
              </a:rPr>
              <a:t>Weight</a:t>
            </a:r>
          </a:p>
          <a:p>
            <a:pPr algn="ctr">
              <a:buNone/>
              <a:defRPr sz="1238" b="1">
                <a:solidFill>
                  <a:srgbClr val="001450"/>
                </a:solidFill>
                <a:latin typeface="Open Sans"/>
                <a:ea typeface="Open Sans"/>
                <a:cs typeface="Open Sans"/>
              </a:defRPr>
            </a:pPr>
            <a:r>
              <a:rPr sz="1238" b="1">
                <a:solidFill>
                  <a:srgbClr val="001450"/>
                </a:solidFill>
                <a:latin typeface="Open Sans"/>
                <a:ea typeface="Open Sans"/>
                <a:cs typeface="Open Sans"/>
              </a:rPr>
              <a:t>Register</a:t>
            </a:r>
          </a:p>
        </p:txBody>
      </p:sp>
      <p:sp>
        <p:nvSpPr>
          <p:cNvPr id="275" name="register D label">
            <a:extLst>
              <a:ext uri="{FF2B5EF4-FFF2-40B4-BE49-F238E27FC236}">
                <a16:creationId xmlns:a16="http://schemas.microsoft.com/office/drawing/2014/main" id="{56D58DA6-264A-1004-355D-188AD047C749}"/>
              </a:ext>
            </a:extLst>
          </p:cNvPr>
          <p:cNvSpPr>
            <a:spLocks noGrp="1"/>
          </p:cNvSpPr>
          <p:nvPr/>
        </p:nvSpPr>
        <p:spPr>
          <a:xfrm>
            <a:off x="10248900" y="3048000"/>
            <a:ext cx="209550" cy="285750"/>
          </a:xfrm>
          <a:prstGeom prst="rect">
            <a:avLst/>
          </a:prstGeom>
          <a:noFill/>
          <a:ln w="0">
            <a:noFill/>
            <a:prstDash val="solid"/>
          </a:ln>
        </p:spPr>
        <p:txBody>
          <a:bodyPr wrap="square" lIns="0" tIns="0" rIns="0" bIns="0" anchor="ctr">
            <a:normAutofit/>
          </a:bodyPr>
          <a:lstStyle/>
          <a:p>
            <a:pPr algn="ctr">
              <a:buNone/>
              <a:defRPr sz="1238" b="1">
                <a:solidFill>
                  <a:srgbClr val="001450"/>
                </a:solidFill>
                <a:latin typeface="Open Sans"/>
                <a:ea typeface="Open Sans"/>
                <a:cs typeface="Open Sans"/>
              </a:defRPr>
            </a:pPr>
            <a:r>
              <a:rPr sz="1238" b="1">
                <a:solidFill>
                  <a:srgbClr val="001450"/>
                </a:solidFill>
                <a:latin typeface="Open Sans"/>
                <a:ea typeface="Open Sans"/>
                <a:cs typeface="Open Sans"/>
              </a:rPr>
              <a:t>D</a:t>
            </a:r>
          </a:p>
        </p:txBody>
      </p:sp>
      <p:sp>
        <p:nvSpPr>
          <p:cNvPr id="276" name="register Q label">
            <a:extLst>
              <a:ext uri="{FF2B5EF4-FFF2-40B4-BE49-F238E27FC236}">
                <a16:creationId xmlns:a16="http://schemas.microsoft.com/office/drawing/2014/main" id="{522D7962-297D-A049-E68B-D892B160842B}"/>
              </a:ext>
            </a:extLst>
          </p:cNvPr>
          <p:cNvSpPr>
            <a:spLocks noGrp="1"/>
          </p:cNvSpPr>
          <p:nvPr/>
        </p:nvSpPr>
        <p:spPr>
          <a:xfrm>
            <a:off x="10887075" y="3048000"/>
            <a:ext cx="209550" cy="285750"/>
          </a:xfrm>
          <a:prstGeom prst="rect">
            <a:avLst/>
          </a:prstGeom>
          <a:noFill/>
          <a:ln w="0">
            <a:noFill/>
            <a:prstDash val="solid"/>
          </a:ln>
        </p:spPr>
        <p:txBody>
          <a:bodyPr wrap="square" lIns="0" tIns="0" rIns="0" bIns="0" anchor="ctr">
            <a:normAutofit/>
          </a:bodyPr>
          <a:lstStyle/>
          <a:p>
            <a:pPr algn="ctr">
              <a:buNone/>
              <a:defRPr sz="1238" b="1">
                <a:solidFill>
                  <a:srgbClr val="001450"/>
                </a:solidFill>
                <a:latin typeface="Open Sans"/>
                <a:ea typeface="Open Sans"/>
                <a:cs typeface="Open Sans"/>
              </a:defRPr>
            </a:pPr>
            <a:r>
              <a:rPr sz="1238" b="1">
                <a:solidFill>
                  <a:srgbClr val="001450"/>
                </a:solidFill>
                <a:latin typeface="Open Sans"/>
                <a:ea typeface="Open Sans"/>
                <a:cs typeface="Open Sans"/>
              </a:rPr>
              <a:t>Q</a:t>
            </a:r>
          </a:p>
        </p:txBody>
      </p:sp>
      <p:sp>
        <p:nvSpPr>
          <p:cNvPr id="277" name="Clock edge marker">
            <a:extLst>
              <a:ext uri="{FF2B5EF4-FFF2-40B4-BE49-F238E27FC236}">
                <a16:creationId xmlns:a16="http://schemas.microsoft.com/office/drawing/2014/main" id="{C48294A7-170C-C3FE-A2A5-8FF96172B689}"/>
              </a:ext>
            </a:extLst>
          </p:cNvPr>
          <p:cNvSpPr>
            <a:spLocks noGrp="1"/>
          </p:cNvSpPr>
          <p:nvPr/>
        </p:nvSpPr>
        <p:spPr>
          <a:xfrm>
            <a:off x="10553700" y="3752850"/>
            <a:ext cx="228600" cy="228600"/>
          </a:xfrm>
          <a:prstGeom prst="triangle">
            <a:avLst/>
          </a:prstGeom>
          <a:noFill/>
          <a:ln w="20955">
            <a:solidFill>
              <a:srgbClr val="0070C0"/>
            </a:solidFill>
            <a:prstDash val="solid"/>
          </a:ln>
        </p:spPr>
      </p:sp>
      <p:sp>
        <p:nvSpPr>
          <p:cNvPr id="278" name="adder status label">
            <a:extLst>
              <a:ext uri="{FF2B5EF4-FFF2-40B4-BE49-F238E27FC236}">
                <a16:creationId xmlns:a16="http://schemas.microsoft.com/office/drawing/2014/main" id="{6D644F13-EEFC-D8DE-7700-927DD58ED7AC}"/>
              </a:ext>
            </a:extLst>
          </p:cNvPr>
          <p:cNvSpPr>
            <a:spLocks noGrp="1"/>
          </p:cNvSpPr>
          <p:nvPr/>
        </p:nvSpPr>
        <p:spPr>
          <a:xfrm>
            <a:off x="5638800" y="3724275"/>
            <a:ext cx="1381125" cy="161925"/>
          </a:xfrm>
          <a:prstGeom prst="rect">
            <a:avLst/>
          </a:prstGeom>
          <a:solidFill>
            <a:srgbClr val="FFFFFF"/>
          </a:solidFill>
          <a:ln w="0">
            <a:noFill/>
            <a:prstDash val="solid"/>
          </a:ln>
        </p:spPr>
        <p:txBody>
          <a:bodyPr wrap="square" lIns="28575" tIns="0" rIns="28575" bIns="0" anchor="ctr">
            <a:normAutofit/>
          </a:bodyPr>
          <a:lstStyle/>
          <a:p>
            <a:pPr algn="ctr">
              <a:buNone/>
              <a:defRPr sz="953" b="1">
                <a:solidFill>
                  <a:srgbClr val="0A777F"/>
                </a:solidFill>
                <a:latin typeface="Open Sans"/>
                <a:ea typeface="Open Sans"/>
                <a:cs typeface="Open Sans"/>
              </a:defRPr>
            </a:pPr>
            <a:r>
              <a:rPr sz="953" b="1">
                <a:solidFill>
                  <a:srgbClr val="0A777F"/>
                </a:solidFill>
                <a:latin typeface="Open Sans"/>
                <a:ea typeface="Open Sans"/>
                <a:cs typeface="Open Sans"/>
              </a:rPr>
              <a:t>cout</a:t>
            </a:r>
          </a:p>
        </p:txBody>
      </p:sp>
      <p:sp>
        <p:nvSpPr>
          <p:cNvPr id="279" name="boundary label">
            <a:extLst>
              <a:ext uri="{FF2B5EF4-FFF2-40B4-BE49-F238E27FC236}">
                <a16:creationId xmlns:a16="http://schemas.microsoft.com/office/drawing/2014/main" id="{514F3957-CFC6-70E6-884B-82198ECF1820}"/>
              </a:ext>
            </a:extLst>
          </p:cNvPr>
          <p:cNvSpPr>
            <a:spLocks noGrp="1"/>
          </p:cNvSpPr>
          <p:nvPr/>
        </p:nvSpPr>
        <p:spPr>
          <a:xfrm>
            <a:off x="6524625" y="4267200"/>
            <a:ext cx="2095500" cy="266700"/>
          </a:xfrm>
          <a:prstGeom prst="rect">
            <a:avLst/>
          </a:prstGeom>
          <a:noFill/>
          <a:ln w="0">
            <a:noFill/>
            <a:prstDash val="solid"/>
          </a:ln>
        </p:spPr>
        <p:txBody>
          <a:bodyPr wrap="square" lIns="0" tIns="0" rIns="0" bIns="0" anchor="ctr">
            <a:normAutofit/>
          </a:bodyPr>
          <a:lstStyle/>
          <a:p>
            <a:pPr algn="ctr">
              <a:buNone/>
              <a:defRPr sz="1065" b="1">
                <a:solidFill>
                  <a:srgbClr val="0A777F"/>
                </a:solidFill>
                <a:latin typeface="Open Sans"/>
                <a:ea typeface="Open Sans"/>
                <a:cs typeface="Open Sans"/>
              </a:defRPr>
            </a:pPr>
            <a:r>
              <a:rPr sz="1065" b="1">
                <a:solidFill>
                  <a:srgbClr val="0A777F"/>
                </a:solidFill>
                <a:latin typeface="Open Sans"/>
                <a:ea typeface="Open Sans"/>
                <a:cs typeface="Open Sans"/>
              </a:rPr>
              <a:t>boundary_detected</a:t>
            </a:r>
          </a:p>
        </p:txBody>
      </p:sp>
      <p:sp>
        <p:nvSpPr>
          <p:cNvPr id="280" name="module takeaway">
            <a:extLst>
              <a:ext uri="{FF2B5EF4-FFF2-40B4-BE49-F238E27FC236}">
                <a16:creationId xmlns:a16="http://schemas.microsoft.com/office/drawing/2014/main" id="{DA574AA7-B76D-2461-E469-F4A2B9A69605}"/>
              </a:ext>
            </a:extLst>
          </p:cNvPr>
          <p:cNvSpPr>
            <a:spLocks noGrp="1"/>
          </p:cNvSpPr>
          <p:nvPr/>
        </p:nvSpPr>
        <p:spPr>
          <a:xfrm>
            <a:off x="2095500" y="5286375"/>
            <a:ext cx="7620000" cy="457200"/>
          </a:xfrm>
          <a:prstGeom prst="rect">
            <a:avLst/>
          </a:prstGeom>
          <a:noFill/>
          <a:ln w="0">
            <a:noFill/>
            <a:prstDash val="solid"/>
          </a:ln>
        </p:spPr>
        <p:txBody>
          <a:bodyPr wrap="square" lIns="0" tIns="0" rIns="0" bIns="0" anchor="ctr">
            <a:normAutofit/>
          </a:bodyPr>
          <a:lstStyle/>
          <a:p>
            <a:pPr algn="ctr">
              <a:buNone/>
              <a:defRPr sz="1215" b="1">
                <a:solidFill>
                  <a:srgbClr val="2F57B2"/>
                </a:solidFill>
                <a:latin typeface="Open Sans"/>
                <a:ea typeface="Open Sans"/>
                <a:cs typeface="Open Sans"/>
              </a:defRPr>
            </a:pPr>
            <a:r>
              <a:rPr sz="1215" b="1">
                <a:solidFill>
                  <a:srgbClr val="2F57B2"/>
                </a:solidFill>
                <a:latin typeface="Open Sans"/>
                <a:ea typeface="Open Sans"/>
                <a:cs typeface="Open Sans"/>
              </a:rPr>
              <a:t>Update control validates the candidate weight; the MUX selects hold/update before w_next is registered on clk.</a:t>
            </a:r>
          </a:p>
        </p:txBody>
      </p:sp>
      <p:sp>
        <p:nvSpPr>
          <p:cNvPr id="284" name="weight hold drop">
            <a:extLst>
              <a:ext uri="{FF2B5EF4-FFF2-40B4-BE49-F238E27FC236}">
                <a16:creationId xmlns:a16="http://schemas.microsoft.com/office/drawing/2014/main" id="{049A6037-04C2-A191-27A7-E959051BDF26}"/>
              </a:ext>
            </a:extLst>
          </p:cNvPr>
          <p:cNvSpPr>
            <a:spLocks noGrp="1"/>
          </p:cNvSpPr>
          <p:nvPr/>
        </p:nvSpPr>
        <p:spPr>
          <a:xfrm>
            <a:off x="6211592" y="1837781"/>
            <a:ext cx="953" cy="1469571"/>
          </a:xfrm>
          <a:prstGeom prst="line">
            <a:avLst/>
          </a:prstGeom>
          <a:noFill/>
          <a:ln w="26670">
            <a:solidFill>
              <a:srgbClr val="001450"/>
            </a:solidFill>
            <a:prstDash val="solid"/>
          </a:ln>
        </p:spPr>
      </p:sp>
      <p:cxnSp>
        <p:nvCxnSpPr>
          <p:cNvPr id="408" name="直接箭头连接符 284"/>
          <p:cNvCxnSpPr/>
          <p:nvPr/>
        </p:nvCxnSpPr>
        <p:spPr>
          <a:xfrm>
            <a:off x="6210300" y="3317149"/>
            <a:ext cx="219075" cy="0"/>
          </a:xfrm>
          <a:prstGeom prst="straightConnector1">
            <a:avLst/>
          </a:prstGeom>
          <a:ln w="23813">
            <a:solidFill>
              <a:srgbClr val="001450"/>
            </a:solidFill>
            <a:prstDash val="solid"/>
            <a:tailEnd type="triangle" w="med" len="med"/>
          </a:ln>
        </p:spPr>
      </p:cxnSp>
      <p:cxnSp>
        <p:nvCxnSpPr>
          <p:cNvPr id="409" name="直接箭头连接符 285"/>
          <p:cNvCxnSpPr>
            <a:stCxn id="263" idx="0"/>
          </p:cNvCxnSpPr>
          <p:nvPr/>
        </p:nvCxnSpPr>
        <p:spPr>
          <a:xfrm flipV="1">
            <a:off x="10668000" y="4000500"/>
            <a:ext cx="0" cy="1381125"/>
          </a:xfrm>
          <a:prstGeom prst="straightConnector1">
            <a:avLst/>
          </a:prstGeom>
          <a:ln w="23813">
            <a:solidFill>
              <a:srgbClr val="0070C0"/>
            </a:solidFill>
            <a:prstDash val="solid"/>
            <a:tailEnd type="triangle" w="med" len="med"/>
          </a:ln>
        </p:spPr>
      </p:cxnSp>
      <p:sp>
        <p:nvSpPr>
          <p:cNvPr id="292" name="adder weight label">
            <a:extLst>
              <a:ext uri="{FF2B5EF4-FFF2-40B4-BE49-F238E27FC236}">
                <a16:creationId xmlns:a16="http://schemas.microsoft.com/office/drawing/2014/main" id="{87420A93-2DF7-637C-DC98-84EE331D0B83}"/>
              </a:ext>
            </a:extLst>
          </p:cNvPr>
          <p:cNvSpPr>
            <a:spLocks noGrp="1"/>
          </p:cNvSpPr>
          <p:nvPr/>
        </p:nvSpPr>
        <p:spPr>
          <a:xfrm>
            <a:off x="7456170" y="1801177"/>
            <a:ext cx="1143000" cy="266700"/>
          </a:xfrm>
          <a:prstGeom prst="rect">
            <a:avLst/>
          </a:prstGeom>
          <a:noFill/>
          <a:ln w="0">
            <a:noFill/>
            <a:prstDash val="solid"/>
          </a:ln>
        </p:spPr>
        <p:txBody>
          <a:bodyPr wrap="square" lIns="0" tIns="0" rIns="0" bIns="0" anchor="ctr">
            <a:normAutofit/>
          </a:bodyPr>
          <a:lstStyle/>
          <a:p>
            <a:pPr algn="ctr">
              <a:buNone/>
              <a:defRPr sz="990" b="0">
                <a:solidFill>
                  <a:srgbClr val="566371"/>
                </a:solidFill>
                <a:latin typeface="Open Sans"/>
                <a:ea typeface="Open Sans"/>
                <a:cs typeface="Open Sans"/>
              </a:defRPr>
            </a:pPr>
            <a:r>
              <a:rPr sz="990" b="0">
                <a:solidFill>
                  <a:srgbClr val="566371"/>
                </a:solidFill>
                <a:latin typeface="Open Sans"/>
                <a:ea typeface="Open Sans"/>
                <a:cs typeface="Open Sans"/>
              </a:rPr>
              <a:t>w_current</a:t>
            </a:r>
          </a:p>
        </p:txBody>
      </p:sp>
      <p:cxnSp>
        <p:nvCxnSpPr>
          <p:cNvPr id="411" name="直接连接符 301"/>
          <p:cNvCxnSpPr/>
          <p:nvPr/>
        </p:nvCxnSpPr>
        <p:spPr>
          <a:xfrm flipV="1">
            <a:off x="5295900" y="2044383"/>
            <a:ext cx="1800225" cy="574992"/>
          </a:xfrm>
          <a:prstGeom prst="bentConnector3">
            <a:avLst>
              <a:gd name="adj1" fmla="val 41534"/>
            </a:avLst>
          </a:prstGeom>
          <a:ln w="28575">
            <a:solidFill>
              <a:srgbClr val="2F57B2"/>
            </a:solidFill>
          </a:ln>
        </p:spPr>
        <p:style>
          <a:lnRef idx="1">
            <a:schemeClr val="accent1"/>
          </a:lnRef>
          <a:fillRef idx="0">
            <a:schemeClr val="accent1"/>
          </a:fillRef>
          <a:effectRef idx="0">
            <a:schemeClr val="accent1"/>
          </a:effectRef>
          <a:fontRef idx="minor">
            <a:schemeClr val="tx1"/>
          </a:fontRef>
        </p:style>
      </p:cxnSp>
      <p:cxnSp>
        <p:nvCxnSpPr>
          <p:cNvPr id="412" name="直接箭头连接符 304"/>
          <p:cNvCxnSpPr/>
          <p:nvPr/>
        </p:nvCxnSpPr>
        <p:spPr>
          <a:xfrm>
            <a:off x="7096126" y="2044383"/>
            <a:ext cx="0" cy="422592"/>
          </a:xfrm>
          <a:prstGeom prst="straightConnector1">
            <a:avLst/>
          </a:prstGeom>
          <a:ln w="23813">
            <a:solidFill>
              <a:srgbClr val="2F57B2"/>
            </a:solidFill>
            <a:prstDash val="solid"/>
            <a:tailEnd type="triangle" w="med" len="med"/>
          </a:ln>
        </p:spPr>
      </p:cxnSp>
      <p:sp>
        <p:nvSpPr>
          <p:cNvPr id="310" name="delta label">
            <a:extLst>
              <a:ext uri="{FF2B5EF4-FFF2-40B4-BE49-F238E27FC236}">
                <a16:creationId xmlns:a16="http://schemas.microsoft.com/office/drawing/2014/main" id="{8F9E2FA5-7E63-74BA-E490-C541A4D50336}"/>
              </a:ext>
            </a:extLst>
          </p:cNvPr>
          <p:cNvSpPr>
            <a:spLocks noGrp="1"/>
          </p:cNvSpPr>
          <p:nvPr/>
        </p:nvSpPr>
        <p:spPr>
          <a:xfrm>
            <a:off x="6416278" y="2096646"/>
            <a:ext cx="1047750" cy="381000"/>
          </a:xfrm>
          <a:prstGeom prst="rect">
            <a:avLst/>
          </a:prstGeom>
          <a:noFill/>
          <a:ln w="0">
            <a:noFill/>
            <a:prstDash val="solid"/>
          </a:ln>
        </p:spPr>
        <p:txBody>
          <a:bodyPr wrap="square" lIns="0" tIns="0" rIns="0" bIns="0" anchor="ctr">
            <a:normAutofit/>
          </a:bodyPr>
          <a:lstStyle/>
          <a:p>
            <a:pPr algn="ctr">
              <a:buNone/>
              <a:defRPr sz="1065" b="1">
                <a:solidFill>
                  <a:srgbClr val="2F57B2"/>
                </a:solidFill>
                <a:latin typeface="Open Sans"/>
                <a:ea typeface="Open Sans"/>
                <a:cs typeface="Open Sans"/>
              </a:defRPr>
            </a:pPr>
            <a:r>
              <a:rPr sz="1065" b="1" dirty="0" err="1">
                <a:solidFill>
                  <a:srgbClr val="2F57B2"/>
                </a:solidFill>
                <a:latin typeface="Open Sans"/>
                <a:ea typeface="Open Sans"/>
                <a:cs typeface="Open Sans"/>
              </a:rPr>
              <a:t>cin</a:t>
            </a:r>
            <a:endParaRPr sz="1065" b="1" dirty="0">
              <a:solidFill>
                <a:srgbClr val="2F57B2"/>
              </a:solidFill>
              <a:latin typeface="Open Sans"/>
              <a:ea typeface="Open Sans"/>
              <a:cs typeface="Open Sans"/>
            </a:endParaRPr>
          </a:p>
        </p:txBody>
      </p:sp>
      <p:sp>
        <p:nvSpPr>
          <p:cNvPr id="312" name="bistability label">
            <a:extLst>
              <a:ext uri="{FF2B5EF4-FFF2-40B4-BE49-F238E27FC236}">
                <a16:creationId xmlns:a16="http://schemas.microsoft.com/office/drawing/2014/main" id="{829FBC88-D93B-F5D5-A716-E794B830E154}"/>
              </a:ext>
            </a:extLst>
          </p:cNvPr>
          <p:cNvSpPr>
            <a:spLocks noGrp="1"/>
          </p:cNvSpPr>
          <p:nvPr/>
        </p:nvSpPr>
        <p:spPr>
          <a:xfrm>
            <a:off x="333375" y="2667000"/>
            <a:ext cx="1285875" cy="381000"/>
          </a:xfrm>
          <a:prstGeom prst="rect">
            <a:avLst/>
          </a:prstGeom>
          <a:noFill/>
          <a:ln w="0">
            <a:noFill/>
            <a:prstDash val="solid"/>
          </a:ln>
        </p:spPr>
        <p:txBody>
          <a:bodyPr wrap="square" lIns="0" tIns="0" rIns="0" bIns="0" anchor="ctr">
            <a:normAutofit/>
          </a:bodyPr>
          <a:lstStyle/>
          <a:p>
            <a:pPr algn="r">
              <a:buNone/>
              <a:defRPr sz="1365" b="1">
                <a:solidFill>
                  <a:srgbClr val="001450"/>
                </a:solidFill>
                <a:latin typeface="Open Sans"/>
                <a:ea typeface="Open Sans"/>
                <a:cs typeface="Open Sans"/>
              </a:defRPr>
            </a:pPr>
            <a:r>
              <a:rPr sz="1365" b="1">
                <a:solidFill>
                  <a:srgbClr val="001450"/>
                </a:solidFill>
                <a:latin typeface="Open Sans"/>
                <a:ea typeface="Open Sans"/>
                <a:cs typeface="Open Sans"/>
              </a:rPr>
              <a:t>bist</a:t>
            </a:r>
          </a:p>
        </p:txBody>
      </p:sp>
      <p:sp>
        <p:nvSpPr>
          <p:cNvPr id="313" name="delta_w(0) branch vertical">
            <a:extLst>
              <a:ext uri="{FF2B5EF4-FFF2-40B4-BE49-F238E27FC236}">
                <a16:creationId xmlns:a16="http://schemas.microsoft.com/office/drawing/2014/main" id="{7CD0081F-A33E-4561-A534-531A2EAEE238}"/>
              </a:ext>
            </a:extLst>
          </p:cNvPr>
          <p:cNvSpPr>
            <a:spLocks noGrp="1"/>
          </p:cNvSpPr>
          <p:nvPr/>
        </p:nvSpPr>
        <p:spPr>
          <a:xfrm>
            <a:off x="5715000" y="3040380"/>
            <a:ext cx="953" cy="696930"/>
          </a:xfrm>
          <a:prstGeom prst="line">
            <a:avLst/>
          </a:prstGeom>
          <a:noFill/>
          <a:ln w="20955">
            <a:solidFill>
              <a:srgbClr val="315DB8"/>
            </a:solidFill>
            <a:prstDash val="solid"/>
          </a:ln>
        </p:spPr>
      </p:sp>
      <p:sp>
        <p:nvSpPr>
          <p:cNvPr id="314" name="delta_w(0) branch horizontal">
            <a:extLst>
              <a:ext uri="{FF2B5EF4-FFF2-40B4-BE49-F238E27FC236}">
                <a16:creationId xmlns:a16="http://schemas.microsoft.com/office/drawing/2014/main" id="{22E3D402-01AF-429C-8F91-78A77685C101}"/>
              </a:ext>
            </a:extLst>
          </p:cNvPr>
          <p:cNvSpPr>
            <a:spLocks noGrp="1"/>
          </p:cNvSpPr>
          <p:nvPr/>
        </p:nvSpPr>
        <p:spPr>
          <a:xfrm>
            <a:off x="4095750" y="3733800"/>
            <a:ext cx="1619250" cy="953"/>
          </a:xfrm>
          <a:prstGeom prst="line">
            <a:avLst/>
          </a:prstGeom>
          <a:noFill/>
          <a:ln w="20955">
            <a:solidFill>
              <a:srgbClr val="315DB8"/>
            </a:solidFill>
            <a:prstDash val="solid"/>
          </a:ln>
        </p:spPr>
      </p:sp>
      <p:sp>
        <p:nvSpPr>
          <p:cNvPr id="315" name="delta_w junction">
            <a:extLst>
              <a:ext uri="{FF2B5EF4-FFF2-40B4-BE49-F238E27FC236}">
                <a16:creationId xmlns:a16="http://schemas.microsoft.com/office/drawing/2014/main" id="{E6CE76E9-88DC-4B5E-B020-5EF333CE6C3B}"/>
              </a:ext>
            </a:extLst>
          </p:cNvPr>
          <p:cNvSpPr>
            <a:spLocks noGrp="1"/>
          </p:cNvSpPr>
          <p:nvPr/>
        </p:nvSpPr>
        <p:spPr>
          <a:xfrm>
            <a:off x="5676900" y="3002280"/>
            <a:ext cx="76200" cy="76200"/>
          </a:xfrm>
          <a:prstGeom prst="ellipse">
            <a:avLst/>
          </a:prstGeom>
          <a:solidFill>
            <a:srgbClr val="315DB8"/>
          </a:solidFill>
          <a:ln w="4763">
            <a:solidFill>
              <a:srgbClr val="315DB8"/>
            </a:solidFill>
            <a:prstDash val="solid"/>
          </a:ln>
        </p:spPr>
      </p:sp>
      <p:sp>
        <p:nvSpPr>
          <p:cNvPr id="316" name="delta_w(0) detector arrow start">
            <a:extLst>
              <a:ext uri="{FF2B5EF4-FFF2-40B4-BE49-F238E27FC236}">
                <a16:creationId xmlns:a16="http://schemas.microsoft.com/office/drawing/2014/main" id="{9BAF44F6-7668-4466-BCD8-323DA4DDD079}"/>
              </a:ext>
            </a:extLst>
          </p:cNvPr>
          <p:cNvSpPr>
            <a:spLocks noGrp="1"/>
          </p:cNvSpPr>
          <p:nvPr/>
        </p:nvSpPr>
        <p:spPr>
          <a:xfrm>
            <a:off x="4095750" y="3733800"/>
            <a:ext cx="9525" cy="9525"/>
          </a:xfrm>
          <a:prstGeom prst="rect">
            <a:avLst/>
          </a:prstGeom>
          <a:noFill/>
          <a:ln w="0">
            <a:noFill/>
            <a:prstDash val="solid"/>
          </a:ln>
        </p:spPr>
      </p:sp>
      <p:sp>
        <p:nvSpPr>
          <p:cNvPr id="317" name="delta_w(0) detector input">
            <a:extLst>
              <a:ext uri="{FF2B5EF4-FFF2-40B4-BE49-F238E27FC236}">
                <a16:creationId xmlns:a16="http://schemas.microsoft.com/office/drawing/2014/main" id="{D1519FEC-3ECE-406F-BCC6-7765A7F28A96}"/>
              </a:ext>
            </a:extLst>
          </p:cNvPr>
          <p:cNvSpPr>
            <a:spLocks noGrp="1"/>
          </p:cNvSpPr>
          <p:nvPr/>
        </p:nvSpPr>
        <p:spPr>
          <a:xfrm>
            <a:off x="4095750" y="4000500"/>
            <a:ext cx="9525" cy="9525"/>
          </a:xfrm>
          <a:prstGeom prst="rect">
            <a:avLst/>
          </a:prstGeom>
          <a:noFill/>
          <a:ln w="0">
            <a:noFill/>
            <a:prstDash val="solid"/>
          </a:ln>
        </p:spPr>
      </p:sp>
      <p:cxnSp>
        <p:nvCxnSpPr>
          <p:cNvPr id="420" name="直接箭头连接符 419"/>
          <p:cNvCxnSpPr>
            <a:stCxn id="316" idx="2"/>
            <a:endCxn id="317" idx="0"/>
          </p:cNvCxnSpPr>
          <p:nvPr/>
        </p:nvCxnSpPr>
        <p:spPr>
          <a:xfrm>
            <a:off x="4100513" y="3743325"/>
            <a:ext cx="0" cy="257175"/>
          </a:xfrm>
          <a:prstGeom prst="straightConnector1">
            <a:avLst/>
          </a:prstGeom>
          <a:ln w="20955">
            <a:solidFill>
              <a:srgbClr val="315DB8"/>
            </a:solidFill>
            <a:prstDash val="solid"/>
            <a:tailEnd type="triangle" w="sm" len="sm"/>
          </a:ln>
        </p:spPr>
      </p:cxnSp>
      <p:sp>
        <p:nvSpPr>
          <p:cNvPr id="319" name="delta_w(0) port label">
            <a:extLst>
              <a:ext uri="{FF2B5EF4-FFF2-40B4-BE49-F238E27FC236}">
                <a16:creationId xmlns:a16="http://schemas.microsoft.com/office/drawing/2014/main" id="{80CA744A-2082-466F-8EFA-087D0BA5BDBA}"/>
              </a:ext>
            </a:extLst>
          </p:cNvPr>
          <p:cNvSpPr>
            <a:spLocks noGrp="1"/>
          </p:cNvSpPr>
          <p:nvPr/>
        </p:nvSpPr>
        <p:spPr>
          <a:xfrm>
            <a:off x="3430055" y="3737310"/>
            <a:ext cx="771517" cy="235184"/>
          </a:xfrm>
          <a:prstGeom prst="rect">
            <a:avLst/>
          </a:prstGeom>
          <a:noFill/>
          <a:ln w="0">
            <a:noFill/>
            <a:prstDash val="solid"/>
          </a:ln>
        </p:spPr>
        <p:txBody>
          <a:bodyPr>
            <a:normAutofit fontScale="96624"/>
          </a:bodyPr>
          <a:lstStyle/>
          <a:p>
            <a:pPr>
              <a:defRPr sz="788" b="1">
                <a:solidFill>
                  <a:srgbClr val="315DB8"/>
                </a:solidFill>
              </a:defRPr>
            </a:pPr>
            <a:r>
              <a:rPr sz="800" b="1" dirty="0" err="1">
                <a:solidFill>
                  <a:srgbClr val="315DB8"/>
                </a:solidFill>
              </a:rPr>
              <a:t>delta_w</a:t>
            </a:r>
            <a:r>
              <a:rPr sz="800" b="1" dirty="0">
                <a:solidFill>
                  <a:srgbClr val="315DB8"/>
                </a:solidFill>
              </a:rPr>
              <a:t>(0)</a:t>
            </a:r>
          </a:p>
        </p:txBody>
      </p:sp>
      <p:sp>
        <p:nvSpPr>
          <p:cNvPr id="320" name="cin branch vertical">
            <a:extLst>
              <a:ext uri="{FF2B5EF4-FFF2-40B4-BE49-F238E27FC236}">
                <a16:creationId xmlns:a16="http://schemas.microsoft.com/office/drawing/2014/main" id="{1C82A534-7B30-4445-AD2F-691E0858D103}"/>
              </a:ext>
            </a:extLst>
          </p:cNvPr>
          <p:cNvSpPr>
            <a:spLocks noGrp="1"/>
          </p:cNvSpPr>
          <p:nvPr/>
        </p:nvSpPr>
        <p:spPr>
          <a:xfrm>
            <a:off x="6048375" y="2619375"/>
            <a:ext cx="953" cy="1247775"/>
          </a:xfrm>
          <a:prstGeom prst="line">
            <a:avLst/>
          </a:prstGeom>
          <a:noFill/>
          <a:ln w="20955">
            <a:solidFill>
              <a:srgbClr val="315DB8"/>
            </a:solidFill>
            <a:prstDash val="solid"/>
          </a:ln>
        </p:spPr>
      </p:sp>
      <p:sp>
        <p:nvSpPr>
          <p:cNvPr id="321" name="cin branch horizontal">
            <a:extLst>
              <a:ext uri="{FF2B5EF4-FFF2-40B4-BE49-F238E27FC236}">
                <a16:creationId xmlns:a16="http://schemas.microsoft.com/office/drawing/2014/main" id="{0DD7C52E-D0E4-46F9-99CD-36FA2CECB739}"/>
              </a:ext>
            </a:extLst>
          </p:cNvPr>
          <p:cNvSpPr>
            <a:spLocks noGrp="1"/>
          </p:cNvSpPr>
          <p:nvPr/>
        </p:nvSpPr>
        <p:spPr>
          <a:xfrm>
            <a:off x="4762500" y="3857625"/>
            <a:ext cx="1285875" cy="953"/>
          </a:xfrm>
          <a:prstGeom prst="line">
            <a:avLst/>
          </a:prstGeom>
          <a:noFill/>
          <a:ln w="20955">
            <a:solidFill>
              <a:srgbClr val="315DB8"/>
            </a:solidFill>
            <a:prstDash val="solid"/>
          </a:ln>
        </p:spPr>
      </p:sp>
      <p:sp>
        <p:nvSpPr>
          <p:cNvPr id="322" name="cin junction">
            <a:extLst>
              <a:ext uri="{FF2B5EF4-FFF2-40B4-BE49-F238E27FC236}">
                <a16:creationId xmlns:a16="http://schemas.microsoft.com/office/drawing/2014/main" id="{3ADC5DB6-3150-45E3-BF91-A84074D1CB00}"/>
              </a:ext>
            </a:extLst>
          </p:cNvPr>
          <p:cNvSpPr>
            <a:spLocks noGrp="1"/>
          </p:cNvSpPr>
          <p:nvPr/>
        </p:nvSpPr>
        <p:spPr>
          <a:xfrm>
            <a:off x="6010275" y="2581275"/>
            <a:ext cx="76200" cy="76200"/>
          </a:xfrm>
          <a:prstGeom prst="ellipse">
            <a:avLst/>
          </a:prstGeom>
          <a:solidFill>
            <a:srgbClr val="315DB8"/>
          </a:solidFill>
          <a:ln w="4763">
            <a:solidFill>
              <a:srgbClr val="315DB8"/>
            </a:solidFill>
            <a:prstDash val="solid"/>
          </a:ln>
        </p:spPr>
      </p:sp>
      <p:sp>
        <p:nvSpPr>
          <p:cNvPr id="323" name="cin detector arrow start">
            <a:extLst>
              <a:ext uri="{FF2B5EF4-FFF2-40B4-BE49-F238E27FC236}">
                <a16:creationId xmlns:a16="http://schemas.microsoft.com/office/drawing/2014/main" id="{5712B36C-DC61-4625-BA16-BE3072BCAC36}"/>
              </a:ext>
            </a:extLst>
          </p:cNvPr>
          <p:cNvSpPr>
            <a:spLocks noGrp="1"/>
          </p:cNvSpPr>
          <p:nvPr/>
        </p:nvSpPr>
        <p:spPr>
          <a:xfrm>
            <a:off x="4762500" y="3857625"/>
            <a:ext cx="9525" cy="9525"/>
          </a:xfrm>
          <a:prstGeom prst="rect">
            <a:avLst/>
          </a:prstGeom>
          <a:noFill/>
          <a:ln w="0">
            <a:noFill/>
            <a:prstDash val="solid"/>
          </a:ln>
        </p:spPr>
      </p:sp>
      <p:sp>
        <p:nvSpPr>
          <p:cNvPr id="324" name="cin detector input">
            <a:extLst>
              <a:ext uri="{FF2B5EF4-FFF2-40B4-BE49-F238E27FC236}">
                <a16:creationId xmlns:a16="http://schemas.microsoft.com/office/drawing/2014/main" id="{045B3A50-C9E4-4E0C-95E0-59E92D70BA02}"/>
              </a:ext>
            </a:extLst>
          </p:cNvPr>
          <p:cNvSpPr>
            <a:spLocks noGrp="1"/>
          </p:cNvSpPr>
          <p:nvPr/>
        </p:nvSpPr>
        <p:spPr>
          <a:xfrm>
            <a:off x="4762500" y="4000500"/>
            <a:ext cx="9525" cy="9525"/>
          </a:xfrm>
          <a:prstGeom prst="rect">
            <a:avLst/>
          </a:prstGeom>
          <a:noFill/>
          <a:ln w="0">
            <a:noFill/>
            <a:prstDash val="solid"/>
          </a:ln>
        </p:spPr>
      </p:sp>
      <p:cxnSp>
        <p:nvCxnSpPr>
          <p:cNvPr id="427" name="直接箭头连接符 426"/>
          <p:cNvCxnSpPr>
            <a:stCxn id="323" idx="2"/>
            <a:endCxn id="324" idx="0"/>
          </p:cNvCxnSpPr>
          <p:nvPr/>
        </p:nvCxnSpPr>
        <p:spPr>
          <a:xfrm>
            <a:off x="4767263" y="3867150"/>
            <a:ext cx="0" cy="133350"/>
          </a:xfrm>
          <a:prstGeom prst="straightConnector1">
            <a:avLst/>
          </a:prstGeom>
          <a:ln w="20955">
            <a:solidFill>
              <a:srgbClr val="315DB8"/>
            </a:solidFill>
            <a:prstDash val="solid"/>
            <a:tailEnd type="triangle" w="sm" len="sm"/>
          </a:ln>
        </p:spPr>
      </p:cxnSp>
      <p:sp>
        <p:nvSpPr>
          <p:cNvPr id="326" name="cin detector port label">
            <a:extLst>
              <a:ext uri="{FF2B5EF4-FFF2-40B4-BE49-F238E27FC236}">
                <a16:creationId xmlns:a16="http://schemas.microsoft.com/office/drawing/2014/main" id="{0430C8F9-52D9-40E8-8B9E-162E4BF94CCE}"/>
              </a:ext>
            </a:extLst>
          </p:cNvPr>
          <p:cNvSpPr>
            <a:spLocks noGrp="1"/>
          </p:cNvSpPr>
          <p:nvPr/>
        </p:nvSpPr>
        <p:spPr>
          <a:xfrm>
            <a:off x="4958239" y="3818815"/>
            <a:ext cx="495300" cy="171450"/>
          </a:xfrm>
          <a:prstGeom prst="rect">
            <a:avLst/>
          </a:prstGeom>
          <a:noFill/>
          <a:ln w="0">
            <a:noFill/>
            <a:prstDash val="solid"/>
          </a:ln>
        </p:spPr>
        <p:txBody>
          <a:bodyPr>
            <a:noAutofit/>
          </a:bodyPr>
          <a:lstStyle/>
          <a:p>
            <a:pPr>
              <a:defRPr sz="788" b="1">
                <a:solidFill>
                  <a:srgbClr val="315DB8"/>
                </a:solidFill>
              </a:defRPr>
            </a:pPr>
            <a:r>
              <a:rPr sz="800" b="1" dirty="0" err="1">
                <a:solidFill>
                  <a:srgbClr val="315DB8"/>
                </a:solidFill>
              </a:rPr>
              <a:t>cin</a:t>
            </a:r>
            <a:endParaRPr sz="800" b="1" dirty="0">
              <a:solidFill>
                <a:srgbClr val="315DB8"/>
              </a:solidFill>
            </a:endParaRPr>
          </a:p>
        </p:txBody>
      </p:sp>
    </p:spTree>
    <p:extLst>
      <p:ext uri="{BB962C8B-B14F-4D97-AF65-F5344CB8AC3E}">
        <p14:creationId xmlns:p14="http://schemas.microsoft.com/office/powerpoint/2010/main" val="1818458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8C0B5-AD3C-CC23-7738-B72E72AEEEF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512A909-1627-6722-ECA8-B85CC080839C}"/>
              </a:ext>
            </a:extLst>
          </p:cNvPr>
          <p:cNvSpPr>
            <a:spLocks noGrp="1"/>
          </p:cNvSpPr>
          <p:nvPr>
            <p:ph type="title"/>
          </p:nvPr>
        </p:nvSpPr>
        <p:spPr/>
        <p:txBody>
          <a:bodyPr/>
          <a:lstStyle/>
          <a:p>
            <a:r>
              <a:rPr lang="en-US" altLang="zh-CN" dirty="0"/>
              <a:t>Digital SDSP Implementation</a:t>
            </a:r>
            <a:endParaRPr lang="zh-CN" altLang="en-US" dirty="0"/>
          </a:p>
        </p:txBody>
      </p:sp>
      <p:sp>
        <p:nvSpPr>
          <p:cNvPr id="184" name="anchor spk start">
            <a:extLst>
              <a:ext uri="{FF2B5EF4-FFF2-40B4-BE49-F238E27FC236}">
                <a16:creationId xmlns:a16="http://schemas.microsoft.com/office/drawing/2014/main" id="{7BDD8600-3498-8F67-97BA-4683D8A4FD47}"/>
              </a:ext>
            </a:extLst>
          </p:cNvPr>
          <p:cNvSpPr>
            <a:spLocks noGrp="1"/>
          </p:cNvSpPr>
          <p:nvPr/>
        </p:nvSpPr>
        <p:spPr>
          <a:xfrm>
            <a:off x="1752600" y="2466975"/>
            <a:ext cx="19050" cy="19050"/>
          </a:xfrm>
          <a:prstGeom prst="ellipse">
            <a:avLst/>
          </a:prstGeom>
          <a:noFill/>
          <a:ln w="0">
            <a:noFill/>
            <a:prstDash val="solid"/>
          </a:ln>
        </p:spPr>
      </p:sp>
      <p:sp>
        <p:nvSpPr>
          <p:cNvPr id="185" name="anchor spk target">
            <a:extLst>
              <a:ext uri="{FF2B5EF4-FFF2-40B4-BE49-F238E27FC236}">
                <a16:creationId xmlns:a16="http://schemas.microsoft.com/office/drawing/2014/main" id="{17B4A92B-AFEC-39AF-5076-5AB63932C0BE}"/>
              </a:ext>
            </a:extLst>
          </p:cNvPr>
          <p:cNvSpPr>
            <a:spLocks noGrp="1"/>
          </p:cNvSpPr>
          <p:nvPr/>
        </p:nvSpPr>
        <p:spPr>
          <a:xfrm>
            <a:off x="3562350" y="2466975"/>
            <a:ext cx="19050" cy="19050"/>
          </a:xfrm>
          <a:prstGeom prst="ellipse">
            <a:avLst/>
          </a:prstGeom>
          <a:noFill/>
          <a:ln w="0">
            <a:noFill/>
            <a:prstDash val="solid"/>
          </a:ln>
        </p:spPr>
      </p:sp>
      <p:sp>
        <p:nvSpPr>
          <p:cNvPr id="186" name="anchor bist start">
            <a:extLst>
              <a:ext uri="{FF2B5EF4-FFF2-40B4-BE49-F238E27FC236}">
                <a16:creationId xmlns:a16="http://schemas.microsoft.com/office/drawing/2014/main" id="{A138575D-FEF6-3C4A-FBA3-1B4F7129160B}"/>
              </a:ext>
            </a:extLst>
          </p:cNvPr>
          <p:cNvSpPr>
            <a:spLocks noGrp="1"/>
          </p:cNvSpPr>
          <p:nvPr/>
        </p:nvSpPr>
        <p:spPr>
          <a:xfrm>
            <a:off x="1752600" y="2847975"/>
            <a:ext cx="19050" cy="19050"/>
          </a:xfrm>
          <a:prstGeom prst="ellipse">
            <a:avLst/>
          </a:prstGeom>
          <a:noFill/>
          <a:ln w="0">
            <a:noFill/>
            <a:prstDash val="solid"/>
          </a:ln>
        </p:spPr>
      </p:sp>
      <p:sp>
        <p:nvSpPr>
          <p:cNvPr id="187" name="anchor bist target">
            <a:extLst>
              <a:ext uri="{FF2B5EF4-FFF2-40B4-BE49-F238E27FC236}">
                <a16:creationId xmlns:a16="http://schemas.microsoft.com/office/drawing/2014/main" id="{9641A6DA-F306-FEB8-0285-76379526B9BF}"/>
              </a:ext>
            </a:extLst>
          </p:cNvPr>
          <p:cNvSpPr>
            <a:spLocks noGrp="1"/>
          </p:cNvSpPr>
          <p:nvPr/>
        </p:nvSpPr>
        <p:spPr>
          <a:xfrm>
            <a:off x="3562350" y="2847975"/>
            <a:ext cx="19050" cy="19050"/>
          </a:xfrm>
          <a:prstGeom prst="ellipse">
            <a:avLst/>
          </a:prstGeom>
          <a:noFill/>
          <a:ln w="0">
            <a:noFill/>
            <a:prstDash val="solid"/>
          </a:ln>
        </p:spPr>
      </p:sp>
      <p:sp>
        <p:nvSpPr>
          <p:cNvPr id="188" name="anchor up start">
            <a:extLst>
              <a:ext uri="{FF2B5EF4-FFF2-40B4-BE49-F238E27FC236}">
                <a16:creationId xmlns:a16="http://schemas.microsoft.com/office/drawing/2014/main" id="{AAF466C6-7F0E-45A6-F973-3AFF7E30FCD1}"/>
              </a:ext>
            </a:extLst>
          </p:cNvPr>
          <p:cNvSpPr>
            <a:spLocks noGrp="1"/>
          </p:cNvSpPr>
          <p:nvPr/>
        </p:nvSpPr>
        <p:spPr>
          <a:xfrm>
            <a:off x="1752600" y="3228975"/>
            <a:ext cx="19050" cy="19050"/>
          </a:xfrm>
          <a:prstGeom prst="ellipse">
            <a:avLst/>
          </a:prstGeom>
          <a:noFill/>
          <a:ln w="0">
            <a:noFill/>
            <a:prstDash val="solid"/>
          </a:ln>
        </p:spPr>
      </p:sp>
      <p:sp>
        <p:nvSpPr>
          <p:cNvPr id="189" name="anchor up gen target">
            <a:extLst>
              <a:ext uri="{FF2B5EF4-FFF2-40B4-BE49-F238E27FC236}">
                <a16:creationId xmlns:a16="http://schemas.microsoft.com/office/drawing/2014/main" id="{ECE71F14-A1B9-DC0C-FF42-5047D4877EC3}"/>
              </a:ext>
            </a:extLst>
          </p:cNvPr>
          <p:cNvSpPr>
            <a:spLocks noGrp="1"/>
          </p:cNvSpPr>
          <p:nvPr/>
        </p:nvSpPr>
        <p:spPr>
          <a:xfrm>
            <a:off x="3562350" y="3228975"/>
            <a:ext cx="19050" cy="19050"/>
          </a:xfrm>
          <a:prstGeom prst="ellipse">
            <a:avLst/>
          </a:prstGeom>
          <a:noFill/>
          <a:ln w="0">
            <a:noFill/>
            <a:prstDash val="solid"/>
          </a:ln>
        </p:spPr>
      </p:sp>
      <p:sp>
        <p:nvSpPr>
          <p:cNvPr id="190" name="anchor up detector start">
            <a:extLst>
              <a:ext uri="{FF2B5EF4-FFF2-40B4-BE49-F238E27FC236}">
                <a16:creationId xmlns:a16="http://schemas.microsoft.com/office/drawing/2014/main" id="{45940692-663E-9CE6-8C9A-98EE7801191C}"/>
              </a:ext>
            </a:extLst>
          </p:cNvPr>
          <p:cNvSpPr>
            <a:spLocks noGrp="1"/>
          </p:cNvSpPr>
          <p:nvPr/>
        </p:nvSpPr>
        <p:spPr>
          <a:xfrm>
            <a:off x="2943225" y="4181475"/>
            <a:ext cx="19050" cy="19050"/>
          </a:xfrm>
          <a:prstGeom prst="ellipse">
            <a:avLst/>
          </a:prstGeom>
          <a:noFill/>
          <a:ln w="0">
            <a:noFill/>
            <a:prstDash val="solid"/>
          </a:ln>
        </p:spPr>
      </p:sp>
      <p:sp>
        <p:nvSpPr>
          <p:cNvPr id="191" name="anchor up detector target">
            <a:extLst>
              <a:ext uri="{FF2B5EF4-FFF2-40B4-BE49-F238E27FC236}">
                <a16:creationId xmlns:a16="http://schemas.microsoft.com/office/drawing/2014/main" id="{3F33ED70-8C6B-9FF1-A91D-92EFDDB42965}"/>
              </a:ext>
            </a:extLst>
          </p:cNvPr>
          <p:cNvSpPr>
            <a:spLocks noGrp="1"/>
          </p:cNvSpPr>
          <p:nvPr/>
        </p:nvSpPr>
        <p:spPr>
          <a:xfrm>
            <a:off x="3562350" y="4181475"/>
            <a:ext cx="19050" cy="19050"/>
          </a:xfrm>
          <a:prstGeom prst="ellipse">
            <a:avLst/>
          </a:prstGeom>
          <a:noFill/>
          <a:ln w="0">
            <a:noFill/>
            <a:prstDash val="solid"/>
          </a:ln>
        </p:spPr>
      </p:sp>
      <p:sp>
        <p:nvSpPr>
          <p:cNvPr id="192" name="anchor down start">
            <a:extLst>
              <a:ext uri="{FF2B5EF4-FFF2-40B4-BE49-F238E27FC236}">
                <a16:creationId xmlns:a16="http://schemas.microsoft.com/office/drawing/2014/main" id="{FD4B1778-12E0-6EE6-BC48-6785FECB608B}"/>
              </a:ext>
            </a:extLst>
          </p:cNvPr>
          <p:cNvSpPr>
            <a:spLocks noGrp="1"/>
          </p:cNvSpPr>
          <p:nvPr/>
        </p:nvSpPr>
        <p:spPr>
          <a:xfrm>
            <a:off x="1752600" y="3609975"/>
            <a:ext cx="19050" cy="19050"/>
          </a:xfrm>
          <a:prstGeom prst="ellipse">
            <a:avLst/>
          </a:prstGeom>
          <a:noFill/>
          <a:ln w="0">
            <a:noFill/>
            <a:prstDash val="solid"/>
          </a:ln>
        </p:spPr>
      </p:sp>
      <p:sp>
        <p:nvSpPr>
          <p:cNvPr id="193" name="anchor down gen target">
            <a:extLst>
              <a:ext uri="{FF2B5EF4-FFF2-40B4-BE49-F238E27FC236}">
                <a16:creationId xmlns:a16="http://schemas.microsoft.com/office/drawing/2014/main" id="{BA245466-F057-465C-4F63-2FB6D979D2BF}"/>
              </a:ext>
            </a:extLst>
          </p:cNvPr>
          <p:cNvSpPr>
            <a:spLocks noGrp="1"/>
          </p:cNvSpPr>
          <p:nvPr/>
        </p:nvSpPr>
        <p:spPr>
          <a:xfrm>
            <a:off x="3562350" y="3609975"/>
            <a:ext cx="19050" cy="19050"/>
          </a:xfrm>
          <a:prstGeom prst="ellipse">
            <a:avLst/>
          </a:prstGeom>
          <a:noFill/>
          <a:ln w="0">
            <a:noFill/>
            <a:prstDash val="solid"/>
          </a:ln>
        </p:spPr>
      </p:sp>
      <p:sp>
        <p:nvSpPr>
          <p:cNvPr id="194" name="anchor down detector start">
            <a:extLst>
              <a:ext uri="{FF2B5EF4-FFF2-40B4-BE49-F238E27FC236}">
                <a16:creationId xmlns:a16="http://schemas.microsoft.com/office/drawing/2014/main" id="{E2DBDEF8-1B81-AF13-1F86-4E966341A573}"/>
              </a:ext>
            </a:extLst>
          </p:cNvPr>
          <p:cNvSpPr>
            <a:spLocks noGrp="1"/>
          </p:cNvSpPr>
          <p:nvPr/>
        </p:nvSpPr>
        <p:spPr>
          <a:xfrm>
            <a:off x="3181350" y="4419600"/>
            <a:ext cx="19050" cy="19050"/>
          </a:xfrm>
          <a:prstGeom prst="ellipse">
            <a:avLst/>
          </a:prstGeom>
          <a:noFill/>
          <a:ln w="0">
            <a:noFill/>
            <a:prstDash val="solid"/>
          </a:ln>
        </p:spPr>
      </p:sp>
      <p:sp>
        <p:nvSpPr>
          <p:cNvPr id="195" name="anchor down detector target">
            <a:extLst>
              <a:ext uri="{FF2B5EF4-FFF2-40B4-BE49-F238E27FC236}">
                <a16:creationId xmlns:a16="http://schemas.microsoft.com/office/drawing/2014/main" id="{227D910F-3092-38AB-5A35-7DF5B0F00E06}"/>
              </a:ext>
            </a:extLst>
          </p:cNvPr>
          <p:cNvSpPr>
            <a:spLocks noGrp="1"/>
          </p:cNvSpPr>
          <p:nvPr/>
        </p:nvSpPr>
        <p:spPr>
          <a:xfrm>
            <a:off x="3562350" y="4419600"/>
            <a:ext cx="19050" cy="19050"/>
          </a:xfrm>
          <a:prstGeom prst="ellipse">
            <a:avLst/>
          </a:prstGeom>
          <a:noFill/>
          <a:ln w="0">
            <a:noFill/>
            <a:prstDash val="solid"/>
          </a:ln>
        </p:spPr>
      </p:sp>
      <p:sp>
        <p:nvSpPr>
          <p:cNvPr id="196" name="anchor weight input start">
            <a:extLst>
              <a:ext uri="{FF2B5EF4-FFF2-40B4-BE49-F238E27FC236}">
                <a16:creationId xmlns:a16="http://schemas.microsoft.com/office/drawing/2014/main" id="{7780BE90-9973-F1EB-C6BB-AEE0E02BFC9A}"/>
              </a:ext>
            </a:extLst>
          </p:cNvPr>
          <p:cNvSpPr>
            <a:spLocks noGrp="1"/>
          </p:cNvSpPr>
          <p:nvPr/>
        </p:nvSpPr>
        <p:spPr>
          <a:xfrm>
            <a:off x="5895975" y="1466850"/>
            <a:ext cx="19050" cy="19050"/>
          </a:xfrm>
          <a:prstGeom prst="ellipse">
            <a:avLst/>
          </a:prstGeom>
          <a:noFill/>
          <a:ln w="0">
            <a:noFill/>
            <a:prstDash val="solid"/>
          </a:ln>
        </p:spPr>
      </p:sp>
      <p:sp>
        <p:nvSpPr>
          <p:cNvPr id="197" name="anchor weight input target">
            <a:extLst>
              <a:ext uri="{FF2B5EF4-FFF2-40B4-BE49-F238E27FC236}">
                <a16:creationId xmlns:a16="http://schemas.microsoft.com/office/drawing/2014/main" id="{642256CF-A3BE-0838-E84B-CFEEF484AD0D}"/>
              </a:ext>
            </a:extLst>
          </p:cNvPr>
          <p:cNvSpPr>
            <a:spLocks noGrp="1"/>
          </p:cNvSpPr>
          <p:nvPr/>
        </p:nvSpPr>
        <p:spPr>
          <a:xfrm>
            <a:off x="5895975" y="1800225"/>
            <a:ext cx="19050" cy="19050"/>
          </a:xfrm>
          <a:prstGeom prst="ellipse">
            <a:avLst/>
          </a:prstGeom>
          <a:noFill/>
          <a:ln w="0">
            <a:noFill/>
            <a:prstDash val="solid"/>
          </a:ln>
        </p:spPr>
      </p:sp>
      <p:sp>
        <p:nvSpPr>
          <p:cNvPr id="198" name="anchor weight gen start">
            <a:extLst>
              <a:ext uri="{FF2B5EF4-FFF2-40B4-BE49-F238E27FC236}">
                <a16:creationId xmlns:a16="http://schemas.microsoft.com/office/drawing/2014/main" id="{EB36969F-805A-D529-BEA2-D04DB99420EE}"/>
              </a:ext>
            </a:extLst>
          </p:cNvPr>
          <p:cNvSpPr>
            <a:spLocks noGrp="1"/>
          </p:cNvSpPr>
          <p:nvPr/>
        </p:nvSpPr>
        <p:spPr>
          <a:xfrm>
            <a:off x="4419600" y="1800225"/>
            <a:ext cx="19050" cy="19050"/>
          </a:xfrm>
          <a:prstGeom prst="ellipse">
            <a:avLst/>
          </a:prstGeom>
          <a:noFill/>
          <a:ln w="0">
            <a:noFill/>
            <a:prstDash val="solid"/>
          </a:ln>
        </p:spPr>
      </p:sp>
      <p:sp>
        <p:nvSpPr>
          <p:cNvPr id="199" name="anchor weight gen target">
            <a:extLst>
              <a:ext uri="{FF2B5EF4-FFF2-40B4-BE49-F238E27FC236}">
                <a16:creationId xmlns:a16="http://schemas.microsoft.com/office/drawing/2014/main" id="{8AA359D5-D8CF-3122-5241-90490DBE507E}"/>
              </a:ext>
            </a:extLst>
          </p:cNvPr>
          <p:cNvSpPr>
            <a:spLocks noGrp="1"/>
          </p:cNvSpPr>
          <p:nvPr/>
        </p:nvSpPr>
        <p:spPr>
          <a:xfrm>
            <a:off x="4419600" y="2324100"/>
            <a:ext cx="19050" cy="19050"/>
          </a:xfrm>
          <a:prstGeom prst="ellipse">
            <a:avLst/>
          </a:prstGeom>
          <a:noFill/>
          <a:ln w="0">
            <a:noFill/>
            <a:prstDash val="solid"/>
          </a:ln>
        </p:spPr>
      </p:sp>
      <p:sp>
        <p:nvSpPr>
          <p:cNvPr id="200" name="anchor weight adder start">
            <a:extLst>
              <a:ext uri="{FF2B5EF4-FFF2-40B4-BE49-F238E27FC236}">
                <a16:creationId xmlns:a16="http://schemas.microsoft.com/office/drawing/2014/main" id="{B7364792-4FFF-67D9-4906-3F626891CF9D}"/>
              </a:ext>
            </a:extLst>
          </p:cNvPr>
          <p:cNvSpPr>
            <a:spLocks noGrp="1"/>
          </p:cNvSpPr>
          <p:nvPr/>
        </p:nvSpPr>
        <p:spPr>
          <a:xfrm>
            <a:off x="7229475" y="1800225"/>
            <a:ext cx="19050" cy="19050"/>
          </a:xfrm>
          <a:prstGeom prst="ellipse">
            <a:avLst/>
          </a:prstGeom>
          <a:noFill/>
          <a:ln w="0">
            <a:noFill/>
            <a:prstDash val="solid"/>
          </a:ln>
        </p:spPr>
      </p:sp>
      <p:sp>
        <p:nvSpPr>
          <p:cNvPr id="201" name="anchor weight adder target">
            <a:extLst>
              <a:ext uri="{FF2B5EF4-FFF2-40B4-BE49-F238E27FC236}">
                <a16:creationId xmlns:a16="http://schemas.microsoft.com/office/drawing/2014/main" id="{CF3D0E8D-E0B2-7A6D-6210-E3976AE4E724}"/>
              </a:ext>
            </a:extLst>
          </p:cNvPr>
          <p:cNvSpPr>
            <a:spLocks noGrp="1"/>
          </p:cNvSpPr>
          <p:nvPr/>
        </p:nvSpPr>
        <p:spPr>
          <a:xfrm>
            <a:off x="7229475" y="2466975"/>
            <a:ext cx="19050" cy="19050"/>
          </a:xfrm>
          <a:prstGeom prst="ellipse">
            <a:avLst/>
          </a:prstGeom>
          <a:noFill/>
          <a:ln w="0">
            <a:noFill/>
            <a:prstDash val="solid"/>
          </a:ln>
        </p:spPr>
      </p:sp>
      <p:sp>
        <p:nvSpPr>
          <p:cNvPr id="202" name="anchor weight hold start">
            <a:extLst>
              <a:ext uri="{FF2B5EF4-FFF2-40B4-BE49-F238E27FC236}">
                <a16:creationId xmlns:a16="http://schemas.microsoft.com/office/drawing/2014/main" id="{131DCE8B-B95F-61FF-35AB-96CABACC1EE9}"/>
              </a:ext>
            </a:extLst>
          </p:cNvPr>
          <p:cNvSpPr>
            <a:spLocks noGrp="1"/>
          </p:cNvSpPr>
          <p:nvPr/>
        </p:nvSpPr>
        <p:spPr>
          <a:xfrm>
            <a:off x="8420100" y="2895600"/>
            <a:ext cx="19050" cy="19050"/>
          </a:xfrm>
          <a:prstGeom prst="ellipse">
            <a:avLst/>
          </a:prstGeom>
          <a:noFill/>
          <a:ln w="0">
            <a:noFill/>
            <a:prstDash val="solid"/>
          </a:ln>
        </p:spPr>
      </p:sp>
      <p:sp>
        <p:nvSpPr>
          <p:cNvPr id="203" name="anchor weight hold target">
            <a:extLst>
              <a:ext uri="{FF2B5EF4-FFF2-40B4-BE49-F238E27FC236}">
                <a16:creationId xmlns:a16="http://schemas.microsoft.com/office/drawing/2014/main" id="{4B3740AB-A769-0651-C773-47824480D079}"/>
              </a:ext>
            </a:extLst>
          </p:cNvPr>
          <p:cNvSpPr>
            <a:spLocks noGrp="1"/>
          </p:cNvSpPr>
          <p:nvPr/>
        </p:nvSpPr>
        <p:spPr>
          <a:xfrm>
            <a:off x="8658225" y="2895600"/>
            <a:ext cx="19050" cy="19050"/>
          </a:xfrm>
          <a:prstGeom prst="ellipse">
            <a:avLst/>
          </a:prstGeom>
          <a:noFill/>
          <a:ln w="0">
            <a:noFill/>
            <a:prstDash val="solid"/>
          </a:ln>
        </p:spPr>
      </p:sp>
      <p:sp>
        <p:nvSpPr>
          <p:cNvPr id="204" name="anchor delta start">
            <a:extLst>
              <a:ext uri="{FF2B5EF4-FFF2-40B4-BE49-F238E27FC236}">
                <a16:creationId xmlns:a16="http://schemas.microsoft.com/office/drawing/2014/main" id="{40E576BC-E952-2558-2E5B-2CCDABD089DA}"/>
              </a:ext>
            </a:extLst>
          </p:cNvPr>
          <p:cNvSpPr>
            <a:spLocks noGrp="1"/>
          </p:cNvSpPr>
          <p:nvPr/>
        </p:nvSpPr>
        <p:spPr>
          <a:xfrm>
            <a:off x="5276850" y="2847975"/>
            <a:ext cx="19050" cy="19050"/>
          </a:xfrm>
          <a:prstGeom prst="ellipse">
            <a:avLst/>
          </a:prstGeom>
          <a:noFill/>
          <a:ln w="0">
            <a:noFill/>
            <a:prstDash val="solid"/>
          </a:ln>
        </p:spPr>
      </p:sp>
      <p:sp>
        <p:nvSpPr>
          <p:cNvPr id="205" name="anchor delta target">
            <a:extLst>
              <a:ext uri="{FF2B5EF4-FFF2-40B4-BE49-F238E27FC236}">
                <a16:creationId xmlns:a16="http://schemas.microsoft.com/office/drawing/2014/main" id="{FFCD4090-4874-55D4-98F9-AA7283017FA4}"/>
              </a:ext>
            </a:extLst>
          </p:cNvPr>
          <p:cNvSpPr>
            <a:spLocks noGrp="1"/>
          </p:cNvSpPr>
          <p:nvPr/>
        </p:nvSpPr>
        <p:spPr>
          <a:xfrm>
            <a:off x="6419850" y="2847975"/>
            <a:ext cx="19050" cy="19050"/>
          </a:xfrm>
          <a:prstGeom prst="ellipse">
            <a:avLst/>
          </a:prstGeom>
          <a:noFill/>
          <a:ln w="0">
            <a:noFill/>
            <a:prstDash val="solid"/>
          </a:ln>
        </p:spPr>
      </p:sp>
      <p:sp>
        <p:nvSpPr>
          <p:cNvPr id="206" name="anchor sum start">
            <a:extLst>
              <a:ext uri="{FF2B5EF4-FFF2-40B4-BE49-F238E27FC236}">
                <a16:creationId xmlns:a16="http://schemas.microsoft.com/office/drawing/2014/main" id="{B307A7EF-D51E-DD90-D8C9-967354F2EA47}"/>
              </a:ext>
            </a:extLst>
          </p:cNvPr>
          <p:cNvSpPr>
            <a:spLocks noGrp="1"/>
          </p:cNvSpPr>
          <p:nvPr/>
        </p:nvSpPr>
        <p:spPr>
          <a:xfrm>
            <a:off x="8039100" y="3419475"/>
            <a:ext cx="19050" cy="19050"/>
          </a:xfrm>
          <a:prstGeom prst="ellipse">
            <a:avLst/>
          </a:prstGeom>
          <a:noFill/>
          <a:ln w="0">
            <a:noFill/>
            <a:prstDash val="solid"/>
          </a:ln>
        </p:spPr>
      </p:sp>
      <p:sp>
        <p:nvSpPr>
          <p:cNvPr id="207" name="anchor sum target">
            <a:extLst>
              <a:ext uri="{FF2B5EF4-FFF2-40B4-BE49-F238E27FC236}">
                <a16:creationId xmlns:a16="http://schemas.microsoft.com/office/drawing/2014/main" id="{F96A4E49-53A2-DF79-8F93-CAFFD21A7372}"/>
              </a:ext>
            </a:extLst>
          </p:cNvPr>
          <p:cNvSpPr>
            <a:spLocks noGrp="1"/>
          </p:cNvSpPr>
          <p:nvPr/>
        </p:nvSpPr>
        <p:spPr>
          <a:xfrm>
            <a:off x="8658225" y="3419475"/>
            <a:ext cx="19050" cy="19050"/>
          </a:xfrm>
          <a:prstGeom prst="ellipse">
            <a:avLst/>
          </a:prstGeom>
          <a:noFill/>
          <a:ln w="0">
            <a:noFill/>
            <a:prstDash val="solid"/>
          </a:ln>
        </p:spPr>
      </p:sp>
      <p:sp>
        <p:nvSpPr>
          <p:cNvPr id="208" name="anchor mux output start">
            <a:extLst>
              <a:ext uri="{FF2B5EF4-FFF2-40B4-BE49-F238E27FC236}">
                <a16:creationId xmlns:a16="http://schemas.microsoft.com/office/drawing/2014/main" id="{049C43FE-364E-2868-8A3D-E985B3C8D8A7}"/>
              </a:ext>
            </a:extLst>
          </p:cNvPr>
          <p:cNvSpPr>
            <a:spLocks noGrp="1"/>
          </p:cNvSpPr>
          <p:nvPr/>
        </p:nvSpPr>
        <p:spPr>
          <a:xfrm>
            <a:off x="9801225" y="3181350"/>
            <a:ext cx="19050" cy="19050"/>
          </a:xfrm>
          <a:prstGeom prst="ellipse">
            <a:avLst/>
          </a:prstGeom>
          <a:noFill/>
          <a:ln w="0">
            <a:noFill/>
            <a:prstDash val="solid"/>
          </a:ln>
        </p:spPr>
      </p:sp>
      <p:sp>
        <p:nvSpPr>
          <p:cNvPr id="209" name="anchor register input target">
            <a:extLst>
              <a:ext uri="{FF2B5EF4-FFF2-40B4-BE49-F238E27FC236}">
                <a16:creationId xmlns:a16="http://schemas.microsoft.com/office/drawing/2014/main" id="{5A36AE22-18CB-B5B4-AD3D-CD294517D86B}"/>
              </a:ext>
            </a:extLst>
          </p:cNvPr>
          <p:cNvSpPr>
            <a:spLocks noGrp="1"/>
          </p:cNvSpPr>
          <p:nvPr/>
        </p:nvSpPr>
        <p:spPr>
          <a:xfrm>
            <a:off x="10182225" y="3181350"/>
            <a:ext cx="19050" cy="19050"/>
          </a:xfrm>
          <a:prstGeom prst="ellipse">
            <a:avLst/>
          </a:prstGeom>
          <a:noFill/>
          <a:ln w="0">
            <a:noFill/>
            <a:prstDash val="solid"/>
          </a:ln>
        </p:spPr>
      </p:sp>
      <p:sp>
        <p:nvSpPr>
          <p:cNvPr id="210" name="anchor register output start">
            <a:extLst>
              <a:ext uri="{FF2B5EF4-FFF2-40B4-BE49-F238E27FC236}">
                <a16:creationId xmlns:a16="http://schemas.microsoft.com/office/drawing/2014/main" id="{EFDADAC9-CE9B-F7F7-0C3B-9347B988901F}"/>
              </a:ext>
            </a:extLst>
          </p:cNvPr>
          <p:cNvSpPr>
            <a:spLocks noGrp="1"/>
          </p:cNvSpPr>
          <p:nvPr/>
        </p:nvSpPr>
        <p:spPr>
          <a:xfrm>
            <a:off x="11134725" y="3181350"/>
            <a:ext cx="19050" cy="19050"/>
          </a:xfrm>
          <a:prstGeom prst="ellipse">
            <a:avLst/>
          </a:prstGeom>
          <a:noFill/>
          <a:ln w="0">
            <a:noFill/>
            <a:prstDash val="solid"/>
          </a:ln>
        </p:spPr>
      </p:sp>
      <p:sp>
        <p:nvSpPr>
          <p:cNvPr id="211" name="anchor output target">
            <a:extLst>
              <a:ext uri="{FF2B5EF4-FFF2-40B4-BE49-F238E27FC236}">
                <a16:creationId xmlns:a16="http://schemas.microsoft.com/office/drawing/2014/main" id="{3FFDCA7B-B815-8D68-100F-3829CA3208E7}"/>
              </a:ext>
            </a:extLst>
          </p:cNvPr>
          <p:cNvSpPr>
            <a:spLocks noGrp="1"/>
          </p:cNvSpPr>
          <p:nvPr/>
        </p:nvSpPr>
        <p:spPr>
          <a:xfrm>
            <a:off x="11658600" y="3181350"/>
            <a:ext cx="19050" cy="19050"/>
          </a:xfrm>
          <a:prstGeom prst="ellipse">
            <a:avLst/>
          </a:prstGeom>
          <a:noFill/>
          <a:ln w="0">
            <a:noFill/>
            <a:prstDash val="solid"/>
          </a:ln>
        </p:spPr>
      </p:sp>
      <p:sp>
        <p:nvSpPr>
          <p:cNvPr id="212" name="anchor status detector start">
            <a:extLst>
              <a:ext uri="{FF2B5EF4-FFF2-40B4-BE49-F238E27FC236}">
                <a16:creationId xmlns:a16="http://schemas.microsoft.com/office/drawing/2014/main" id="{0F5F9B02-4044-7366-B858-57BA9DC418CF}"/>
              </a:ext>
            </a:extLst>
          </p:cNvPr>
          <p:cNvSpPr>
            <a:spLocks noGrp="1"/>
          </p:cNvSpPr>
          <p:nvPr/>
        </p:nvSpPr>
        <p:spPr>
          <a:xfrm>
            <a:off x="5562600" y="4229100"/>
            <a:ext cx="19050" cy="19050"/>
          </a:xfrm>
          <a:prstGeom prst="ellipse">
            <a:avLst/>
          </a:prstGeom>
          <a:noFill/>
          <a:ln w="0">
            <a:noFill/>
            <a:prstDash val="solid"/>
          </a:ln>
        </p:spPr>
      </p:sp>
      <p:sp>
        <p:nvSpPr>
          <p:cNvPr id="213" name="anchor status detector target">
            <a:extLst>
              <a:ext uri="{FF2B5EF4-FFF2-40B4-BE49-F238E27FC236}">
                <a16:creationId xmlns:a16="http://schemas.microsoft.com/office/drawing/2014/main" id="{CBF363DF-7910-BB0F-9673-04E334B87FC9}"/>
              </a:ext>
            </a:extLst>
          </p:cNvPr>
          <p:cNvSpPr>
            <a:spLocks noGrp="1"/>
          </p:cNvSpPr>
          <p:nvPr/>
        </p:nvSpPr>
        <p:spPr>
          <a:xfrm>
            <a:off x="5276850" y="4229100"/>
            <a:ext cx="19050" cy="19050"/>
          </a:xfrm>
          <a:prstGeom prst="ellipse">
            <a:avLst/>
          </a:prstGeom>
          <a:noFill/>
          <a:ln w="0">
            <a:noFill/>
            <a:prstDash val="solid"/>
          </a:ln>
        </p:spPr>
      </p:sp>
      <p:sp>
        <p:nvSpPr>
          <p:cNvPr id="214" name="anchor boundary start">
            <a:extLst>
              <a:ext uri="{FF2B5EF4-FFF2-40B4-BE49-F238E27FC236}">
                <a16:creationId xmlns:a16="http://schemas.microsoft.com/office/drawing/2014/main" id="{C0CE1B33-1434-FEE3-C275-BC66FFD75A90}"/>
              </a:ext>
            </a:extLst>
          </p:cNvPr>
          <p:cNvSpPr>
            <a:spLocks noGrp="1"/>
          </p:cNvSpPr>
          <p:nvPr/>
        </p:nvSpPr>
        <p:spPr>
          <a:xfrm>
            <a:off x="5276850" y="4514850"/>
            <a:ext cx="19050" cy="19050"/>
          </a:xfrm>
          <a:prstGeom prst="ellipse">
            <a:avLst/>
          </a:prstGeom>
          <a:noFill/>
          <a:ln w="0">
            <a:noFill/>
            <a:prstDash val="solid"/>
          </a:ln>
        </p:spPr>
      </p:sp>
      <p:sp>
        <p:nvSpPr>
          <p:cNvPr id="215" name="anchor boundary target">
            <a:extLst>
              <a:ext uri="{FF2B5EF4-FFF2-40B4-BE49-F238E27FC236}">
                <a16:creationId xmlns:a16="http://schemas.microsoft.com/office/drawing/2014/main" id="{7203F4F7-2D93-BAE5-A1B1-BE5C8E081167}"/>
              </a:ext>
            </a:extLst>
          </p:cNvPr>
          <p:cNvSpPr>
            <a:spLocks noGrp="1"/>
          </p:cNvSpPr>
          <p:nvPr/>
        </p:nvSpPr>
        <p:spPr>
          <a:xfrm>
            <a:off x="9229725" y="3781425"/>
            <a:ext cx="19050" cy="19050"/>
          </a:xfrm>
          <a:prstGeom prst="ellipse">
            <a:avLst/>
          </a:prstGeom>
          <a:noFill/>
          <a:ln w="0">
            <a:noFill/>
            <a:prstDash val="solid"/>
          </a:ln>
        </p:spPr>
      </p:sp>
      <p:sp>
        <p:nvSpPr>
          <p:cNvPr id="216" name="anchor reset start">
            <a:extLst>
              <a:ext uri="{FF2B5EF4-FFF2-40B4-BE49-F238E27FC236}">
                <a16:creationId xmlns:a16="http://schemas.microsoft.com/office/drawing/2014/main" id="{1E5ABA6D-7FAD-1898-DB56-541EA638A327}"/>
              </a:ext>
            </a:extLst>
          </p:cNvPr>
          <p:cNvSpPr>
            <a:spLocks noGrp="1"/>
          </p:cNvSpPr>
          <p:nvPr/>
        </p:nvSpPr>
        <p:spPr>
          <a:xfrm>
            <a:off x="10658475" y="1466850"/>
            <a:ext cx="19050" cy="19050"/>
          </a:xfrm>
          <a:prstGeom prst="ellipse">
            <a:avLst/>
          </a:prstGeom>
          <a:noFill/>
          <a:ln w="0">
            <a:noFill/>
            <a:prstDash val="solid"/>
          </a:ln>
        </p:spPr>
      </p:sp>
      <p:sp>
        <p:nvSpPr>
          <p:cNvPr id="217" name="anchor reset target">
            <a:extLst>
              <a:ext uri="{FF2B5EF4-FFF2-40B4-BE49-F238E27FC236}">
                <a16:creationId xmlns:a16="http://schemas.microsoft.com/office/drawing/2014/main" id="{26973A0A-8421-0670-3C81-88DA05CA6732}"/>
              </a:ext>
            </a:extLst>
          </p:cNvPr>
          <p:cNvSpPr>
            <a:spLocks noGrp="1"/>
          </p:cNvSpPr>
          <p:nvPr/>
        </p:nvSpPr>
        <p:spPr>
          <a:xfrm>
            <a:off x="10658475" y="2466975"/>
            <a:ext cx="19050" cy="19050"/>
          </a:xfrm>
          <a:prstGeom prst="ellipse">
            <a:avLst/>
          </a:prstGeom>
          <a:noFill/>
          <a:ln w="0">
            <a:noFill/>
            <a:prstDash val="solid"/>
          </a:ln>
        </p:spPr>
      </p:sp>
      <p:sp>
        <p:nvSpPr>
          <p:cNvPr id="218" name="anchor clock start">
            <a:extLst>
              <a:ext uri="{FF2B5EF4-FFF2-40B4-BE49-F238E27FC236}">
                <a16:creationId xmlns:a16="http://schemas.microsoft.com/office/drawing/2014/main" id="{961F854C-837E-163F-13AE-725EC17D60A4}"/>
              </a:ext>
            </a:extLst>
          </p:cNvPr>
          <p:cNvSpPr>
            <a:spLocks noGrp="1"/>
          </p:cNvSpPr>
          <p:nvPr/>
        </p:nvSpPr>
        <p:spPr>
          <a:xfrm>
            <a:off x="10658475" y="5419725"/>
            <a:ext cx="19050" cy="19050"/>
          </a:xfrm>
          <a:prstGeom prst="ellipse">
            <a:avLst/>
          </a:prstGeom>
          <a:noFill/>
          <a:ln w="0">
            <a:noFill/>
            <a:prstDash val="solid"/>
          </a:ln>
        </p:spPr>
      </p:sp>
      <p:sp>
        <p:nvSpPr>
          <p:cNvPr id="219" name="anchor clock target">
            <a:extLst>
              <a:ext uri="{FF2B5EF4-FFF2-40B4-BE49-F238E27FC236}">
                <a16:creationId xmlns:a16="http://schemas.microsoft.com/office/drawing/2014/main" id="{4A78B45D-C5C7-6CDC-FF82-C87F3B0E3C75}"/>
              </a:ext>
            </a:extLst>
          </p:cNvPr>
          <p:cNvSpPr>
            <a:spLocks noGrp="1"/>
          </p:cNvSpPr>
          <p:nvPr/>
        </p:nvSpPr>
        <p:spPr>
          <a:xfrm>
            <a:off x="10658475" y="3990975"/>
            <a:ext cx="19050" cy="19050"/>
          </a:xfrm>
          <a:prstGeom prst="ellipse">
            <a:avLst/>
          </a:prstGeom>
          <a:noFill/>
          <a:ln w="0">
            <a:noFill/>
            <a:prstDash val="solid"/>
          </a:ln>
        </p:spPr>
      </p:sp>
      <p:cxnSp>
        <p:nvCxnSpPr>
          <p:cNvPr id="220" name="直接箭头连接符 219">
            <a:extLst>
              <a:ext uri="{FF2B5EF4-FFF2-40B4-BE49-F238E27FC236}">
                <a16:creationId xmlns:a16="http://schemas.microsoft.com/office/drawing/2014/main" id="{75381756-AC9A-7D94-B0D3-487C41A24B77}"/>
              </a:ext>
            </a:extLst>
          </p:cNvPr>
          <p:cNvCxnSpPr>
            <a:stCxn id="184" idx="6"/>
            <a:endCxn id="185" idx="2"/>
          </p:cNvCxnSpPr>
          <p:nvPr/>
        </p:nvCxnSpPr>
        <p:spPr>
          <a:xfrm>
            <a:off x="1771650" y="2476500"/>
            <a:ext cx="1790700" cy="0"/>
          </a:xfrm>
          <a:prstGeom prst="straightConnector1">
            <a:avLst/>
          </a:prstGeom>
          <a:ln w="23813">
            <a:solidFill>
              <a:srgbClr val="0070C0"/>
            </a:solidFill>
            <a:prstDash val="solid"/>
            <a:tailEnd type="triangle" w="med" len="med"/>
          </a:ln>
        </p:spPr>
      </p:cxnSp>
      <p:cxnSp>
        <p:nvCxnSpPr>
          <p:cNvPr id="221" name="直接箭头连接符 220">
            <a:extLst>
              <a:ext uri="{FF2B5EF4-FFF2-40B4-BE49-F238E27FC236}">
                <a16:creationId xmlns:a16="http://schemas.microsoft.com/office/drawing/2014/main" id="{E4F7A119-94BD-4C41-740C-5A0C0EF7B7F8}"/>
              </a:ext>
            </a:extLst>
          </p:cNvPr>
          <p:cNvCxnSpPr>
            <a:stCxn id="186" idx="6"/>
            <a:endCxn id="187" idx="2"/>
          </p:cNvCxnSpPr>
          <p:nvPr/>
        </p:nvCxnSpPr>
        <p:spPr>
          <a:xfrm>
            <a:off x="1771650" y="2857500"/>
            <a:ext cx="1790700" cy="0"/>
          </a:xfrm>
          <a:prstGeom prst="straightConnector1">
            <a:avLst/>
          </a:prstGeom>
          <a:ln w="23813">
            <a:solidFill>
              <a:srgbClr val="0070C0"/>
            </a:solidFill>
            <a:prstDash val="solid"/>
            <a:tailEnd type="triangle" w="med" len="med"/>
          </a:ln>
        </p:spPr>
      </p:cxnSp>
      <p:cxnSp>
        <p:nvCxnSpPr>
          <p:cNvPr id="222" name="直接箭头连接符 221">
            <a:extLst>
              <a:ext uri="{FF2B5EF4-FFF2-40B4-BE49-F238E27FC236}">
                <a16:creationId xmlns:a16="http://schemas.microsoft.com/office/drawing/2014/main" id="{3D62D24A-C3E4-1193-3005-9E400A280D5F}"/>
              </a:ext>
            </a:extLst>
          </p:cNvPr>
          <p:cNvCxnSpPr>
            <a:stCxn id="188" idx="6"/>
            <a:endCxn id="189" idx="2"/>
          </p:cNvCxnSpPr>
          <p:nvPr/>
        </p:nvCxnSpPr>
        <p:spPr>
          <a:xfrm>
            <a:off x="1771650" y="3238500"/>
            <a:ext cx="1790700" cy="0"/>
          </a:xfrm>
          <a:prstGeom prst="straightConnector1">
            <a:avLst/>
          </a:prstGeom>
          <a:ln w="23813">
            <a:solidFill>
              <a:srgbClr val="F58220"/>
            </a:solidFill>
            <a:prstDash val="solid"/>
            <a:tailEnd type="triangle" w="med" len="med"/>
          </a:ln>
        </p:spPr>
      </p:cxnSp>
      <p:cxnSp>
        <p:nvCxnSpPr>
          <p:cNvPr id="224" name="直接箭头连接符 223">
            <a:extLst>
              <a:ext uri="{FF2B5EF4-FFF2-40B4-BE49-F238E27FC236}">
                <a16:creationId xmlns:a16="http://schemas.microsoft.com/office/drawing/2014/main" id="{6EBC2792-303B-8BFC-35C0-38EA8311036C}"/>
              </a:ext>
            </a:extLst>
          </p:cNvPr>
          <p:cNvCxnSpPr>
            <a:stCxn id="192" idx="6"/>
            <a:endCxn id="193" idx="2"/>
          </p:cNvCxnSpPr>
          <p:nvPr/>
        </p:nvCxnSpPr>
        <p:spPr>
          <a:xfrm>
            <a:off x="1771650" y="3619500"/>
            <a:ext cx="1790700" cy="0"/>
          </a:xfrm>
          <a:prstGeom prst="straightConnector1">
            <a:avLst/>
          </a:prstGeom>
          <a:ln w="23813">
            <a:solidFill>
              <a:srgbClr val="F58220"/>
            </a:solidFill>
            <a:prstDash val="solid"/>
            <a:tailEnd type="triangle" w="med" len="med"/>
          </a:ln>
        </p:spPr>
      </p:cxnSp>
      <p:cxnSp>
        <p:nvCxnSpPr>
          <p:cNvPr id="226" name="直接箭头连接符 225">
            <a:extLst>
              <a:ext uri="{FF2B5EF4-FFF2-40B4-BE49-F238E27FC236}">
                <a16:creationId xmlns:a16="http://schemas.microsoft.com/office/drawing/2014/main" id="{4FC2F73E-866D-8843-BE70-EC6CC66373CA}"/>
              </a:ext>
            </a:extLst>
          </p:cNvPr>
          <p:cNvCxnSpPr>
            <a:stCxn id="196" idx="4"/>
            <a:endCxn id="197" idx="0"/>
          </p:cNvCxnSpPr>
          <p:nvPr/>
        </p:nvCxnSpPr>
        <p:spPr>
          <a:xfrm>
            <a:off x="5905500" y="1485900"/>
            <a:ext cx="0" cy="314325"/>
          </a:xfrm>
          <a:prstGeom prst="straightConnector1">
            <a:avLst/>
          </a:prstGeom>
          <a:ln w="23813">
            <a:solidFill>
              <a:srgbClr val="001450"/>
            </a:solidFill>
            <a:prstDash val="solid"/>
            <a:tailEnd type="triangle" w="med" len="med"/>
          </a:ln>
        </p:spPr>
      </p:cxnSp>
      <p:cxnSp>
        <p:nvCxnSpPr>
          <p:cNvPr id="227" name="直接箭头连接符 226">
            <a:extLst>
              <a:ext uri="{FF2B5EF4-FFF2-40B4-BE49-F238E27FC236}">
                <a16:creationId xmlns:a16="http://schemas.microsoft.com/office/drawing/2014/main" id="{0D2C8BE0-0B80-D0A5-45E1-3E010C8CB334}"/>
              </a:ext>
            </a:extLst>
          </p:cNvPr>
          <p:cNvCxnSpPr>
            <a:stCxn id="198" idx="4"/>
            <a:endCxn id="199" idx="0"/>
          </p:cNvCxnSpPr>
          <p:nvPr/>
        </p:nvCxnSpPr>
        <p:spPr>
          <a:xfrm>
            <a:off x="4429125" y="1819275"/>
            <a:ext cx="0" cy="504825"/>
          </a:xfrm>
          <a:prstGeom prst="straightConnector1">
            <a:avLst/>
          </a:prstGeom>
          <a:ln w="23813">
            <a:solidFill>
              <a:srgbClr val="001450"/>
            </a:solidFill>
            <a:prstDash val="solid"/>
            <a:tailEnd type="triangle" w="med" len="med"/>
          </a:ln>
        </p:spPr>
      </p:cxnSp>
      <p:cxnSp>
        <p:nvCxnSpPr>
          <p:cNvPr id="229" name="直接箭头连接符 228">
            <a:extLst>
              <a:ext uri="{FF2B5EF4-FFF2-40B4-BE49-F238E27FC236}">
                <a16:creationId xmlns:a16="http://schemas.microsoft.com/office/drawing/2014/main" id="{1960761D-A35C-AB57-1F7C-565705147CCE}"/>
              </a:ext>
            </a:extLst>
          </p:cNvPr>
          <p:cNvCxnSpPr>
            <a:cxnSpLocks/>
            <a:stCxn id="202" idx="6"/>
            <a:endCxn id="203" idx="2"/>
          </p:cNvCxnSpPr>
          <p:nvPr/>
        </p:nvCxnSpPr>
        <p:spPr>
          <a:xfrm>
            <a:off x="8439150" y="2905125"/>
            <a:ext cx="219075" cy="0"/>
          </a:xfrm>
          <a:prstGeom prst="straightConnector1">
            <a:avLst/>
          </a:prstGeom>
          <a:ln w="23813">
            <a:solidFill>
              <a:srgbClr val="001450"/>
            </a:solidFill>
            <a:prstDash val="solid"/>
            <a:tailEnd type="triangle" w="med" len="med"/>
          </a:ln>
        </p:spPr>
      </p:cxnSp>
      <p:cxnSp>
        <p:nvCxnSpPr>
          <p:cNvPr id="230" name="直接箭头连接符 229">
            <a:extLst>
              <a:ext uri="{FF2B5EF4-FFF2-40B4-BE49-F238E27FC236}">
                <a16:creationId xmlns:a16="http://schemas.microsoft.com/office/drawing/2014/main" id="{12269016-ABA0-17E7-1FAA-6FE3BC878365}"/>
              </a:ext>
            </a:extLst>
          </p:cNvPr>
          <p:cNvCxnSpPr>
            <a:cxnSpLocks/>
          </p:cNvCxnSpPr>
          <p:nvPr/>
        </p:nvCxnSpPr>
        <p:spPr>
          <a:xfrm>
            <a:off x="5295900" y="3040380"/>
            <a:ext cx="1123950" cy="0"/>
          </a:xfrm>
          <a:prstGeom prst="straightConnector1">
            <a:avLst/>
          </a:prstGeom>
          <a:ln w="23813">
            <a:solidFill>
              <a:srgbClr val="2F57B2"/>
            </a:solidFill>
            <a:prstDash val="solid"/>
            <a:tailEnd type="triangle" w="med" len="med"/>
          </a:ln>
        </p:spPr>
      </p:cxnSp>
      <p:cxnSp>
        <p:nvCxnSpPr>
          <p:cNvPr id="231" name="直接箭头连接符 230">
            <a:extLst>
              <a:ext uri="{FF2B5EF4-FFF2-40B4-BE49-F238E27FC236}">
                <a16:creationId xmlns:a16="http://schemas.microsoft.com/office/drawing/2014/main" id="{65C80FC2-4039-F074-210F-A4C1A31AB51F}"/>
              </a:ext>
            </a:extLst>
          </p:cNvPr>
          <p:cNvCxnSpPr>
            <a:stCxn id="206" idx="6"/>
            <a:endCxn id="207" idx="2"/>
          </p:cNvCxnSpPr>
          <p:nvPr/>
        </p:nvCxnSpPr>
        <p:spPr>
          <a:xfrm>
            <a:off x="8058150" y="3429000"/>
            <a:ext cx="600075" cy="0"/>
          </a:xfrm>
          <a:prstGeom prst="straightConnector1">
            <a:avLst/>
          </a:prstGeom>
          <a:ln w="23813">
            <a:solidFill>
              <a:srgbClr val="001450"/>
            </a:solidFill>
            <a:prstDash val="solid"/>
            <a:tailEnd type="triangle" w="med" len="med"/>
          </a:ln>
        </p:spPr>
      </p:cxnSp>
      <p:cxnSp>
        <p:nvCxnSpPr>
          <p:cNvPr id="232" name="直接箭头连接符 231">
            <a:extLst>
              <a:ext uri="{FF2B5EF4-FFF2-40B4-BE49-F238E27FC236}">
                <a16:creationId xmlns:a16="http://schemas.microsoft.com/office/drawing/2014/main" id="{D13C6FA9-CFE5-193F-936C-A4DCB8ED0123}"/>
              </a:ext>
            </a:extLst>
          </p:cNvPr>
          <p:cNvCxnSpPr>
            <a:stCxn id="208" idx="6"/>
            <a:endCxn id="209" idx="2"/>
          </p:cNvCxnSpPr>
          <p:nvPr/>
        </p:nvCxnSpPr>
        <p:spPr>
          <a:xfrm>
            <a:off x="9820275" y="3190875"/>
            <a:ext cx="361950" cy="0"/>
          </a:xfrm>
          <a:prstGeom prst="straightConnector1">
            <a:avLst/>
          </a:prstGeom>
          <a:ln w="23813">
            <a:solidFill>
              <a:srgbClr val="001450"/>
            </a:solidFill>
            <a:prstDash val="solid"/>
            <a:tailEnd type="triangle" w="med" len="med"/>
          </a:ln>
        </p:spPr>
      </p:cxnSp>
      <p:cxnSp>
        <p:nvCxnSpPr>
          <p:cNvPr id="233" name="直接箭头连接符 232">
            <a:extLst>
              <a:ext uri="{FF2B5EF4-FFF2-40B4-BE49-F238E27FC236}">
                <a16:creationId xmlns:a16="http://schemas.microsoft.com/office/drawing/2014/main" id="{4D244A98-C8E1-9D0F-D048-148636A6968A}"/>
              </a:ext>
            </a:extLst>
          </p:cNvPr>
          <p:cNvCxnSpPr>
            <a:stCxn id="210" idx="6"/>
            <a:endCxn id="211" idx="2"/>
          </p:cNvCxnSpPr>
          <p:nvPr/>
        </p:nvCxnSpPr>
        <p:spPr>
          <a:xfrm>
            <a:off x="11153775" y="3190875"/>
            <a:ext cx="504825" cy="0"/>
          </a:xfrm>
          <a:prstGeom prst="straightConnector1">
            <a:avLst/>
          </a:prstGeom>
          <a:ln w="23813">
            <a:solidFill>
              <a:srgbClr val="001450"/>
            </a:solidFill>
            <a:prstDash val="solid"/>
            <a:tailEnd type="triangle" w="med" len="med"/>
          </a:ln>
        </p:spPr>
      </p:cxnSp>
      <p:cxnSp>
        <p:nvCxnSpPr>
          <p:cNvPr id="234" name="直接箭头连接符 233">
            <a:extLst>
              <a:ext uri="{FF2B5EF4-FFF2-40B4-BE49-F238E27FC236}">
                <a16:creationId xmlns:a16="http://schemas.microsoft.com/office/drawing/2014/main" id="{353B0263-CF07-E5CA-F723-9BBE8C42426F}"/>
              </a:ext>
            </a:extLst>
          </p:cNvPr>
          <p:cNvCxnSpPr>
            <a:stCxn id="212" idx="2"/>
            <a:endCxn id="213" idx="6"/>
          </p:cNvCxnSpPr>
          <p:nvPr/>
        </p:nvCxnSpPr>
        <p:spPr>
          <a:xfrm flipH="1">
            <a:off x="5295900" y="4238625"/>
            <a:ext cx="266700" cy="0"/>
          </a:xfrm>
          <a:prstGeom prst="straightConnector1">
            <a:avLst/>
          </a:prstGeom>
          <a:ln w="23813">
            <a:solidFill>
              <a:srgbClr val="0A777F"/>
            </a:solidFill>
            <a:prstDash val="solid"/>
            <a:tailEnd type="triangle" w="med" len="med"/>
          </a:ln>
        </p:spPr>
      </p:cxnSp>
      <p:cxnSp>
        <p:nvCxnSpPr>
          <p:cNvPr id="235" name="连接符: 肘形 234">
            <a:extLst>
              <a:ext uri="{FF2B5EF4-FFF2-40B4-BE49-F238E27FC236}">
                <a16:creationId xmlns:a16="http://schemas.microsoft.com/office/drawing/2014/main" id="{ED011E4C-83F2-9366-7C34-F54B048F7828}"/>
              </a:ext>
            </a:extLst>
          </p:cNvPr>
          <p:cNvCxnSpPr>
            <a:stCxn id="214" idx="6"/>
            <a:endCxn id="215" idx="4"/>
          </p:cNvCxnSpPr>
          <p:nvPr/>
        </p:nvCxnSpPr>
        <p:spPr>
          <a:xfrm flipV="1">
            <a:off x="5295900" y="3800475"/>
            <a:ext cx="3943350" cy="723900"/>
          </a:xfrm>
          <a:prstGeom prst="bentConnector2">
            <a:avLst/>
          </a:prstGeom>
          <a:ln w="23813">
            <a:solidFill>
              <a:srgbClr val="0A777F"/>
            </a:solidFill>
            <a:prstDash val="solid"/>
            <a:tailEnd type="triangle" w="med" len="med"/>
          </a:ln>
        </p:spPr>
      </p:cxnSp>
      <p:cxnSp>
        <p:nvCxnSpPr>
          <p:cNvPr id="236" name="直接箭头连接符 235">
            <a:extLst>
              <a:ext uri="{FF2B5EF4-FFF2-40B4-BE49-F238E27FC236}">
                <a16:creationId xmlns:a16="http://schemas.microsoft.com/office/drawing/2014/main" id="{46A0F2D2-1B61-D9C7-DE9C-2E5011131F16}"/>
              </a:ext>
            </a:extLst>
          </p:cNvPr>
          <p:cNvCxnSpPr>
            <a:stCxn id="216" idx="4"/>
            <a:endCxn id="217" idx="0"/>
          </p:cNvCxnSpPr>
          <p:nvPr/>
        </p:nvCxnSpPr>
        <p:spPr>
          <a:xfrm>
            <a:off x="10668000" y="1485900"/>
            <a:ext cx="0" cy="981075"/>
          </a:xfrm>
          <a:prstGeom prst="straightConnector1">
            <a:avLst/>
          </a:prstGeom>
          <a:ln w="23813">
            <a:solidFill>
              <a:srgbClr val="0070C0"/>
            </a:solidFill>
            <a:prstDash val="solid"/>
            <a:tailEnd type="triangle" w="med" len="med"/>
          </a:ln>
        </p:spPr>
      </p:cxnSp>
      <p:sp>
        <p:nvSpPr>
          <p:cNvPr id="239" name="weight rail">
            <a:extLst>
              <a:ext uri="{FF2B5EF4-FFF2-40B4-BE49-F238E27FC236}">
                <a16:creationId xmlns:a16="http://schemas.microsoft.com/office/drawing/2014/main" id="{B34FD443-BAEA-D26B-9DCB-C788DCCE9EA6}"/>
              </a:ext>
            </a:extLst>
          </p:cNvPr>
          <p:cNvSpPr>
            <a:spLocks noGrp="1"/>
          </p:cNvSpPr>
          <p:nvPr/>
        </p:nvSpPr>
        <p:spPr>
          <a:xfrm>
            <a:off x="4429125" y="1809750"/>
            <a:ext cx="4000500" cy="953"/>
          </a:xfrm>
          <a:prstGeom prst="line">
            <a:avLst/>
          </a:prstGeom>
          <a:noFill/>
          <a:ln w="26670">
            <a:solidFill>
              <a:srgbClr val="001450"/>
            </a:solidFill>
            <a:prstDash val="solid"/>
          </a:ln>
        </p:spPr>
      </p:sp>
      <p:sp>
        <p:nvSpPr>
          <p:cNvPr id="240" name="weight hold drop">
            <a:extLst>
              <a:ext uri="{FF2B5EF4-FFF2-40B4-BE49-F238E27FC236}">
                <a16:creationId xmlns:a16="http://schemas.microsoft.com/office/drawing/2014/main" id="{F53875B7-5129-FA2B-320F-499AC089C441}"/>
              </a:ext>
            </a:extLst>
          </p:cNvPr>
          <p:cNvSpPr>
            <a:spLocks noGrp="1"/>
          </p:cNvSpPr>
          <p:nvPr/>
        </p:nvSpPr>
        <p:spPr>
          <a:xfrm>
            <a:off x="8429625" y="1809750"/>
            <a:ext cx="953" cy="1095375"/>
          </a:xfrm>
          <a:prstGeom prst="line">
            <a:avLst/>
          </a:prstGeom>
          <a:noFill/>
          <a:ln w="26670">
            <a:solidFill>
              <a:srgbClr val="001450"/>
            </a:solidFill>
            <a:prstDash val="solid"/>
          </a:ln>
        </p:spPr>
      </p:sp>
      <p:sp>
        <p:nvSpPr>
          <p:cNvPr id="241" name="adder status vertical">
            <a:extLst>
              <a:ext uri="{FF2B5EF4-FFF2-40B4-BE49-F238E27FC236}">
                <a16:creationId xmlns:a16="http://schemas.microsoft.com/office/drawing/2014/main" id="{91B7E6AA-069A-5178-6CAC-5A486DFFD0B2}"/>
              </a:ext>
            </a:extLst>
          </p:cNvPr>
          <p:cNvSpPr>
            <a:spLocks noGrp="1"/>
          </p:cNvSpPr>
          <p:nvPr/>
        </p:nvSpPr>
        <p:spPr>
          <a:xfrm>
            <a:off x="7096126" y="3714749"/>
            <a:ext cx="0" cy="191453"/>
          </a:xfrm>
          <a:prstGeom prst="line">
            <a:avLst/>
          </a:prstGeom>
          <a:noFill/>
          <a:ln w="23813">
            <a:solidFill>
              <a:srgbClr val="0A777F"/>
            </a:solidFill>
            <a:prstDash val="solid"/>
          </a:ln>
        </p:spPr>
      </p:sp>
      <p:sp>
        <p:nvSpPr>
          <p:cNvPr id="242" name="adder status horizontal">
            <a:extLst>
              <a:ext uri="{FF2B5EF4-FFF2-40B4-BE49-F238E27FC236}">
                <a16:creationId xmlns:a16="http://schemas.microsoft.com/office/drawing/2014/main" id="{CCD7DD62-CF2C-777A-CD22-3594B92E6AFB}"/>
              </a:ext>
            </a:extLst>
          </p:cNvPr>
          <p:cNvSpPr>
            <a:spLocks noGrp="1"/>
          </p:cNvSpPr>
          <p:nvPr/>
        </p:nvSpPr>
        <p:spPr>
          <a:xfrm>
            <a:off x="5572125" y="3905250"/>
            <a:ext cx="1524000" cy="953"/>
          </a:xfrm>
          <a:prstGeom prst="line">
            <a:avLst/>
          </a:prstGeom>
          <a:noFill/>
          <a:ln w="23813">
            <a:solidFill>
              <a:srgbClr val="0A777F"/>
            </a:solidFill>
            <a:prstDash val="solid"/>
          </a:ln>
        </p:spPr>
      </p:sp>
      <p:sp>
        <p:nvSpPr>
          <p:cNvPr id="243" name="adder status down">
            <a:extLst>
              <a:ext uri="{FF2B5EF4-FFF2-40B4-BE49-F238E27FC236}">
                <a16:creationId xmlns:a16="http://schemas.microsoft.com/office/drawing/2014/main" id="{E152FCE3-2F25-4FA0-5C27-A82E8B0130CA}"/>
              </a:ext>
            </a:extLst>
          </p:cNvPr>
          <p:cNvSpPr>
            <a:spLocks noGrp="1"/>
          </p:cNvSpPr>
          <p:nvPr/>
        </p:nvSpPr>
        <p:spPr>
          <a:xfrm flipH="1">
            <a:off x="5562600" y="3905251"/>
            <a:ext cx="9524" cy="342900"/>
          </a:xfrm>
          <a:prstGeom prst="line">
            <a:avLst/>
          </a:prstGeom>
          <a:noFill/>
          <a:ln w="23813">
            <a:solidFill>
              <a:srgbClr val="0A777F"/>
            </a:solidFill>
            <a:prstDash val="solid"/>
          </a:ln>
        </p:spPr>
      </p:sp>
      <p:sp>
        <p:nvSpPr>
          <p:cNvPr id="245" name="SDSP module boundary">
            <a:extLst>
              <a:ext uri="{FF2B5EF4-FFF2-40B4-BE49-F238E27FC236}">
                <a16:creationId xmlns:a16="http://schemas.microsoft.com/office/drawing/2014/main" id="{E7D5E3C6-9ABC-C0EC-A430-6787C98727D2}"/>
              </a:ext>
            </a:extLst>
          </p:cNvPr>
          <p:cNvSpPr>
            <a:spLocks noGrp="1"/>
          </p:cNvSpPr>
          <p:nvPr/>
        </p:nvSpPr>
        <p:spPr>
          <a:xfrm>
            <a:off x="1619249" y="1571625"/>
            <a:ext cx="9656711" cy="3524250"/>
          </a:xfrm>
          <a:prstGeom prst="rect">
            <a:avLst/>
          </a:prstGeom>
          <a:noFill/>
          <a:ln w="20003">
            <a:solidFill>
              <a:srgbClr val="566371"/>
            </a:solidFill>
            <a:prstDash val="dot"/>
          </a:ln>
        </p:spPr>
      </p:sp>
      <p:sp>
        <p:nvSpPr>
          <p:cNvPr id="247" name="Delta-w Generator">
            <a:extLst>
              <a:ext uri="{FF2B5EF4-FFF2-40B4-BE49-F238E27FC236}">
                <a16:creationId xmlns:a16="http://schemas.microsoft.com/office/drawing/2014/main" id="{FE998575-1741-FA99-5551-B802C1BA1238}"/>
              </a:ext>
            </a:extLst>
          </p:cNvPr>
          <p:cNvSpPr>
            <a:spLocks noGrp="1"/>
          </p:cNvSpPr>
          <p:nvPr/>
        </p:nvSpPr>
        <p:spPr>
          <a:xfrm>
            <a:off x="3571875" y="2333625"/>
            <a:ext cx="1714500" cy="1333500"/>
          </a:xfrm>
          <a:prstGeom prst="roundRect">
            <a:avLst>
              <a:gd name="adj" fmla="val 5714"/>
            </a:avLst>
          </a:prstGeom>
          <a:solidFill>
            <a:srgbClr val="E3EAF7"/>
          </a:solidFill>
          <a:ln w="20955">
            <a:solidFill>
              <a:srgbClr val="2F57B2"/>
            </a:solidFill>
            <a:prstDash val="solid"/>
          </a:ln>
        </p:spPr>
        <p:txBody>
          <a:bodyPr wrap="square" lIns="76200" tIns="76200" rIns="76200" bIns="76200" anchor="ctr">
            <a:normAutofit/>
          </a:bodyPr>
          <a:lstStyle/>
          <a:p>
            <a:pPr algn="ctr">
              <a:defRPr sz="1538" b="1">
                <a:solidFill>
                  <a:srgbClr val="001450"/>
                </a:solidFill>
                <a:latin typeface="Open Sans"/>
                <a:ea typeface="Open Sans"/>
                <a:cs typeface="Open Sans"/>
              </a:defRPr>
            </a:pPr>
            <a:r>
              <a:rPr sz="1538" b="1">
                <a:solidFill>
                  <a:srgbClr val="001450"/>
                </a:solidFill>
                <a:latin typeface="Open Sans"/>
                <a:ea typeface="Open Sans"/>
                <a:cs typeface="Open Sans"/>
              </a:rPr>
              <a:t>Delta-w</a:t>
            </a:r>
          </a:p>
          <a:p>
            <a:pPr algn="ctr">
              <a:defRPr sz="1538" b="1">
                <a:solidFill>
                  <a:srgbClr val="001450"/>
                </a:solidFill>
                <a:latin typeface="Open Sans"/>
                <a:ea typeface="Open Sans"/>
                <a:cs typeface="Open Sans"/>
              </a:defRPr>
            </a:pPr>
            <a:r>
              <a:rPr sz="1538" b="1">
                <a:solidFill>
                  <a:srgbClr val="001450"/>
                </a:solidFill>
                <a:latin typeface="Open Sans"/>
                <a:ea typeface="Open Sans"/>
                <a:cs typeface="Open Sans"/>
              </a:rPr>
              <a:t>Generator</a:t>
            </a:r>
          </a:p>
        </p:txBody>
      </p:sp>
      <p:sp>
        <p:nvSpPr>
          <p:cNvPr id="248" name="Overflow Underflow Detector">
            <a:extLst>
              <a:ext uri="{FF2B5EF4-FFF2-40B4-BE49-F238E27FC236}">
                <a16:creationId xmlns:a16="http://schemas.microsoft.com/office/drawing/2014/main" id="{E5CE1FCA-5477-97E4-9861-77CB65D81CA4}"/>
              </a:ext>
            </a:extLst>
          </p:cNvPr>
          <p:cNvSpPr>
            <a:spLocks noGrp="1"/>
          </p:cNvSpPr>
          <p:nvPr/>
        </p:nvSpPr>
        <p:spPr>
          <a:xfrm>
            <a:off x="3571875" y="4000500"/>
            <a:ext cx="1714500" cy="666750"/>
          </a:xfrm>
          <a:prstGeom prst="roundRect">
            <a:avLst>
              <a:gd name="adj" fmla="val 11429"/>
            </a:avLst>
          </a:prstGeom>
          <a:solidFill>
            <a:srgbClr val="DDF4F0"/>
          </a:solidFill>
          <a:ln w="20955">
            <a:solidFill>
              <a:srgbClr val="0A777F"/>
            </a:solidFill>
            <a:prstDash val="solid"/>
          </a:ln>
        </p:spPr>
        <p:txBody>
          <a:bodyPr wrap="square" lIns="76200" tIns="76200" rIns="76200" bIns="76200" anchor="ctr">
            <a:normAutofit fontScale="89052"/>
          </a:bodyPr>
          <a:lstStyle/>
          <a:p>
            <a:pPr algn="ctr">
              <a:defRPr sz="1238" b="1">
                <a:solidFill>
                  <a:srgbClr val="001450"/>
                </a:solidFill>
                <a:latin typeface="Open Sans"/>
                <a:ea typeface="Open Sans"/>
                <a:cs typeface="Open Sans"/>
              </a:defRPr>
            </a:pPr>
            <a:r>
              <a:rPr sz="1238" b="1">
                <a:solidFill>
                  <a:srgbClr val="001450"/>
                </a:solidFill>
                <a:latin typeface="Open Sans"/>
                <a:ea typeface="Open Sans"/>
                <a:cs typeface="Open Sans"/>
              </a:rPr>
              <a:t>Overflow / Underflow</a:t>
            </a:r>
          </a:p>
          <a:p>
            <a:pPr algn="ctr">
              <a:defRPr sz="1238" b="1">
                <a:solidFill>
                  <a:srgbClr val="001450"/>
                </a:solidFill>
                <a:latin typeface="Open Sans"/>
                <a:ea typeface="Open Sans"/>
                <a:cs typeface="Open Sans"/>
              </a:defRPr>
            </a:pPr>
            <a:r>
              <a:rPr sz="1238" b="1">
                <a:solidFill>
                  <a:srgbClr val="001450"/>
                </a:solidFill>
                <a:latin typeface="Open Sans"/>
                <a:ea typeface="Open Sans"/>
                <a:cs typeface="Open Sans"/>
              </a:rPr>
              <a:t>Detector</a:t>
            </a:r>
          </a:p>
        </p:txBody>
      </p:sp>
      <p:sp>
        <p:nvSpPr>
          <p:cNvPr id="249" name="N-bit Adder">
            <a:extLst>
              <a:ext uri="{FF2B5EF4-FFF2-40B4-BE49-F238E27FC236}">
                <a16:creationId xmlns:a16="http://schemas.microsoft.com/office/drawing/2014/main" id="{EBCA1E18-F9B9-BB1D-292F-5F93B08A5203}"/>
              </a:ext>
            </a:extLst>
          </p:cNvPr>
          <p:cNvSpPr>
            <a:spLocks noGrp="1"/>
          </p:cNvSpPr>
          <p:nvPr/>
        </p:nvSpPr>
        <p:spPr>
          <a:xfrm>
            <a:off x="6429375" y="2476500"/>
            <a:ext cx="1619250" cy="1238250"/>
          </a:xfrm>
          <a:prstGeom prst="roundRect">
            <a:avLst>
              <a:gd name="adj" fmla="val 6154"/>
            </a:avLst>
          </a:prstGeom>
          <a:solidFill>
            <a:srgbClr val="FFFFFF"/>
          </a:solidFill>
          <a:ln w="20955">
            <a:solidFill>
              <a:srgbClr val="001450"/>
            </a:solidFill>
            <a:prstDash val="solid"/>
          </a:ln>
        </p:spPr>
        <p:txBody>
          <a:bodyPr wrap="square" lIns="76200" tIns="76200" rIns="76200" bIns="76200" anchor="ctr">
            <a:normAutofit/>
          </a:bodyPr>
          <a:lstStyle/>
          <a:p>
            <a:pPr algn="ctr">
              <a:defRPr sz="1575" b="1">
                <a:solidFill>
                  <a:srgbClr val="001450"/>
                </a:solidFill>
                <a:latin typeface="Open Sans"/>
                <a:ea typeface="Open Sans"/>
                <a:cs typeface="Open Sans"/>
              </a:defRPr>
            </a:pPr>
            <a:r>
              <a:rPr sz="1575" b="1">
                <a:solidFill>
                  <a:srgbClr val="001450"/>
                </a:solidFill>
                <a:latin typeface="Open Sans"/>
                <a:ea typeface="Open Sans"/>
                <a:cs typeface="Open Sans"/>
              </a:rPr>
              <a:t>N-bit</a:t>
            </a:r>
          </a:p>
          <a:p>
            <a:pPr algn="ctr">
              <a:defRPr sz="1575" b="1">
                <a:solidFill>
                  <a:srgbClr val="001450"/>
                </a:solidFill>
                <a:latin typeface="Open Sans"/>
                <a:ea typeface="Open Sans"/>
                <a:cs typeface="Open Sans"/>
              </a:defRPr>
            </a:pPr>
            <a:r>
              <a:rPr sz="1575" b="1">
                <a:solidFill>
                  <a:srgbClr val="001450"/>
                </a:solidFill>
                <a:latin typeface="Open Sans"/>
                <a:ea typeface="Open Sans"/>
                <a:cs typeface="Open Sans"/>
              </a:rPr>
              <a:t>Adder</a:t>
            </a:r>
          </a:p>
        </p:txBody>
      </p:sp>
      <p:sp>
        <p:nvSpPr>
          <p:cNvPr id="250" name="2-to-1 Multiplexer">
            <a:extLst>
              <a:ext uri="{FF2B5EF4-FFF2-40B4-BE49-F238E27FC236}">
                <a16:creationId xmlns:a16="http://schemas.microsoft.com/office/drawing/2014/main" id="{2843DF40-AB0E-2E04-46EA-708B6F8E652E}"/>
              </a:ext>
            </a:extLst>
          </p:cNvPr>
          <p:cNvSpPr>
            <a:spLocks noGrp="1"/>
          </p:cNvSpPr>
          <p:nvPr/>
        </p:nvSpPr>
        <p:spPr>
          <a:xfrm>
            <a:off x="8667750" y="2619375"/>
            <a:ext cx="1143000" cy="1285875"/>
          </a:xfrm>
          <a:custGeom>
            <a:avLst/>
            <a:gdLst/>
            <a:ahLst/>
            <a:cxnLst/>
            <a:rect l="0" t="0" r="0" b="0"/>
            <a:pathLst>
              <a:path w="1143000" h="1285875">
                <a:moveTo>
                  <a:pt x="0" y="0"/>
                </a:moveTo>
                <a:lnTo>
                  <a:pt x="1143000" y="238125"/>
                </a:lnTo>
                <a:lnTo>
                  <a:pt x="1143000" y="1047750"/>
                </a:lnTo>
                <a:lnTo>
                  <a:pt x="0" y="1285875"/>
                </a:lnTo>
                <a:close/>
              </a:path>
            </a:pathLst>
          </a:custGeom>
          <a:solidFill>
            <a:srgbClr val="F2F5FA"/>
          </a:solidFill>
          <a:ln w="20955">
            <a:solidFill>
              <a:srgbClr val="566371"/>
            </a:solidFill>
            <a:prstDash val="solid"/>
          </a:ln>
        </p:spPr>
      </p:sp>
      <p:sp>
        <p:nvSpPr>
          <p:cNvPr id="251" name="Weight D Flip-Flop">
            <a:extLst>
              <a:ext uri="{FF2B5EF4-FFF2-40B4-BE49-F238E27FC236}">
                <a16:creationId xmlns:a16="http://schemas.microsoft.com/office/drawing/2014/main" id="{6F9F9336-0367-6E07-0EA1-073E8FE022E0}"/>
              </a:ext>
            </a:extLst>
          </p:cNvPr>
          <p:cNvSpPr>
            <a:spLocks noGrp="1"/>
          </p:cNvSpPr>
          <p:nvPr/>
        </p:nvSpPr>
        <p:spPr>
          <a:xfrm>
            <a:off x="10191750" y="2476500"/>
            <a:ext cx="952500" cy="1524000"/>
          </a:xfrm>
          <a:prstGeom prst="rect">
            <a:avLst/>
          </a:prstGeom>
          <a:solidFill>
            <a:srgbClr val="E3EAF7"/>
          </a:solidFill>
          <a:ln w="20955">
            <a:solidFill>
              <a:srgbClr val="2F57B2"/>
            </a:solidFill>
            <a:prstDash val="solid"/>
          </a:ln>
        </p:spPr>
      </p:sp>
      <p:sp>
        <p:nvSpPr>
          <p:cNvPr id="254" name="weight input junction">
            <a:extLst>
              <a:ext uri="{FF2B5EF4-FFF2-40B4-BE49-F238E27FC236}">
                <a16:creationId xmlns:a16="http://schemas.microsoft.com/office/drawing/2014/main" id="{E7F95D78-7529-2FDF-1B1C-9C1A7D727458}"/>
              </a:ext>
            </a:extLst>
          </p:cNvPr>
          <p:cNvSpPr>
            <a:spLocks noGrp="1"/>
          </p:cNvSpPr>
          <p:nvPr/>
        </p:nvSpPr>
        <p:spPr>
          <a:xfrm>
            <a:off x="5857875" y="1762125"/>
            <a:ext cx="95250" cy="95250"/>
          </a:xfrm>
          <a:prstGeom prst="ellipse">
            <a:avLst/>
          </a:prstGeom>
          <a:solidFill>
            <a:srgbClr val="001450"/>
          </a:solidFill>
          <a:ln w="4763">
            <a:solidFill>
              <a:srgbClr val="001450"/>
            </a:solidFill>
            <a:prstDash val="solid"/>
          </a:ln>
        </p:spPr>
      </p:sp>
      <p:sp>
        <p:nvSpPr>
          <p:cNvPr id="256" name="weight adder junction">
            <a:extLst>
              <a:ext uri="{FF2B5EF4-FFF2-40B4-BE49-F238E27FC236}">
                <a16:creationId xmlns:a16="http://schemas.microsoft.com/office/drawing/2014/main" id="{39AA6DFD-B9BB-1427-61AF-C6CA92E7C5E2}"/>
              </a:ext>
            </a:extLst>
          </p:cNvPr>
          <p:cNvSpPr>
            <a:spLocks noGrp="1"/>
          </p:cNvSpPr>
          <p:nvPr/>
        </p:nvSpPr>
        <p:spPr>
          <a:xfrm>
            <a:off x="6165055" y="1778454"/>
            <a:ext cx="95250" cy="95250"/>
          </a:xfrm>
          <a:prstGeom prst="ellipse">
            <a:avLst/>
          </a:prstGeom>
          <a:solidFill>
            <a:srgbClr val="001450"/>
          </a:solidFill>
          <a:ln w="4763">
            <a:solidFill>
              <a:srgbClr val="001450"/>
            </a:solidFill>
            <a:prstDash val="solid"/>
          </a:ln>
        </p:spPr>
      </p:sp>
      <p:sp>
        <p:nvSpPr>
          <p:cNvPr id="258" name="spk_pre label">
            <a:extLst>
              <a:ext uri="{FF2B5EF4-FFF2-40B4-BE49-F238E27FC236}">
                <a16:creationId xmlns:a16="http://schemas.microsoft.com/office/drawing/2014/main" id="{71705E0B-AF85-2ADA-DC38-E3A1F6B0D707}"/>
              </a:ext>
            </a:extLst>
          </p:cNvPr>
          <p:cNvSpPr>
            <a:spLocks noGrp="1"/>
          </p:cNvSpPr>
          <p:nvPr/>
        </p:nvSpPr>
        <p:spPr>
          <a:xfrm>
            <a:off x="523875" y="2286000"/>
            <a:ext cx="1095375" cy="381000"/>
          </a:xfrm>
          <a:prstGeom prst="rect">
            <a:avLst/>
          </a:prstGeom>
          <a:noFill/>
          <a:ln w="0">
            <a:noFill/>
            <a:prstDash val="solid"/>
          </a:ln>
        </p:spPr>
        <p:txBody>
          <a:bodyPr wrap="square" lIns="0" tIns="0" rIns="0" bIns="0" anchor="ctr">
            <a:normAutofit/>
          </a:bodyPr>
          <a:lstStyle/>
          <a:p>
            <a:pPr algn="r">
              <a:defRPr sz="1425" b="1">
                <a:solidFill>
                  <a:srgbClr val="001450"/>
                </a:solidFill>
                <a:latin typeface="Open Sans"/>
                <a:ea typeface="Open Sans"/>
                <a:cs typeface="Open Sans"/>
              </a:defRPr>
            </a:pPr>
            <a:r>
              <a:rPr sz="1425" b="1" dirty="0" err="1">
                <a:solidFill>
                  <a:srgbClr val="001450"/>
                </a:solidFill>
                <a:latin typeface="Open Sans"/>
                <a:ea typeface="Open Sans"/>
                <a:cs typeface="Open Sans"/>
              </a:rPr>
              <a:t>spk_pre</a:t>
            </a:r>
            <a:endParaRPr sz="1425" b="1" dirty="0">
              <a:solidFill>
                <a:srgbClr val="001450"/>
              </a:solidFill>
              <a:latin typeface="Open Sans"/>
              <a:ea typeface="Open Sans"/>
              <a:cs typeface="Open Sans"/>
            </a:endParaRPr>
          </a:p>
        </p:txBody>
      </p:sp>
      <p:sp>
        <p:nvSpPr>
          <p:cNvPr id="259" name="up label">
            <a:extLst>
              <a:ext uri="{FF2B5EF4-FFF2-40B4-BE49-F238E27FC236}">
                <a16:creationId xmlns:a16="http://schemas.microsoft.com/office/drawing/2014/main" id="{38967673-37E7-2EA2-8979-3542DACBD621}"/>
              </a:ext>
            </a:extLst>
          </p:cNvPr>
          <p:cNvSpPr>
            <a:spLocks noGrp="1"/>
          </p:cNvSpPr>
          <p:nvPr/>
        </p:nvSpPr>
        <p:spPr>
          <a:xfrm>
            <a:off x="714375" y="3048000"/>
            <a:ext cx="904875" cy="381000"/>
          </a:xfrm>
          <a:prstGeom prst="rect">
            <a:avLst/>
          </a:prstGeom>
          <a:noFill/>
          <a:ln w="0">
            <a:noFill/>
            <a:prstDash val="solid"/>
          </a:ln>
        </p:spPr>
        <p:txBody>
          <a:bodyPr wrap="square" lIns="0" tIns="0" rIns="0" bIns="0" anchor="ctr">
            <a:normAutofit/>
          </a:bodyPr>
          <a:lstStyle/>
          <a:p>
            <a:pPr algn="r">
              <a:defRPr sz="1425" b="1">
                <a:solidFill>
                  <a:srgbClr val="001450"/>
                </a:solidFill>
                <a:latin typeface="Open Sans"/>
                <a:ea typeface="Open Sans"/>
                <a:cs typeface="Open Sans"/>
              </a:defRPr>
            </a:pPr>
            <a:r>
              <a:rPr sz="1425" b="1" dirty="0">
                <a:solidFill>
                  <a:srgbClr val="001450"/>
                </a:solidFill>
                <a:latin typeface="Open Sans"/>
                <a:ea typeface="Open Sans"/>
                <a:cs typeface="Open Sans"/>
              </a:rPr>
              <a:t>up</a:t>
            </a:r>
          </a:p>
        </p:txBody>
      </p:sp>
      <p:sp>
        <p:nvSpPr>
          <p:cNvPr id="260" name="down label">
            <a:extLst>
              <a:ext uri="{FF2B5EF4-FFF2-40B4-BE49-F238E27FC236}">
                <a16:creationId xmlns:a16="http://schemas.microsoft.com/office/drawing/2014/main" id="{AD0235C8-5652-F0FC-3877-1F0E42241C86}"/>
              </a:ext>
            </a:extLst>
          </p:cNvPr>
          <p:cNvSpPr>
            <a:spLocks noGrp="1"/>
          </p:cNvSpPr>
          <p:nvPr/>
        </p:nvSpPr>
        <p:spPr>
          <a:xfrm>
            <a:off x="619125" y="3429000"/>
            <a:ext cx="1000125" cy="381000"/>
          </a:xfrm>
          <a:prstGeom prst="rect">
            <a:avLst/>
          </a:prstGeom>
          <a:noFill/>
          <a:ln w="0">
            <a:noFill/>
            <a:prstDash val="solid"/>
          </a:ln>
        </p:spPr>
        <p:txBody>
          <a:bodyPr wrap="square" lIns="0" tIns="0" rIns="0" bIns="0" anchor="ctr">
            <a:normAutofit/>
          </a:bodyPr>
          <a:lstStyle/>
          <a:p>
            <a:pPr algn="r">
              <a:defRPr sz="1425" b="1">
                <a:solidFill>
                  <a:srgbClr val="001450"/>
                </a:solidFill>
                <a:latin typeface="Open Sans"/>
                <a:ea typeface="Open Sans"/>
                <a:cs typeface="Open Sans"/>
              </a:defRPr>
            </a:pPr>
            <a:r>
              <a:rPr sz="1425" b="1" dirty="0">
                <a:solidFill>
                  <a:srgbClr val="001450"/>
                </a:solidFill>
                <a:latin typeface="Open Sans"/>
                <a:ea typeface="Open Sans"/>
                <a:cs typeface="Open Sans"/>
              </a:rPr>
              <a:t>down</a:t>
            </a:r>
          </a:p>
        </p:txBody>
      </p:sp>
      <p:sp>
        <p:nvSpPr>
          <p:cNvPr id="261" name="current weight input label">
            <a:extLst>
              <a:ext uri="{FF2B5EF4-FFF2-40B4-BE49-F238E27FC236}">
                <a16:creationId xmlns:a16="http://schemas.microsoft.com/office/drawing/2014/main" id="{6612638C-F20B-26BE-56FA-1FE76F88F435}"/>
              </a:ext>
            </a:extLst>
          </p:cNvPr>
          <p:cNvSpPr>
            <a:spLocks noGrp="1"/>
          </p:cNvSpPr>
          <p:nvPr/>
        </p:nvSpPr>
        <p:spPr>
          <a:xfrm>
            <a:off x="4857750" y="1123950"/>
            <a:ext cx="2095500" cy="285750"/>
          </a:xfrm>
          <a:prstGeom prst="rect">
            <a:avLst/>
          </a:prstGeom>
          <a:noFill/>
          <a:ln w="0">
            <a:noFill/>
            <a:prstDash val="solid"/>
          </a:ln>
        </p:spPr>
        <p:txBody>
          <a:bodyPr wrap="square" lIns="0" tIns="0" rIns="0" bIns="0" anchor="ctr">
            <a:normAutofit/>
          </a:bodyPr>
          <a:lstStyle/>
          <a:p>
            <a:pPr algn="ctr">
              <a:defRPr sz="1388" b="1">
                <a:solidFill>
                  <a:srgbClr val="001450"/>
                </a:solidFill>
                <a:latin typeface="Open Sans"/>
                <a:ea typeface="Open Sans"/>
                <a:cs typeface="Open Sans"/>
              </a:defRPr>
            </a:pPr>
            <a:r>
              <a:rPr sz="1388" b="1" dirty="0" err="1">
                <a:solidFill>
                  <a:srgbClr val="001450"/>
                </a:solidFill>
                <a:latin typeface="Open Sans"/>
                <a:ea typeface="Open Sans"/>
                <a:cs typeface="Open Sans"/>
              </a:rPr>
              <a:t>w_current</a:t>
            </a:r>
            <a:r>
              <a:rPr sz="1388" b="1" dirty="0">
                <a:solidFill>
                  <a:srgbClr val="001450"/>
                </a:solidFill>
                <a:latin typeface="Open Sans"/>
                <a:ea typeface="Open Sans"/>
                <a:cs typeface="Open Sans"/>
              </a:rPr>
              <a:t>[</a:t>
            </a:r>
            <a:r>
              <a:rPr lang="en-US" sz="1388" b="1" dirty="0">
                <a:solidFill>
                  <a:srgbClr val="001450"/>
                </a:solidFill>
                <a:latin typeface="Open Sans"/>
                <a:ea typeface="Open Sans"/>
                <a:cs typeface="Open Sans"/>
              </a:rPr>
              <a:t>N</a:t>
            </a:r>
            <a:r>
              <a:rPr sz="1388" b="1" dirty="0">
                <a:solidFill>
                  <a:srgbClr val="001450"/>
                </a:solidFill>
                <a:latin typeface="Open Sans"/>
                <a:ea typeface="Open Sans"/>
                <a:cs typeface="Open Sans"/>
              </a:rPr>
              <a:t>-1:0]</a:t>
            </a:r>
          </a:p>
        </p:txBody>
      </p:sp>
      <p:sp>
        <p:nvSpPr>
          <p:cNvPr id="262" name="reset label">
            <a:extLst>
              <a:ext uri="{FF2B5EF4-FFF2-40B4-BE49-F238E27FC236}">
                <a16:creationId xmlns:a16="http://schemas.microsoft.com/office/drawing/2014/main" id="{ED2EB440-3F62-CF1F-0EA6-F606E0140AF1}"/>
              </a:ext>
            </a:extLst>
          </p:cNvPr>
          <p:cNvSpPr>
            <a:spLocks noGrp="1"/>
          </p:cNvSpPr>
          <p:nvPr/>
        </p:nvSpPr>
        <p:spPr>
          <a:xfrm>
            <a:off x="10114461" y="1285875"/>
            <a:ext cx="666750" cy="266700"/>
          </a:xfrm>
          <a:prstGeom prst="rect">
            <a:avLst/>
          </a:prstGeom>
          <a:noFill/>
          <a:ln w="0">
            <a:noFill/>
            <a:prstDash val="solid"/>
          </a:ln>
        </p:spPr>
        <p:txBody>
          <a:bodyPr wrap="square" lIns="0" tIns="0" rIns="0" bIns="0" anchor="ctr">
            <a:normAutofit/>
          </a:bodyPr>
          <a:lstStyle/>
          <a:p>
            <a:pPr algn="r">
              <a:defRPr sz="1388" b="1">
                <a:solidFill>
                  <a:srgbClr val="0070C0"/>
                </a:solidFill>
                <a:latin typeface="Open Sans"/>
                <a:ea typeface="Open Sans"/>
                <a:cs typeface="Open Sans"/>
              </a:defRPr>
            </a:pPr>
            <a:r>
              <a:rPr sz="1388" b="1" dirty="0" err="1">
                <a:solidFill>
                  <a:srgbClr val="0070C0"/>
                </a:solidFill>
                <a:latin typeface="Open Sans"/>
                <a:ea typeface="Open Sans"/>
                <a:cs typeface="Open Sans"/>
              </a:rPr>
              <a:t>rst</a:t>
            </a:r>
            <a:endParaRPr sz="1388" b="1" dirty="0">
              <a:solidFill>
                <a:srgbClr val="0070C0"/>
              </a:solidFill>
              <a:latin typeface="Open Sans"/>
              <a:ea typeface="Open Sans"/>
              <a:cs typeface="Open Sans"/>
            </a:endParaRPr>
          </a:p>
        </p:txBody>
      </p:sp>
      <p:sp>
        <p:nvSpPr>
          <p:cNvPr id="263" name="clock label">
            <a:extLst>
              <a:ext uri="{FF2B5EF4-FFF2-40B4-BE49-F238E27FC236}">
                <a16:creationId xmlns:a16="http://schemas.microsoft.com/office/drawing/2014/main" id="{2A4403BB-F673-1660-3AFA-9BA0E215BE3A}"/>
              </a:ext>
            </a:extLst>
          </p:cNvPr>
          <p:cNvSpPr>
            <a:spLocks noGrp="1"/>
          </p:cNvSpPr>
          <p:nvPr/>
        </p:nvSpPr>
        <p:spPr>
          <a:xfrm>
            <a:off x="10287000" y="5381625"/>
            <a:ext cx="762000" cy="285750"/>
          </a:xfrm>
          <a:prstGeom prst="rect">
            <a:avLst/>
          </a:prstGeom>
          <a:noFill/>
          <a:ln w="0">
            <a:noFill/>
            <a:prstDash val="solid"/>
          </a:ln>
        </p:spPr>
        <p:txBody>
          <a:bodyPr wrap="square" lIns="0" tIns="0" rIns="0" bIns="0" anchor="ctr">
            <a:normAutofit/>
          </a:bodyPr>
          <a:lstStyle/>
          <a:p>
            <a:pPr algn="ctr">
              <a:defRPr sz="1388" b="1">
                <a:solidFill>
                  <a:srgbClr val="0070C0"/>
                </a:solidFill>
                <a:latin typeface="Open Sans"/>
                <a:ea typeface="Open Sans"/>
                <a:cs typeface="Open Sans"/>
              </a:defRPr>
            </a:pPr>
            <a:r>
              <a:rPr sz="1388" b="1">
                <a:solidFill>
                  <a:srgbClr val="0070C0"/>
                </a:solidFill>
                <a:latin typeface="Open Sans"/>
                <a:ea typeface="Open Sans"/>
                <a:cs typeface="Open Sans"/>
              </a:rPr>
              <a:t>clk</a:t>
            </a:r>
          </a:p>
        </p:txBody>
      </p:sp>
      <p:sp>
        <p:nvSpPr>
          <p:cNvPr id="264" name="next weight output label">
            <a:extLst>
              <a:ext uri="{FF2B5EF4-FFF2-40B4-BE49-F238E27FC236}">
                <a16:creationId xmlns:a16="http://schemas.microsoft.com/office/drawing/2014/main" id="{8B956818-62D0-688F-4E54-2277CD6798FB}"/>
              </a:ext>
            </a:extLst>
          </p:cNvPr>
          <p:cNvSpPr>
            <a:spLocks noGrp="1"/>
          </p:cNvSpPr>
          <p:nvPr/>
        </p:nvSpPr>
        <p:spPr>
          <a:xfrm>
            <a:off x="11068050" y="2667000"/>
            <a:ext cx="1000125" cy="457200"/>
          </a:xfrm>
          <a:prstGeom prst="rect">
            <a:avLst/>
          </a:prstGeom>
          <a:noFill/>
          <a:ln w="0">
            <a:noFill/>
            <a:prstDash val="solid"/>
          </a:ln>
        </p:spPr>
        <p:txBody>
          <a:bodyPr wrap="square" lIns="0" tIns="0" rIns="0" bIns="0" anchor="ctr">
            <a:normAutofit/>
          </a:bodyPr>
          <a:lstStyle/>
          <a:p>
            <a:pPr algn="ctr">
              <a:defRPr sz="1350" b="1">
                <a:solidFill>
                  <a:srgbClr val="001450"/>
                </a:solidFill>
                <a:latin typeface="Open Sans"/>
                <a:ea typeface="Open Sans"/>
                <a:cs typeface="Open Sans"/>
              </a:defRPr>
            </a:pPr>
            <a:r>
              <a:rPr sz="1350" b="1" dirty="0" err="1">
                <a:solidFill>
                  <a:srgbClr val="001450"/>
                </a:solidFill>
                <a:latin typeface="Open Sans"/>
                <a:ea typeface="Open Sans"/>
                <a:cs typeface="Open Sans"/>
              </a:rPr>
              <a:t>w_next</a:t>
            </a:r>
            <a:endParaRPr sz="1350" b="1" dirty="0">
              <a:solidFill>
                <a:srgbClr val="001450"/>
              </a:solidFill>
              <a:latin typeface="Open Sans"/>
              <a:ea typeface="Open Sans"/>
              <a:cs typeface="Open Sans"/>
            </a:endParaRPr>
          </a:p>
          <a:p>
            <a:pPr algn="ctr">
              <a:defRPr sz="1350" b="1">
                <a:solidFill>
                  <a:srgbClr val="001450"/>
                </a:solidFill>
                <a:latin typeface="Open Sans"/>
                <a:ea typeface="Open Sans"/>
                <a:cs typeface="Open Sans"/>
              </a:defRPr>
            </a:pPr>
            <a:r>
              <a:rPr sz="1350" b="1" dirty="0">
                <a:solidFill>
                  <a:srgbClr val="001450"/>
                </a:solidFill>
                <a:latin typeface="Open Sans"/>
                <a:ea typeface="Open Sans"/>
                <a:cs typeface="Open Sans"/>
              </a:rPr>
              <a:t>[</a:t>
            </a:r>
            <a:r>
              <a:rPr lang="en-US" sz="1350" b="1" dirty="0">
                <a:solidFill>
                  <a:srgbClr val="001450"/>
                </a:solidFill>
                <a:latin typeface="Open Sans"/>
                <a:ea typeface="Open Sans"/>
                <a:cs typeface="Open Sans"/>
              </a:rPr>
              <a:t>N</a:t>
            </a:r>
            <a:r>
              <a:rPr sz="1350" b="1" dirty="0">
                <a:solidFill>
                  <a:srgbClr val="001450"/>
                </a:solidFill>
                <a:latin typeface="Open Sans"/>
                <a:ea typeface="Open Sans"/>
                <a:cs typeface="Open Sans"/>
              </a:rPr>
              <a:t>-1:0]</a:t>
            </a:r>
          </a:p>
        </p:txBody>
      </p:sp>
      <p:sp>
        <p:nvSpPr>
          <p:cNvPr id="266" name="module label">
            <a:extLst>
              <a:ext uri="{FF2B5EF4-FFF2-40B4-BE49-F238E27FC236}">
                <a16:creationId xmlns:a16="http://schemas.microsoft.com/office/drawing/2014/main" id="{A1F4D774-12DE-0BC4-E746-A42BF4A13C82}"/>
              </a:ext>
            </a:extLst>
          </p:cNvPr>
          <p:cNvSpPr>
            <a:spLocks noGrp="1"/>
          </p:cNvSpPr>
          <p:nvPr/>
        </p:nvSpPr>
        <p:spPr>
          <a:xfrm>
            <a:off x="1781175" y="1628775"/>
            <a:ext cx="1047750" cy="228600"/>
          </a:xfrm>
          <a:prstGeom prst="rect">
            <a:avLst/>
          </a:prstGeom>
          <a:noFill/>
          <a:ln w="0">
            <a:noFill/>
            <a:prstDash val="solid"/>
          </a:ln>
        </p:spPr>
        <p:txBody>
          <a:bodyPr wrap="square" lIns="0" tIns="0" rIns="0" bIns="0" anchor="ctr">
            <a:normAutofit/>
          </a:bodyPr>
          <a:lstStyle/>
          <a:p>
            <a:pPr algn="l">
              <a:defRPr sz="1013" b="1">
                <a:solidFill>
                  <a:srgbClr val="566371"/>
                </a:solidFill>
                <a:latin typeface="Open Sans"/>
                <a:ea typeface="Open Sans"/>
                <a:cs typeface="Open Sans"/>
              </a:defRPr>
            </a:pPr>
            <a:r>
              <a:rPr sz="1013" b="1">
                <a:solidFill>
                  <a:srgbClr val="566371"/>
                </a:solidFill>
                <a:latin typeface="Open Sans"/>
                <a:ea typeface="Open Sans"/>
                <a:cs typeface="Open Sans"/>
              </a:rPr>
              <a:t>SDSP TOP</a:t>
            </a:r>
          </a:p>
        </p:txBody>
      </p:sp>
      <p:sp>
        <p:nvSpPr>
          <p:cNvPr id="267" name="wmsb label">
            <a:extLst>
              <a:ext uri="{FF2B5EF4-FFF2-40B4-BE49-F238E27FC236}">
                <a16:creationId xmlns:a16="http://schemas.microsoft.com/office/drawing/2014/main" id="{2E325109-1821-ED9E-681F-8E75EE138A84}"/>
              </a:ext>
            </a:extLst>
          </p:cNvPr>
          <p:cNvSpPr>
            <a:spLocks noGrp="1"/>
          </p:cNvSpPr>
          <p:nvPr/>
        </p:nvSpPr>
        <p:spPr>
          <a:xfrm>
            <a:off x="4471851" y="2005013"/>
            <a:ext cx="904875" cy="247650"/>
          </a:xfrm>
          <a:prstGeom prst="rect">
            <a:avLst/>
          </a:prstGeom>
          <a:noFill/>
          <a:ln w="0">
            <a:noFill/>
            <a:prstDash val="solid"/>
          </a:ln>
        </p:spPr>
        <p:txBody>
          <a:bodyPr wrap="square" lIns="0" tIns="0" rIns="0" bIns="0" anchor="ctr">
            <a:normAutofit/>
          </a:bodyPr>
          <a:lstStyle/>
          <a:p>
            <a:pPr algn="l">
              <a:defRPr sz="990" b="0">
                <a:solidFill>
                  <a:srgbClr val="566371"/>
                </a:solidFill>
                <a:latin typeface="Open Sans"/>
                <a:ea typeface="Open Sans"/>
                <a:cs typeface="Open Sans"/>
              </a:defRPr>
            </a:pPr>
            <a:r>
              <a:rPr sz="990" b="0" dirty="0" err="1">
                <a:solidFill>
                  <a:srgbClr val="566371"/>
                </a:solidFill>
                <a:latin typeface="Open Sans"/>
                <a:ea typeface="Open Sans"/>
                <a:cs typeface="Open Sans"/>
              </a:rPr>
              <a:t>w_msb</a:t>
            </a:r>
            <a:endParaRPr sz="990" b="0" dirty="0">
              <a:solidFill>
                <a:srgbClr val="566371"/>
              </a:solidFill>
              <a:latin typeface="Open Sans"/>
              <a:ea typeface="Open Sans"/>
              <a:cs typeface="Open Sans"/>
            </a:endParaRPr>
          </a:p>
        </p:txBody>
      </p:sp>
      <p:sp>
        <p:nvSpPr>
          <p:cNvPr id="268" name="adder weight label">
            <a:extLst>
              <a:ext uri="{FF2B5EF4-FFF2-40B4-BE49-F238E27FC236}">
                <a16:creationId xmlns:a16="http://schemas.microsoft.com/office/drawing/2014/main" id="{B0E59221-DE43-1807-1CD3-592C5E82D6B8}"/>
              </a:ext>
            </a:extLst>
          </p:cNvPr>
          <p:cNvSpPr>
            <a:spLocks noGrp="1"/>
          </p:cNvSpPr>
          <p:nvPr/>
        </p:nvSpPr>
        <p:spPr>
          <a:xfrm>
            <a:off x="5535386" y="3268981"/>
            <a:ext cx="1143000" cy="266700"/>
          </a:xfrm>
          <a:prstGeom prst="rect">
            <a:avLst/>
          </a:prstGeom>
          <a:noFill/>
          <a:ln w="0">
            <a:noFill/>
            <a:prstDash val="solid"/>
          </a:ln>
        </p:spPr>
        <p:txBody>
          <a:bodyPr wrap="square" lIns="0" tIns="0" rIns="0" bIns="0" anchor="ctr">
            <a:normAutofit/>
          </a:bodyPr>
          <a:lstStyle/>
          <a:p>
            <a:pPr algn="ctr">
              <a:defRPr sz="990" b="0">
                <a:solidFill>
                  <a:srgbClr val="566371"/>
                </a:solidFill>
                <a:latin typeface="Open Sans"/>
                <a:ea typeface="Open Sans"/>
                <a:cs typeface="Open Sans"/>
              </a:defRPr>
            </a:pPr>
            <a:r>
              <a:rPr sz="990" b="0" dirty="0" err="1">
                <a:solidFill>
                  <a:srgbClr val="566371"/>
                </a:solidFill>
                <a:latin typeface="Open Sans"/>
                <a:ea typeface="Open Sans"/>
                <a:cs typeface="Open Sans"/>
              </a:rPr>
              <a:t>w_current</a:t>
            </a:r>
            <a:endParaRPr sz="990" b="0" dirty="0">
              <a:solidFill>
                <a:srgbClr val="566371"/>
              </a:solidFill>
              <a:latin typeface="Open Sans"/>
              <a:ea typeface="Open Sans"/>
              <a:cs typeface="Open Sans"/>
            </a:endParaRPr>
          </a:p>
        </p:txBody>
      </p:sp>
      <p:sp>
        <p:nvSpPr>
          <p:cNvPr id="270" name="delta label">
            <a:extLst>
              <a:ext uri="{FF2B5EF4-FFF2-40B4-BE49-F238E27FC236}">
                <a16:creationId xmlns:a16="http://schemas.microsoft.com/office/drawing/2014/main" id="{19299944-8ECD-0A4C-369A-01C2F716D241}"/>
              </a:ext>
            </a:extLst>
          </p:cNvPr>
          <p:cNvSpPr>
            <a:spLocks noGrp="1"/>
          </p:cNvSpPr>
          <p:nvPr/>
        </p:nvSpPr>
        <p:spPr>
          <a:xfrm>
            <a:off x="5366522" y="2759801"/>
            <a:ext cx="1047750" cy="381000"/>
          </a:xfrm>
          <a:prstGeom prst="rect">
            <a:avLst/>
          </a:prstGeom>
          <a:noFill/>
          <a:ln w="0">
            <a:noFill/>
            <a:prstDash val="solid"/>
          </a:ln>
        </p:spPr>
        <p:txBody>
          <a:bodyPr wrap="square" lIns="0" tIns="0" rIns="0" bIns="0" anchor="ctr">
            <a:normAutofit/>
          </a:bodyPr>
          <a:lstStyle/>
          <a:p>
            <a:pPr algn="ctr">
              <a:defRPr sz="1065" b="1">
                <a:solidFill>
                  <a:srgbClr val="2F57B2"/>
                </a:solidFill>
                <a:latin typeface="Open Sans"/>
                <a:ea typeface="Open Sans"/>
                <a:cs typeface="Open Sans"/>
              </a:defRPr>
            </a:pPr>
            <a:r>
              <a:rPr sz="1065" b="1" dirty="0" err="1">
                <a:solidFill>
                  <a:srgbClr val="2F57B2"/>
                </a:solidFill>
                <a:latin typeface="Open Sans"/>
                <a:ea typeface="Open Sans"/>
                <a:cs typeface="Open Sans"/>
              </a:rPr>
              <a:t>delta_w</a:t>
            </a:r>
            <a:endParaRPr sz="1065" b="1" dirty="0">
              <a:solidFill>
                <a:srgbClr val="2F57B2"/>
              </a:solidFill>
              <a:latin typeface="Open Sans"/>
              <a:ea typeface="Open Sans"/>
              <a:cs typeface="Open Sans"/>
            </a:endParaRPr>
          </a:p>
        </p:txBody>
      </p:sp>
      <p:sp>
        <p:nvSpPr>
          <p:cNvPr id="271" name="sum label">
            <a:extLst>
              <a:ext uri="{FF2B5EF4-FFF2-40B4-BE49-F238E27FC236}">
                <a16:creationId xmlns:a16="http://schemas.microsoft.com/office/drawing/2014/main" id="{BEC528A0-D6EB-E39B-ADE8-B817CAB6CBD4}"/>
              </a:ext>
            </a:extLst>
          </p:cNvPr>
          <p:cNvSpPr>
            <a:spLocks noGrp="1"/>
          </p:cNvSpPr>
          <p:nvPr/>
        </p:nvSpPr>
        <p:spPr>
          <a:xfrm>
            <a:off x="7962900" y="3200400"/>
            <a:ext cx="590550" cy="266700"/>
          </a:xfrm>
          <a:prstGeom prst="rect">
            <a:avLst/>
          </a:prstGeom>
          <a:noFill/>
          <a:ln w="0">
            <a:noFill/>
            <a:prstDash val="solid"/>
          </a:ln>
        </p:spPr>
        <p:txBody>
          <a:bodyPr wrap="square" lIns="0" tIns="0" rIns="0" bIns="0" anchor="ctr">
            <a:normAutofit/>
          </a:bodyPr>
          <a:lstStyle/>
          <a:p>
            <a:pPr algn="r">
              <a:defRPr sz="990" b="0">
                <a:solidFill>
                  <a:srgbClr val="566371"/>
                </a:solidFill>
                <a:latin typeface="Open Sans"/>
                <a:ea typeface="Open Sans"/>
                <a:cs typeface="Open Sans"/>
              </a:defRPr>
            </a:pPr>
            <a:r>
              <a:rPr sz="990" b="0" dirty="0" err="1">
                <a:solidFill>
                  <a:srgbClr val="566371"/>
                </a:solidFill>
                <a:latin typeface="Open Sans"/>
                <a:ea typeface="Open Sans"/>
                <a:cs typeface="Open Sans"/>
              </a:rPr>
              <a:t>w_sum</a:t>
            </a:r>
            <a:endParaRPr sz="990" b="0" dirty="0">
              <a:solidFill>
                <a:srgbClr val="566371"/>
              </a:solidFill>
              <a:latin typeface="Open Sans"/>
              <a:ea typeface="Open Sans"/>
              <a:cs typeface="Open Sans"/>
            </a:endParaRPr>
          </a:p>
        </p:txBody>
      </p:sp>
      <p:sp>
        <p:nvSpPr>
          <p:cNvPr id="273" name="mux label">
            <a:extLst>
              <a:ext uri="{FF2B5EF4-FFF2-40B4-BE49-F238E27FC236}">
                <a16:creationId xmlns:a16="http://schemas.microsoft.com/office/drawing/2014/main" id="{50E0FAE7-E812-9B75-CCBF-9072D3A96681}"/>
              </a:ext>
            </a:extLst>
          </p:cNvPr>
          <p:cNvSpPr>
            <a:spLocks noGrp="1"/>
          </p:cNvSpPr>
          <p:nvPr/>
        </p:nvSpPr>
        <p:spPr>
          <a:xfrm>
            <a:off x="8905875" y="2933700"/>
            <a:ext cx="666750" cy="495300"/>
          </a:xfrm>
          <a:prstGeom prst="rect">
            <a:avLst/>
          </a:prstGeom>
          <a:noFill/>
          <a:ln w="0">
            <a:noFill/>
            <a:prstDash val="solid"/>
          </a:ln>
        </p:spPr>
        <p:txBody>
          <a:bodyPr wrap="square" lIns="0" tIns="0" rIns="0" bIns="0" anchor="ctr">
            <a:normAutofit/>
          </a:bodyPr>
          <a:lstStyle/>
          <a:p>
            <a:pPr algn="ctr">
              <a:defRPr sz="1313" b="1">
                <a:solidFill>
                  <a:srgbClr val="001450"/>
                </a:solidFill>
                <a:latin typeface="Open Sans"/>
                <a:ea typeface="Open Sans"/>
                <a:cs typeface="Open Sans"/>
              </a:defRPr>
            </a:pPr>
            <a:r>
              <a:rPr sz="1313" b="1">
                <a:solidFill>
                  <a:srgbClr val="001450"/>
                </a:solidFill>
                <a:latin typeface="Open Sans"/>
                <a:ea typeface="Open Sans"/>
                <a:cs typeface="Open Sans"/>
              </a:rPr>
              <a:t>2:1</a:t>
            </a:r>
          </a:p>
          <a:p>
            <a:pPr algn="ctr">
              <a:defRPr sz="1313" b="1">
                <a:solidFill>
                  <a:srgbClr val="001450"/>
                </a:solidFill>
                <a:latin typeface="Open Sans"/>
                <a:ea typeface="Open Sans"/>
                <a:cs typeface="Open Sans"/>
              </a:defRPr>
            </a:pPr>
            <a:r>
              <a:rPr sz="1313" b="1">
                <a:solidFill>
                  <a:srgbClr val="001450"/>
                </a:solidFill>
                <a:latin typeface="Open Sans"/>
                <a:ea typeface="Open Sans"/>
                <a:cs typeface="Open Sans"/>
              </a:rPr>
              <a:t>MUX</a:t>
            </a:r>
          </a:p>
        </p:txBody>
      </p:sp>
      <p:sp>
        <p:nvSpPr>
          <p:cNvPr id="274" name="weight register label">
            <a:extLst>
              <a:ext uri="{FF2B5EF4-FFF2-40B4-BE49-F238E27FC236}">
                <a16:creationId xmlns:a16="http://schemas.microsoft.com/office/drawing/2014/main" id="{B585AA2F-4E28-C81F-7AD2-88731EC35EC6}"/>
              </a:ext>
            </a:extLst>
          </p:cNvPr>
          <p:cNvSpPr>
            <a:spLocks noGrp="1"/>
          </p:cNvSpPr>
          <p:nvPr/>
        </p:nvSpPr>
        <p:spPr>
          <a:xfrm>
            <a:off x="10334625" y="2619375"/>
            <a:ext cx="666750" cy="438150"/>
          </a:xfrm>
          <a:prstGeom prst="rect">
            <a:avLst/>
          </a:prstGeom>
          <a:noFill/>
          <a:ln w="0">
            <a:noFill/>
            <a:prstDash val="solid"/>
          </a:ln>
        </p:spPr>
        <p:txBody>
          <a:bodyPr wrap="square" lIns="0" tIns="0" rIns="0" bIns="0" anchor="ctr">
            <a:normAutofit/>
          </a:bodyPr>
          <a:lstStyle/>
          <a:p>
            <a:pPr algn="ctr">
              <a:defRPr sz="1238" b="1">
                <a:solidFill>
                  <a:srgbClr val="001450"/>
                </a:solidFill>
                <a:latin typeface="Open Sans"/>
                <a:ea typeface="Open Sans"/>
                <a:cs typeface="Open Sans"/>
              </a:defRPr>
            </a:pPr>
            <a:r>
              <a:rPr sz="1238" b="1">
                <a:solidFill>
                  <a:srgbClr val="001450"/>
                </a:solidFill>
                <a:latin typeface="Open Sans"/>
                <a:ea typeface="Open Sans"/>
                <a:cs typeface="Open Sans"/>
              </a:rPr>
              <a:t>Weight</a:t>
            </a:r>
          </a:p>
          <a:p>
            <a:pPr algn="ctr">
              <a:defRPr sz="1238" b="1">
                <a:solidFill>
                  <a:srgbClr val="001450"/>
                </a:solidFill>
                <a:latin typeface="Open Sans"/>
                <a:ea typeface="Open Sans"/>
                <a:cs typeface="Open Sans"/>
              </a:defRPr>
            </a:pPr>
            <a:r>
              <a:rPr sz="1238" b="1">
                <a:solidFill>
                  <a:srgbClr val="001450"/>
                </a:solidFill>
                <a:latin typeface="Open Sans"/>
                <a:ea typeface="Open Sans"/>
                <a:cs typeface="Open Sans"/>
              </a:rPr>
              <a:t>Register</a:t>
            </a:r>
          </a:p>
        </p:txBody>
      </p:sp>
      <p:sp>
        <p:nvSpPr>
          <p:cNvPr id="275" name="register D label">
            <a:extLst>
              <a:ext uri="{FF2B5EF4-FFF2-40B4-BE49-F238E27FC236}">
                <a16:creationId xmlns:a16="http://schemas.microsoft.com/office/drawing/2014/main" id="{98A81D39-F66A-FC67-473D-986EBA7FFA75}"/>
              </a:ext>
            </a:extLst>
          </p:cNvPr>
          <p:cNvSpPr>
            <a:spLocks noGrp="1"/>
          </p:cNvSpPr>
          <p:nvPr/>
        </p:nvSpPr>
        <p:spPr>
          <a:xfrm>
            <a:off x="10248900" y="3048000"/>
            <a:ext cx="209550" cy="285750"/>
          </a:xfrm>
          <a:prstGeom prst="rect">
            <a:avLst/>
          </a:prstGeom>
          <a:noFill/>
          <a:ln w="0">
            <a:noFill/>
            <a:prstDash val="solid"/>
          </a:ln>
        </p:spPr>
        <p:txBody>
          <a:bodyPr wrap="square" lIns="0" tIns="0" rIns="0" bIns="0" anchor="ctr">
            <a:normAutofit/>
          </a:bodyPr>
          <a:lstStyle/>
          <a:p>
            <a:pPr algn="ctr">
              <a:defRPr sz="1238" b="1">
                <a:solidFill>
                  <a:srgbClr val="001450"/>
                </a:solidFill>
                <a:latin typeface="Open Sans"/>
                <a:ea typeface="Open Sans"/>
                <a:cs typeface="Open Sans"/>
              </a:defRPr>
            </a:pPr>
            <a:r>
              <a:rPr sz="1238" b="1">
                <a:solidFill>
                  <a:srgbClr val="001450"/>
                </a:solidFill>
                <a:latin typeface="Open Sans"/>
                <a:ea typeface="Open Sans"/>
                <a:cs typeface="Open Sans"/>
              </a:rPr>
              <a:t>D</a:t>
            </a:r>
          </a:p>
        </p:txBody>
      </p:sp>
      <p:sp>
        <p:nvSpPr>
          <p:cNvPr id="276" name="register Q label">
            <a:extLst>
              <a:ext uri="{FF2B5EF4-FFF2-40B4-BE49-F238E27FC236}">
                <a16:creationId xmlns:a16="http://schemas.microsoft.com/office/drawing/2014/main" id="{E047EB80-884A-B868-CB9C-4E08447144CA}"/>
              </a:ext>
            </a:extLst>
          </p:cNvPr>
          <p:cNvSpPr>
            <a:spLocks noGrp="1"/>
          </p:cNvSpPr>
          <p:nvPr/>
        </p:nvSpPr>
        <p:spPr>
          <a:xfrm>
            <a:off x="10887075" y="3048000"/>
            <a:ext cx="209550" cy="285750"/>
          </a:xfrm>
          <a:prstGeom prst="rect">
            <a:avLst/>
          </a:prstGeom>
          <a:noFill/>
          <a:ln w="0">
            <a:noFill/>
            <a:prstDash val="solid"/>
          </a:ln>
        </p:spPr>
        <p:txBody>
          <a:bodyPr wrap="square" lIns="0" tIns="0" rIns="0" bIns="0" anchor="ctr">
            <a:normAutofit/>
          </a:bodyPr>
          <a:lstStyle/>
          <a:p>
            <a:pPr algn="ctr">
              <a:defRPr sz="1238" b="1">
                <a:solidFill>
                  <a:srgbClr val="001450"/>
                </a:solidFill>
                <a:latin typeface="Open Sans"/>
                <a:ea typeface="Open Sans"/>
                <a:cs typeface="Open Sans"/>
              </a:defRPr>
            </a:pPr>
            <a:r>
              <a:rPr sz="1238" b="1">
                <a:solidFill>
                  <a:srgbClr val="001450"/>
                </a:solidFill>
                <a:latin typeface="Open Sans"/>
                <a:ea typeface="Open Sans"/>
                <a:cs typeface="Open Sans"/>
              </a:rPr>
              <a:t>Q</a:t>
            </a:r>
          </a:p>
        </p:txBody>
      </p:sp>
      <p:sp>
        <p:nvSpPr>
          <p:cNvPr id="277" name="Clock edge marker">
            <a:extLst>
              <a:ext uri="{FF2B5EF4-FFF2-40B4-BE49-F238E27FC236}">
                <a16:creationId xmlns:a16="http://schemas.microsoft.com/office/drawing/2014/main" id="{7F8E652E-1C1F-328C-828B-3A505E349562}"/>
              </a:ext>
            </a:extLst>
          </p:cNvPr>
          <p:cNvSpPr>
            <a:spLocks noGrp="1"/>
          </p:cNvSpPr>
          <p:nvPr/>
        </p:nvSpPr>
        <p:spPr>
          <a:xfrm>
            <a:off x="10553700" y="3752850"/>
            <a:ext cx="228600" cy="228600"/>
          </a:xfrm>
          <a:prstGeom prst="triangle">
            <a:avLst/>
          </a:prstGeom>
          <a:noFill/>
          <a:ln w="20955">
            <a:solidFill>
              <a:srgbClr val="0070C0"/>
            </a:solidFill>
            <a:prstDash val="solid"/>
          </a:ln>
        </p:spPr>
      </p:sp>
      <p:sp>
        <p:nvSpPr>
          <p:cNvPr id="278" name="adder status label">
            <a:extLst>
              <a:ext uri="{FF2B5EF4-FFF2-40B4-BE49-F238E27FC236}">
                <a16:creationId xmlns:a16="http://schemas.microsoft.com/office/drawing/2014/main" id="{284F73A7-713F-3079-87A9-B54F965FCB95}"/>
              </a:ext>
            </a:extLst>
          </p:cNvPr>
          <p:cNvSpPr>
            <a:spLocks noGrp="1"/>
          </p:cNvSpPr>
          <p:nvPr/>
        </p:nvSpPr>
        <p:spPr>
          <a:xfrm>
            <a:off x="5638800" y="3724275"/>
            <a:ext cx="1381125" cy="161925"/>
          </a:xfrm>
          <a:prstGeom prst="rect">
            <a:avLst/>
          </a:prstGeom>
          <a:solidFill>
            <a:srgbClr val="FFFFFF"/>
          </a:solidFill>
          <a:ln w="0">
            <a:noFill/>
            <a:prstDash val="solid"/>
          </a:ln>
        </p:spPr>
        <p:txBody>
          <a:bodyPr wrap="square" lIns="28575" tIns="0" rIns="28575" bIns="0" anchor="ctr">
            <a:normAutofit/>
          </a:bodyPr>
          <a:lstStyle/>
          <a:p>
            <a:pPr algn="ctr">
              <a:defRPr sz="953" b="1">
                <a:solidFill>
                  <a:srgbClr val="0A777F"/>
                </a:solidFill>
                <a:latin typeface="Open Sans"/>
                <a:ea typeface="Open Sans"/>
                <a:cs typeface="Open Sans"/>
              </a:defRPr>
            </a:pPr>
            <a:r>
              <a:rPr lang="en-US" altLang="zh-CN" sz="953" b="1" dirty="0" err="1">
                <a:solidFill>
                  <a:srgbClr val="0A777F"/>
                </a:solidFill>
                <a:latin typeface="Open Sans"/>
                <a:ea typeface="Open Sans"/>
                <a:cs typeface="Open Sans"/>
              </a:rPr>
              <a:t>cout</a:t>
            </a:r>
            <a:endParaRPr sz="953" b="1" dirty="0">
              <a:solidFill>
                <a:srgbClr val="0A777F"/>
              </a:solidFill>
              <a:latin typeface="Open Sans"/>
              <a:ea typeface="Open Sans"/>
              <a:cs typeface="Open Sans"/>
            </a:endParaRPr>
          </a:p>
        </p:txBody>
      </p:sp>
      <p:sp>
        <p:nvSpPr>
          <p:cNvPr id="279" name="boundary label">
            <a:extLst>
              <a:ext uri="{FF2B5EF4-FFF2-40B4-BE49-F238E27FC236}">
                <a16:creationId xmlns:a16="http://schemas.microsoft.com/office/drawing/2014/main" id="{F0DF9F6A-0407-2783-47BF-85ABA94B9B05}"/>
              </a:ext>
            </a:extLst>
          </p:cNvPr>
          <p:cNvSpPr>
            <a:spLocks noGrp="1"/>
          </p:cNvSpPr>
          <p:nvPr/>
        </p:nvSpPr>
        <p:spPr>
          <a:xfrm>
            <a:off x="6524625" y="4267200"/>
            <a:ext cx="2095500" cy="266700"/>
          </a:xfrm>
          <a:prstGeom prst="rect">
            <a:avLst/>
          </a:prstGeom>
          <a:noFill/>
          <a:ln w="0">
            <a:noFill/>
            <a:prstDash val="solid"/>
          </a:ln>
        </p:spPr>
        <p:txBody>
          <a:bodyPr wrap="square" lIns="0" tIns="0" rIns="0" bIns="0" anchor="ctr">
            <a:normAutofit/>
          </a:bodyPr>
          <a:lstStyle/>
          <a:p>
            <a:pPr algn="ctr">
              <a:defRPr sz="1065" b="1">
                <a:solidFill>
                  <a:srgbClr val="0A777F"/>
                </a:solidFill>
                <a:latin typeface="Open Sans"/>
                <a:ea typeface="Open Sans"/>
                <a:cs typeface="Open Sans"/>
              </a:defRPr>
            </a:pPr>
            <a:r>
              <a:rPr sz="1065" b="1" dirty="0" err="1">
                <a:solidFill>
                  <a:srgbClr val="0A777F"/>
                </a:solidFill>
                <a:latin typeface="Open Sans"/>
                <a:ea typeface="Open Sans"/>
                <a:cs typeface="Open Sans"/>
              </a:rPr>
              <a:t>boundary_detected</a:t>
            </a:r>
            <a:endParaRPr sz="1065" b="1" dirty="0">
              <a:solidFill>
                <a:srgbClr val="0A777F"/>
              </a:solidFill>
              <a:latin typeface="Open Sans"/>
              <a:ea typeface="Open Sans"/>
              <a:cs typeface="Open Sans"/>
            </a:endParaRPr>
          </a:p>
        </p:txBody>
      </p:sp>
      <p:sp>
        <p:nvSpPr>
          <p:cNvPr id="280" name="module takeaway">
            <a:extLst>
              <a:ext uri="{FF2B5EF4-FFF2-40B4-BE49-F238E27FC236}">
                <a16:creationId xmlns:a16="http://schemas.microsoft.com/office/drawing/2014/main" id="{45520D5C-7335-37F5-F4BC-FB67353D7B74}"/>
              </a:ext>
            </a:extLst>
          </p:cNvPr>
          <p:cNvSpPr>
            <a:spLocks noGrp="1"/>
          </p:cNvSpPr>
          <p:nvPr/>
        </p:nvSpPr>
        <p:spPr>
          <a:xfrm>
            <a:off x="2095500" y="5286375"/>
            <a:ext cx="7620000" cy="457200"/>
          </a:xfrm>
          <a:prstGeom prst="rect">
            <a:avLst/>
          </a:prstGeom>
          <a:noFill/>
          <a:ln w="0">
            <a:noFill/>
            <a:prstDash val="solid"/>
          </a:ln>
        </p:spPr>
        <p:txBody>
          <a:bodyPr wrap="square" lIns="0" tIns="0" rIns="0" bIns="0" anchor="ctr">
            <a:normAutofit/>
          </a:bodyPr>
          <a:lstStyle/>
          <a:p>
            <a:pPr algn="ctr">
              <a:defRPr sz="1215" b="1">
                <a:solidFill>
                  <a:srgbClr val="2F57B2"/>
                </a:solidFill>
                <a:latin typeface="Open Sans"/>
                <a:ea typeface="Open Sans"/>
                <a:cs typeface="Open Sans"/>
              </a:defRPr>
            </a:pPr>
            <a:r>
              <a:rPr sz="1215" b="1">
                <a:solidFill>
                  <a:srgbClr val="2F57B2"/>
                </a:solidFill>
                <a:latin typeface="Open Sans"/>
                <a:ea typeface="Open Sans"/>
                <a:cs typeface="Open Sans"/>
              </a:rPr>
              <a:t>Update control validates the candidate weight; the MUX selects hold/update before w_next is registered on clk.</a:t>
            </a:r>
          </a:p>
        </p:txBody>
      </p:sp>
      <p:sp>
        <p:nvSpPr>
          <p:cNvPr id="284" name="weight hold drop">
            <a:extLst>
              <a:ext uri="{FF2B5EF4-FFF2-40B4-BE49-F238E27FC236}">
                <a16:creationId xmlns:a16="http://schemas.microsoft.com/office/drawing/2014/main" id="{015E7BEF-3FD3-181D-95A1-B84DDB98E50C}"/>
              </a:ext>
            </a:extLst>
          </p:cNvPr>
          <p:cNvSpPr>
            <a:spLocks noGrp="1"/>
          </p:cNvSpPr>
          <p:nvPr/>
        </p:nvSpPr>
        <p:spPr>
          <a:xfrm>
            <a:off x="6211592" y="1837781"/>
            <a:ext cx="953" cy="1469571"/>
          </a:xfrm>
          <a:prstGeom prst="line">
            <a:avLst/>
          </a:prstGeom>
          <a:noFill/>
          <a:ln w="26670">
            <a:solidFill>
              <a:srgbClr val="001450"/>
            </a:solidFill>
            <a:prstDash val="solid"/>
          </a:ln>
        </p:spPr>
      </p:sp>
      <p:cxnSp>
        <p:nvCxnSpPr>
          <p:cNvPr id="285" name="直接箭头连接符 284">
            <a:extLst>
              <a:ext uri="{FF2B5EF4-FFF2-40B4-BE49-F238E27FC236}">
                <a16:creationId xmlns:a16="http://schemas.microsoft.com/office/drawing/2014/main" id="{8BCF1A90-B90A-236A-2DD0-2AF08A6478C0}"/>
              </a:ext>
            </a:extLst>
          </p:cNvPr>
          <p:cNvCxnSpPr>
            <a:cxnSpLocks/>
          </p:cNvCxnSpPr>
          <p:nvPr/>
        </p:nvCxnSpPr>
        <p:spPr>
          <a:xfrm>
            <a:off x="6210300" y="3317149"/>
            <a:ext cx="219075" cy="0"/>
          </a:xfrm>
          <a:prstGeom prst="straightConnector1">
            <a:avLst/>
          </a:prstGeom>
          <a:ln w="23813">
            <a:solidFill>
              <a:srgbClr val="001450"/>
            </a:solidFill>
            <a:prstDash val="solid"/>
            <a:tailEnd type="triangle" w="med" len="med"/>
          </a:ln>
        </p:spPr>
      </p:cxnSp>
      <p:cxnSp>
        <p:nvCxnSpPr>
          <p:cNvPr id="286" name="直接箭头连接符 285">
            <a:extLst>
              <a:ext uri="{FF2B5EF4-FFF2-40B4-BE49-F238E27FC236}">
                <a16:creationId xmlns:a16="http://schemas.microsoft.com/office/drawing/2014/main" id="{6DE1BCE7-1981-3815-C53D-20E9D5DD39EB}"/>
              </a:ext>
            </a:extLst>
          </p:cNvPr>
          <p:cNvCxnSpPr>
            <a:cxnSpLocks/>
            <a:stCxn id="263" idx="0"/>
          </p:cNvCxnSpPr>
          <p:nvPr/>
        </p:nvCxnSpPr>
        <p:spPr>
          <a:xfrm flipV="1">
            <a:off x="10668000" y="4000500"/>
            <a:ext cx="0" cy="1381125"/>
          </a:xfrm>
          <a:prstGeom prst="straightConnector1">
            <a:avLst/>
          </a:prstGeom>
          <a:ln w="23813">
            <a:solidFill>
              <a:srgbClr val="0070C0"/>
            </a:solidFill>
            <a:prstDash val="solid"/>
            <a:tailEnd type="triangle" w="med" len="med"/>
          </a:ln>
        </p:spPr>
      </p:cxnSp>
      <p:sp>
        <p:nvSpPr>
          <p:cNvPr id="292" name="adder weight label">
            <a:extLst>
              <a:ext uri="{FF2B5EF4-FFF2-40B4-BE49-F238E27FC236}">
                <a16:creationId xmlns:a16="http://schemas.microsoft.com/office/drawing/2014/main" id="{8A2455E1-B4CC-C2C0-E68D-A8133B8CBB73}"/>
              </a:ext>
            </a:extLst>
          </p:cNvPr>
          <p:cNvSpPr>
            <a:spLocks noGrp="1"/>
          </p:cNvSpPr>
          <p:nvPr/>
        </p:nvSpPr>
        <p:spPr>
          <a:xfrm>
            <a:off x="7456170" y="1801177"/>
            <a:ext cx="1143000" cy="266700"/>
          </a:xfrm>
          <a:prstGeom prst="rect">
            <a:avLst/>
          </a:prstGeom>
          <a:noFill/>
          <a:ln w="0">
            <a:noFill/>
            <a:prstDash val="solid"/>
          </a:ln>
        </p:spPr>
        <p:txBody>
          <a:bodyPr wrap="square" lIns="0" tIns="0" rIns="0" bIns="0" anchor="ctr">
            <a:normAutofit/>
          </a:bodyPr>
          <a:lstStyle/>
          <a:p>
            <a:pPr algn="ctr">
              <a:defRPr sz="990" b="0">
                <a:solidFill>
                  <a:srgbClr val="566371"/>
                </a:solidFill>
                <a:latin typeface="Open Sans"/>
                <a:ea typeface="Open Sans"/>
                <a:cs typeface="Open Sans"/>
              </a:defRPr>
            </a:pPr>
            <a:r>
              <a:rPr sz="990" b="0" dirty="0" err="1">
                <a:solidFill>
                  <a:srgbClr val="566371"/>
                </a:solidFill>
                <a:latin typeface="Open Sans"/>
                <a:ea typeface="Open Sans"/>
                <a:cs typeface="Open Sans"/>
              </a:rPr>
              <a:t>w_current</a:t>
            </a:r>
            <a:endParaRPr sz="990" b="0" dirty="0">
              <a:solidFill>
                <a:srgbClr val="566371"/>
              </a:solidFill>
              <a:latin typeface="Open Sans"/>
              <a:ea typeface="Open Sans"/>
              <a:cs typeface="Open Sans"/>
            </a:endParaRPr>
          </a:p>
        </p:txBody>
      </p:sp>
      <p:cxnSp>
        <p:nvCxnSpPr>
          <p:cNvPr id="302" name="直接连接符 301">
            <a:extLst>
              <a:ext uri="{FF2B5EF4-FFF2-40B4-BE49-F238E27FC236}">
                <a16:creationId xmlns:a16="http://schemas.microsoft.com/office/drawing/2014/main" id="{E7A3059F-D48A-78D2-B65A-B8607ED1F126}"/>
              </a:ext>
            </a:extLst>
          </p:cNvPr>
          <p:cNvCxnSpPr>
            <a:cxnSpLocks/>
          </p:cNvCxnSpPr>
          <p:nvPr/>
        </p:nvCxnSpPr>
        <p:spPr>
          <a:xfrm flipV="1">
            <a:off x="5295900" y="2044383"/>
            <a:ext cx="1800225" cy="574992"/>
          </a:xfrm>
          <a:prstGeom prst="bentConnector3">
            <a:avLst>
              <a:gd name="adj1" fmla="val 41534"/>
            </a:avLst>
          </a:prstGeom>
          <a:ln w="28575">
            <a:solidFill>
              <a:srgbClr val="2F57B2"/>
            </a:solidFill>
          </a:ln>
        </p:spPr>
        <p:style>
          <a:lnRef idx="1">
            <a:schemeClr val="accent1"/>
          </a:lnRef>
          <a:fillRef idx="0">
            <a:schemeClr val="accent1"/>
          </a:fillRef>
          <a:effectRef idx="0">
            <a:schemeClr val="accent1"/>
          </a:effectRef>
          <a:fontRef idx="minor">
            <a:schemeClr val="tx1"/>
          </a:fontRef>
        </p:style>
      </p:cxnSp>
      <p:cxnSp>
        <p:nvCxnSpPr>
          <p:cNvPr id="305" name="直接箭头连接符 304">
            <a:extLst>
              <a:ext uri="{FF2B5EF4-FFF2-40B4-BE49-F238E27FC236}">
                <a16:creationId xmlns:a16="http://schemas.microsoft.com/office/drawing/2014/main" id="{C543FA34-CFE2-B51E-6987-76BC8E7B22E2}"/>
              </a:ext>
            </a:extLst>
          </p:cNvPr>
          <p:cNvCxnSpPr>
            <a:cxnSpLocks/>
          </p:cNvCxnSpPr>
          <p:nvPr/>
        </p:nvCxnSpPr>
        <p:spPr>
          <a:xfrm>
            <a:off x="7096126" y="2044383"/>
            <a:ext cx="0" cy="422592"/>
          </a:xfrm>
          <a:prstGeom prst="straightConnector1">
            <a:avLst/>
          </a:prstGeom>
          <a:ln w="23813">
            <a:solidFill>
              <a:srgbClr val="2F57B2"/>
            </a:solidFill>
            <a:prstDash val="solid"/>
            <a:tailEnd type="triangle" w="med" len="med"/>
          </a:ln>
        </p:spPr>
      </p:cxnSp>
      <p:sp>
        <p:nvSpPr>
          <p:cNvPr id="310" name="delta label">
            <a:extLst>
              <a:ext uri="{FF2B5EF4-FFF2-40B4-BE49-F238E27FC236}">
                <a16:creationId xmlns:a16="http://schemas.microsoft.com/office/drawing/2014/main" id="{40A1290B-AE29-6D89-34AA-2C64EAB57217}"/>
              </a:ext>
            </a:extLst>
          </p:cNvPr>
          <p:cNvSpPr>
            <a:spLocks noGrp="1"/>
          </p:cNvSpPr>
          <p:nvPr/>
        </p:nvSpPr>
        <p:spPr>
          <a:xfrm>
            <a:off x="6381750" y="2111829"/>
            <a:ext cx="1047750" cy="381000"/>
          </a:xfrm>
          <a:prstGeom prst="rect">
            <a:avLst/>
          </a:prstGeom>
          <a:noFill/>
          <a:ln w="0">
            <a:noFill/>
            <a:prstDash val="solid"/>
          </a:ln>
        </p:spPr>
        <p:txBody>
          <a:bodyPr wrap="square" lIns="0" tIns="0" rIns="0" bIns="0" anchor="ctr">
            <a:normAutofit/>
          </a:bodyPr>
          <a:lstStyle/>
          <a:p>
            <a:pPr algn="ctr">
              <a:defRPr sz="1065" b="1">
                <a:solidFill>
                  <a:srgbClr val="2F57B2"/>
                </a:solidFill>
                <a:latin typeface="Open Sans"/>
                <a:ea typeface="Open Sans"/>
                <a:cs typeface="Open Sans"/>
              </a:defRPr>
            </a:pPr>
            <a:r>
              <a:rPr lang="en-US" sz="1065" b="1" dirty="0" err="1">
                <a:solidFill>
                  <a:srgbClr val="2F57B2"/>
                </a:solidFill>
                <a:latin typeface="Open Sans"/>
                <a:ea typeface="Open Sans"/>
                <a:cs typeface="Open Sans"/>
              </a:rPr>
              <a:t>cin</a:t>
            </a:r>
            <a:endParaRPr sz="1065" b="1" dirty="0">
              <a:solidFill>
                <a:srgbClr val="2F57B2"/>
              </a:solidFill>
              <a:latin typeface="Open Sans"/>
              <a:ea typeface="Open Sans"/>
              <a:cs typeface="Open Sans"/>
            </a:endParaRPr>
          </a:p>
        </p:txBody>
      </p:sp>
      <p:sp>
        <p:nvSpPr>
          <p:cNvPr id="312" name="bistability label">
            <a:extLst>
              <a:ext uri="{FF2B5EF4-FFF2-40B4-BE49-F238E27FC236}">
                <a16:creationId xmlns:a16="http://schemas.microsoft.com/office/drawing/2014/main" id="{4B2B12C1-0092-2A0D-DDDA-F5CB82E34936}"/>
              </a:ext>
            </a:extLst>
          </p:cNvPr>
          <p:cNvSpPr>
            <a:spLocks noGrp="1"/>
          </p:cNvSpPr>
          <p:nvPr/>
        </p:nvSpPr>
        <p:spPr>
          <a:xfrm>
            <a:off x="333375" y="2667000"/>
            <a:ext cx="1285875" cy="381000"/>
          </a:xfrm>
          <a:prstGeom prst="rect">
            <a:avLst/>
          </a:prstGeom>
          <a:noFill/>
          <a:ln w="0">
            <a:noFill/>
            <a:prstDash val="solid"/>
          </a:ln>
        </p:spPr>
        <p:txBody>
          <a:bodyPr wrap="square" lIns="0" tIns="0" rIns="0" bIns="0" anchor="ctr">
            <a:normAutofit/>
          </a:bodyPr>
          <a:lstStyle/>
          <a:p>
            <a:pPr algn="r">
              <a:buNone/>
              <a:defRPr sz="1365" b="1">
                <a:solidFill>
                  <a:srgbClr val="001450"/>
                </a:solidFill>
                <a:latin typeface="Open Sans"/>
                <a:ea typeface="Open Sans"/>
                <a:cs typeface="Open Sans"/>
              </a:defRPr>
            </a:pPr>
            <a:r>
              <a:rPr lang="en-US" altLang="zh-CN" sz="1365" b="1" dirty="0" err="1">
                <a:solidFill>
                  <a:srgbClr val="001450"/>
                </a:solidFill>
                <a:latin typeface="Open Sans"/>
                <a:ea typeface="Open Sans"/>
                <a:cs typeface="Open Sans"/>
              </a:rPr>
              <a:t>b</a:t>
            </a:r>
            <a:r>
              <a:rPr sz="1365" b="1" dirty="0" err="1">
                <a:solidFill>
                  <a:srgbClr val="001450"/>
                </a:solidFill>
                <a:latin typeface="Open Sans"/>
                <a:ea typeface="Open Sans"/>
                <a:cs typeface="Open Sans"/>
              </a:rPr>
              <a:t>ist</a:t>
            </a:r>
            <a:endParaRPr sz="1365" b="1" dirty="0">
              <a:solidFill>
                <a:srgbClr val="001450"/>
              </a:solidFill>
              <a:latin typeface="Open Sans"/>
              <a:ea typeface="Open Sans"/>
              <a:cs typeface="Open Sans"/>
            </a:endParaRPr>
          </a:p>
        </p:txBody>
      </p:sp>
      <mc:AlternateContent xmlns:mc="http://schemas.openxmlformats.org/markup-compatibility/2006" xmlns:p14="http://schemas.microsoft.com/office/powerpoint/2010/main">
        <mc:Choice Requires="p14">
          <p:contentPart p14:bwMode="auto" r:id="rId3">
            <p14:nvContentPartPr>
              <p14:cNvPr id="15" name="墨迹 14">
                <a:extLst>
                  <a:ext uri="{FF2B5EF4-FFF2-40B4-BE49-F238E27FC236}">
                    <a16:creationId xmlns:a16="http://schemas.microsoft.com/office/drawing/2014/main" id="{4A326F89-09CB-B26A-C81E-524F130E5C09}"/>
                  </a:ext>
                </a:extLst>
              </p14:cNvPr>
              <p14:cNvContentPartPr/>
              <p14:nvPr/>
            </p14:nvContentPartPr>
            <p14:xfrm>
              <a:off x="5484792" y="3020162"/>
              <a:ext cx="68760" cy="95760"/>
            </p14:xfrm>
          </p:contentPart>
        </mc:Choice>
        <mc:Fallback xmlns="">
          <p:pic>
            <p:nvPicPr>
              <p:cNvPr id="15" name="墨迹 14">
                <a:extLst>
                  <a:ext uri="{FF2B5EF4-FFF2-40B4-BE49-F238E27FC236}">
                    <a16:creationId xmlns:a16="http://schemas.microsoft.com/office/drawing/2014/main" id="{4A326F89-09CB-B26A-C81E-524F130E5C09}"/>
                  </a:ext>
                </a:extLst>
              </p:cNvPr>
              <p:cNvPicPr/>
              <p:nvPr/>
            </p:nvPicPr>
            <p:blipFill>
              <a:blip r:embed="rId4"/>
              <a:stretch>
                <a:fillRect/>
              </a:stretch>
            </p:blipFill>
            <p:spPr>
              <a:xfrm>
                <a:off x="5478672" y="3014042"/>
                <a:ext cx="81000" cy="108000"/>
              </a:xfrm>
              <a:prstGeom prst="rect">
                <a:avLst/>
              </a:prstGeom>
            </p:spPr>
          </p:pic>
        </mc:Fallback>
      </mc:AlternateContent>
      <p:grpSp>
        <p:nvGrpSpPr>
          <p:cNvPr id="18" name="组合 17">
            <a:extLst>
              <a:ext uri="{FF2B5EF4-FFF2-40B4-BE49-F238E27FC236}">
                <a16:creationId xmlns:a16="http://schemas.microsoft.com/office/drawing/2014/main" id="{91F66028-2170-6516-15FD-EA873EDB1A88}"/>
              </a:ext>
            </a:extLst>
          </p:cNvPr>
          <p:cNvGrpSpPr/>
          <p:nvPr/>
        </p:nvGrpSpPr>
        <p:grpSpPr>
          <a:xfrm>
            <a:off x="3079632" y="2584922"/>
            <a:ext cx="2476440" cy="1997640"/>
            <a:chOff x="3079632" y="2584922"/>
            <a:chExt cx="2476440" cy="1997640"/>
          </a:xfrm>
        </p:grpSpPr>
        <mc:AlternateContent xmlns:mc="http://schemas.openxmlformats.org/markup-compatibility/2006" xmlns:p14="http://schemas.microsoft.com/office/powerpoint/2010/main">
          <mc:Choice Requires="p14">
            <p:contentPart p14:bwMode="auto" r:id="rId5">
              <p14:nvContentPartPr>
                <p14:cNvPr id="5" name="墨迹 4">
                  <a:extLst>
                    <a:ext uri="{FF2B5EF4-FFF2-40B4-BE49-F238E27FC236}">
                      <a16:creationId xmlns:a16="http://schemas.microsoft.com/office/drawing/2014/main" id="{78F3E67D-8554-DBC7-EE58-3306C95700F3}"/>
                    </a:ext>
                  </a:extLst>
                </p14:cNvPr>
                <p14:cNvContentPartPr/>
                <p14:nvPr/>
              </p14:nvContentPartPr>
              <p14:xfrm>
                <a:off x="3079632" y="3058322"/>
                <a:ext cx="2476440" cy="1199160"/>
              </p14:xfrm>
            </p:contentPart>
          </mc:Choice>
          <mc:Fallback xmlns="">
            <p:pic>
              <p:nvPicPr>
                <p:cNvPr id="5" name="墨迹 4">
                  <a:extLst>
                    <a:ext uri="{FF2B5EF4-FFF2-40B4-BE49-F238E27FC236}">
                      <a16:creationId xmlns:a16="http://schemas.microsoft.com/office/drawing/2014/main" id="{78F3E67D-8554-DBC7-EE58-3306C95700F3}"/>
                    </a:ext>
                  </a:extLst>
                </p:cNvPr>
                <p:cNvPicPr/>
                <p:nvPr/>
              </p:nvPicPr>
              <p:blipFill>
                <a:blip r:embed="rId6"/>
                <a:stretch>
                  <a:fillRect/>
                </a:stretch>
              </p:blipFill>
              <p:spPr>
                <a:xfrm>
                  <a:off x="3073512" y="3052202"/>
                  <a:ext cx="2488680" cy="1211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墨迹 6">
                  <a:extLst>
                    <a:ext uri="{FF2B5EF4-FFF2-40B4-BE49-F238E27FC236}">
                      <a16:creationId xmlns:a16="http://schemas.microsoft.com/office/drawing/2014/main" id="{E01698CB-BB0D-E623-999F-3A829AB4B621}"/>
                    </a:ext>
                  </a:extLst>
                </p14:cNvPr>
                <p14:cNvContentPartPr/>
                <p14:nvPr/>
              </p14:nvContentPartPr>
              <p14:xfrm>
                <a:off x="3344952" y="4125002"/>
                <a:ext cx="155880" cy="202320"/>
              </p14:xfrm>
            </p:contentPart>
          </mc:Choice>
          <mc:Fallback xmlns="">
            <p:pic>
              <p:nvPicPr>
                <p:cNvPr id="7" name="墨迹 6">
                  <a:extLst>
                    <a:ext uri="{FF2B5EF4-FFF2-40B4-BE49-F238E27FC236}">
                      <a16:creationId xmlns:a16="http://schemas.microsoft.com/office/drawing/2014/main" id="{E01698CB-BB0D-E623-999F-3A829AB4B621}"/>
                    </a:ext>
                  </a:extLst>
                </p:cNvPr>
                <p:cNvPicPr/>
                <p:nvPr/>
              </p:nvPicPr>
              <p:blipFill>
                <a:blip r:embed="rId8"/>
                <a:stretch>
                  <a:fillRect/>
                </a:stretch>
              </p:blipFill>
              <p:spPr>
                <a:xfrm>
                  <a:off x="3338832" y="4118882"/>
                  <a:ext cx="16812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墨迹 15">
                  <a:extLst>
                    <a:ext uri="{FF2B5EF4-FFF2-40B4-BE49-F238E27FC236}">
                      <a16:creationId xmlns:a16="http://schemas.microsoft.com/office/drawing/2014/main" id="{FD7EF78B-8A6F-5041-12B1-16DF296D0FCA}"/>
                    </a:ext>
                  </a:extLst>
                </p14:cNvPr>
                <p14:cNvContentPartPr/>
                <p14:nvPr/>
              </p14:nvContentPartPr>
              <p14:xfrm>
                <a:off x="3216792" y="2584922"/>
                <a:ext cx="2256480" cy="1911960"/>
              </p14:xfrm>
            </p:contentPart>
          </mc:Choice>
          <mc:Fallback xmlns="">
            <p:pic>
              <p:nvPicPr>
                <p:cNvPr id="16" name="墨迹 15">
                  <a:extLst>
                    <a:ext uri="{FF2B5EF4-FFF2-40B4-BE49-F238E27FC236}">
                      <a16:creationId xmlns:a16="http://schemas.microsoft.com/office/drawing/2014/main" id="{FD7EF78B-8A6F-5041-12B1-16DF296D0FCA}"/>
                    </a:ext>
                  </a:extLst>
                </p:cNvPr>
                <p:cNvPicPr/>
                <p:nvPr/>
              </p:nvPicPr>
              <p:blipFill>
                <a:blip r:embed="rId10"/>
                <a:stretch>
                  <a:fillRect/>
                </a:stretch>
              </p:blipFill>
              <p:spPr>
                <a:xfrm>
                  <a:off x="3210672" y="2578802"/>
                  <a:ext cx="2268720" cy="1924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墨迹 16">
                  <a:extLst>
                    <a:ext uri="{FF2B5EF4-FFF2-40B4-BE49-F238E27FC236}">
                      <a16:creationId xmlns:a16="http://schemas.microsoft.com/office/drawing/2014/main" id="{80D91213-759D-BC17-B526-50C79C039020}"/>
                    </a:ext>
                  </a:extLst>
                </p14:cNvPr>
                <p14:cNvContentPartPr/>
                <p14:nvPr/>
              </p14:nvContentPartPr>
              <p14:xfrm>
                <a:off x="3471672" y="4379162"/>
                <a:ext cx="91080" cy="203400"/>
              </p14:xfrm>
            </p:contentPart>
          </mc:Choice>
          <mc:Fallback xmlns="">
            <p:pic>
              <p:nvPicPr>
                <p:cNvPr id="17" name="墨迹 16">
                  <a:extLst>
                    <a:ext uri="{FF2B5EF4-FFF2-40B4-BE49-F238E27FC236}">
                      <a16:creationId xmlns:a16="http://schemas.microsoft.com/office/drawing/2014/main" id="{80D91213-759D-BC17-B526-50C79C039020}"/>
                    </a:ext>
                  </a:extLst>
                </p:cNvPr>
                <p:cNvPicPr/>
                <p:nvPr/>
              </p:nvPicPr>
              <p:blipFill>
                <a:blip r:embed="rId12"/>
                <a:stretch>
                  <a:fillRect/>
                </a:stretch>
              </p:blipFill>
              <p:spPr>
                <a:xfrm>
                  <a:off x="3465552" y="4373042"/>
                  <a:ext cx="103320" cy="215640"/>
                </a:xfrm>
                <a:prstGeom prst="rect">
                  <a:avLst/>
                </a:prstGeom>
              </p:spPr>
            </p:pic>
          </mc:Fallback>
        </mc:AlternateContent>
      </p:grpSp>
    </p:spTree>
    <p:extLst>
      <p:ext uri="{BB962C8B-B14F-4D97-AF65-F5344CB8AC3E}">
        <p14:creationId xmlns:p14="http://schemas.microsoft.com/office/powerpoint/2010/main" val="3805967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147FEF1C-A020-41BB-B60F-CFE6CE48BA58}"/>
              </a:ext>
            </a:extLst>
          </p:cNvPr>
          <p:cNvSpPr>
            <a:spLocks noGrp="1"/>
          </p:cNvSpPr>
          <p:nvPr>
            <p:ph type="title"/>
          </p:nvPr>
        </p:nvSpPr>
        <p:spPr/>
        <p:txBody>
          <a:bodyPr/>
          <a:lstStyle/>
          <a:p>
            <a:r>
              <a:rPr dirty="0"/>
              <a:t>Preliminary Result</a:t>
            </a:r>
            <a:r>
              <a:rPr lang="en-US" altLang="zh-CN" dirty="0"/>
              <a:t>s</a:t>
            </a:r>
            <a:endParaRPr dirty="0"/>
          </a:p>
        </p:txBody>
      </p:sp>
      <p:sp>
        <p:nvSpPr>
          <p:cNvPr id="6" name="utilization section">
            <a:extLst>
              <a:ext uri="{FF2B5EF4-FFF2-40B4-BE49-F238E27FC236}">
                <a16:creationId xmlns:a16="http://schemas.microsoft.com/office/drawing/2014/main" id="{05B5FD0D-3A7D-47CF-9AB8-FCEC4E7F59CB}"/>
              </a:ext>
            </a:extLst>
          </p:cNvPr>
          <p:cNvSpPr>
            <a:spLocks noGrp="1"/>
          </p:cNvSpPr>
          <p:nvPr/>
        </p:nvSpPr>
        <p:spPr>
          <a:xfrm>
            <a:off x="857250" y="1219200"/>
            <a:ext cx="4000500" cy="266700"/>
          </a:xfrm>
          <a:prstGeom prst="rect">
            <a:avLst/>
          </a:prstGeom>
          <a:noFill/>
          <a:ln w="0">
            <a:noFill/>
            <a:prstDash val="solid"/>
          </a:ln>
        </p:spPr>
        <p:txBody>
          <a:bodyPr wrap="square" lIns="0" tIns="0" rIns="0" bIns="0" anchor="ctr">
            <a:normAutofit/>
          </a:bodyPr>
          <a:lstStyle/>
          <a:p>
            <a:pPr algn="l">
              <a:defRPr sz="1065" b="1">
                <a:solidFill>
                  <a:srgbClr val="2F57B2"/>
                </a:solidFill>
                <a:latin typeface="Open Sans"/>
                <a:ea typeface="Open Sans"/>
                <a:cs typeface="Open Sans"/>
              </a:defRPr>
            </a:pPr>
            <a:r>
              <a:rPr sz="1065" b="1">
                <a:solidFill>
                  <a:srgbClr val="2F57B2"/>
                </a:solidFill>
                <a:latin typeface="Open Sans"/>
                <a:ea typeface="Open Sans"/>
                <a:cs typeface="Open Sans"/>
              </a:rPr>
              <a:t>POST-SYNTHESIS UTILIZATION</a:t>
            </a:r>
          </a:p>
        </p:txBody>
      </p:sp>
      <p:sp>
        <p:nvSpPr>
          <p:cNvPr id="7" name="logic headline">
            <a:extLst>
              <a:ext uri="{FF2B5EF4-FFF2-40B4-BE49-F238E27FC236}">
                <a16:creationId xmlns:a16="http://schemas.microsoft.com/office/drawing/2014/main" id="{15D63638-59CA-4829-84C3-C51C6C00EB85}"/>
              </a:ext>
            </a:extLst>
          </p:cNvPr>
          <p:cNvSpPr>
            <a:spLocks noGrp="1"/>
          </p:cNvSpPr>
          <p:nvPr/>
        </p:nvSpPr>
        <p:spPr>
          <a:xfrm>
            <a:off x="857250" y="1524000"/>
            <a:ext cx="4000500" cy="457200"/>
          </a:xfrm>
          <a:prstGeom prst="rect">
            <a:avLst/>
          </a:prstGeom>
          <a:noFill/>
          <a:ln w="0">
            <a:noFill/>
            <a:prstDash val="solid"/>
          </a:ln>
        </p:spPr>
        <p:txBody>
          <a:bodyPr wrap="square" lIns="0" tIns="0" rIns="0" bIns="0" anchor="ctr">
            <a:normAutofit/>
          </a:bodyPr>
          <a:lstStyle/>
          <a:p>
            <a:pPr algn="l">
              <a:defRPr sz="2250" b="1">
                <a:solidFill>
                  <a:srgbClr val="00008C"/>
                </a:solidFill>
                <a:latin typeface="Open Sans"/>
                <a:ea typeface="Open Sans"/>
                <a:cs typeface="Open Sans"/>
              </a:defRPr>
            </a:pPr>
            <a:r>
              <a:rPr sz="2250" b="1">
                <a:solidFill>
                  <a:srgbClr val="00008C"/>
                </a:solidFill>
                <a:latin typeface="Open Sans"/>
                <a:ea typeface="Open Sans"/>
                <a:cs typeface="Open Sans"/>
              </a:rPr>
              <a:t>18 LUTs + 8 FFs</a:t>
            </a:r>
          </a:p>
        </p:txBody>
      </p:sp>
      <p:sp>
        <p:nvSpPr>
          <p:cNvPr id="8" name="logic subhead">
            <a:extLst>
              <a:ext uri="{FF2B5EF4-FFF2-40B4-BE49-F238E27FC236}">
                <a16:creationId xmlns:a16="http://schemas.microsoft.com/office/drawing/2014/main" id="{F5B37D1B-CF22-45CA-8BC5-E2ECC032B890}"/>
              </a:ext>
            </a:extLst>
          </p:cNvPr>
          <p:cNvSpPr>
            <a:spLocks noGrp="1"/>
          </p:cNvSpPr>
          <p:nvPr/>
        </p:nvSpPr>
        <p:spPr>
          <a:xfrm>
            <a:off x="857250" y="1952625"/>
            <a:ext cx="4000500" cy="266700"/>
          </a:xfrm>
          <a:prstGeom prst="rect">
            <a:avLst/>
          </a:prstGeom>
          <a:noFill/>
          <a:ln w="0">
            <a:noFill/>
            <a:prstDash val="solid"/>
          </a:ln>
        </p:spPr>
        <p:txBody>
          <a:bodyPr wrap="square" lIns="0" tIns="0" rIns="0" bIns="0" anchor="ctr">
            <a:normAutofit/>
          </a:bodyPr>
          <a:lstStyle/>
          <a:p>
            <a:pPr algn="l">
              <a:defRPr sz="1200" b="0">
                <a:solidFill>
                  <a:srgbClr val="566371"/>
                </a:solidFill>
                <a:latin typeface="Open Sans"/>
                <a:ea typeface="Open Sans"/>
                <a:cs typeface="Open Sans"/>
              </a:defRPr>
            </a:pPr>
            <a:r>
              <a:rPr sz="1200" b="0">
                <a:solidFill>
                  <a:srgbClr val="566371"/>
                </a:solidFill>
                <a:latin typeface="Open Sans"/>
                <a:ea typeface="Open Sans"/>
                <a:cs typeface="Open Sans"/>
              </a:rPr>
              <a:t>Core SDSP update logic</a:t>
            </a:r>
          </a:p>
        </p:txBody>
      </p:sp>
      <p:graphicFrame>
        <p:nvGraphicFramePr>
          <p:cNvPr id="37" name="SDSP post-synthesis utilization"/>
          <p:cNvGraphicFramePr/>
          <p:nvPr/>
        </p:nvGraphicFramePr>
        <p:xfrm>
          <a:off x="857250" y="2362200"/>
          <a:ext cx="4000500" cy="1619250"/>
        </p:xfrm>
        <a:graphic>
          <a:graphicData uri="http://schemas.openxmlformats.org/drawingml/2006/table">
            <a:tbl>
              <a:tblPr/>
              <a:tblGrid>
                <a:gridCol w="83820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61950">
                <a:tc>
                  <a:txBody>
                    <a:bodyPr/>
                    <a:lstStyle/>
                    <a:p>
                      <a:pPr algn="ctr"/>
                      <a:r>
                        <a:rPr sz="990" b="1">
                          <a:solidFill>
                            <a:srgbClr val="FFFFFF"/>
                          </a:solidFill>
                          <a:latin typeface="Open Sans"/>
                          <a:ea typeface="Open Sans"/>
                          <a:cs typeface="Open Sans"/>
                        </a:rPr>
                        <a:t>Resource</a:t>
                      </a:r>
                    </a:p>
                  </a:txBody>
                  <a:tcPr marL="47625" marR="47625" marT="38100" marB="38100" anchor="ctr">
                    <a:solidFill>
                      <a:srgbClr val="00008C"/>
                    </a:solidFill>
                  </a:tcPr>
                </a:tc>
                <a:tc>
                  <a:txBody>
                    <a:bodyPr/>
                    <a:lstStyle/>
                    <a:p>
                      <a:pPr algn="ctr"/>
                      <a:r>
                        <a:rPr sz="990" b="1">
                          <a:solidFill>
                            <a:srgbClr val="FFFFFF"/>
                          </a:solidFill>
                          <a:latin typeface="Open Sans"/>
                          <a:ea typeface="Open Sans"/>
                          <a:cs typeface="Open Sans"/>
                        </a:rPr>
                        <a:t>Used</a:t>
                      </a:r>
                    </a:p>
                  </a:txBody>
                  <a:tcPr marL="47625" marR="47625" marT="38100" marB="38100" anchor="ctr">
                    <a:solidFill>
                      <a:srgbClr val="00008C"/>
                    </a:solidFill>
                  </a:tcPr>
                </a:tc>
                <a:tc>
                  <a:txBody>
                    <a:bodyPr/>
                    <a:lstStyle/>
                    <a:p>
                      <a:pPr algn="ctr"/>
                      <a:r>
                        <a:rPr sz="990" b="1">
                          <a:solidFill>
                            <a:srgbClr val="FFFFFF"/>
                          </a:solidFill>
                          <a:latin typeface="Open Sans"/>
                          <a:ea typeface="Open Sans"/>
                          <a:cs typeface="Open Sans"/>
                        </a:rPr>
                        <a:t>Available</a:t>
                      </a:r>
                    </a:p>
                  </a:txBody>
                  <a:tcPr marL="47625" marR="47625" marT="38100" marB="38100" anchor="ctr">
                    <a:solidFill>
                      <a:srgbClr val="00008C"/>
                    </a:solidFill>
                  </a:tcPr>
                </a:tc>
                <a:tc>
                  <a:txBody>
                    <a:bodyPr/>
                    <a:lstStyle/>
                    <a:p>
                      <a:pPr algn="ctr"/>
                      <a:r>
                        <a:rPr sz="990" b="1">
                          <a:solidFill>
                            <a:srgbClr val="FFFFFF"/>
                          </a:solidFill>
                          <a:latin typeface="Open Sans"/>
                          <a:ea typeface="Open Sans"/>
                          <a:cs typeface="Open Sans"/>
                        </a:rPr>
                        <a:t>Utilization</a:t>
                      </a:r>
                    </a:p>
                  </a:txBody>
                  <a:tcPr marL="47625" marR="47625" marT="38100" marB="38100" anchor="ctr">
                    <a:solidFill>
                      <a:srgbClr val="00008C"/>
                    </a:solidFill>
                  </a:tcPr>
                </a:tc>
                <a:extLst>
                  <a:ext uri="{0D108BD9-81ED-4DB2-BD59-A6C34878D82A}">
                    <a16:rowId xmlns:a16="http://schemas.microsoft.com/office/drawing/2014/main" val="10000"/>
                  </a:ext>
                </a:extLst>
              </a:tr>
              <a:tr h="419100">
                <a:tc>
                  <a:txBody>
                    <a:bodyPr/>
                    <a:lstStyle/>
                    <a:p>
                      <a:pPr algn="l"/>
                      <a:r>
                        <a:rPr sz="1065" b="1">
                          <a:solidFill>
                            <a:srgbClr val="00008C"/>
                          </a:solidFill>
                          <a:latin typeface="Open Sans"/>
                          <a:ea typeface="Open Sans"/>
                          <a:cs typeface="Open Sans"/>
                        </a:rPr>
                        <a:t>LUT</a:t>
                      </a:r>
                    </a:p>
                  </a:txBody>
                  <a:tcPr marL="47625" marR="47625" marT="38100" marB="38100" anchor="ctr">
                    <a:solidFill>
                      <a:srgbClr val="E3EAF7"/>
                    </a:solidFill>
                  </a:tcPr>
                </a:tc>
                <a:tc>
                  <a:txBody>
                    <a:bodyPr/>
                    <a:lstStyle/>
                    <a:p>
                      <a:pPr algn="ctr"/>
                      <a:r>
                        <a:rPr sz="1065">
                          <a:solidFill>
                            <a:srgbClr val="001450"/>
                          </a:solidFill>
                          <a:latin typeface="Open Sans"/>
                          <a:ea typeface="Open Sans"/>
                          <a:cs typeface="Open Sans"/>
                        </a:rPr>
                        <a:t>18</a:t>
                      </a:r>
                    </a:p>
                  </a:txBody>
                  <a:tcPr marL="47625" marR="47625" marT="38100" marB="38100" anchor="ctr">
                    <a:solidFill>
                      <a:srgbClr val="FFFFFF"/>
                    </a:solidFill>
                  </a:tcPr>
                </a:tc>
                <a:tc>
                  <a:txBody>
                    <a:bodyPr/>
                    <a:lstStyle/>
                    <a:p>
                      <a:pPr algn="ctr"/>
                      <a:r>
                        <a:rPr sz="1065">
                          <a:solidFill>
                            <a:srgbClr val="001450"/>
                          </a:solidFill>
                          <a:latin typeface="Open Sans"/>
                          <a:ea typeface="Open Sans"/>
                          <a:cs typeface="Open Sans"/>
                        </a:rPr>
                        <a:t>274,080</a:t>
                      </a:r>
                    </a:p>
                  </a:txBody>
                  <a:tcPr marL="47625" marR="47625" marT="38100" marB="38100" anchor="ctr">
                    <a:solidFill>
                      <a:srgbClr val="FFFFFF"/>
                    </a:solidFill>
                  </a:tcPr>
                </a:tc>
                <a:tc>
                  <a:txBody>
                    <a:bodyPr/>
                    <a:lstStyle/>
                    <a:p>
                      <a:pPr algn="ctr"/>
                      <a:r>
                        <a:rPr sz="1065">
                          <a:solidFill>
                            <a:srgbClr val="001450"/>
                          </a:solidFill>
                          <a:latin typeface="Open Sans"/>
                          <a:ea typeface="Open Sans"/>
                          <a:cs typeface="Open Sans"/>
                        </a:rPr>
                        <a:t>0.01%</a:t>
                      </a:r>
                    </a:p>
                  </a:txBody>
                  <a:tcPr marL="47625" marR="47625" marT="38100" marB="38100" anchor="ctr">
                    <a:solidFill>
                      <a:srgbClr val="FFFFFF"/>
                    </a:solidFill>
                  </a:tcPr>
                </a:tc>
                <a:extLst>
                  <a:ext uri="{0D108BD9-81ED-4DB2-BD59-A6C34878D82A}">
                    <a16:rowId xmlns:a16="http://schemas.microsoft.com/office/drawing/2014/main" val="10001"/>
                  </a:ext>
                </a:extLst>
              </a:tr>
              <a:tr h="419100">
                <a:tc>
                  <a:txBody>
                    <a:bodyPr/>
                    <a:lstStyle/>
                    <a:p>
                      <a:pPr algn="l"/>
                      <a:r>
                        <a:rPr sz="1065" b="1">
                          <a:solidFill>
                            <a:srgbClr val="00008C"/>
                          </a:solidFill>
                          <a:latin typeface="Open Sans"/>
                          <a:ea typeface="Open Sans"/>
                          <a:cs typeface="Open Sans"/>
                        </a:rPr>
                        <a:t>FF</a:t>
                      </a:r>
                    </a:p>
                  </a:txBody>
                  <a:tcPr marL="47625" marR="47625" marT="38100" marB="38100" anchor="ctr">
                    <a:solidFill>
                      <a:srgbClr val="E3EAF7"/>
                    </a:solidFill>
                  </a:tcPr>
                </a:tc>
                <a:tc>
                  <a:txBody>
                    <a:bodyPr/>
                    <a:lstStyle/>
                    <a:p>
                      <a:pPr algn="ctr"/>
                      <a:r>
                        <a:rPr sz="1065">
                          <a:solidFill>
                            <a:srgbClr val="001450"/>
                          </a:solidFill>
                          <a:latin typeface="Open Sans"/>
                          <a:ea typeface="Open Sans"/>
                          <a:cs typeface="Open Sans"/>
                        </a:rPr>
                        <a:t>8</a:t>
                      </a:r>
                    </a:p>
                  </a:txBody>
                  <a:tcPr marL="47625" marR="47625" marT="38100" marB="38100" anchor="ctr">
                    <a:solidFill>
                      <a:srgbClr val="F2F5FA"/>
                    </a:solidFill>
                  </a:tcPr>
                </a:tc>
                <a:tc>
                  <a:txBody>
                    <a:bodyPr/>
                    <a:lstStyle/>
                    <a:p>
                      <a:pPr algn="ctr"/>
                      <a:r>
                        <a:rPr sz="1065">
                          <a:solidFill>
                            <a:srgbClr val="001450"/>
                          </a:solidFill>
                          <a:latin typeface="Open Sans"/>
                          <a:ea typeface="Open Sans"/>
                          <a:cs typeface="Open Sans"/>
                        </a:rPr>
                        <a:t>548,160</a:t>
                      </a:r>
                    </a:p>
                  </a:txBody>
                  <a:tcPr marL="47625" marR="47625" marT="38100" marB="38100" anchor="ctr">
                    <a:solidFill>
                      <a:srgbClr val="F2F5FA"/>
                    </a:solidFill>
                  </a:tcPr>
                </a:tc>
                <a:tc>
                  <a:txBody>
                    <a:bodyPr/>
                    <a:lstStyle/>
                    <a:p>
                      <a:pPr algn="ctr"/>
                      <a:r>
                        <a:rPr sz="1065">
                          <a:solidFill>
                            <a:srgbClr val="001450"/>
                          </a:solidFill>
                          <a:latin typeface="Open Sans"/>
                          <a:ea typeface="Open Sans"/>
                          <a:cs typeface="Open Sans"/>
                        </a:rPr>
                        <a:t>0.01%</a:t>
                      </a:r>
                    </a:p>
                  </a:txBody>
                  <a:tcPr marL="47625" marR="47625" marT="38100" marB="38100" anchor="ctr">
                    <a:solidFill>
                      <a:srgbClr val="F2F5FA"/>
                    </a:solidFill>
                  </a:tcPr>
                </a:tc>
                <a:extLst>
                  <a:ext uri="{0D108BD9-81ED-4DB2-BD59-A6C34878D82A}">
                    <a16:rowId xmlns:a16="http://schemas.microsoft.com/office/drawing/2014/main" val="10002"/>
                  </a:ext>
                </a:extLst>
              </a:tr>
              <a:tr h="419100">
                <a:tc>
                  <a:txBody>
                    <a:bodyPr/>
                    <a:lstStyle/>
                    <a:p>
                      <a:pPr algn="l"/>
                      <a:r>
                        <a:rPr sz="1065" b="1">
                          <a:solidFill>
                            <a:srgbClr val="00008C"/>
                          </a:solidFill>
                          <a:latin typeface="Open Sans"/>
                          <a:ea typeface="Open Sans"/>
                          <a:cs typeface="Open Sans"/>
                        </a:rPr>
                        <a:t>I/O</a:t>
                      </a:r>
                    </a:p>
                  </a:txBody>
                  <a:tcPr marL="47625" marR="47625" marT="38100" marB="38100" anchor="ctr">
                    <a:solidFill>
                      <a:srgbClr val="E3EAF7"/>
                    </a:solidFill>
                  </a:tcPr>
                </a:tc>
                <a:tc>
                  <a:txBody>
                    <a:bodyPr/>
                    <a:lstStyle/>
                    <a:p>
                      <a:pPr algn="ctr"/>
                      <a:r>
                        <a:rPr sz="1065">
                          <a:solidFill>
                            <a:srgbClr val="001450"/>
                          </a:solidFill>
                          <a:latin typeface="Open Sans"/>
                          <a:ea typeface="Open Sans"/>
                          <a:cs typeface="Open Sans"/>
                        </a:rPr>
                        <a:t>22</a:t>
                      </a:r>
                    </a:p>
                  </a:txBody>
                  <a:tcPr marL="47625" marR="47625" marT="38100" marB="38100" anchor="ctr">
                    <a:solidFill>
                      <a:srgbClr val="FFFFFF"/>
                    </a:solidFill>
                  </a:tcPr>
                </a:tc>
                <a:tc>
                  <a:txBody>
                    <a:bodyPr/>
                    <a:lstStyle/>
                    <a:p>
                      <a:pPr algn="ctr"/>
                      <a:r>
                        <a:rPr sz="1065">
                          <a:solidFill>
                            <a:srgbClr val="001450"/>
                          </a:solidFill>
                          <a:latin typeface="Open Sans"/>
                          <a:ea typeface="Open Sans"/>
                          <a:cs typeface="Open Sans"/>
                        </a:rPr>
                        <a:t>328</a:t>
                      </a:r>
                    </a:p>
                  </a:txBody>
                  <a:tcPr marL="47625" marR="47625" marT="38100" marB="38100" anchor="ctr">
                    <a:solidFill>
                      <a:srgbClr val="FFFFFF"/>
                    </a:solidFill>
                  </a:tcPr>
                </a:tc>
                <a:tc>
                  <a:txBody>
                    <a:bodyPr/>
                    <a:lstStyle/>
                    <a:p>
                      <a:pPr algn="ctr"/>
                      <a:r>
                        <a:rPr sz="1065">
                          <a:solidFill>
                            <a:srgbClr val="001450"/>
                          </a:solidFill>
                          <a:latin typeface="Open Sans"/>
                          <a:ea typeface="Open Sans"/>
                          <a:cs typeface="Open Sans"/>
                        </a:rPr>
                        <a:t>6.71%</a:t>
                      </a:r>
                    </a:p>
                  </a:txBody>
                  <a:tcPr marL="47625" marR="47625" marT="38100" marB="38100" anchor="ctr">
                    <a:solidFill>
                      <a:srgbClr val="FFFFFF"/>
                    </a:solidFill>
                  </a:tcPr>
                </a:tc>
                <a:extLst>
                  <a:ext uri="{0D108BD9-81ED-4DB2-BD59-A6C34878D82A}">
                    <a16:rowId xmlns:a16="http://schemas.microsoft.com/office/drawing/2014/main" val="10003"/>
                  </a:ext>
                </a:extLst>
              </a:tr>
            </a:tbl>
          </a:graphicData>
        </a:graphic>
      </p:graphicFrame>
      <p:sp>
        <p:nvSpPr>
          <p:cNvPr id="10" name="logic result band">
            <a:extLst>
              <a:ext uri="{FF2B5EF4-FFF2-40B4-BE49-F238E27FC236}">
                <a16:creationId xmlns:a16="http://schemas.microsoft.com/office/drawing/2014/main" id="{5B5CF8F1-2F47-4C25-BB59-0743EB14FB9E}"/>
              </a:ext>
            </a:extLst>
          </p:cNvPr>
          <p:cNvSpPr>
            <a:spLocks noGrp="1"/>
          </p:cNvSpPr>
          <p:nvPr/>
        </p:nvSpPr>
        <p:spPr>
          <a:xfrm>
            <a:off x="857250" y="4171950"/>
            <a:ext cx="4000500" cy="609600"/>
          </a:xfrm>
          <a:prstGeom prst="rect">
            <a:avLst/>
          </a:prstGeom>
          <a:solidFill>
            <a:srgbClr val="E3EAF7"/>
          </a:solidFill>
          <a:ln w="12383">
            <a:solidFill>
              <a:srgbClr val="2F57B2"/>
            </a:solidFill>
            <a:prstDash val="solid"/>
          </a:ln>
        </p:spPr>
        <p:txBody>
          <a:bodyPr wrap="square" lIns="171450" tIns="66675" rIns="171450" bIns="66675" anchor="ctr">
            <a:normAutofit/>
          </a:bodyPr>
          <a:lstStyle/>
          <a:p>
            <a:pPr algn="ctr">
              <a:defRPr sz="1223" b="1">
                <a:solidFill>
                  <a:srgbClr val="00008C"/>
                </a:solidFill>
                <a:latin typeface="Open Sans"/>
                <a:ea typeface="Open Sans"/>
                <a:cs typeface="Open Sans"/>
              </a:defRPr>
            </a:pPr>
            <a:r>
              <a:rPr sz="1223" b="1">
                <a:solidFill>
                  <a:srgbClr val="00008C"/>
                </a:solidFill>
                <a:latin typeface="Open Sans"/>
                <a:ea typeface="Open Sans"/>
                <a:cs typeface="Open Sans"/>
              </a:rPr>
              <a:t>Logic utilization remains at or below 0.01% of the target device.</a:t>
            </a:r>
          </a:p>
        </p:txBody>
      </p:sp>
      <p:sp>
        <p:nvSpPr>
          <p:cNvPr id="11" name="column separator">
            <a:extLst>
              <a:ext uri="{FF2B5EF4-FFF2-40B4-BE49-F238E27FC236}">
                <a16:creationId xmlns:a16="http://schemas.microsoft.com/office/drawing/2014/main" id="{D8FC159E-7285-4D69-AE1C-9CEC5300F5DB}"/>
              </a:ext>
            </a:extLst>
          </p:cNvPr>
          <p:cNvSpPr>
            <a:spLocks noGrp="1"/>
          </p:cNvSpPr>
          <p:nvPr/>
        </p:nvSpPr>
        <p:spPr>
          <a:xfrm>
            <a:off x="5124450" y="1257300"/>
            <a:ext cx="19050" cy="3524250"/>
          </a:xfrm>
          <a:prstGeom prst="rect">
            <a:avLst/>
          </a:prstGeom>
          <a:solidFill>
            <a:srgbClr val="E8ECF2"/>
          </a:solidFill>
          <a:ln w="0">
            <a:noFill/>
            <a:prstDash val="solid"/>
          </a:ln>
        </p:spPr>
      </p:sp>
      <p:sp>
        <p:nvSpPr>
          <p:cNvPr id="12" name="power section">
            <a:extLst>
              <a:ext uri="{FF2B5EF4-FFF2-40B4-BE49-F238E27FC236}">
                <a16:creationId xmlns:a16="http://schemas.microsoft.com/office/drawing/2014/main" id="{DC5D242D-5C03-45E5-A2FC-BB1762E9224F}"/>
              </a:ext>
            </a:extLst>
          </p:cNvPr>
          <p:cNvSpPr>
            <a:spLocks noGrp="1"/>
          </p:cNvSpPr>
          <p:nvPr/>
        </p:nvSpPr>
        <p:spPr>
          <a:xfrm>
            <a:off x="5429250" y="1219200"/>
            <a:ext cx="5810250" cy="266700"/>
          </a:xfrm>
          <a:prstGeom prst="rect">
            <a:avLst/>
          </a:prstGeom>
          <a:noFill/>
          <a:ln w="0">
            <a:noFill/>
            <a:prstDash val="solid"/>
          </a:ln>
        </p:spPr>
        <p:txBody>
          <a:bodyPr wrap="square" lIns="0" tIns="0" rIns="0" bIns="0" anchor="ctr">
            <a:normAutofit/>
          </a:bodyPr>
          <a:lstStyle/>
          <a:p>
            <a:pPr algn="l">
              <a:defRPr sz="1065" b="1">
                <a:solidFill>
                  <a:srgbClr val="2F57B2"/>
                </a:solidFill>
                <a:latin typeface="Open Sans"/>
                <a:ea typeface="Open Sans"/>
                <a:cs typeface="Open Sans"/>
              </a:defRPr>
            </a:pPr>
            <a:r>
              <a:rPr sz="1065" b="1">
                <a:solidFill>
                  <a:srgbClr val="2F57B2"/>
                </a:solidFill>
                <a:latin typeface="Open Sans"/>
                <a:ea typeface="Open Sans"/>
                <a:cs typeface="Open Sans"/>
              </a:rPr>
              <a:t>VIVADO ON-CHIP POWER ESTIMATE</a:t>
            </a:r>
          </a:p>
        </p:txBody>
      </p:sp>
      <p:sp>
        <p:nvSpPr>
          <p:cNvPr id="13" name="total power value">
            <a:extLst>
              <a:ext uri="{FF2B5EF4-FFF2-40B4-BE49-F238E27FC236}">
                <a16:creationId xmlns:a16="http://schemas.microsoft.com/office/drawing/2014/main" id="{AA23DFA7-2C7D-4577-94A6-D7AA400BA8F3}"/>
              </a:ext>
            </a:extLst>
          </p:cNvPr>
          <p:cNvSpPr>
            <a:spLocks noGrp="1"/>
          </p:cNvSpPr>
          <p:nvPr/>
        </p:nvSpPr>
        <p:spPr>
          <a:xfrm>
            <a:off x="5429250" y="1504950"/>
            <a:ext cx="2381250" cy="476250"/>
          </a:xfrm>
          <a:prstGeom prst="rect">
            <a:avLst/>
          </a:prstGeom>
          <a:noFill/>
          <a:ln w="0">
            <a:noFill/>
            <a:prstDash val="solid"/>
          </a:ln>
        </p:spPr>
        <p:txBody>
          <a:bodyPr wrap="square" lIns="0" tIns="0" rIns="0" bIns="0" anchor="ctr">
            <a:normAutofit/>
          </a:bodyPr>
          <a:lstStyle/>
          <a:p>
            <a:pPr algn="l">
              <a:defRPr sz="2250" b="1">
                <a:solidFill>
                  <a:srgbClr val="00008C"/>
                </a:solidFill>
                <a:latin typeface="Open Sans"/>
                <a:ea typeface="Open Sans"/>
                <a:cs typeface="Open Sans"/>
              </a:defRPr>
            </a:pPr>
            <a:r>
              <a:rPr sz="2250" b="1">
                <a:solidFill>
                  <a:srgbClr val="00008C"/>
                </a:solidFill>
                <a:latin typeface="Open Sans"/>
                <a:ea typeface="Open Sans"/>
                <a:cs typeface="Open Sans"/>
              </a:rPr>
              <a:t>10.859 W</a:t>
            </a:r>
          </a:p>
        </p:txBody>
      </p:sp>
      <p:sp>
        <p:nvSpPr>
          <p:cNvPr id="14" name="total power label">
            <a:extLst>
              <a:ext uri="{FF2B5EF4-FFF2-40B4-BE49-F238E27FC236}">
                <a16:creationId xmlns:a16="http://schemas.microsoft.com/office/drawing/2014/main" id="{BDAE2689-93CA-44D6-8902-03790875CF79}"/>
              </a:ext>
            </a:extLst>
          </p:cNvPr>
          <p:cNvSpPr>
            <a:spLocks noGrp="1"/>
          </p:cNvSpPr>
          <p:nvPr/>
        </p:nvSpPr>
        <p:spPr>
          <a:xfrm>
            <a:off x="7715250" y="1628775"/>
            <a:ext cx="2381250" cy="285750"/>
          </a:xfrm>
          <a:prstGeom prst="rect">
            <a:avLst/>
          </a:prstGeom>
          <a:noFill/>
          <a:ln w="0">
            <a:noFill/>
            <a:prstDash val="solid"/>
          </a:ln>
        </p:spPr>
        <p:txBody>
          <a:bodyPr wrap="square" lIns="0" tIns="0" rIns="0" bIns="0" anchor="ctr">
            <a:normAutofit/>
          </a:bodyPr>
          <a:lstStyle/>
          <a:p>
            <a:pPr algn="l">
              <a:defRPr sz="1163" b="0">
                <a:solidFill>
                  <a:srgbClr val="566371"/>
                </a:solidFill>
                <a:latin typeface="Open Sans"/>
                <a:ea typeface="Open Sans"/>
                <a:cs typeface="Open Sans"/>
              </a:defRPr>
            </a:pPr>
            <a:r>
              <a:rPr sz="1163" b="0">
                <a:solidFill>
                  <a:srgbClr val="566371"/>
                </a:solidFill>
                <a:latin typeface="Open Sans"/>
                <a:ea typeface="Open Sans"/>
                <a:cs typeface="Open Sans"/>
              </a:rPr>
              <a:t>estimated total on-chip power</a:t>
            </a:r>
          </a:p>
        </p:txBody>
      </p:sp>
      <p:sp>
        <p:nvSpPr>
          <p:cNvPr id="15" name="dynamic label">
            <a:extLst>
              <a:ext uri="{FF2B5EF4-FFF2-40B4-BE49-F238E27FC236}">
                <a16:creationId xmlns:a16="http://schemas.microsoft.com/office/drawing/2014/main" id="{F233F43F-7B90-497E-A508-06FE200379E9}"/>
              </a:ext>
            </a:extLst>
          </p:cNvPr>
          <p:cNvSpPr>
            <a:spLocks noGrp="1"/>
          </p:cNvSpPr>
          <p:nvPr/>
        </p:nvSpPr>
        <p:spPr>
          <a:xfrm>
            <a:off x="5429250" y="2028825"/>
            <a:ext cx="2476500" cy="238125"/>
          </a:xfrm>
          <a:prstGeom prst="rect">
            <a:avLst/>
          </a:prstGeom>
          <a:noFill/>
          <a:ln w="0">
            <a:noFill/>
            <a:prstDash val="solid"/>
          </a:ln>
        </p:spPr>
        <p:txBody>
          <a:bodyPr wrap="square" lIns="0" tIns="0" rIns="0" bIns="0" anchor="ctr">
            <a:normAutofit/>
          </a:bodyPr>
          <a:lstStyle/>
          <a:p>
            <a:pPr algn="l">
              <a:defRPr sz="1088" b="1">
                <a:solidFill>
                  <a:srgbClr val="001450"/>
                </a:solidFill>
                <a:latin typeface="Open Sans"/>
                <a:ea typeface="Open Sans"/>
                <a:cs typeface="Open Sans"/>
              </a:defRPr>
            </a:pPr>
            <a:r>
              <a:rPr sz="1088" b="1">
                <a:solidFill>
                  <a:srgbClr val="001450"/>
                </a:solidFill>
                <a:latin typeface="Open Sans"/>
                <a:ea typeface="Open Sans"/>
                <a:cs typeface="Open Sans"/>
              </a:rPr>
              <a:t>Dynamic  10.169 W  (94%)</a:t>
            </a:r>
          </a:p>
        </p:txBody>
      </p:sp>
      <p:sp>
        <p:nvSpPr>
          <p:cNvPr id="16" name="static label">
            <a:extLst>
              <a:ext uri="{FF2B5EF4-FFF2-40B4-BE49-F238E27FC236}">
                <a16:creationId xmlns:a16="http://schemas.microsoft.com/office/drawing/2014/main" id="{0CD72CDE-97EE-4E19-A96B-5D02AC615209}"/>
              </a:ext>
            </a:extLst>
          </p:cNvPr>
          <p:cNvSpPr>
            <a:spLocks noGrp="1"/>
          </p:cNvSpPr>
          <p:nvPr/>
        </p:nvSpPr>
        <p:spPr>
          <a:xfrm>
            <a:off x="8858250" y="2028825"/>
            <a:ext cx="2381250" cy="238125"/>
          </a:xfrm>
          <a:prstGeom prst="rect">
            <a:avLst/>
          </a:prstGeom>
          <a:noFill/>
          <a:ln w="0">
            <a:noFill/>
            <a:prstDash val="solid"/>
          </a:ln>
        </p:spPr>
        <p:txBody>
          <a:bodyPr wrap="square" lIns="0" tIns="0" rIns="0" bIns="0" anchor="ctr">
            <a:normAutofit/>
          </a:bodyPr>
          <a:lstStyle/>
          <a:p>
            <a:pPr algn="r">
              <a:defRPr sz="1088" b="1">
                <a:solidFill>
                  <a:srgbClr val="001450"/>
                </a:solidFill>
                <a:latin typeface="Open Sans"/>
                <a:ea typeface="Open Sans"/>
                <a:cs typeface="Open Sans"/>
              </a:defRPr>
            </a:pPr>
            <a:r>
              <a:rPr sz="1088" b="1">
                <a:solidFill>
                  <a:srgbClr val="001450"/>
                </a:solidFill>
                <a:latin typeface="Open Sans"/>
                <a:ea typeface="Open Sans"/>
                <a:cs typeface="Open Sans"/>
              </a:rPr>
              <a:t>Static  0.690 W  (6%)</a:t>
            </a:r>
          </a:p>
        </p:txBody>
      </p:sp>
      <p:sp>
        <p:nvSpPr>
          <p:cNvPr id="17" name="dynamic power bar">
            <a:extLst>
              <a:ext uri="{FF2B5EF4-FFF2-40B4-BE49-F238E27FC236}">
                <a16:creationId xmlns:a16="http://schemas.microsoft.com/office/drawing/2014/main" id="{EF3E34E4-7DA4-42A4-B521-7AED4CFC8C58}"/>
              </a:ext>
            </a:extLst>
          </p:cNvPr>
          <p:cNvSpPr>
            <a:spLocks noGrp="1"/>
          </p:cNvSpPr>
          <p:nvPr/>
        </p:nvSpPr>
        <p:spPr>
          <a:xfrm>
            <a:off x="5429250" y="2305050"/>
            <a:ext cx="5461635" cy="304800"/>
          </a:xfrm>
          <a:prstGeom prst="rect">
            <a:avLst/>
          </a:prstGeom>
          <a:solidFill>
            <a:srgbClr val="F6D65B"/>
          </a:solidFill>
          <a:ln w="0">
            <a:noFill/>
            <a:prstDash val="solid"/>
          </a:ln>
        </p:spPr>
        <p:txBody>
          <a:bodyPr wrap="square" lIns="47625" tIns="0" rIns="47625" bIns="0" anchor="ctr">
            <a:normAutofit/>
          </a:bodyPr>
          <a:lstStyle/>
          <a:p>
            <a:pPr algn="ctr">
              <a:defRPr sz="1065" b="1">
                <a:solidFill>
                  <a:srgbClr val="001450"/>
                </a:solidFill>
                <a:latin typeface="Open Sans"/>
                <a:ea typeface="Open Sans"/>
                <a:cs typeface="Open Sans"/>
              </a:defRPr>
            </a:pPr>
            <a:r>
              <a:rPr sz="1065" b="1">
                <a:solidFill>
                  <a:srgbClr val="001450"/>
                </a:solidFill>
                <a:latin typeface="Open Sans"/>
                <a:ea typeface="Open Sans"/>
                <a:cs typeface="Open Sans"/>
              </a:rPr>
              <a:t>94% dynamic</a:t>
            </a:r>
          </a:p>
        </p:txBody>
      </p:sp>
      <p:sp>
        <p:nvSpPr>
          <p:cNvPr id="18" name="static power bar">
            <a:extLst>
              <a:ext uri="{FF2B5EF4-FFF2-40B4-BE49-F238E27FC236}">
                <a16:creationId xmlns:a16="http://schemas.microsoft.com/office/drawing/2014/main" id="{F55D46A5-712A-46DA-BA08-C15D7E508BE6}"/>
              </a:ext>
            </a:extLst>
          </p:cNvPr>
          <p:cNvSpPr>
            <a:spLocks noGrp="1"/>
          </p:cNvSpPr>
          <p:nvPr/>
        </p:nvSpPr>
        <p:spPr>
          <a:xfrm>
            <a:off x="10890885" y="2305050"/>
            <a:ext cx="348615" cy="304800"/>
          </a:xfrm>
          <a:prstGeom prst="rect">
            <a:avLst/>
          </a:prstGeom>
          <a:solidFill>
            <a:srgbClr val="97C6FF"/>
          </a:solidFill>
          <a:ln w="0">
            <a:noFill/>
            <a:prstDash val="solid"/>
          </a:ln>
        </p:spPr>
      </p:sp>
      <p:sp>
        <p:nvSpPr>
          <p:cNvPr id="19" name="dynamic breakdown heading">
            <a:extLst>
              <a:ext uri="{FF2B5EF4-FFF2-40B4-BE49-F238E27FC236}">
                <a16:creationId xmlns:a16="http://schemas.microsoft.com/office/drawing/2014/main" id="{B56CD3A7-2338-40F6-A6B1-4E058276856D}"/>
              </a:ext>
            </a:extLst>
          </p:cNvPr>
          <p:cNvSpPr>
            <a:spLocks noGrp="1"/>
          </p:cNvSpPr>
          <p:nvPr/>
        </p:nvSpPr>
        <p:spPr>
          <a:xfrm>
            <a:off x="5429250" y="2781300"/>
            <a:ext cx="5810250" cy="266700"/>
          </a:xfrm>
          <a:prstGeom prst="rect">
            <a:avLst/>
          </a:prstGeom>
          <a:noFill/>
          <a:ln w="0">
            <a:noFill/>
            <a:prstDash val="solid"/>
          </a:ln>
        </p:spPr>
        <p:txBody>
          <a:bodyPr wrap="square" lIns="0" tIns="0" rIns="0" bIns="0" anchor="ctr">
            <a:normAutofit/>
          </a:bodyPr>
          <a:lstStyle/>
          <a:p>
            <a:pPr algn="l">
              <a:defRPr sz="1065" b="1">
                <a:solidFill>
                  <a:srgbClr val="2F57B2"/>
                </a:solidFill>
                <a:latin typeface="Open Sans"/>
                <a:ea typeface="Open Sans"/>
                <a:cs typeface="Open Sans"/>
              </a:defRPr>
            </a:pPr>
            <a:r>
              <a:rPr sz="1065" b="1">
                <a:solidFill>
                  <a:srgbClr val="2F57B2"/>
                </a:solidFill>
                <a:latin typeface="Open Sans"/>
                <a:ea typeface="Open Sans"/>
                <a:cs typeface="Open Sans"/>
              </a:rPr>
              <a:t>DYNAMIC POWER BREAKDOWN</a:t>
            </a:r>
          </a:p>
        </p:txBody>
      </p:sp>
      <p:sp>
        <p:nvSpPr>
          <p:cNvPr id="20" name="io dynamic segment">
            <a:extLst>
              <a:ext uri="{FF2B5EF4-FFF2-40B4-BE49-F238E27FC236}">
                <a16:creationId xmlns:a16="http://schemas.microsoft.com/office/drawing/2014/main" id="{57E78584-C065-447F-AAA4-B94A96BC07C5}"/>
              </a:ext>
            </a:extLst>
          </p:cNvPr>
          <p:cNvSpPr>
            <a:spLocks noGrp="1"/>
          </p:cNvSpPr>
          <p:nvPr/>
        </p:nvSpPr>
        <p:spPr>
          <a:xfrm>
            <a:off x="5429250" y="3095625"/>
            <a:ext cx="5694045" cy="323850"/>
          </a:xfrm>
          <a:prstGeom prst="rect">
            <a:avLst/>
          </a:prstGeom>
          <a:solidFill>
            <a:srgbClr val="F58220"/>
          </a:solidFill>
          <a:ln w="0">
            <a:noFill/>
            <a:prstDash val="solid"/>
          </a:ln>
        </p:spPr>
        <p:txBody>
          <a:bodyPr wrap="square" lIns="76200" tIns="0" rIns="76200" bIns="0" anchor="ctr">
            <a:normAutofit/>
          </a:bodyPr>
          <a:lstStyle/>
          <a:p>
            <a:pPr algn="ctr">
              <a:defRPr sz="1140" b="1">
                <a:solidFill>
                  <a:srgbClr val="FFFFFF"/>
                </a:solidFill>
                <a:latin typeface="Open Sans"/>
                <a:ea typeface="Open Sans"/>
                <a:cs typeface="Open Sans"/>
              </a:defRPr>
            </a:pPr>
            <a:r>
              <a:rPr sz="1140" b="1">
                <a:solidFill>
                  <a:srgbClr val="FFFFFF"/>
                </a:solidFill>
                <a:latin typeface="Open Sans"/>
                <a:ea typeface="Open Sans"/>
                <a:cs typeface="Open Sans"/>
              </a:rPr>
              <a:t>I/O  9.985 W  (98%)</a:t>
            </a:r>
          </a:p>
        </p:txBody>
      </p:sp>
      <p:sp>
        <p:nvSpPr>
          <p:cNvPr id="21" name="logic dynamic segment">
            <a:extLst>
              <a:ext uri="{FF2B5EF4-FFF2-40B4-BE49-F238E27FC236}">
                <a16:creationId xmlns:a16="http://schemas.microsoft.com/office/drawing/2014/main" id="{D4ADCE82-28B6-485E-937D-D97EC0AD8164}"/>
              </a:ext>
            </a:extLst>
          </p:cNvPr>
          <p:cNvSpPr>
            <a:spLocks noGrp="1"/>
          </p:cNvSpPr>
          <p:nvPr/>
        </p:nvSpPr>
        <p:spPr>
          <a:xfrm>
            <a:off x="11123295" y="3095625"/>
            <a:ext cx="58103" cy="323850"/>
          </a:xfrm>
          <a:prstGeom prst="rect">
            <a:avLst/>
          </a:prstGeom>
          <a:solidFill>
            <a:srgbClr val="2F57B2"/>
          </a:solidFill>
          <a:ln w="0">
            <a:noFill/>
            <a:prstDash val="solid"/>
          </a:ln>
        </p:spPr>
      </p:sp>
      <p:sp>
        <p:nvSpPr>
          <p:cNvPr id="22" name="signal dynamic segment">
            <a:extLst>
              <a:ext uri="{FF2B5EF4-FFF2-40B4-BE49-F238E27FC236}">
                <a16:creationId xmlns:a16="http://schemas.microsoft.com/office/drawing/2014/main" id="{F0318B12-A6D7-4747-BBFD-860F71B2CF66}"/>
              </a:ext>
            </a:extLst>
          </p:cNvPr>
          <p:cNvSpPr>
            <a:spLocks noGrp="1"/>
          </p:cNvSpPr>
          <p:nvPr/>
        </p:nvSpPr>
        <p:spPr>
          <a:xfrm>
            <a:off x="11181398" y="3095625"/>
            <a:ext cx="58103" cy="323850"/>
          </a:xfrm>
          <a:prstGeom prst="rect">
            <a:avLst/>
          </a:prstGeom>
          <a:solidFill>
            <a:srgbClr val="0A777F"/>
          </a:solidFill>
          <a:ln w="0">
            <a:noFill/>
            <a:prstDash val="solid"/>
          </a:ln>
        </p:spPr>
      </p:sp>
      <p:sp>
        <p:nvSpPr>
          <p:cNvPr id="23" name="Logic swatch">
            <a:extLst>
              <a:ext uri="{FF2B5EF4-FFF2-40B4-BE49-F238E27FC236}">
                <a16:creationId xmlns:a16="http://schemas.microsoft.com/office/drawing/2014/main" id="{A612C629-CCD6-4504-ADD4-11D594087AB4}"/>
              </a:ext>
            </a:extLst>
          </p:cNvPr>
          <p:cNvSpPr>
            <a:spLocks noGrp="1"/>
          </p:cNvSpPr>
          <p:nvPr/>
        </p:nvSpPr>
        <p:spPr>
          <a:xfrm>
            <a:off x="5572125" y="3571875"/>
            <a:ext cx="142875" cy="142875"/>
          </a:xfrm>
          <a:prstGeom prst="rect">
            <a:avLst/>
          </a:prstGeom>
          <a:solidFill>
            <a:srgbClr val="2F57B2"/>
          </a:solidFill>
          <a:ln w="0">
            <a:noFill/>
            <a:prstDash val="solid"/>
          </a:ln>
        </p:spPr>
      </p:sp>
      <p:sp>
        <p:nvSpPr>
          <p:cNvPr id="24" name="Logic legend">
            <a:extLst>
              <a:ext uri="{FF2B5EF4-FFF2-40B4-BE49-F238E27FC236}">
                <a16:creationId xmlns:a16="http://schemas.microsoft.com/office/drawing/2014/main" id="{7470D8FD-7D67-49D7-819B-26BF541F122E}"/>
              </a:ext>
            </a:extLst>
          </p:cNvPr>
          <p:cNvSpPr>
            <a:spLocks noGrp="1"/>
          </p:cNvSpPr>
          <p:nvPr/>
        </p:nvSpPr>
        <p:spPr>
          <a:xfrm>
            <a:off x="5810250" y="3524250"/>
            <a:ext cx="1714500" cy="247650"/>
          </a:xfrm>
          <a:prstGeom prst="rect">
            <a:avLst/>
          </a:prstGeom>
          <a:noFill/>
          <a:ln w="0">
            <a:noFill/>
            <a:prstDash val="solid"/>
          </a:ln>
        </p:spPr>
        <p:txBody>
          <a:bodyPr wrap="square" lIns="0" tIns="0" rIns="0" bIns="0" anchor="ctr">
            <a:normAutofit/>
          </a:bodyPr>
          <a:lstStyle/>
          <a:p>
            <a:pPr algn="l">
              <a:defRPr sz="1088" b="1">
                <a:solidFill>
                  <a:srgbClr val="001450"/>
                </a:solidFill>
                <a:latin typeface="Open Sans"/>
                <a:ea typeface="Open Sans"/>
                <a:cs typeface="Open Sans"/>
              </a:defRPr>
            </a:pPr>
            <a:r>
              <a:rPr sz="1088" b="1">
                <a:solidFill>
                  <a:srgbClr val="001450"/>
                </a:solidFill>
                <a:latin typeface="Open Sans"/>
                <a:ea typeface="Open Sans"/>
                <a:cs typeface="Open Sans"/>
              </a:rPr>
              <a:t>Logic</a:t>
            </a:r>
          </a:p>
        </p:txBody>
      </p:sp>
      <p:sp>
        <p:nvSpPr>
          <p:cNvPr id="25" name="Logic value">
            <a:extLst>
              <a:ext uri="{FF2B5EF4-FFF2-40B4-BE49-F238E27FC236}">
                <a16:creationId xmlns:a16="http://schemas.microsoft.com/office/drawing/2014/main" id="{87F07879-F4BF-40FE-8217-BCF519F89F3B}"/>
              </a:ext>
            </a:extLst>
          </p:cNvPr>
          <p:cNvSpPr>
            <a:spLocks noGrp="1"/>
          </p:cNvSpPr>
          <p:nvPr/>
        </p:nvSpPr>
        <p:spPr>
          <a:xfrm>
            <a:off x="7477125" y="3524250"/>
            <a:ext cx="1524000" cy="247650"/>
          </a:xfrm>
          <a:prstGeom prst="rect">
            <a:avLst/>
          </a:prstGeom>
          <a:noFill/>
          <a:ln w="0">
            <a:noFill/>
            <a:prstDash val="solid"/>
          </a:ln>
        </p:spPr>
        <p:txBody>
          <a:bodyPr wrap="square" lIns="0" tIns="0" rIns="0" bIns="0" anchor="ctr">
            <a:normAutofit/>
          </a:bodyPr>
          <a:lstStyle/>
          <a:p>
            <a:pPr algn="r">
              <a:defRPr sz="1088" b="0">
                <a:solidFill>
                  <a:srgbClr val="001450"/>
                </a:solidFill>
                <a:latin typeface="Open Sans"/>
                <a:ea typeface="Open Sans"/>
                <a:cs typeface="Open Sans"/>
              </a:defRPr>
            </a:pPr>
            <a:r>
              <a:rPr sz="1088" b="0">
                <a:solidFill>
                  <a:srgbClr val="001450"/>
                </a:solidFill>
                <a:latin typeface="Open Sans"/>
                <a:ea typeface="Open Sans"/>
                <a:cs typeface="Open Sans"/>
              </a:rPr>
              <a:t>0.107 W  (1%)</a:t>
            </a:r>
          </a:p>
        </p:txBody>
      </p:sp>
      <p:sp>
        <p:nvSpPr>
          <p:cNvPr id="26" name="Signals swatch">
            <a:extLst>
              <a:ext uri="{FF2B5EF4-FFF2-40B4-BE49-F238E27FC236}">
                <a16:creationId xmlns:a16="http://schemas.microsoft.com/office/drawing/2014/main" id="{B81E44A0-4295-4750-BD27-382244870BA1}"/>
              </a:ext>
            </a:extLst>
          </p:cNvPr>
          <p:cNvSpPr>
            <a:spLocks noGrp="1"/>
          </p:cNvSpPr>
          <p:nvPr/>
        </p:nvSpPr>
        <p:spPr>
          <a:xfrm>
            <a:off x="5572125" y="3857625"/>
            <a:ext cx="142875" cy="142875"/>
          </a:xfrm>
          <a:prstGeom prst="rect">
            <a:avLst/>
          </a:prstGeom>
          <a:solidFill>
            <a:srgbClr val="0A777F"/>
          </a:solidFill>
          <a:ln w="0">
            <a:noFill/>
            <a:prstDash val="solid"/>
          </a:ln>
        </p:spPr>
      </p:sp>
      <p:sp>
        <p:nvSpPr>
          <p:cNvPr id="27" name="Signals legend">
            <a:extLst>
              <a:ext uri="{FF2B5EF4-FFF2-40B4-BE49-F238E27FC236}">
                <a16:creationId xmlns:a16="http://schemas.microsoft.com/office/drawing/2014/main" id="{2296A4FC-BC12-4EDF-A2E1-F44D8C8CB484}"/>
              </a:ext>
            </a:extLst>
          </p:cNvPr>
          <p:cNvSpPr>
            <a:spLocks noGrp="1"/>
          </p:cNvSpPr>
          <p:nvPr/>
        </p:nvSpPr>
        <p:spPr>
          <a:xfrm>
            <a:off x="5810250" y="3810000"/>
            <a:ext cx="1714500" cy="247650"/>
          </a:xfrm>
          <a:prstGeom prst="rect">
            <a:avLst/>
          </a:prstGeom>
          <a:noFill/>
          <a:ln w="0">
            <a:noFill/>
            <a:prstDash val="solid"/>
          </a:ln>
        </p:spPr>
        <p:txBody>
          <a:bodyPr wrap="square" lIns="0" tIns="0" rIns="0" bIns="0" anchor="ctr">
            <a:normAutofit/>
          </a:bodyPr>
          <a:lstStyle/>
          <a:p>
            <a:pPr algn="l">
              <a:defRPr sz="1088" b="1">
                <a:solidFill>
                  <a:srgbClr val="001450"/>
                </a:solidFill>
                <a:latin typeface="Open Sans"/>
                <a:ea typeface="Open Sans"/>
                <a:cs typeface="Open Sans"/>
              </a:defRPr>
            </a:pPr>
            <a:r>
              <a:rPr sz="1088" b="1">
                <a:solidFill>
                  <a:srgbClr val="001450"/>
                </a:solidFill>
                <a:latin typeface="Open Sans"/>
                <a:ea typeface="Open Sans"/>
                <a:cs typeface="Open Sans"/>
              </a:rPr>
              <a:t>Signals</a:t>
            </a:r>
          </a:p>
        </p:txBody>
      </p:sp>
      <p:sp>
        <p:nvSpPr>
          <p:cNvPr id="28" name="Signals value">
            <a:extLst>
              <a:ext uri="{FF2B5EF4-FFF2-40B4-BE49-F238E27FC236}">
                <a16:creationId xmlns:a16="http://schemas.microsoft.com/office/drawing/2014/main" id="{19592550-D530-4798-A450-C0AB1716F095}"/>
              </a:ext>
            </a:extLst>
          </p:cNvPr>
          <p:cNvSpPr>
            <a:spLocks noGrp="1"/>
          </p:cNvSpPr>
          <p:nvPr/>
        </p:nvSpPr>
        <p:spPr>
          <a:xfrm>
            <a:off x="7477125" y="3810000"/>
            <a:ext cx="1524000" cy="247650"/>
          </a:xfrm>
          <a:prstGeom prst="rect">
            <a:avLst/>
          </a:prstGeom>
          <a:noFill/>
          <a:ln w="0">
            <a:noFill/>
            <a:prstDash val="solid"/>
          </a:ln>
        </p:spPr>
        <p:txBody>
          <a:bodyPr wrap="square" lIns="0" tIns="0" rIns="0" bIns="0" anchor="ctr">
            <a:normAutofit/>
          </a:bodyPr>
          <a:lstStyle/>
          <a:p>
            <a:pPr algn="r">
              <a:defRPr sz="1088" b="0">
                <a:solidFill>
                  <a:srgbClr val="001450"/>
                </a:solidFill>
                <a:latin typeface="Open Sans"/>
                <a:ea typeface="Open Sans"/>
                <a:cs typeface="Open Sans"/>
              </a:defRPr>
            </a:pPr>
            <a:r>
              <a:rPr sz="1088" b="0">
                <a:solidFill>
                  <a:srgbClr val="001450"/>
                </a:solidFill>
                <a:latin typeface="Open Sans"/>
                <a:ea typeface="Open Sans"/>
                <a:cs typeface="Open Sans"/>
              </a:rPr>
              <a:t>0.077 W  (1%)</a:t>
            </a:r>
          </a:p>
        </p:txBody>
      </p:sp>
      <p:sp>
        <p:nvSpPr>
          <p:cNvPr id="29" name="internal dynamic total">
            <a:extLst>
              <a:ext uri="{FF2B5EF4-FFF2-40B4-BE49-F238E27FC236}">
                <a16:creationId xmlns:a16="http://schemas.microsoft.com/office/drawing/2014/main" id="{8D78CB4E-BA48-4293-B004-1D493F99F34D}"/>
              </a:ext>
            </a:extLst>
          </p:cNvPr>
          <p:cNvSpPr>
            <a:spLocks noGrp="1"/>
          </p:cNvSpPr>
          <p:nvPr/>
        </p:nvSpPr>
        <p:spPr>
          <a:xfrm>
            <a:off x="9191625" y="3524250"/>
            <a:ext cx="2047875" cy="533400"/>
          </a:xfrm>
          <a:prstGeom prst="rect">
            <a:avLst/>
          </a:prstGeom>
          <a:solidFill>
            <a:srgbClr val="E3EAF7"/>
          </a:solidFill>
          <a:ln w="10478">
            <a:solidFill>
              <a:srgbClr val="2F57B2"/>
            </a:solidFill>
            <a:prstDash val="solid"/>
          </a:ln>
        </p:spPr>
        <p:txBody>
          <a:bodyPr wrap="square" lIns="57150" tIns="38100" rIns="57150" bIns="38100" anchor="ctr">
            <a:normAutofit/>
          </a:bodyPr>
          <a:lstStyle/>
          <a:p>
            <a:pPr algn="ctr">
              <a:defRPr sz="1313" b="1">
                <a:solidFill>
                  <a:srgbClr val="00008C"/>
                </a:solidFill>
                <a:latin typeface="Open Sans"/>
                <a:ea typeface="Open Sans"/>
                <a:cs typeface="Open Sans"/>
              </a:defRPr>
            </a:pPr>
            <a:r>
              <a:rPr sz="1313" b="1">
                <a:solidFill>
                  <a:srgbClr val="00008C"/>
                </a:solidFill>
                <a:latin typeface="Open Sans"/>
                <a:ea typeface="Open Sans"/>
                <a:cs typeface="Open Sans"/>
              </a:rPr>
              <a:t>Internal dynamic</a:t>
            </a:r>
          </a:p>
          <a:p>
            <a:pPr algn="ctr">
              <a:defRPr sz="1313" b="1">
                <a:solidFill>
                  <a:srgbClr val="00008C"/>
                </a:solidFill>
                <a:latin typeface="Open Sans"/>
                <a:ea typeface="Open Sans"/>
                <a:cs typeface="Open Sans"/>
              </a:defRPr>
            </a:pPr>
            <a:r>
              <a:rPr sz="1313" b="1">
                <a:solidFill>
                  <a:srgbClr val="00008C"/>
                </a:solidFill>
                <a:latin typeface="Open Sans"/>
                <a:ea typeface="Open Sans"/>
                <a:cs typeface="Open Sans"/>
              </a:rPr>
              <a:t>0.184 W</a:t>
            </a:r>
          </a:p>
        </p:txBody>
      </p:sp>
      <p:sp>
        <p:nvSpPr>
          <p:cNvPr id="30" name="static split">
            <a:extLst>
              <a:ext uri="{FF2B5EF4-FFF2-40B4-BE49-F238E27FC236}">
                <a16:creationId xmlns:a16="http://schemas.microsoft.com/office/drawing/2014/main" id="{82926C30-5631-4064-923C-6533CD09C35A}"/>
              </a:ext>
            </a:extLst>
          </p:cNvPr>
          <p:cNvSpPr>
            <a:spLocks noGrp="1"/>
          </p:cNvSpPr>
          <p:nvPr/>
        </p:nvSpPr>
        <p:spPr>
          <a:xfrm>
            <a:off x="5429250" y="4191000"/>
            <a:ext cx="5810250" cy="266700"/>
          </a:xfrm>
          <a:prstGeom prst="rect">
            <a:avLst/>
          </a:prstGeom>
          <a:noFill/>
          <a:ln w="0">
            <a:noFill/>
            <a:prstDash val="solid"/>
          </a:ln>
        </p:spPr>
        <p:txBody>
          <a:bodyPr wrap="square" lIns="0" tIns="0" rIns="0" bIns="0" anchor="ctr">
            <a:normAutofit/>
          </a:bodyPr>
          <a:lstStyle/>
          <a:p>
            <a:pPr algn="ctr">
              <a:defRPr sz="1065" b="0">
                <a:solidFill>
                  <a:srgbClr val="566371"/>
                </a:solidFill>
                <a:latin typeface="Open Sans"/>
                <a:ea typeface="Open Sans"/>
                <a:cs typeface="Open Sans"/>
              </a:defRPr>
            </a:pPr>
            <a:r>
              <a:rPr sz="1065" b="0">
                <a:solidFill>
                  <a:srgbClr val="566371"/>
                </a:solidFill>
                <a:latin typeface="Open Sans"/>
                <a:ea typeface="Open Sans"/>
                <a:cs typeface="Open Sans"/>
              </a:rPr>
              <a:t>Static split: PL 0.676 W (98%)  |  PS 0.014 W (2%)</a:t>
            </a:r>
          </a:p>
        </p:txBody>
      </p:sp>
      <p:sp>
        <p:nvSpPr>
          <p:cNvPr id="31" name="interpretation panel">
            <a:extLst>
              <a:ext uri="{FF2B5EF4-FFF2-40B4-BE49-F238E27FC236}">
                <a16:creationId xmlns:a16="http://schemas.microsoft.com/office/drawing/2014/main" id="{F74A112A-08FC-4A47-8B2F-7C39E5C9ABAC}"/>
              </a:ext>
            </a:extLst>
          </p:cNvPr>
          <p:cNvSpPr>
            <a:spLocks noGrp="1"/>
          </p:cNvSpPr>
          <p:nvPr/>
        </p:nvSpPr>
        <p:spPr>
          <a:xfrm>
            <a:off x="857250" y="5000625"/>
            <a:ext cx="6905625" cy="762000"/>
          </a:xfrm>
          <a:prstGeom prst="rect">
            <a:avLst/>
          </a:prstGeom>
          <a:solidFill>
            <a:srgbClr val="F2F5FA"/>
          </a:solidFill>
          <a:ln w="10478">
            <a:solidFill>
              <a:srgbClr val="C7CED9"/>
            </a:solidFill>
            <a:prstDash val="solid"/>
          </a:ln>
        </p:spPr>
        <p:txBody>
          <a:bodyPr wrap="square" lIns="171450" tIns="95250" rIns="171450" bIns="95250" anchor="ctr">
            <a:normAutofit/>
          </a:bodyPr>
          <a:lstStyle/>
          <a:p>
            <a:pPr algn="l">
              <a:defRPr sz="1230" b="1">
                <a:solidFill>
                  <a:srgbClr val="001450"/>
                </a:solidFill>
                <a:latin typeface="Open Sans"/>
                <a:ea typeface="Open Sans"/>
                <a:cs typeface="Open Sans"/>
              </a:defRPr>
            </a:pPr>
            <a:r>
              <a:rPr sz="1230" b="1">
                <a:solidFill>
                  <a:srgbClr val="001450"/>
                </a:solidFill>
                <a:latin typeface="Open Sans"/>
                <a:ea typeface="Open Sans"/>
                <a:cs typeface="Open Sans"/>
              </a:rPr>
              <a:t>INTERPRETATION</a:t>
            </a:r>
          </a:p>
          <a:p>
            <a:pPr algn="l">
              <a:defRPr sz="1230" b="1">
                <a:solidFill>
                  <a:srgbClr val="001450"/>
                </a:solidFill>
                <a:latin typeface="Open Sans"/>
                <a:ea typeface="Open Sans"/>
                <a:cs typeface="Open Sans"/>
              </a:defRPr>
            </a:pPr>
            <a:r>
              <a:rPr sz="1230" b="1">
                <a:solidFill>
                  <a:srgbClr val="001450"/>
                </a:solidFill>
                <a:latin typeface="Open Sans"/>
                <a:ea typeface="Open Sans"/>
                <a:cs typeface="Open Sans"/>
              </a:rPr>
              <a:t>The RTL footprint is negligible; I/O activity dominates the current power estimate.</a:t>
            </a:r>
          </a:p>
        </p:txBody>
      </p:sp>
      <p:sp>
        <p:nvSpPr>
          <p:cNvPr id="32" name="next step panel">
            <a:extLst>
              <a:ext uri="{FF2B5EF4-FFF2-40B4-BE49-F238E27FC236}">
                <a16:creationId xmlns:a16="http://schemas.microsoft.com/office/drawing/2014/main" id="{BDEAB325-9A1B-4A60-B221-BDC0B47509A5}"/>
              </a:ext>
            </a:extLst>
          </p:cNvPr>
          <p:cNvSpPr>
            <a:spLocks noGrp="1"/>
          </p:cNvSpPr>
          <p:nvPr/>
        </p:nvSpPr>
        <p:spPr>
          <a:xfrm>
            <a:off x="7762875" y="5000625"/>
            <a:ext cx="3476625" cy="762000"/>
          </a:xfrm>
          <a:prstGeom prst="rect">
            <a:avLst/>
          </a:prstGeom>
          <a:solidFill>
            <a:srgbClr val="F2F5FA"/>
          </a:solidFill>
          <a:ln w="10478">
            <a:solidFill>
              <a:srgbClr val="C7CED9"/>
            </a:solidFill>
            <a:prstDash val="solid"/>
          </a:ln>
        </p:spPr>
        <p:txBody>
          <a:bodyPr wrap="square" lIns="171450" tIns="85725" rIns="171450" bIns="85725" anchor="ctr">
            <a:normAutofit/>
          </a:bodyPr>
          <a:lstStyle/>
          <a:p>
            <a:pPr algn="ctr">
              <a:defRPr sz="1215" b="1">
                <a:solidFill>
                  <a:srgbClr val="00008C"/>
                </a:solidFill>
                <a:latin typeface="Open Sans"/>
                <a:ea typeface="Open Sans"/>
                <a:cs typeface="Open Sans"/>
              </a:defRPr>
            </a:pPr>
            <a:r>
              <a:rPr sz="1215" b="1" dirty="0">
                <a:solidFill>
                  <a:srgbClr val="00008C"/>
                </a:solidFill>
                <a:latin typeface="Open Sans"/>
                <a:ea typeface="Open Sans"/>
                <a:cs typeface="Open Sans"/>
              </a:rPr>
              <a:t>NEXT STEP</a:t>
            </a:r>
          </a:p>
          <a:p>
            <a:pPr algn="ctr">
              <a:defRPr sz="1215" b="1">
                <a:solidFill>
                  <a:srgbClr val="00008C"/>
                </a:solidFill>
                <a:latin typeface="Open Sans"/>
                <a:ea typeface="Open Sans"/>
                <a:cs typeface="Open Sans"/>
              </a:defRPr>
            </a:pPr>
            <a:r>
              <a:rPr lang="en-US" sz="1215" b="1" dirty="0">
                <a:solidFill>
                  <a:srgbClr val="00008C"/>
                </a:solidFill>
                <a:latin typeface="Open Sans"/>
                <a:ea typeface="Open Sans"/>
                <a:cs typeface="Open Sans"/>
              </a:rPr>
              <a:t>Functional Simulation and Validation</a:t>
            </a:r>
            <a:r>
              <a:rPr sz="1215" b="1" dirty="0">
                <a:solidFill>
                  <a:srgbClr val="00008C"/>
                </a:solidFill>
                <a:latin typeface="Open Sans"/>
                <a:ea typeface="Open Sans"/>
                <a:cs typeface="Open Sans"/>
              </a:rPr>
              <a:t>.</a:t>
            </a:r>
          </a:p>
        </p:txBody>
      </p:sp>
    </p:spTree>
    <p:extLst>
      <p:ext uri="{BB962C8B-B14F-4D97-AF65-F5344CB8AC3E}">
        <p14:creationId xmlns:p14="http://schemas.microsoft.com/office/powerpoint/2010/main" val="2025791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314BE-530F-8860-4D18-7DD9E9CE8E6D}"/>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E44C35E9-1C1A-410A-D884-B1DDC2BE12F5}"/>
              </a:ext>
            </a:extLst>
          </p:cNvPr>
          <p:cNvSpPr>
            <a:spLocks noGrp="1"/>
          </p:cNvSpPr>
          <p:nvPr>
            <p:ph type="title"/>
          </p:nvPr>
        </p:nvSpPr>
        <p:spPr/>
        <p:txBody>
          <a:bodyPr/>
          <a:lstStyle/>
          <a:p>
            <a:r>
              <a:rPr lang="de-DE" dirty="0"/>
              <a:t>What‘s Next?</a:t>
            </a:r>
          </a:p>
        </p:txBody>
      </p:sp>
      <p:sp>
        <p:nvSpPr>
          <p:cNvPr id="6" name="Inhaltsplatzhalter 5">
            <a:extLst>
              <a:ext uri="{FF2B5EF4-FFF2-40B4-BE49-F238E27FC236}">
                <a16:creationId xmlns:a16="http://schemas.microsoft.com/office/drawing/2014/main" id="{066BD937-1E5F-7187-5354-C8EE464B5387}"/>
              </a:ext>
            </a:extLst>
          </p:cNvPr>
          <p:cNvSpPr>
            <a:spLocks noGrp="1"/>
          </p:cNvSpPr>
          <p:nvPr>
            <p:ph sz="quarter" idx="10"/>
          </p:nvPr>
        </p:nvSpPr>
        <p:spPr>
          <a:xfrm>
            <a:off x="805656" y="1452816"/>
            <a:ext cx="9307828" cy="3776753"/>
          </a:xfrm>
        </p:spPr>
        <p:txBody>
          <a:bodyPr/>
          <a:lstStyle/>
          <a:p>
            <a:pPr marL="285750" indent="-285750">
              <a:buFont typeface="Arial" panose="020B0604020202020204" pitchFamily="34" charset="0"/>
              <a:buChar char="•"/>
            </a:pPr>
            <a:r>
              <a:rPr lang="en-US" sz="2000" dirty="0"/>
              <a:t>Continue to fine-tune and optimize the Python model to achieve optimal training results.</a:t>
            </a:r>
          </a:p>
          <a:p>
            <a:pPr marL="285750" indent="-285750">
              <a:buFont typeface="Arial" panose="020B0604020202020204" pitchFamily="34" charset="0"/>
              <a:buChar char="•"/>
            </a:pPr>
            <a:r>
              <a:rPr lang="en-US" sz="2000" dirty="0"/>
              <a:t>Functional Simulation and Verification of the SDSP RTL Model</a:t>
            </a:r>
            <a:r>
              <a:rPr lang="de-DE" sz="2000" dirty="0"/>
              <a:t>. </a:t>
            </a:r>
          </a:p>
          <a:p>
            <a:pPr marL="285750" indent="-285750">
              <a:buFont typeface="Arial" panose="020B0604020202020204" pitchFamily="34" charset="0"/>
              <a:buChar char="•"/>
            </a:pPr>
            <a:r>
              <a:rPr lang="de-DE" sz="2000" dirty="0"/>
              <a:t>SNN network generation and SDSP integration.</a:t>
            </a:r>
          </a:p>
          <a:p>
            <a:pPr marL="285750" indent="-285750">
              <a:buFont typeface="Arial" panose="020B0604020202020204" pitchFamily="34" charset="0"/>
              <a:buChar char="•"/>
            </a:pPr>
            <a:r>
              <a:rPr lang="de-DE" sz="2000" dirty="0"/>
              <a:t>Apply partial reconfiguraion.</a:t>
            </a:r>
          </a:p>
          <a:p>
            <a:pPr marL="285750" indent="-285750">
              <a:buFont typeface="Arial" panose="020B0604020202020204" pitchFamily="34" charset="0"/>
              <a:buChar char="•"/>
            </a:pPr>
            <a:r>
              <a:rPr lang="de-DE" sz="2000" dirty="0"/>
              <a:t>Test and evaluation.</a:t>
            </a:r>
          </a:p>
          <a:p>
            <a:pPr marL="285750" indent="-285750">
              <a:buFont typeface="Arial" panose="020B0604020202020204" pitchFamily="34" charset="0"/>
              <a:buChar char="•"/>
            </a:pPr>
            <a:r>
              <a:rPr lang="de-DE" sz="2000" dirty="0"/>
              <a:t>Result comparison.</a:t>
            </a:r>
          </a:p>
          <a:p>
            <a:pPr marL="285750" indent="-285750">
              <a:buFont typeface="Arial" panose="020B0604020202020204" pitchFamily="34" charset="0"/>
              <a:buChar char="•"/>
            </a:pPr>
            <a:r>
              <a:rPr lang="de-DE" sz="2000" dirty="0"/>
              <a:t>Report and final presentation.</a:t>
            </a:r>
          </a:p>
        </p:txBody>
      </p:sp>
    </p:spTree>
    <p:extLst>
      <p:ext uri="{BB962C8B-B14F-4D97-AF65-F5344CB8AC3E}">
        <p14:creationId xmlns:p14="http://schemas.microsoft.com/office/powerpoint/2010/main" val="1798364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3EE588-951A-4549-28A5-8F980BF5F6FF}"/>
              </a:ext>
            </a:extLst>
          </p:cNvPr>
          <p:cNvSpPr>
            <a:spLocks noGrp="1"/>
          </p:cNvSpPr>
          <p:nvPr>
            <p:ph type="title"/>
          </p:nvPr>
        </p:nvSpPr>
        <p:spPr/>
        <p:txBody>
          <a:bodyPr/>
          <a:lstStyle/>
          <a:p>
            <a:r>
              <a:rPr lang="en-US" altLang="zh-CN" dirty="0"/>
              <a:t>Timeline</a:t>
            </a:r>
            <a:endParaRPr lang="zh-CN" altLang="en-US" dirty="0"/>
          </a:p>
        </p:txBody>
      </p:sp>
      <p:sp>
        <p:nvSpPr>
          <p:cNvPr id="3" name="OTLSHAPE_TB_00000000000000000000000000000000_RightEndCaps">
            <a:extLst>
              <a:ext uri="{FF2B5EF4-FFF2-40B4-BE49-F238E27FC236}">
                <a16:creationId xmlns:a16="http://schemas.microsoft.com/office/drawing/2014/main" id="{02F27EA0-5DA0-373D-BBBF-59E7ED2C7DA1}"/>
              </a:ext>
            </a:extLst>
          </p:cNvPr>
          <p:cNvSpPr txBox="1"/>
          <p:nvPr>
            <p:custDataLst>
              <p:tags r:id="rId1"/>
            </p:custDataLst>
          </p:nvPr>
        </p:nvSpPr>
        <p:spPr>
          <a:xfrm>
            <a:off x="11341287" y="4504509"/>
            <a:ext cx="451662" cy="279061"/>
          </a:xfrm>
          <a:prstGeom prst="rect">
            <a:avLst/>
          </a:prstGeom>
          <a:noFill/>
        </p:spPr>
        <p:txBody>
          <a:bodyPr vert="horz" wrap="none" lIns="0" tIns="0" rIns="0" bIns="0" rtlCol="0" anchor="ctr" anchorCtr="0">
            <a:spAutoFit/>
          </a:bodyPr>
          <a:lstStyle/>
          <a:p>
            <a:pPr algn="ctr"/>
            <a:r>
              <a:rPr lang="en-US" altLang="zh-CN" sz="1800" b="1" spc="-44">
                <a:solidFill>
                  <a:srgbClr val="E97132"/>
                </a:solidFill>
                <a:latin typeface="Calibri" panose="020F0502020204030204" pitchFamily="34" charset="0"/>
              </a:rPr>
              <a:t>2026</a:t>
            </a:r>
            <a:endParaRPr lang="zh-CN" altLang="en-US" sz="1800" b="1" spc="-44">
              <a:solidFill>
                <a:srgbClr val="E97132"/>
              </a:solidFill>
              <a:latin typeface="Calibri" panose="020F0502020204030204" pitchFamily="34" charset="0"/>
            </a:endParaRPr>
          </a:p>
        </p:txBody>
      </p:sp>
      <p:sp>
        <p:nvSpPr>
          <p:cNvPr id="4" name="OTLSHAPE_TB_00000000000000000000000000000000_ScaleContainer">
            <a:extLst>
              <a:ext uri="{FF2B5EF4-FFF2-40B4-BE49-F238E27FC236}">
                <a16:creationId xmlns:a16="http://schemas.microsoft.com/office/drawing/2014/main" id="{CCECA3E6-BA7A-3897-7801-C7E9EC0F0E7A}"/>
              </a:ext>
            </a:extLst>
          </p:cNvPr>
          <p:cNvSpPr/>
          <p:nvPr>
            <p:custDataLst>
              <p:tags r:id="rId2"/>
            </p:custDataLst>
          </p:nvPr>
        </p:nvSpPr>
        <p:spPr>
          <a:xfrm>
            <a:off x="711218" y="4517040"/>
            <a:ext cx="10515600" cy="254000"/>
          </a:xfrm>
          <a:prstGeom prst="roundRect">
            <a:avLst/>
          </a:prstGeom>
          <a:solidFill>
            <a:srgbClr val="0E28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OTLSHAPE_TB_00000000000000000000000000000000_ElapsedTime">
            <a:extLst>
              <a:ext uri="{FF2B5EF4-FFF2-40B4-BE49-F238E27FC236}">
                <a16:creationId xmlns:a16="http://schemas.microsoft.com/office/drawing/2014/main" id="{52DCC50B-7306-AC25-CBA9-691E577598AE}"/>
              </a:ext>
            </a:extLst>
          </p:cNvPr>
          <p:cNvSpPr/>
          <p:nvPr>
            <p:custDataLst>
              <p:tags r:id="rId3"/>
            </p:custDataLst>
          </p:nvPr>
        </p:nvSpPr>
        <p:spPr>
          <a:xfrm>
            <a:off x="711218" y="4720240"/>
            <a:ext cx="4991100" cy="50800"/>
          </a:xfrm>
          <a:prstGeom prst="roundRect">
            <a:avLst/>
          </a:prstGeom>
          <a:solidFill>
            <a:srgbClr val="FF0000">
              <a:alpha val="74902"/>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OTLSHAPE_TB_00000000000000000000000000000000_TodayMarkerShape">
            <a:extLst>
              <a:ext uri="{FF2B5EF4-FFF2-40B4-BE49-F238E27FC236}">
                <a16:creationId xmlns:a16="http://schemas.microsoft.com/office/drawing/2014/main" id="{BFF0189A-153D-788F-3E54-D8A2F7DD5006}"/>
              </a:ext>
            </a:extLst>
          </p:cNvPr>
          <p:cNvSpPr/>
          <p:nvPr>
            <p:custDataLst>
              <p:tags r:id="rId4"/>
            </p:custDataLst>
          </p:nvPr>
        </p:nvSpPr>
        <p:spPr>
          <a:xfrm>
            <a:off x="5655764" y="4771040"/>
            <a:ext cx="76200" cy="84667"/>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OTLSHAPE_TB_00000000000000000000000000000000_TodayMarkerText">
            <a:extLst>
              <a:ext uri="{FF2B5EF4-FFF2-40B4-BE49-F238E27FC236}">
                <a16:creationId xmlns:a16="http://schemas.microsoft.com/office/drawing/2014/main" id="{25EFD5FF-BF32-3B81-B0B2-8ADAB7848551}"/>
              </a:ext>
            </a:extLst>
          </p:cNvPr>
          <p:cNvSpPr txBox="1"/>
          <p:nvPr>
            <p:custDataLst>
              <p:tags r:id="rId5"/>
            </p:custDataLst>
          </p:nvPr>
        </p:nvSpPr>
        <p:spPr>
          <a:xfrm>
            <a:off x="5511921" y="4855707"/>
            <a:ext cx="368300" cy="186055"/>
          </a:xfrm>
          <a:prstGeom prst="rect">
            <a:avLst/>
          </a:prstGeom>
          <a:noFill/>
        </p:spPr>
        <p:txBody>
          <a:bodyPr vert="horz" wrap="none" lIns="0" tIns="0" rIns="0" bIns="0" rtlCol="0" anchor="ctr" anchorCtr="0">
            <a:spAutoFit/>
          </a:bodyPr>
          <a:lstStyle/>
          <a:p>
            <a:pPr algn="ctr"/>
            <a:r>
              <a:rPr lang="en-US" altLang="zh-CN" sz="1200" spc="-12">
                <a:solidFill>
                  <a:srgbClr val="000000"/>
                </a:solidFill>
                <a:latin typeface="Calibri" panose="020F0502020204030204" pitchFamily="34" charset="0"/>
              </a:rPr>
              <a:t>Today</a:t>
            </a:r>
            <a:endParaRPr lang="zh-CN" altLang="en-US" sz="1200" spc="-12">
              <a:solidFill>
                <a:srgbClr val="000000"/>
              </a:solidFill>
              <a:latin typeface="Calibri" panose="020F0502020204030204" pitchFamily="34" charset="0"/>
            </a:endParaRPr>
          </a:p>
        </p:txBody>
      </p:sp>
      <p:sp>
        <p:nvSpPr>
          <p:cNvPr id="8" name="OTLSHAPE_TB_00000000000000000000000000000000_TimescaleInterval1">
            <a:extLst>
              <a:ext uri="{FF2B5EF4-FFF2-40B4-BE49-F238E27FC236}">
                <a16:creationId xmlns:a16="http://schemas.microsoft.com/office/drawing/2014/main" id="{70017ACE-491C-DE73-5A2F-6EFBAA6470E3}"/>
              </a:ext>
            </a:extLst>
          </p:cNvPr>
          <p:cNvSpPr txBox="1"/>
          <p:nvPr>
            <p:custDataLst>
              <p:tags r:id="rId6"/>
            </p:custDataLst>
          </p:nvPr>
        </p:nvSpPr>
        <p:spPr>
          <a:xfrm>
            <a:off x="762018" y="4551013"/>
            <a:ext cx="268150" cy="186055"/>
          </a:xfrm>
          <a:prstGeom prst="rect">
            <a:avLst/>
          </a:prstGeom>
          <a:noFill/>
        </p:spPr>
        <p:txBody>
          <a:bodyPr vert="horz" wrap="none" lIns="0" tIns="0" rIns="0" bIns="0" rtlCol="0" anchor="ctr" anchorCtr="0">
            <a:noAutofit/>
          </a:bodyPr>
          <a:lstStyle/>
          <a:p>
            <a:r>
              <a:rPr lang="en-US" altLang="zh-CN" sz="1200" spc="-18">
                <a:solidFill>
                  <a:srgbClr val="E8E8E8"/>
                </a:solidFill>
                <a:latin typeface="Calibri" panose="020F0502020204030204" pitchFamily="34" charset="0"/>
              </a:rPr>
              <a:t>May</a:t>
            </a:r>
            <a:endParaRPr lang="zh-CN" altLang="en-US" sz="1200" spc="-18">
              <a:solidFill>
                <a:srgbClr val="E8E8E8"/>
              </a:solidFill>
              <a:latin typeface="Calibri" panose="020F0502020204030204" pitchFamily="34" charset="0"/>
            </a:endParaRPr>
          </a:p>
        </p:txBody>
      </p:sp>
      <p:sp>
        <p:nvSpPr>
          <p:cNvPr id="9" name="OTLSHAPE_TB_00000000000000000000000000000000_TimescaleInterval2">
            <a:extLst>
              <a:ext uri="{FF2B5EF4-FFF2-40B4-BE49-F238E27FC236}">
                <a16:creationId xmlns:a16="http://schemas.microsoft.com/office/drawing/2014/main" id="{C5AACC48-7824-BECD-2D87-98541076129E}"/>
              </a:ext>
            </a:extLst>
          </p:cNvPr>
          <p:cNvSpPr txBox="1"/>
          <p:nvPr>
            <p:custDataLst>
              <p:tags r:id="rId7"/>
            </p:custDataLst>
          </p:nvPr>
        </p:nvSpPr>
        <p:spPr>
          <a:xfrm>
            <a:off x="2531557" y="4551013"/>
            <a:ext cx="206916" cy="186055"/>
          </a:xfrm>
          <a:prstGeom prst="rect">
            <a:avLst/>
          </a:prstGeom>
          <a:noFill/>
        </p:spPr>
        <p:txBody>
          <a:bodyPr vert="horz" wrap="none" lIns="0" tIns="0" rIns="0" bIns="0" rtlCol="0" anchor="ctr" anchorCtr="0">
            <a:noAutofit/>
          </a:bodyPr>
          <a:lstStyle/>
          <a:p>
            <a:r>
              <a:rPr lang="en-US" altLang="zh-CN" sz="1200" spc="-18">
                <a:solidFill>
                  <a:srgbClr val="E8E8E8"/>
                </a:solidFill>
                <a:latin typeface="Calibri" panose="020F0502020204030204" pitchFamily="34" charset="0"/>
              </a:rPr>
              <a:t>Jun</a:t>
            </a:r>
            <a:endParaRPr lang="zh-CN" altLang="en-US" sz="1200" spc="-18">
              <a:solidFill>
                <a:srgbClr val="E8E8E8"/>
              </a:solidFill>
              <a:latin typeface="Calibri" panose="020F0502020204030204" pitchFamily="34" charset="0"/>
            </a:endParaRPr>
          </a:p>
        </p:txBody>
      </p:sp>
      <p:sp>
        <p:nvSpPr>
          <p:cNvPr id="10" name="OTLSHAPE_TB_00000000000000000000000000000000_TimescaleInterval3">
            <a:extLst>
              <a:ext uri="{FF2B5EF4-FFF2-40B4-BE49-F238E27FC236}">
                <a16:creationId xmlns:a16="http://schemas.microsoft.com/office/drawing/2014/main" id="{EBFCAD7D-C9EE-AACF-3710-C988F097CD54}"/>
              </a:ext>
            </a:extLst>
          </p:cNvPr>
          <p:cNvSpPr txBox="1"/>
          <p:nvPr>
            <p:custDataLst>
              <p:tags r:id="rId8"/>
            </p:custDataLst>
          </p:nvPr>
        </p:nvSpPr>
        <p:spPr>
          <a:xfrm>
            <a:off x="4244014" y="4551013"/>
            <a:ext cx="158185" cy="186055"/>
          </a:xfrm>
          <a:prstGeom prst="rect">
            <a:avLst/>
          </a:prstGeom>
          <a:noFill/>
        </p:spPr>
        <p:txBody>
          <a:bodyPr vert="horz" wrap="none" lIns="0" tIns="0" rIns="0" bIns="0" rtlCol="0" anchor="ctr" anchorCtr="0">
            <a:noAutofit/>
          </a:bodyPr>
          <a:lstStyle/>
          <a:p>
            <a:r>
              <a:rPr lang="en-US" altLang="zh-CN" sz="1200" spc="-20">
                <a:solidFill>
                  <a:srgbClr val="E8E8E8"/>
                </a:solidFill>
                <a:latin typeface="Calibri" panose="020F0502020204030204" pitchFamily="34" charset="0"/>
              </a:rPr>
              <a:t>Jul</a:t>
            </a:r>
            <a:endParaRPr lang="zh-CN" altLang="en-US" sz="1200" spc="-20">
              <a:solidFill>
                <a:srgbClr val="E8E8E8"/>
              </a:solidFill>
              <a:latin typeface="Calibri" panose="020F0502020204030204" pitchFamily="34" charset="0"/>
            </a:endParaRPr>
          </a:p>
        </p:txBody>
      </p:sp>
      <p:sp>
        <p:nvSpPr>
          <p:cNvPr id="11" name="OTLSHAPE_TB_00000000000000000000000000000000_TimescaleInterval4">
            <a:extLst>
              <a:ext uri="{FF2B5EF4-FFF2-40B4-BE49-F238E27FC236}">
                <a16:creationId xmlns:a16="http://schemas.microsoft.com/office/drawing/2014/main" id="{8916FC71-3E7B-F6D0-80DF-50D7F09D8D54}"/>
              </a:ext>
            </a:extLst>
          </p:cNvPr>
          <p:cNvSpPr txBox="1"/>
          <p:nvPr>
            <p:custDataLst>
              <p:tags r:id="rId9"/>
            </p:custDataLst>
          </p:nvPr>
        </p:nvSpPr>
        <p:spPr>
          <a:xfrm>
            <a:off x="6013553" y="4551013"/>
            <a:ext cx="241300" cy="186055"/>
          </a:xfrm>
          <a:prstGeom prst="rect">
            <a:avLst/>
          </a:prstGeom>
          <a:noFill/>
        </p:spPr>
        <p:txBody>
          <a:bodyPr vert="horz" wrap="none" lIns="0" tIns="0" rIns="0" bIns="0" rtlCol="0" anchor="ctr" anchorCtr="0">
            <a:noAutofit/>
          </a:bodyPr>
          <a:lstStyle/>
          <a:p>
            <a:r>
              <a:rPr lang="en-US" altLang="zh-CN" sz="1200" spc="-20">
                <a:solidFill>
                  <a:srgbClr val="E8E8E8"/>
                </a:solidFill>
                <a:latin typeface="Calibri" panose="020F0502020204030204" pitchFamily="34" charset="0"/>
              </a:rPr>
              <a:t>Aug</a:t>
            </a:r>
            <a:endParaRPr lang="zh-CN" altLang="en-US" sz="1200" spc="-20">
              <a:solidFill>
                <a:srgbClr val="E8E8E8"/>
              </a:solidFill>
              <a:latin typeface="Calibri" panose="020F0502020204030204" pitchFamily="34" charset="0"/>
            </a:endParaRPr>
          </a:p>
        </p:txBody>
      </p:sp>
      <p:sp>
        <p:nvSpPr>
          <p:cNvPr id="12" name="OTLSHAPE_TB_00000000000000000000000000000000_TimescaleInterval5">
            <a:extLst>
              <a:ext uri="{FF2B5EF4-FFF2-40B4-BE49-F238E27FC236}">
                <a16:creationId xmlns:a16="http://schemas.microsoft.com/office/drawing/2014/main" id="{B0DE8A4E-63B9-B6E2-1B8A-3FCEFA656FD3}"/>
              </a:ext>
            </a:extLst>
          </p:cNvPr>
          <p:cNvSpPr txBox="1"/>
          <p:nvPr>
            <p:custDataLst>
              <p:tags r:id="rId10"/>
            </p:custDataLst>
          </p:nvPr>
        </p:nvSpPr>
        <p:spPr>
          <a:xfrm>
            <a:off x="7783092" y="4551013"/>
            <a:ext cx="228600" cy="186055"/>
          </a:xfrm>
          <a:prstGeom prst="rect">
            <a:avLst/>
          </a:prstGeom>
          <a:noFill/>
        </p:spPr>
        <p:txBody>
          <a:bodyPr vert="horz" wrap="none" lIns="0" tIns="0" rIns="0" bIns="0" rtlCol="0" anchor="ctr" anchorCtr="0">
            <a:noAutofit/>
          </a:bodyPr>
          <a:lstStyle/>
          <a:p>
            <a:r>
              <a:rPr lang="en-US" altLang="zh-CN" sz="1200" spc="-18">
                <a:solidFill>
                  <a:srgbClr val="E8E8E8"/>
                </a:solidFill>
                <a:latin typeface="Calibri" panose="020F0502020204030204" pitchFamily="34" charset="0"/>
              </a:rPr>
              <a:t>Sep</a:t>
            </a:r>
            <a:endParaRPr lang="zh-CN" altLang="en-US" sz="1200" spc="-18">
              <a:solidFill>
                <a:srgbClr val="E8E8E8"/>
              </a:solidFill>
              <a:latin typeface="Calibri" panose="020F0502020204030204" pitchFamily="34" charset="0"/>
            </a:endParaRPr>
          </a:p>
        </p:txBody>
      </p:sp>
      <p:sp>
        <p:nvSpPr>
          <p:cNvPr id="13" name="OTLSHAPE_TB_00000000000000000000000000000000_TimescaleInterval6">
            <a:extLst>
              <a:ext uri="{FF2B5EF4-FFF2-40B4-BE49-F238E27FC236}">
                <a16:creationId xmlns:a16="http://schemas.microsoft.com/office/drawing/2014/main" id="{7A6A4408-9352-9F2E-D91C-7DBDBFBE7E15}"/>
              </a:ext>
            </a:extLst>
          </p:cNvPr>
          <p:cNvSpPr txBox="1"/>
          <p:nvPr>
            <p:custDataLst>
              <p:tags r:id="rId11"/>
            </p:custDataLst>
          </p:nvPr>
        </p:nvSpPr>
        <p:spPr>
          <a:xfrm>
            <a:off x="9495549" y="4551013"/>
            <a:ext cx="211148" cy="186055"/>
          </a:xfrm>
          <a:prstGeom prst="rect">
            <a:avLst/>
          </a:prstGeom>
          <a:noFill/>
        </p:spPr>
        <p:txBody>
          <a:bodyPr vert="horz" wrap="none" lIns="0" tIns="0" rIns="0" bIns="0" rtlCol="0" anchor="ctr" anchorCtr="0">
            <a:noAutofit/>
          </a:bodyPr>
          <a:lstStyle/>
          <a:p>
            <a:r>
              <a:rPr lang="en-US" altLang="zh-CN" sz="1200" spc="-22">
                <a:solidFill>
                  <a:srgbClr val="E8E8E8"/>
                </a:solidFill>
                <a:latin typeface="Calibri" panose="020F0502020204030204" pitchFamily="34" charset="0"/>
              </a:rPr>
              <a:t>Oct</a:t>
            </a:r>
            <a:endParaRPr lang="zh-CN" altLang="en-US" sz="1200" spc="-22">
              <a:solidFill>
                <a:srgbClr val="E8E8E8"/>
              </a:solidFill>
              <a:latin typeface="Calibri" panose="020F0502020204030204" pitchFamily="34" charset="0"/>
            </a:endParaRPr>
          </a:p>
        </p:txBody>
      </p:sp>
      <p:cxnSp>
        <p:nvCxnSpPr>
          <p:cNvPr id="14" name="OTLSHAPE_TB_00000000000000000000000000000000_Separator1">
            <a:extLst>
              <a:ext uri="{FF2B5EF4-FFF2-40B4-BE49-F238E27FC236}">
                <a16:creationId xmlns:a16="http://schemas.microsoft.com/office/drawing/2014/main" id="{31F317EF-3566-2AB2-A840-08DD0101C666}"/>
              </a:ext>
            </a:extLst>
          </p:cNvPr>
          <p:cNvCxnSpPr/>
          <p:nvPr>
            <p:custDataLst>
              <p:tags r:id="rId12"/>
            </p:custDataLst>
          </p:nvPr>
        </p:nvCxnSpPr>
        <p:spPr>
          <a:xfrm>
            <a:off x="2480757" y="4542440"/>
            <a:ext cx="0" cy="203200"/>
          </a:xfrm>
          <a:prstGeom prst="line">
            <a:avLst/>
          </a:prstGeom>
          <a:ln w="9525" cap="flat" cmpd="sng" algn="ctr">
            <a:solidFill>
              <a:srgbClr val="E8E8E8">
                <a:alpha val="2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OTLSHAPE_TB_00000000000000000000000000000000_Separator2">
            <a:extLst>
              <a:ext uri="{FF2B5EF4-FFF2-40B4-BE49-F238E27FC236}">
                <a16:creationId xmlns:a16="http://schemas.microsoft.com/office/drawing/2014/main" id="{78EF0C9A-DB52-C57B-936B-D5B8B7D9C9AE}"/>
              </a:ext>
            </a:extLst>
          </p:cNvPr>
          <p:cNvCxnSpPr/>
          <p:nvPr>
            <p:custDataLst>
              <p:tags r:id="rId13"/>
            </p:custDataLst>
          </p:nvPr>
        </p:nvCxnSpPr>
        <p:spPr>
          <a:xfrm>
            <a:off x="4193214" y="4542440"/>
            <a:ext cx="0" cy="203200"/>
          </a:xfrm>
          <a:prstGeom prst="line">
            <a:avLst/>
          </a:prstGeom>
          <a:ln w="9525" cap="flat" cmpd="sng" algn="ctr">
            <a:solidFill>
              <a:srgbClr val="E8E8E8">
                <a:alpha val="2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OTLSHAPE_TB_00000000000000000000000000000000_Separator3">
            <a:extLst>
              <a:ext uri="{FF2B5EF4-FFF2-40B4-BE49-F238E27FC236}">
                <a16:creationId xmlns:a16="http://schemas.microsoft.com/office/drawing/2014/main" id="{6DFA6C28-8998-D301-C05B-F1359D67186F}"/>
              </a:ext>
            </a:extLst>
          </p:cNvPr>
          <p:cNvCxnSpPr/>
          <p:nvPr>
            <p:custDataLst>
              <p:tags r:id="rId14"/>
            </p:custDataLst>
          </p:nvPr>
        </p:nvCxnSpPr>
        <p:spPr>
          <a:xfrm>
            <a:off x="5962753" y="4542440"/>
            <a:ext cx="0" cy="203200"/>
          </a:xfrm>
          <a:prstGeom prst="line">
            <a:avLst/>
          </a:prstGeom>
          <a:ln w="9525" cap="flat" cmpd="sng" algn="ctr">
            <a:solidFill>
              <a:srgbClr val="E8E8E8">
                <a:alpha val="2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OTLSHAPE_TB_00000000000000000000000000000000_Separator4">
            <a:extLst>
              <a:ext uri="{FF2B5EF4-FFF2-40B4-BE49-F238E27FC236}">
                <a16:creationId xmlns:a16="http://schemas.microsoft.com/office/drawing/2014/main" id="{FC0FE82E-F706-E7AE-7A3B-963FBD5EC1A7}"/>
              </a:ext>
            </a:extLst>
          </p:cNvPr>
          <p:cNvCxnSpPr/>
          <p:nvPr>
            <p:custDataLst>
              <p:tags r:id="rId15"/>
            </p:custDataLst>
          </p:nvPr>
        </p:nvCxnSpPr>
        <p:spPr>
          <a:xfrm>
            <a:off x="7732292" y="4542440"/>
            <a:ext cx="0" cy="203200"/>
          </a:xfrm>
          <a:prstGeom prst="line">
            <a:avLst/>
          </a:prstGeom>
          <a:ln w="9525" cap="flat" cmpd="sng" algn="ctr">
            <a:solidFill>
              <a:srgbClr val="E8E8E8">
                <a:alpha val="2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OTLSHAPE_TB_00000000000000000000000000000000_Separator5">
            <a:extLst>
              <a:ext uri="{FF2B5EF4-FFF2-40B4-BE49-F238E27FC236}">
                <a16:creationId xmlns:a16="http://schemas.microsoft.com/office/drawing/2014/main" id="{480C8BB2-A888-0320-79DE-1DF802BDECB3}"/>
              </a:ext>
            </a:extLst>
          </p:cNvPr>
          <p:cNvCxnSpPr/>
          <p:nvPr>
            <p:custDataLst>
              <p:tags r:id="rId16"/>
            </p:custDataLst>
          </p:nvPr>
        </p:nvCxnSpPr>
        <p:spPr>
          <a:xfrm>
            <a:off x="9444749" y="4542440"/>
            <a:ext cx="0" cy="203200"/>
          </a:xfrm>
          <a:prstGeom prst="line">
            <a:avLst/>
          </a:prstGeom>
          <a:ln w="9525" cap="flat" cmpd="sng" algn="ctr">
            <a:solidFill>
              <a:srgbClr val="E8E8E8">
                <a:alpha val="2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OTLSHAPE_T_10cd5c725d3540bfa777498a9317a029_Shape">
            <a:extLst>
              <a:ext uri="{FF2B5EF4-FFF2-40B4-BE49-F238E27FC236}">
                <a16:creationId xmlns:a16="http://schemas.microsoft.com/office/drawing/2014/main" id="{FA5FCAB5-B3AD-4E25-ABCA-77B375557BFF}"/>
              </a:ext>
            </a:extLst>
          </p:cNvPr>
          <p:cNvSpPr/>
          <p:nvPr>
            <p:custDataLst>
              <p:tags r:id="rId17"/>
            </p:custDataLst>
          </p:nvPr>
        </p:nvSpPr>
        <p:spPr>
          <a:xfrm>
            <a:off x="1510365" y="2111575"/>
            <a:ext cx="7086600" cy="127000"/>
          </a:xfrm>
          <a:prstGeom prst="homePlate">
            <a:avLst/>
          </a:prstGeom>
          <a:solidFill>
            <a:srgbClr val="15608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OTLSHAPE_T_1327032edd9d435faeeca5abcb57486f_Shape">
            <a:extLst>
              <a:ext uri="{FF2B5EF4-FFF2-40B4-BE49-F238E27FC236}">
                <a16:creationId xmlns:a16="http://schemas.microsoft.com/office/drawing/2014/main" id="{5260BF77-5BDD-1A60-CD6F-651018691715}"/>
              </a:ext>
            </a:extLst>
          </p:cNvPr>
          <p:cNvSpPr/>
          <p:nvPr>
            <p:custDataLst>
              <p:tags r:id="rId18"/>
            </p:custDataLst>
          </p:nvPr>
        </p:nvSpPr>
        <p:spPr>
          <a:xfrm>
            <a:off x="1795774" y="2320194"/>
            <a:ext cx="1371600" cy="127000"/>
          </a:xfrm>
          <a:prstGeom prst="homePlate">
            <a:avLst/>
          </a:prstGeom>
          <a:solidFill>
            <a:srgbClr val="15608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OTLSHAPE_T_ffd03f35296447a083775634317f1f2b_Shape">
            <a:extLst>
              <a:ext uri="{FF2B5EF4-FFF2-40B4-BE49-F238E27FC236}">
                <a16:creationId xmlns:a16="http://schemas.microsoft.com/office/drawing/2014/main" id="{7EDDA917-2B9A-4720-CF94-CAC128CA17BB}"/>
              </a:ext>
            </a:extLst>
          </p:cNvPr>
          <p:cNvSpPr/>
          <p:nvPr>
            <p:custDataLst>
              <p:tags r:id="rId19"/>
            </p:custDataLst>
          </p:nvPr>
        </p:nvSpPr>
        <p:spPr>
          <a:xfrm>
            <a:off x="2880331" y="2528813"/>
            <a:ext cx="685800" cy="127000"/>
          </a:xfrm>
          <a:prstGeom prst="homePlate">
            <a:avLst/>
          </a:prstGeom>
          <a:solidFill>
            <a:srgbClr val="15608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OTLSHAPE_T_7d3ca5aadcfc485d8a4b267588ed85ab_Shape">
            <a:extLst>
              <a:ext uri="{FF2B5EF4-FFF2-40B4-BE49-F238E27FC236}">
                <a16:creationId xmlns:a16="http://schemas.microsoft.com/office/drawing/2014/main" id="{F64D97D9-60EF-915C-0A2C-DEFB952FF4A1}"/>
              </a:ext>
            </a:extLst>
          </p:cNvPr>
          <p:cNvSpPr/>
          <p:nvPr>
            <p:custDataLst>
              <p:tags r:id="rId20"/>
            </p:custDataLst>
          </p:nvPr>
        </p:nvSpPr>
        <p:spPr>
          <a:xfrm>
            <a:off x="3565313" y="2822691"/>
            <a:ext cx="3200400" cy="127000"/>
          </a:xfrm>
          <a:prstGeom prst="homePlate">
            <a:avLst/>
          </a:prstGeom>
          <a:solidFill>
            <a:srgbClr val="15608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OTLSHAPE_T_42b3971418a54e83b90dac75293204b3_Shape">
            <a:extLst>
              <a:ext uri="{FF2B5EF4-FFF2-40B4-BE49-F238E27FC236}">
                <a16:creationId xmlns:a16="http://schemas.microsoft.com/office/drawing/2014/main" id="{242AFBAC-31AB-65A4-6CA0-7907A9BC4A2D}"/>
              </a:ext>
            </a:extLst>
          </p:cNvPr>
          <p:cNvSpPr/>
          <p:nvPr>
            <p:custDataLst>
              <p:tags r:id="rId21"/>
            </p:custDataLst>
          </p:nvPr>
        </p:nvSpPr>
        <p:spPr>
          <a:xfrm>
            <a:off x="5277770" y="3201828"/>
            <a:ext cx="1206500" cy="127000"/>
          </a:xfrm>
          <a:prstGeom prst="homePlate">
            <a:avLst/>
          </a:prstGeom>
          <a:solidFill>
            <a:srgbClr val="15608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OTLSHAPE_T_e499c4de2ed34aa8b51c7c41367dfc09_Shape">
            <a:extLst>
              <a:ext uri="{FF2B5EF4-FFF2-40B4-BE49-F238E27FC236}">
                <a16:creationId xmlns:a16="http://schemas.microsoft.com/office/drawing/2014/main" id="{2FD44C7B-0A68-01E4-4042-F593A6E45A2D}"/>
              </a:ext>
            </a:extLst>
          </p:cNvPr>
          <p:cNvSpPr/>
          <p:nvPr>
            <p:custDataLst>
              <p:tags r:id="rId22"/>
            </p:custDataLst>
          </p:nvPr>
        </p:nvSpPr>
        <p:spPr>
          <a:xfrm>
            <a:off x="6476491" y="3495706"/>
            <a:ext cx="1092200" cy="127000"/>
          </a:xfrm>
          <a:prstGeom prst="homePlate">
            <a:avLst/>
          </a:prstGeom>
          <a:solidFill>
            <a:srgbClr val="15608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OTLSHAPE_T_45d2c809fec9404193cd14c01f3bd884_Shape">
            <a:extLst>
              <a:ext uri="{FF2B5EF4-FFF2-40B4-BE49-F238E27FC236}">
                <a16:creationId xmlns:a16="http://schemas.microsoft.com/office/drawing/2014/main" id="{8DD8E762-DF9D-565B-F218-A24B6E718599}"/>
              </a:ext>
            </a:extLst>
          </p:cNvPr>
          <p:cNvSpPr/>
          <p:nvPr>
            <p:custDataLst>
              <p:tags r:id="rId23"/>
            </p:custDataLst>
          </p:nvPr>
        </p:nvSpPr>
        <p:spPr>
          <a:xfrm>
            <a:off x="7275637" y="3704325"/>
            <a:ext cx="685800" cy="127000"/>
          </a:xfrm>
          <a:prstGeom prst="homePlate">
            <a:avLst/>
          </a:prstGeom>
          <a:solidFill>
            <a:srgbClr val="15608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OTLSHAPE_T_7839942011d24f40bcdc8d6318041152_Shape">
            <a:extLst>
              <a:ext uri="{FF2B5EF4-FFF2-40B4-BE49-F238E27FC236}">
                <a16:creationId xmlns:a16="http://schemas.microsoft.com/office/drawing/2014/main" id="{334359FE-E145-7EC4-80DD-9154B7E99590}"/>
              </a:ext>
            </a:extLst>
          </p:cNvPr>
          <p:cNvSpPr/>
          <p:nvPr>
            <p:custDataLst>
              <p:tags r:id="rId24"/>
            </p:custDataLst>
          </p:nvPr>
        </p:nvSpPr>
        <p:spPr>
          <a:xfrm>
            <a:off x="7960620" y="3912943"/>
            <a:ext cx="406400" cy="127000"/>
          </a:xfrm>
          <a:prstGeom prst="homePlate">
            <a:avLst/>
          </a:prstGeom>
          <a:solidFill>
            <a:srgbClr val="15608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OTLSHAPE_T_d139b60e784945198835cdf11a2e52a1_Shape">
            <a:extLst>
              <a:ext uri="{FF2B5EF4-FFF2-40B4-BE49-F238E27FC236}">
                <a16:creationId xmlns:a16="http://schemas.microsoft.com/office/drawing/2014/main" id="{D7785058-A0C9-C111-584C-79D9D574B15B}"/>
              </a:ext>
            </a:extLst>
          </p:cNvPr>
          <p:cNvSpPr/>
          <p:nvPr>
            <p:custDataLst>
              <p:tags r:id="rId25"/>
            </p:custDataLst>
          </p:nvPr>
        </p:nvSpPr>
        <p:spPr>
          <a:xfrm>
            <a:off x="8246029" y="4121562"/>
            <a:ext cx="685800" cy="127000"/>
          </a:xfrm>
          <a:prstGeom prst="homePlate">
            <a:avLst/>
          </a:prstGeom>
          <a:solidFill>
            <a:srgbClr val="15608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OTLSHAPE_T_f73d8d7a3a9c40a1b054be0070b5570d_Shape">
            <a:extLst>
              <a:ext uri="{FF2B5EF4-FFF2-40B4-BE49-F238E27FC236}">
                <a16:creationId xmlns:a16="http://schemas.microsoft.com/office/drawing/2014/main" id="{70D29840-AE81-B98D-CFF2-55A59427D853}"/>
              </a:ext>
            </a:extLst>
          </p:cNvPr>
          <p:cNvSpPr/>
          <p:nvPr>
            <p:custDataLst>
              <p:tags r:id="rId26"/>
            </p:custDataLst>
          </p:nvPr>
        </p:nvSpPr>
        <p:spPr>
          <a:xfrm>
            <a:off x="5962753" y="4330181"/>
            <a:ext cx="4000500" cy="127000"/>
          </a:xfrm>
          <a:prstGeom prst="homePlate">
            <a:avLst/>
          </a:prstGeom>
          <a:solidFill>
            <a:srgbClr val="15608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OTLSHAPE_T_10cd5c725d3540bfa777498a9317a029_Title">
            <a:extLst>
              <a:ext uri="{FF2B5EF4-FFF2-40B4-BE49-F238E27FC236}">
                <a16:creationId xmlns:a16="http://schemas.microsoft.com/office/drawing/2014/main" id="{46F021DE-EF06-8840-8039-0F174DB033CE}"/>
              </a:ext>
            </a:extLst>
          </p:cNvPr>
          <p:cNvSpPr txBox="1"/>
          <p:nvPr>
            <p:custDataLst>
              <p:tags r:id="rId27"/>
            </p:custDataLst>
          </p:nvPr>
        </p:nvSpPr>
        <p:spPr>
          <a:xfrm>
            <a:off x="494873" y="2089816"/>
            <a:ext cx="965200" cy="170519"/>
          </a:xfrm>
          <a:prstGeom prst="rect">
            <a:avLst/>
          </a:prstGeom>
          <a:noFill/>
        </p:spPr>
        <p:txBody>
          <a:bodyPr vert="horz" wrap="square" lIns="0" tIns="0" rIns="0" bIns="0" rtlCol="0" anchor="ctr" anchorCtr="0">
            <a:spAutoFit/>
          </a:bodyPr>
          <a:lstStyle/>
          <a:p>
            <a:pPr algn="r"/>
            <a:r>
              <a:rPr lang="en-US" altLang="zh-CN" sz="1100" spc="-8">
                <a:solidFill>
                  <a:srgbClr val="000000"/>
                </a:solidFill>
                <a:latin typeface="Calibri" panose="020F0502020204030204" pitchFamily="34" charset="0"/>
              </a:rPr>
              <a:t>Literature review</a:t>
            </a:r>
            <a:endParaRPr lang="zh-CN" altLang="en-US" sz="1100" spc="-8">
              <a:solidFill>
                <a:srgbClr val="000000"/>
              </a:solidFill>
              <a:latin typeface="Calibri" panose="020F0502020204030204" pitchFamily="34" charset="0"/>
            </a:endParaRPr>
          </a:p>
        </p:txBody>
      </p:sp>
      <p:sp>
        <p:nvSpPr>
          <p:cNvPr id="30" name="OTLSHAPE_T_10cd5c725d3540bfa777498a9317a029_JoinedDate">
            <a:extLst>
              <a:ext uri="{FF2B5EF4-FFF2-40B4-BE49-F238E27FC236}">
                <a16:creationId xmlns:a16="http://schemas.microsoft.com/office/drawing/2014/main" id="{3A540C0E-BD76-980F-5555-0F610B50BC92}"/>
              </a:ext>
            </a:extLst>
          </p:cNvPr>
          <p:cNvSpPr txBox="1"/>
          <p:nvPr>
            <p:custDataLst>
              <p:tags r:id="rId28"/>
            </p:custDataLst>
          </p:nvPr>
        </p:nvSpPr>
        <p:spPr>
          <a:xfrm>
            <a:off x="8639281" y="2097563"/>
            <a:ext cx="825500" cy="155025"/>
          </a:xfrm>
          <a:prstGeom prst="rect">
            <a:avLst/>
          </a:prstGeom>
          <a:noFill/>
        </p:spPr>
        <p:txBody>
          <a:bodyPr vert="horz" wrap="square" lIns="0" tIns="0" rIns="0" bIns="0" rtlCol="0" anchor="ctr" anchorCtr="0">
            <a:spAutoFit/>
          </a:bodyPr>
          <a:lstStyle/>
          <a:p>
            <a:r>
              <a:rPr lang="en-US" altLang="zh-CN" sz="1000" spc="-4">
                <a:solidFill>
                  <a:srgbClr val="0E2841"/>
                </a:solidFill>
                <a:latin typeface="Calibri" panose="020F0502020204030204" pitchFamily="34" charset="0"/>
              </a:rPr>
              <a:t>May 15 - Sep 15</a:t>
            </a:r>
            <a:endParaRPr lang="zh-CN" altLang="en-US" sz="1000" spc="-4">
              <a:solidFill>
                <a:srgbClr val="0E2841"/>
              </a:solidFill>
              <a:latin typeface="Calibri" panose="020F0502020204030204" pitchFamily="34" charset="0"/>
            </a:endParaRPr>
          </a:p>
        </p:txBody>
      </p:sp>
      <p:sp>
        <p:nvSpPr>
          <p:cNvPr id="31" name="OTLSHAPE_T_1327032edd9d435faeeca5abcb57486f_Title">
            <a:extLst>
              <a:ext uri="{FF2B5EF4-FFF2-40B4-BE49-F238E27FC236}">
                <a16:creationId xmlns:a16="http://schemas.microsoft.com/office/drawing/2014/main" id="{3EBFBF58-8B24-1124-0668-E045E64A330E}"/>
              </a:ext>
            </a:extLst>
          </p:cNvPr>
          <p:cNvSpPr txBox="1"/>
          <p:nvPr>
            <p:custDataLst>
              <p:tags r:id="rId29"/>
            </p:custDataLst>
          </p:nvPr>
        </p:nvSpPr>
        <p:spPr>
          <a:xfrm>
            <a:off x="577971" y="2298435"/>
            <a:ext cx="1168400" cy="170519"/>
          </a:xfrm>
          <a:prstGeom prst="rect">
            <a:avLst/>
          </a:prstGeom>
          <a:noFill/>
        </p:spPr>
        <p:txBody>
          <a:bodyPr vert="horz" wrap="square" lIns="0" tIns="0" rIns="0" bIns="0" rtlCol="0" anchor="ctr" anchorCtr="0">
            <a:spAutoFit/>
          </a:bodyPr>
          <a:lstStyle/>
          <a:p>
            <a:pPr algn="r"/>
            <a:r>
              <a:rPr lang="en-US" altLang="zh-CN" sz="1100" spc="-8">
                <a:solidFill>
                  <a:srgbClr val="000000"/>
                </a:solidFill>
                <a:latin typeface="Calibri" panose="020F0502020204030204" pitchFamily="34" charset="0"/>
              </a:rPr>
              <a:t>Spiker+ investigation</a:t>
            </a:r>
            <a:endParaRPr lang="zh-CN" altLang="en-US" sz="1100" spc="-8">
              <a:solidFill>
                <a:srgbClr val="000000"/>
              </a:solidFill>
              <a:latin typeface="Calibri" panose="020F0502020204030204" pitchFamily="34" charset="0"/>
            </a:endParaRPr>
          </a:p>
        </p:txBody>
      </p:sp>
      <p:sp>
        <p:nvSpPr>
          <p:cNvPr id="32" name="OTLSHAPE_T_1327032edd9d435faeeca5abcb57486f_JoinedDate">
            <a:extLst>
              <a:ext uri="{FF2B5EF4-FFF2-40B4-BE49-F238E27FC236}">
                <a16:creationId xmlns:a16="http://schemas.microsoft.com/office/drawing/2014/main" id="{0896F684-D98E-2D24-8055-7E4A5B868058}"/>
              </a:ext>
            </a:extLst>
          </p:cNvPr>
          <p:cNvSpPr txBox="1"/>
          <p:nvPr>
            <p:custDataLst>
              <p:tags r:id="rId30"/>
            </p:custDataLst>
          </p:nvPr>
        </p:nvSpPr>
        <p:spPr>
          <a:xfrm>
            <a:off x="3216500" y="2306182"/>
            <a:ext cx="812800" cy="155025"/>
          </a:xfrm>
          <a:prstGeom prst="rect">
            <a:avLst/>
          </a:prstGeom>
          <a:noFill/>
        </p:spPr>
        <p:txBody>
          <a:bodyPr vert="horz" wrap="square" lIns="0" tIns="0" rIns="0" bIns="0" rtlCol="0" anchor="ctr" anchorCtr="0">
            <a:spAutoFit/>
          </a:bodyPr>
          <a:lstStyle/>
          <a:p>
            <a:r>
              <a:rPr lang="en-US" altLang="zh-CN" sz="1000" spc="-4">
                <a:solidFill>
                  <a:srgbClr val="0E2841"/>
                </a:solidFill>
                <a:latin typeface="Calibri" panose="020F0502020204030204" pitchFamily="34" charset="0"/>
              </a:rPr>
              <a:t>May 20 - Jun 12</a:t>
            </a:r>
            <a:endParaRPr lang="zh-CN" altLang="en-US" sz="1000" spc="-4">
              <a:solidFill>
                <a:srgbClr val="0E2841"/>
              </a:solidFill>
              <a:latin typeface="Calibri" panose="020F0502020204030204" pitchFamily="34" charset="0"/>
            </a:endParaRPr>
          </a:p>
        </p:txBody>
      </p:sp>
      <p:sp>
        <p:nvSpPr>
          <p:cNvPr id="33" name="OTLSHAPE_T_ffd03f35296447a083775634317f1f2b_Title">
            <a:extLst>
              <a:ext uri="{FF2B5EF4-FFF2-40B4-BE49-F238E27FC236}">
                <a16:creationId xmlns:a16="http://schemas.microsoft.com/office/drawing/2014/main" id="{E325F981-6458-F65C-C455-568CB22CFD25}"/>
              </a:ext>
            </a:extLst>
          </p:cNvPr>
          <p:cNvSpPr txBox="1"/>
          <p:nvPr>
            <p:custDataLst>
              <p:tags r:id="rId31"/>
            </p:custDataLst>
          </p:nvPr>
        </p:nvSpPr>
        <p:spPr>
          <a:xfrm>
            <a:off x="1422625" y="2507053"/>
            <a:ext cx="1409700" cy="170519"/>
          </a:xfrm>
          <a:prstGeom prst="rect">
            <a:avLst/>
          </a:prstGeom>
          <a:noFill/>
        </p:spPr>
        <p:txBody>
          <a:bodyPr vert="horz" wrap="square" lIns="0" tIns="0" rIns="0" bIns="0" rtlCol="0" anchor="ctr" anchorCtr="0">
            <a:spAutoFit/>
          </a:bodyPr>
          <a:lstStyle/>
          <a:p>
            <a:pPr algn="r"/>
            <a:r>
              <a:rPr lang="en-US" altLang="zh-CN" sz="1100" spc="-2">
                <a:solidFill>
                  <a:srgbClr val="000000"/>
                </a:solidFill>
                <a:latin typeface="Calibri" panose="020F0502020204030204" pitchFamily="34" charset="0"/>
              </a:rPr>
              <a:t>SDSP architecture design</a:t>
            </a:r>
            <a:endParaRPr lang="zh-CN" altLang="en-US" sz="1100" spc="-2">
              <a:solidFill>
                <a:srgbClr val="000000"/>
              </a:solidFill>
              <a:latin typeface="Calibri" panose="020F0502020204030204" pitchFamily="34" charset="0"/>
            </a:endParaRPr>
          </a:p>
        </p:txBody>
      </p:sp>
      <p:sp>
        <p:nvSpPr>
          <p:cNvPr id="34" name="OTLSHAPE_T_ffd03f35296447a083775634317f1f2b_JoinedDate">
            <a:extLst>
              <a:ext uri="{FF2B5EF4-FFF2-40B4-BE49-F238E27FC236}">
                <a16:creationId xmlns:a16="http://schemas.microsoft.com/office/drawing/2014/main" id="{29E1BF1E-F498-93D1-D222-0B8635E0DD6D}"/>
              </a:ext>
            </a:extLst>
          </p:cNvPr>
          <p:cNvSpPr txBox="1"/>
          <p:nvPr>
            <p:custDataLst>
              <p:tags r:id="rId32"/>
            </p:custDataLst>
          </p:nvPr>
        </p:nvSpPr>
        <p:spPr>
          <a:xfrm>
            <a:off x="3616074" y="2514800"/>
            <a:ext cx="698500" cy="155025"/>
          </a:xfrm>
          <a:prstGeom prst="rect">
            <a:avLst/>
          </a:prstGeom>
          <a:noFill/>
        </p:spPr>
        <p:txBody>
          <a:bodyPr vert="horz" wrap="square" lIns="0" tIns="0" rIns="0" bIns="0" rtlCol="0" anchor="ctr" anchorCtr="0">
            <a:spAutoFit/>
          </a:bodyPr>
          <a:lstStyle/>
          <a:p>
            <a:r>
              <a:rPr lang="en-US" altLang="zh-CN" sz="1000" spc="-4">
                <a:solidFill>
                  <a:srgbClr val="0E2841"/>
                </a:solidFill>
                <a:latin typeface="Calibri" panose="020F0502020204030204" pitchFamily="34" charset="0"/>
              </a:rPr>
              <a:t>Jun 8 - Jun 19</a:t>
            </a:r>
            <a:endParaRPr lang="zh-CN" altLang="en-US" sz="1000" spc="-4">
              <a:solidFill>
                <a:srgbClr val="0E2841"/>
              </a:solidFill>
              <a:latin typeface="Calibri" panose="020F0502020204030204" pitchFamily="34" charset="0"/>
            </a:endParaRPr>
          </a:p>
        </p:txBody>
      </p:sp>
      <p:sp>
        <p:nvSpPr>
          <p:cNvPr id="35" name="OTLSHAPE_T_7d3ca5aadcfc485d8a4b267588ed85ab_Title">
            <a:extLst>
              <a:ext uri="{FF2B5EF4-FFF2-40B4-BE49-F238E27FC236}">
                <a16:creationId xmlns:a16="http://schemas.microsoft.com/office/drawing/2014/main" id="{A5E54E03-735A-1722-3AA8-F65A0565DAE1}"/>
              </a:ext>
            </a:extLst>
          </p:cNvPr>
          <p:cNvSpPr txBox="1"/>
          <p:nvPr>
            <p:custDataLst>
              <p:tags r:id="rId33"/>
            </p:custDataLst>
          </p:nvPr>
        </p:nvSpPr>
        <p:spPr>
          <a:xfrm>
            <a:off x="1027980" y="2715672"/>
            <a:ext cx="2489200" cy="341037"/>
          </a:xfrm>
          <a:prstGeom prst="rect">
            <a:avLst/>
          </a:prstGeom>
          <a:noFill/>
        </p:spPr>
        <p:txBody>
          <a:bodyPr vert="horz" wrap="square" lIns="0" tIns="0" rIns="0" bIns="0" rtlCol="0" anchor="ctr" anchorCtr="0">
            <a:spAutoFit/>
          </a:bodyPr>
          <a:lstStyle/>
          <a:p>
            <a:pPr algn="r"/>
            <a:r>
              <a:rPr lang="en-US" altLang="zh-CN" sz="1100">
                <a:solidFill>
                  <a:srgbClr val="000000"/>
                </a:solidFill>
                <a:latin typeface="Calibri" panose="020F0502020204030204" pitchFamily="34" charset="0"/>
              </a:rPr>
              <a:t>SDSP python model design, simulation, and optimization</a:t>
            </a:r>
            <a:endParaRPr lang="zh-CN" altLang="en-US" sz="1100">
              <a:solidFill>
                <a:srgbClr val="000000"/>
              </a:solidFill>
              <a:latin typeface="Calibri" panose="020F0502020204030204" pitchFamily="34" charset="0"/>
            </a:endParaRPr>
          </a:p>
        </p:txBody>
      </p:sp>
      <p:sp>
        <p:nvSpPr>
          <p:cNvPr id="36" name="OTLSHAPE_T_7d3ca5aadcfc485d8a4b267588ed85ab_JoinedDate">
            <a:extLst>
              <a:ext uri="{FF2B5EF4-FFF2-40B4-BE49-F238E27FC236}">
                <a16:creationId xmlns:a16="http://schemas.microsoft.com/office/drawing/2014/main" id="{4C0D840F-8F87-D835-2D5B-AC47B0885949}"/>
              </a:ext>
            </a:extLst>
          </p:cNvPr>
          <p:cNvSpPr txBox="1"/>
          <p:nvPr>
            <p:custDataLst>
              <p:tags r:id="rId34"/>
            </p:custDataLst>
          </p:nvPr>
        </p:nvSpPr>
        <p:spPr>
          <a:xfrm>
            <a:off x="6812660" y="2808678"/>
            <a:ext cx="787400" cy="155025"/>
          </a:xfrm>
          <a:prstGeom prst="rect">
            <a:avLst/>
          </a:prstGeom>
          <a:noFill/>
        </p:spPr>
        <p:txBody>
          <a:bodyPr vert="horz" wrap="square" lIns="0" tIns="0" rIns="0" bIns="0" rtlCol="0" anchor="ctr" anchorCtr="0">
            <a:spAutoFit/>
          </a:bodyPr>
          <a:lstStyle/>
          <a:p>
            <a:r>
              <a:rPr lang="en-US" altLang="zh-CN" sz="1000" spc="-4">
                <a:solidFill>
                  <a:srgbClr val="0E2841"/>
                </a:solidFill>
                <a:latin typeface="Calibri" panose="020F0502020204030204" pitchFamily="34" charset="0"/>
              </a:rPr>
              <a:t>Jun 20 - Aug 14</a:t>
            </a:r>
            <a:endParaRPr lang="zh-CN" altLang="en-US" sz="1000" spc="-4">
              <a:solidFill>
                <a:srgbClr val="0E2841"/>
              </a:solidFill>
              <a:latin typeface="Calibri" panose="020F0502020204030204" pitchFamily="34" charset="0"/>
            </a:endParaRPr>
          </a:p>
        </p:txBody>
      </p:sp>
      <p:sp>
        <p:nvSpPr>
          <p:cNvPr id="37" name="OTLSHAPE_T_42b3971418a54e83b90dac75293204b3_Title">
            <a:extLst>
              <a:ext uri="{FF2B5EF4-FFF2-40B4-BE49-F238E27FC236}">
                <a16:creationId xmlns:a16="http://schemas.microsoft.com/office/drawing/2014/main" id="{D1E7B8B3-D747-0A4D-02F8-F52D21DDE0A7}"/>
              </a:ext>
            </a:extLst>
          </p:cNvPr>
          <p:cNvSpPr txBox="1"/>
          <p:nvPr>
            <p:custDataLst>
              <p:tags r:id="rId35"/>
            </p:custDataLst>
          </p:nvPr>
        </p:nvSpPr>
        <p:spPr>
          <a:xfrm>
            <a:off x="2686971" y="3094809"/>
            <a:ext cx="2540000" cy="341037"/>
          </a:xfrm>
          <a:prstGeom prst="rect">
            <a:avLst/>
          </a:prstGeom>
          <a:noFill/>
        </p:spPr>
        <p:txBody>
          <a:bodyPr vert="horz" wrap="square" lIns="0" tIns="0" rIns="0" bIns="0" rtlCol="0" anchor="ctr" anchorCtr="0">
            <a:spAutoFit/>
          </a:bodyPr>
          <a:lstStyle/>
          <a:p>
            <a:pPr algn="r"/>
            <a:r>
              <a:rPr lang="en-US" altLang="zh-CN" sz="1100">
                <a:solidFill>
                  <a:srgbClr val="000000"/>
                </a:solidFill>
                <a:latin typeface="Calibri" panose="020F0502020204030204" pitchFamily="34" charset="0"/>
              </a:rPr>
              <a:t>SDSP model RTL implementation, simulation and validation</a:t>
            </a:r>
            <a:endParaRPr lang="zh-CN" altLang="en-US" sz="1100">
              <a:solidFill>
                <a:srgbClr val="000000"/>
              </a:solidFill>
              <a:latin typeface="Calibri" panose="020F0502020204030204" pitchFamily="34" charset="0"/>
            </a:endParaRPr>
          </a:p>
        </p:txBody>
      </p:sp>
      <p:sp>
        <p:nvSpPr>
          <p:cNvPr id="38" name="OTLSHAPE_T_42b3971418a54e83b90dac75293204b3_JoinedDate">
            <a:extLst>
              <a:ext uri="{FF2B5EF4-FFF2-40B4-BE49-F238E27FC236}">
                <a16:creationId xmlns:a16="http://schemas.microsoft.com/office/drawing/2014/main" id="{DEDECE1D-ACE7-19FB-2F40-387BCB48FEDB}"/>
              </a:ext>
            </a:extLst>
          </p:cNvPr>
          <p:cNvSpPr txBox="1"/>
          <p:nvPr>
            <p:custDataLst>
              <p:tags r:id="rId36"/>
            </p:custDataLst>
          </p:nvPr>
        </p:nvSpPr>
        <p:spPr>
          <a:xfrm>
            <a:off x="6527251" y="3187816"/>
            <a:ext cx="685800" cy="155025"/>
          </a:xfrm>
          <a:prstGeom prst="rect">
            <a:avLst/>
          </a:prstGeom>
          <a:noFill/>
        </p:spPr>
        <p:txBody>
          <a:bodyPr vert="horz" wrap="square" lIns="0" tIns="0" rIns="0" bIns="0" rtlCol="0" anchor="ctr" anchorCtr="0">
            <a:spAutoFit/>
          </a:bodyPr>
          <a:lstStyle/>
          <a:p>
            <a:r>
              <a:rPr lang="en-US" altLang="zh-CN" sz="1000" spc="-4">
                <a:solidFill>
                  <a:srgbClr val="0E2841"/>
                </a:solidFill>
                <a:latin typeface="Calibri" panose="020F0502020204030204" pitchFamily="34" charset="0"/>
              </a:rPr>
              <a:t>Jul 20 - Aug 9</a:t>
            </a:r>
            <a:endParaRPr lang="zh-CN" altLang="en-US" sz="1000" spc="-4">
              <a:solidFill>
                <a:srgbClr val="0E2841"/>
              </a:solidFill>
              <a:latin typeface="Calibri" panose="020F0502020204030204" pitchFamily="34" charset="0"/>
            </a:endParaRPr>
          </a:p>
        </p:txBody>
      </p:sp>
      <p:sp>
        <p:nvSpPr>
          <p:cNvPr id="39" name="OTLSHAPE_T_e499c4de2ed34aa8b51c7c41367dfc09_Title">
            <a:extLst>
              <a:ext uri="{FF2B5EF4-FFF2-40B4-BE49-F238E27FC236}">
                <a16:creationId xmlns:a16="http://schemas.microsoft.com/office/drawing/2014/main" id="{79CA66DF-83BD-3EA2-51FA-5CB2810EE5C0}"/>
              </a:ext>
            </a:extLst>
          </p:cNvPr>
          <p:cNvSpPr txBox="1"/>
          <p:nvPr>
            <p:custDataLst>
              <p:tags r:id="rId37"/>
            </p:custDataLst>
          </p:nvPr>
        </p:nvSpPr>
        <p:spPr>
          <a:xfrm>
            <a:off x="4320158" y="3473947"/>
            <a:ext cx="2108200" cy="170519"/>
          </a:xfrm>
          <a:prstGeom prst="rect">
            <a:avLst/>
          </a:prstGeom>
          <a:noFill/>
        </p:spPr>
        <p:txBody>
          <a:bodyPr vert="horz" wrap="square" lIns="0" tIns="0" rIns="0" bIns="0" rtlCol="0" anchor="ctr" anchorCtr="0">
            <a:spAutoFit/>
          </a:bodyPr>
          <a:lstStyle/>
          <a:p>
            <a:pPr algn="r"/>
            <a:r>
              <a:rPr lang="en-US" altLang="zh-CN" sz="1100" spc="-4">
                <a:solidFill>
                  <a:srgbClr val="000000"/>
                </a:solidFill>
                <a:latin typeface="Calibri" panose="020F0502020204030204" pitchFamily="34" charset="0"/>
              </a:rPr>
              <a:t>SNN generation and SDSP integration</a:t>
            </a:r>
            <a:endParaRPr lang="zh-CN" altLang="en-US" sz="1100" spc="-4">
              <a:solidFill>
                <a:srgbClr val="000000"/>
              </a:solidFill>
              <a:latin typeface="Calibri" panose="020F0502020204030204" pitchFamily="34" charset="0"/>
            </a:endParaRPr>
          </a:p>
        </p:txBody>
      </p:sp>
      <p:sp>
        <p:nvSpPr>
          <p:cNvPr id="40" name="OTLSHAPE_T_e499c4de2ed34aa8b51c7c41367dfc09_JoinedDate">
            <a:extLst>
              <a:ext uri="{FF2B5EF4-FFF2-40B4-BE49-F238E27FC236}">
                <a16:creationId xmlns:a16="http://schemas.microsoft.com/office/drawing/2014/main" id="{D9AE6A02-05BF-44ED-6F01-F506F39B9FBE}"/>
              </a:ext>
            </a:extLst>
          </p:cNvPr>
          <p:cNvSpPr txBox="1"/>
          <p:nvPr>
            <p:custDataLst>
              <p:tags r:id="rId38"/>
            </p:custDataLst>
          </p:nvPr>
        </p:nvSpPr>
        <p:spPr>
          <a:xfrm>
            <a:off x="7611807" y="3481694"/>
            <a:ext cx="812800" cy="155025"/>
          </a:xfrm>
          <a:prstGeom prst="rect">
            <a:avLst/>
          </a:prstGeom>
          <a:noFill/>
        </p:spPr>
        <p:txBody>
          <a:bodyPr vert="horz" wrap="square" lIns="0" tIns="0" rIns="0" bIns="0" rtlCol="0" anchor="ctr" anchorCtr="0">
            <a:spAutoFit/>
          </a:bodyPr>
          <a:lstStyle/>
          <a:p>
            <a:r>
              <a:rPr lang="en-US" altLang="zh-CN" sz="1000" spc="-4">
                <a:solidFill>
                  <a:srgbClr val="0E2841"/>
                </a:solidFill>
                <a:latin typeface="Calibri" panose="020F0502020204030204" pitchFamily="34" charset="0"/>
              </a:rPr>
              <a:t>Aug 10 - Aug 28</a:t>
            </a:r>
            <a:endParaRPr lang="zh-CN" altLang="en-US" sz="1000" spc="-4">
              <a:solidFill>
                <a:srgbClr val="0E2841"/>
              </a:solidFill>
              <a:latin typeface="Calibri" panose="020F0502020204030204" pitchFamily="34" charset="0"/>
            </a:endParaRPr>
          </a:p>
        </p:txBody>
      </p:sp>
      <p:sp>
        <p:nvSpPr>
          <p:cNvPr id="41" name="OTLSHAPE_T_45d2c809fec9404193cd14c01f3bd884_Title">
            <a:extLst>
              <a:ext uri="{FF2B5EF4-FFF2-40B4-BE49-F238E27FC236}">
                <a16:creationId xmlns:a16="http://schemas.microsoft.com/office/drawing/2014/main" id="{0FCF659C-792C-FDCB-5D48-F2A24606043C}"/>
              </a:ext>
            </a:extLst>
          </p:cNvPr>
          <p:cNvSpPr txBox="1"/>
          <p:nvPr>
            <p:custDataLst>
              <p:tags r:id="rId39"/>
            </p:custDataLst>
          </p:nvPr>
        </p:nvSpPr>
        <p:spPr>
          <a:xfrm>
            <a:off x="5249564" y="3682565"/>
            <a:ext cx="1981200" cy="170519"/>
          </a:xfrm>
          <a:prstGeom prst="rect">
            <a:avLst/>
          </a:prstGeom>
          <a:noFill/>
        </p:spPr>
        <p:txBody>
          <a:bodyPr vert="horz" wrap="square" lIns="0" tIns="0" rIns="0" bIns="0" rtlCol="0" anchor="ctr" anchorCtr="0">
            <a:spAutoFit/>
          </a:bodyPr>
          <a:lstStyle/>
          <a:p>
            <a:pPr algn="r"/>
            <a:r>
              <a:rPr lang="en-US" altLang="zh-CN" sz="1100" spc="-4">
                <a:solidFill>
                  <a:srgbClr val="000000"/>
                </a:solidFill>
                <a:latin typeface="Calibri" panose="020F0502020204030204" pitchFamily="34" charset="0"/>
              </a:rPr>
              <a:t>System optimization and FPGA test</a:t>
            </a:r>
            <a:endParaRPr lang="zh-CN" altLang="en-US" sz="1100" spc="-4">
              <a:solidFill>
                <a:srgbClr val="000000"/>
              </a:solidFill>
              <a:latin typeface="Calibri" panose="020F0502020204030204" pitchFamily="34" charset="0"/>
            </a:endParaRPr>
          </a:p>
        </p:txBody>
      </p:sp>
      <p:sp>
        <p:nvSpPr>
          <p:cNvPr id="42" name="OTLSHAPE_T_45d2c809fec9404193cd14c01f3bd884_JoinedDate">
            <a:extLst>
              <a:ext uri="{FF2B5EF4-FFF2-40B4-BE49-F238E27FC236}">
                <a16:creationId xmlns:a16="http://schemas.microsoft.com/office/drawing/2014/main" id="{49C30509-46EC-C4D0-0F6E-479353CB914D}"/>
              </a:ext>
            </a:extLst>
          </p:cNvPr>
          <p:cNvSpPr txBox="1"/>
          <p:nvPr>
            <p:custDataLst>
              <p:tags r:id="rId40"/>
            </p:custDataLst>
          </p:nvPr>
        </p:nvSpPr>
        <p:spPr>
          <a:xfrm>
            <a:off x="8011380" y="3690312"/>
            <a:ext cx="736600" cy="155025"/>
          </a:xfrm>
          <a:prstGeom prst="rect">
            <a:avLst/>
          </a:prstGeom>
          <a:noFill/>
        </p:spPr>
        <p:txBody>
          <a:bodyPr vert="horz" wrap="square" lIns="0" tIns="0" rIns="0" bIns="0" rtlCol="0" anchor="ctr" anchorCtr="0">
            <a:spAutoFit/>
          </a:bodyPr>
          <a:lstStyle/>
          <a:p>
            <a:r>
              <a:rPr lang="en-US" altLang="zh-CN" sz="1000" spc="-4">
                <a:solidFill>
                  <a:srgbClr val="0E2841"/>
                </a:solidFill>
                <a:latin typeface="Calibri" panose="020F0502020204030204" pitchFamily="34" charset="0"/>
              </a:rPr>
              <a:t>Aug 24 - Sep 4</a:t>
            </a:r>
            <a:endParaRPr lang="zh-CN" altLang="en-US" sz="1000" spc="-4">
              <a:solidFill>
                <a:srgbClr val="0E2841"/>
              </a:solidFill>
              <a:latin typeface="Calibri" panose="020F0502020204030204" pitchFamily="34" charset="0"/>
            </a:endParaRPr>
          </a:p>
        </p:txBody>
      </p:sp>
      <p:sp>
        <p:nvSpPr>
          <p:cNvPr id="43" name="OTLSHAPE_T_7839942011d24f40bcdc8d6318041152_Title">
            <a:extLst>
              <a:ext uri="{FF2B5EF4-FFF2-40B4-BE49-F238E27FC236}">
                <a16:creationId xmlns:a16="http://schemas.microsoft.com/office/drawing/2014/main" id="{FE21229C-1BAB-6D92-CC54-B4157A683217}"/>
              </a:ext>
            </a:extLst>
          </p:cNvPr>
          <p:cNvSpPr txBox="1"/>
          <p:nvPr>
            <p:custDataLst>
              <p:tags r:id="rId41"/>
            </p:custDataLst>
          </p:nvPr>
        </p:nvSpPr>
        <p:spPr>
          <a:xfrm>
            <a:off x="6287903" y="3891184"/>
            <a:ext cx="1625600" cy="170519"/>
          </a:xfrm>
          <a:prstGeom prst="rect">
            <a:avLst/>
          </a:prstGeom>
          <a:noFill/>
        </p:spPr>
        <p:txBody>
          <a:bodyPr vert="horz" wrap="square" lIns="0" tIns="0" rIns="0" bIns="0" rtlCol="0" anchor="ctr" anchorCtr="0">
            <a:spAutoFit/>
          </a:bodyPr>
          <a:lstStyle/>
          <a:p>
            <a:pPr algn="r"/>
            <a:r>
              <a:rPr lang="en-US" altLang="zh-CN" sz="1100" spc="-4">
                <a:solidFill>
                  <a:srgbClr val="000000"/>
                </a:solidFill>
                <a:latin typeface="Calibri" panose="020F0502020204030204" pitchFamily="34" charset="0"/>
              </a:rPr>
              <a:t>Apply partial reconfiguration</a:t>
            </a:r>
            <a:endParaRPr lang="zh-CN" altLang="en-US" sz="1100" spc="-4">
              <a:solidFill>
                <a:srgbClr val="000000"/>
              </a:solidFill>
              <a:latin typeface="Calibri" panose="020F0502020204030204" pitchFamily="34" charset="0"/>
            </a:endParaRPr>
          </a:p>
        </p:txBody>
      </p:sp>
      <p:sp>
        <p:nvSpPr>
          <p:cNvPr id="44" name="OTLSHAPE_T_7839942011d24f40bcdc8d6318041152_JoinedDate">
            <a:extLst>
              <a:ext uri="{FF2B5EF4-FFF2-40B4-BE49-F238E27FC236}">
                <a16:creationId xmlns:a16="http://schemas.microsoft.com/office/drawing/2014/main" id="{F1032428-2F75-80FE-5358-2CF8B1A818AE}"/>
              </a:ext>
            </a:extLst>
          </p:cNvPr>
          <p:cNvSpPr txBox="1"/>
          <p:nvPr>
            <p:custDataLst>
              <p:tags r:id="rId42"/>
            </p:custDataLst>
          </p:nvPr>
        </p:nvSpPr>
        <p:spPr>
          <a:xfrm>
            <a:off x="8410954" y="3898931"/>
            <a:ext cx="723900" cy="155025"/>
          </a:xfrm>
          <a:prstGeom prst="rect">
            <a:avLst/>
          </a:prstGeom>
          <a:noFill/>
        </p:spPr>
        <p:txBody>
          <a:bodyPr vert="horz" wrap="square" lIns="0" tIns="0" rIns="0" bIns="0" rtlCol="0" anchor="ctr" anchorCtr="0">
            <a:spAutoFit/>
          </a:bodyPr>
          <a:lstStyle/>
          <a:p>
            <a:r>
              <a:rPr lang="en-US" altLang="zh-CN" sz="1000" spc="-4">
                <a:solidFill>
                  <a:srgbClr val="0E2841"/>
                </a:solidFill>
                <a:latin typeface="Calibri" panose="020F0502020204030204" pitchFamily="34" charset="0"/>
              </a:rPr>
              <a:t>Sep 5 - Sep 11</a:t>
            </a:r>
            <a:endParaRPr lang="zh-CN" altLang="en-US" sz="1000" spc="-4">
              <a:solidFill>
                <a:srgbClr val="0E2841"/>
              </a:solidFill>
              <a:latin typeface="Calibri" panose="020F0502020204030204" pitchFamily="34" charset="0"/>
            </a:endParaRPr>
          </a:p>
        </p:txBody>
      </p:sp>
      <p:sp>
        <p:nvSpPr>
          <p:cNvPr id="45" name="OTLSHAPE_T_d139b60e784945198835cdf11a2e52a1_Title">
            <a:extLst>
              <a:ext uri="{FF2B5EF4-FFF2-40B4-BE49-F238E27FC236}">
                <a16:creationId xmlns:a16="http://schemas.microsoft.com/office/drawing/2014/main" id="{5539D1EA-5D55-25C5-329C-188B724A04B3}"/>
              </a:ext>
            </a:extLst>
          </p:cNvPr>
          <p:cNvSpPr txBox="1"/>
          <p:nvPr>
            <p:custDataLst>
              <p:tags r:id="rId43"/>
            </p:custDataLst>
          </p:nvPr>
        </p:nvSpPr>
        <p:spPr>
          <a:xfrm>
            <a:off x="7100490" y="4099803"/>
            <a:ext cx="1104900" cy="170519"/>
          </a:xfrm>
          <a:prstGeom prst="rect">
            <a:avLst/>
          </a:prstGeom>
          <a:noFill/>
        </p:spPr>
        <p:txBody>
          <a:bodyPr vert="horz" wrap="square" lIns="0" tIns="0" rIns="0" bIns="0" rtlCol="0" anchor="ctr" anchorCtr="0">
            <a:spAutoFit/>
          </a:bodyPr>
          <a:lstStyle/>
          <a:p>
            <a:pPr algn="r"/>
            <a:r>
              <a:rPr lang="en-US" altLang="zh-CN" sz="1100" spc="-10">
                <a:solidFill>
                  <a:srgbClr val="000000"/>
                </a:solidFill>
                <a:latin typeface="Calibri" panose="020F0502020204030204" pitchFamily="34" charset="0"/>
              </a:rPr>
              <a:t>Test and evaluation</a:t>
            </a:r>
            <a:endParaRPr lang="zh-CN" altLang="en-US" sz="1100" spc="-10">
              <a:solidFill>
                <a:srgbClr val="000000"/>
              </a:solidFill>
              <a:latin typeface="Calibri" panose="020F0502020204030204" pitchFamily="34" charset="0"/>
            </a:endParaRPr>
          </a:p>
        </p:txBody>
      </p:sp>
      <p:sp>
        <p:nvSpPr>
          <p:cNvPr id="46" name="OTLSHAPE_T_d139b60e784945198835cdf11a2e52a1_JoinedDate">
            <a:extLst>
              <a:ext uri="{FF2B5EF4-FFF2-40B4-BE49-F238E27FC236}">
                <a16:creationId xmlns:a16="http://schemas.microsoft.com/office/drawing/2014/main" id="{3287B738-9313-2A81-E8BF-0921BFD774B6}"/>
              </a:ext>
            </a:extLst>
          </p:cNvPr>
          <p:cNvSpPr txBox="1"/>
          <p:nvPr>
            <p:custDataLst>
              <p:tags r:id="rId44"/>
            </p:custDataLst>
          </p:nvPr>
        </p:nvSpPr>
        <p:spPr>
          <a:xfrm>
            <a:off x="8981773" y="4107550"/>
            <a:ext cx="800100" cy="155025"/>
          </a:xfrm>
          <a:prstGeom prst="rect">
            <a:avLst/>
          </a:prstGeom>
          <a:noFill/>
        </p:spPr>
        <p:txBody>
          <a:bodyPr vert="horz" wrap="square" lIns="0" tIns="0" rIns="0" bIns="0" rtlCol="0" anchor="ctr" anchorCtr="0">
            <a:spAutoFit/>
          </a:bodyPr>
          <a:lstStyle/>
          <a:p>
            <a:r>
              <a:rPr lang="en-US" altLang="zh-CN" sz="1000" spc="-4">
                <a:solidFill>
                  <a:srgbClr val="0E2841"/>
                </a:solidFill>
                <a:latin typeface="Calibri" panose="020F0502020204030204" pitchFamily="34" charset="0"/>
              </a:rPr>
              <a:t>Sep 10 - Sep 21</a:t>
            </a:r>
            <a:endParaRPr lang="zh-CN" altLang="en-US" sz="1000" spc="-4">
              <a:solidFill>
                <a:srgbClr val="0E2841"/>
              </a:solidFill>
              <a:latin typeface="Calibri" panose="020F0502020204030204" pitchFamily="34" charset="0"/>
            </a:endParaRPr>
          </a:p>
        </p:txBody>
      </p:sp>
      <p:sp>
        <p:nvSpPr>
          <p:cNvPr id="47" name="OTLSHAPE_T_f73d8d7a3a9c40a1b054be0070b5570d_Title">
            <a:extLst>
              <a:ext uri="{FF2B5EF4-FFF2-40B4-BE49-F238E27FC236}">
                <a16:creationId xmlns:a16="http://schemas.microsoft.com/office/drawing/2014/main" id="{0A568642-C7E7-8040-A93A-3CD428766D68}"/>
              </a:ext>
            </a:extLst>
          </p:cNvPr>
          <p:cNvSpPr txBox="1"/>
          <p:nvPr>
            <p:custDataLst>
              <p:tags r:id="rId45"/>
            </p:custDataLst>
          </p:nvPr>
        </p:nvSpPr>
        <p:spPr>
          <a:xfrm>
            <a:off x="4250031" y="4308421"/>
            <a:ext cx="1663700" cy="170519"/>
          </a:xfrm>
          <a:prstGeom prst="rect">
            <a:avLst/>
          </a:prstGeom>
          <a:noFill/>
        </p:spPr>
        <p:txBody>
          <a:bodyPr vert="horz" wrap="square" lIns="0" tIns="0" rIns="0" bIns="0" rtlCol="0" anchor="ctr" anchorCtr="0">
            <a:spAutoFit/>
          </a:bodyPr>
          <a:lstStyle/>
          <a:p>
            <a:pPr algn="r"/>
            <a:r>
              <a:rPr lang="en-US" altLang="zh-CN" sz="1100" spc="-4">
                <a:solidFill>
                  <a:srgbClr val="000000"/>
                </a:solidFill>
                <a:latin typeface="Calibri" panose="020F0502020204030204" pitchFamily="34" charset="0"/>
              </a:rPr>
              <a:t>Report and final presentation</a:t>
            </a:r>
            <a:endParaRPr lang="zh-CN" altLang="en-US" sz="1100" spc="-4">
              <a:solidFill>
                <a:srgbClr val="000000"/>
              </a:solidFill>
              <a:latin typeface="Calibri" panose="020F0502020204030204" pitchFamily="34" charset="0"/>
            </a:endParaRPr>
          </a:p>
        </p:txBody>
      </p:sp>
      <p:sp>
        <p:nvSpPr>
          <p:cNvPr id="48" name="OTLSHAPE_T_f73d8d7a3a9c40a1b054be0070b5570d_JoinedDate">
            <a:extLst>
              <a:ext uri="{FF2B5EF4-FFF2-40B4-BE49-F238E27FC236}">
                <a16:creationId xmlns:a16="http://schemas.microsoft.com/office/drawing/2014/main" id="{736E874E-1F6A-21CB-D9A6-9A270BA15FFB}"/>
              </a:ext>
            </a:extLst>
          </p:cNvPr>
          <p:cNvSpPr txBox="1"/>
          <p:nvPr>
            <p:custDataLst>
              <p:tags r:id="rId46"/>
            </p:custDataLst>
          </p:nvPr>
        </p:nvSpPr>
        <p:spPr>
          <a:xfrm>
            <a:off x="10009247" y="4316168"/>
            <a:ext cx="673100" cy="155025"/>
          </a:xfrm>
          <a:prstGeom prst="rect">
            <a:avLst/>
          </a:prstGeom>
          <a:noFill/>
        </p:spPr>
        <p:txBody>
          <a:bodyPr vert="horz" wrap="square" lIns="0" tIns="0" rIns="0" bIns="0" rtlCol="0" anchor="ctr" anchorCtr="0">
            <a:spAutoFit/>
          </a:bodyPr>
          <a:lstStyle/>
          <a:p>
            <a:r>
              <a:rPr lang="en-US" altLang="zh-CN" sz="1000" spc="-4">
                <a:solidFill>
                  <a:srgbClr val="0E2841"/>
                </a:solidFill>
                <a:latin typeface="Calibri" panose="020F0502020204030204" pitchFamily="34" charset="0"/>
              </a:rPr>
              <a:t>Aug 1 - Oct 9</a:t>
            </a:r>
            <a:endParaRPr lang="zh-CN" altLang="en-US" sz="1000" spc="-4">
              <a:solidFill>
                <a:srgbClr val="0E2841"/>
              </a:solidFill>
              <a:latin typeface="Calibri" panose="020F0502020204030204" pitchFamily="34" charset="0"/>
            </a:endParaRPr>
          </a:p>
        </p:txBody>
      </p:sp>
    </p:spTree>
    <p:extLst>
      <p:ext uri="{BB962C8B-B14F-4D97-AF65-F5344CB8AC3E}">
        <p14:creationId xmlns:p14="http://schemas.microsoft.com/office/powerpoint/2010/main" val="2112248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5986D1-0586-71FE-7350-5396A10C87D9}"/>
              </a:ext>
            </a:extLst>
          </p:cNvPr>
          <p:cNvSpPr>
            <a:spLocks noGrp="1"/>
          </p:cNvSpPr>
          <p:nvPr>
            <p:ph type="title"/>
          </p:nvPr>
        </p:nvSpPr>
        <p:spPr/>
        <p:txBody>
          <a:bodyPr/>
          <a:lstStyle/>
          <a:p>
            <a:r>
              <a:rPr lang="en-US" altLang="zh-CN" dirty="0"/>
              <a:t>References</a:t>
            </a:r>
            <a:endParaRPr lang="zh-CN" altLang="en-US" dirty="0"/>
          </a:p>
        </p:txBody>
      </p:sp>
      <p:sp>
        <p:nvSpPr>
          <p:cNvPr id="3" name="内容占位符 2">
            <a:extLst>
              <a:ext uri="{FF2B5EF4-FFF2-40B4-BE49-F238E27FC236}">
                <a16:creationId xmlns:a16="http://schemas.microsoft.com/office/drawing/2014/main" id="{3301194A-7087-5765-9261-FA57423EC330}"/>
              </a:ext>
            </a:extLst>
          </p:cNvPr>
          <p:cNvSpPr>
            <a:spLocks noGrp="1"/>
          </p:cNvSpPr>
          <p:nvPr>
            <p:ph sz="quarter" idx="10"/>
          </p:nvPr>
        </p:nvSpPr>
        <p:spPr>
          <a:xfrm>
            <a:off x="874711" y="844731"/>
            <a:ext cx="10580688" cy="5268686"/>
          </a:xfrm>
        </p:spPr>
        <p:txBody>
          <a:bodyPr/>
          <a:lstStyle/>
          <a:p>
            <a:r>
              <a:rPr lang="en-US" altLang="zh-CN" sz="1200" dirty="0"/>
              <a:t>[1] Figure source: supplied project deck; neuron comparison attributed there to Deng et al. (2020).</a:t>
            </a:r>
          </a:p>
          <a:p>
            <a:r>
              <a:rPr lang="en-US" altLang="zh-CN" sz="1200" dirty="0"/>
              <a:t>[2] Gambardella, Giulio, Di Carlo, et al. 2013. </a:t>
            </a:r>
            <a:r>
              <a:rPr lang="en-US" altLang="zh-CN" sz="1200" dirty="0" err="1"/>
              <a:t>ZipStream</a:t>
            </a:r>
            <a:r>
              <a:rPr lang="en-US" altLang="zh-CN" sz="1200" dirty="0"/>
              <a:t>: Improving dependability in dynamic partial reconfiguration. 2013 8th IEEE Design and Test Symposium, IDT 2013.</a:t>
            </a:r>
          </a:p>
          <a:p>
            <a:r>
              <a:rPr lang="en-US" altLang="zh-CN" sz="1200" dirty="0"/>
              <a:t>[3] C. Frenkel, M. Lefebvre, J. -D. Legat and D. Bol, "A 0.086-mm 2  12.7-pJ/SOP 64k-Synapse 256-Neuron Online-Learning Digital Spiking Neuromorphic Processor in 28-nm CMOS," in IEEE Transactions on Biomedical Circuits and Systems, vol. 13, no. 1, pp. 145-158, Feb. 2019, </a:t>
            </a:r>
            <a:r>
              <a:rPr lang="en-US" altLang="zh-CN" sz="1200" dirty="0" err="1"/>
              <a:t>doi</a:t>
            </a:r>
            <a:r>
              <a:rPr lang="en-US" altLang="zh-CN" sz="1200" dirty="0"/>
              <a:t>: 10.1109/TBCAS.2018.2880425.</a:t>
            </a:r>
          </a:p>
          <a:p>
            <a:r>
              <a:rPr lang="en-US" altLang="zh-CN" sz="1200" dirty="0"/>
              <a:t>[4] Frenkel, Charlotte, Jean-Didier Legat, and David Bol. "</a:t>
            </a:r>
            <a:r>
              <a:rPr lang="en-US" altLang="zh-CN" sz="1200" dirty="0" err="1"/>
              <a:t>MorphIC</a:t>
            </a:r>
            <a:r>
              <a:rPr lang="en-US" altLang="zh-CN" sz="1200" dirty="0"/>
              <a:t>: A 65-nm 738k-synapse/mm $^ 2$ quad-core binary-weight digital neuromorphic processor with stochastic spike-driven online learning." IEEE transactions on biomedical circuits and systems 13.5 (2019): 999-1010.</a:t>
            </a:r>
          </a:p>
          <a:p>
            <a:r>
              <a:rPr lang="en-US" altLang="zh-CN" sz="1200" dirty="0"/>
              <a:t>[5] Asgari H, Mazloom-Nezhad </a:t>
            </a:r>
            <a:r>
              <a:rPr lang="en-US" altLang="zh-CN" sz="1200" dirty="0" err="1"/>
              <a:t>Maybodi</a:t>
            </a:r>
            <a:r>
              <a:rPr lang="en-US" altLang="zh-CN" sz="1200" dirty="0"/>
              <a:t> B, </a:t>
            </a:r>
            <a:r>
              <a:rPr lang="en-US" altLang="zh-CN" sz="1200" dirty="0" err="1"/>
              <a:t>Sandamirskaya</a:t>
            </a:r>
            <a:r>
              <a:rPr lang="en-US" altLang="zh-CN" sz="1200" dirty="0"/>
              <a:t> Y. Digital multiplier-less implementation of high-precision SDSP and synaptic strength-based STDP. Int J Circ Theor Appl. 2020; 48: 724–738.</a:t>
            </a:r>
          </a:p>
          <a:p>
            <a:r>
              <a:rPr lang="en-US" altLang="zh-CN" sz="1200" dirty="0"/>
              <a:t>[6] S. Li, Z. Zhang, R. Mao, J. Xiao, L. Chang and J. Zhou, "A Fast and Energy-Efficient SNN Processor With Adaptive Clock/Event-Driven Computation Scheme and Online Learning," in IEEE Transactions on Circuits and Systems I: Regular Papers, vol. 68, no. 4, pp. 1543-1552, April 2021, </a:t>
            </a:r>
            <a:r>
              <a:rPr lang="en-US" altLang="zh-CN" sz="1200" dirty="0" err="1"/>
              <a:t>doi</a:t>
            </a:r>
            <a:r>
              <a:rPr lang="en-US" altLang="zh-CN" sz="1200" dirty="0"/>
              <a:t>: 10.1109/TCSI.2021.3052885.</a:t>
            </a:r>
          </a:p>
          <a:p>
            <a:r>
              <a:rPr lang="en-US" altLang="zh-CN" sz="1200" dirty="0"/>
              <a:t>[7] C. Shi et al., "TEDOP: A Tiny Event-Driven Neural Network Hardware Core Enabling On-Chip Spike-Driven Synaptic Plasticity," 2022 IEEE International Conference on Integrated Circuits, Technologies and Applications (ICTA), Xi'an, China, 2022, pp. 62-63, </a:t>
            </a:r>
            <a:r>
              <a:rPr lang="en-US" altLang="zh-CN" sz="1200" dirty="0" err="1"/>
              <a:t>doi</a:t>
            </a:r>
            <a:r>
              <a:rPr lang="en-US" altLang="zh-CN" sz="1200" dirty="0"/>
              <a:t>: 10.1109/ICTA56932.2022.9963064. </a:t>
            </a:r>
          </a:p>
          <a:p>
            <a:r>
              <a:rPr lang="en-US" altLang="zh-CN" sz="1200" dirty="0"/>
              <a:t>[8] C. Fang, F. Tian, C. Wang, J. Yang and M. Sawan, "A 217.8 MSOPs/W FPGA-based Online Learning SNN Processor Using Unified Event-Driven Structure and Topology Aware Data Reuse Strategies," 2022 IEEE Asian Solid-State Circuits Conference (A-SSCC), Taipei, Taiwan, 2022, pp. 1-3, </a:t>
            </a:r>
            <a:r>
              <a:rPr lang="en-US" altLang="zh-CN" sz="1200" dirty="0" err="1"/>
              <a:t>doi</a:t>
            </a:r>
            <a:r>
              <a:rPr lang="en-US" altLang="zh-CN" sz="1200" dirty="0"/>
              <a:t>: 10.1109/A-SSCC56115.2022.9980727.</a:t>
            </a:r>
          </a:p>
          <a:p>
            <a:r>
              <a:rPr lang="en-US" altLang="zh-CN" sz="1200" dirty="0"/>
              <a:t>[9] A. </a:t>
            </a:r>
            <a:r>
              <a:rPr lang="en-US" altLang="zh-CN" sz="1200" dirty="0" err="1"/>
              <a:t>Carpegna</a:t>
            </a:r>
            <a:r>
              <a:rPr lang="en-US" altLang="zh-CN" sz="1200" dirty="0"/>
              <a:t>, A. Savino and S. D. Carlo, "Spiker+: A Framework for the Generation of Efficient Spiking Neural Networks FPGA Accelerators for Inference at the Edge," in IEEE Transactions on Emerging Topics in Computing, vol. 13, no. 3, pp. 784-798, July-Sept. 2025, </a:t>
            </a:r>
            <a:r>
              <a:rPr lang="en-US" altLang="zh-CN" sz="1200" dirty="0" err="1"/>
              <a:t>doi</a:t>
            </a:r>
            <a:r>
              <a:rPr lang="en-US" altLang="zh-CN" sz="1200" dirty="0"/>
              <a:t>: 10.1109/TETC.2024.3511676.</a:t>
            </a:r>
          </a:p>
        </p:txBody>
      </p:sp>
    </p:spTree>
    <p:extLst>
      <p:ext uri="{BB962C8B-B14F-4D97-AF65-F5344CB8AC3E}">
        <p14:creationId xmlns:p14="http://schemas.microsoft.com/office/powerpoint/2010/main" val="4212489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30AA15-FD78-9E68-CD95-3CAC55E15AEF}"/>
              </a:ext>
            </a:extLst>
          </p:cNvPr>
          <p:cNvSpPr>
            <a:spLocks noGrp="1"/>
          </p:cNvSpPr>
          <p:nvPr>
            <p:ph type="title"/>
          </p:nvPr>
        </p:nvSpPr>
        <p:spPr/>
        <p:txBody>
          <a:bodyPr/>
          <a:lstStyle/>
          <a:p>
            <a:r>
              <a:rPr lang="en-US" altLang="zh-CN" dirty="0"/>
              <a:t>Thank you!</a:t>
            </a:r>
            <a:endParaRPr lang="zh-CN" altLang="en-US" dirty="0"/>
          </a:p>
        </p:txBody>
      </p:sp>
    </p:spTree>
    <p:extLst>
      <p:ext uri="{BB962C8B-B14F-4D97-AF65-F5344CB8AC3E}">
        <p14:creationId xmlns:p14="http://schemas.microsoft.com/office/powerpoint/2010/main" val="3203593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TLMARKERSHAPE" val="OTL"/>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 name="OTLTIMEBANDSCALETYPE" val="Months"/>
  <p:tag name="OTLTIMEBANDSCALEFORMAT" val="MMM"/>
  <p:tag name="OTLTIMEBANDSHAPETYPE" val="RoundedCornerRectangleTimeband"/>
  <p:tag name="OTLTIMEBANDSHAPEHEIGHT" val="20"/>
  <p:tag name="OTLTIMEBANDSHAPEPADDINGLEFT" val="0"/>
  <p:tag name="OTLTIMEBANDCULTUREINFO" val="en-US"/>
  <p:tag name="OTLTIMEBANDQUICKPOSITION" val="Top"/>
  <p:tag name="OTLTIMEBANDTHREEDEFFECTS" val="None"/>
  <p:tag name="OTLTIMEBANDAUTODATERANGE" val="True"/>
  <p:tag name="OTLTIMEBANDSTARTDATE" val="0001-01-01T00:00:00.0000000"/>
  <p:tag name="OTLTIMEBANDENDDATE" val="2026-10-09T23:59:00.0000000"/>
  <p:tag name="OTLTIMEBANDWORKINGDAYS" val="Standard"/>
  <p:tag name="OTLTIMEBANDUSETIME" val="False"/>
  <p:tag name="OTLTIMEBANDTIMECONFIGWORKDAYSTART" val="00:00:00"/>
  <p:tag name="OTLTIMEBANDTIMECONFIGWORKDAYEND" val="23:59:00"/>
  <p:tag name="OTLTIMEBANDSCALEMARKING" val="None"/>
  <p:tag name="OTLRIGHTENDCAPSMARGINRIGHT" val="20"/>
  <p:tag name="OTLLEFTENDCAPSMARGINLEFT" val="20"/>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True"/>
  <p:tag name="OTLTIMEBANDDEPSCHEDULINGMODE" val="Flexible"/>
  <p:tag name="OTLTIMEBANDDEPPREVIOUSSCHEDULINGMODE" val="Flexible"/>
  <p:tag name="OTLTIMEBANDDEPONBREAKINGSTRICTSCHEDULINGMODE" val="AskEverytime"/>
  <p:tag name="OTLTIMEBANDDEPONBREAKINGFLEXIBLESCHEDULINGMODE" val="AskEverytime"/>
  <p:tag name="OTLTIMEBANDSPACINGABOVE" val="3"/>
  <p:tag name="OTLTIMEBANDSPACINGBELOW" val="3"/>
  <p:tag name="OTLTIMEBANDSPACINGABOVEFORSWLANDTASKS" val="5"/>
  <p:tag name="OTLTIMEBANDSPACINGBELOWFORSWLANDTASKS" val="5"/>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 name="OTLELAPSEDSTYLE" val="Thin"/>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 name="OTLTODAYPOSITION" val="Auto"/>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05-15T00:00:00.0000000"/>
  <p:tag name="OTLENDDATE" val="2026-09-15T23:59:00.0000000"/>
  <p:tag name="OTLDURATIONFORMAT" val="day"/>
  <p:tag name="OTLSPACING" val="3"/>
  <p:tag name="OTLSHAPETHICKNESSTYPE" val="Thin"/>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05-20T00:00:00.0000000"/>
  <p:tag name="OTLENDDATE" val="2026-06-12T23:59:00.0000000"/>
  <p:tag name="OTLDURATIONFORMAT" val="day"/>
  <p:tag name="OTLSPACING" val="3"/>
  <p:tag name="OTLSHAPETHICKNESSTYPE" val="Thin"/>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06-08T00:00:00.0000000"/>
  <p:tag name="OTLENDDATE" val="2026-06-19T23:59:00.0000000"/>
  <p:tag name="OTLDURATIONFORMAT" val="day"/>
  <p:tag name="OTLSPACING" val="3"/>
  <p:tag name="OTLSHAPETHICKNESSTYPE" val="Thin"/>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06-20T00:00:00.0000000"/>
  <p:tag name="OTLENDDATE" val="2026-08-14T23:59:00.0000000"/>
  <p:tag name="OTLDURATIONFORMAT" val="day"/>
  <p:tag name="OTLSPACING" val="3"/>
  <p:tag name="OTLSHAPETHICKNESSTYPE" val="Thin"/>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07-20T00:00:00.0000000"/>
  <p:tag name="OTLENDDATE" val="2026-08-09T23:59:00.0000000"/>
  <p:tag name="OTLDURATIONFORMAT" val="day"/>
  <p:tag name="OTLSPACING" val="3"/>
  <p:tag name="OTLSHAPETHICKNESSTYPE" val="Thin"/>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08-10T00:00:00.0000000"/>
  <p:tag name="OTLENDDATE" val="2026-08-28T23:59:00.0000000"/>
  <p:tag name="OTLDURATIONFORMAT" val="day"/>
  <p:tag name="OTLSPACING" val="3"/>
  <p:tag name="OTLSHAPETHICKNESSTYPE" val="Thin"/>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08-24T00:00:00.0000000"/>
  <p:tag name="OTLENDDATE" val="2026-09-04T23:59:00.0000000"/>
  <p:tag name="OTLDURATIONFORMAT" val="day"/>
  <p:tag name="OTLSPACING" val="3"/>
  <p:tag name="OTLSHAPETHICKNESSTYPE" val="Thin"/>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09-05T00:00:00.0000000"/>
  <p:tag name="OTLENDDATE" val="2026-09-11T23:59:00.0000000"/>
  <p:tag name="OTLDURATIONFORMAT" val="day"/>
  <p:tag name="OTLSPACING" val="3"/>
  <p:tag name="OTLSHAPETHICKNESSTYPE" val="Thin"/>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09-10T00:00:00.0000000"/>
  <p:tag name="OTLENDDATE" val="2026-09-21T23:59:00.0000000"/>
  <p:tag name="OTLDURATIONFORMAT" val="day"/>
  <p:tag name="OTLSPACING" val="3"/>
  <p:tag name="OTLSHAPETHICKNESSTYPE" val="Thin"/>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08-01T00:00:00.0000000"/>
  <p:tag name="OTLENDDATE" val="2026-10-09T23:59:00.0000000"/>
  <p:tag name="OTLDURATIONFORMAT" val="day"/>
  <p:tag name="OTLSPACING" val="3"/>
  <p:tag name="OTLSHAPETHICKNESSTYPE" val="Thin"/>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TUD_2018_16zu9">
  <a:themeElements>
    <a:clrScheme name="TUD_2025">
      <a:dk1>
        <a:srgbClr val="001450"/>
      </a:dk1>
      <a:lt1>
        <a:srgbClr val="FFFFFF"/>
      </a:lt1>
      <a:dk2>
        <a:srgbClr val="001450"/>
      </a:dk2>
      <a:lt2>
        <a:srgbClr val="566371"/>
      </a:lt2>
      <a:accent1>
        <a:srgbClr val="00008C"/>
      </a:accent1>
      <a:accent2>
        <a:srgbClr val="2F57B2"/>
      </a:accent2>
      <a:accent3>
        <a:srgbClr val="97C6FF"/>
      </a:accent3>
      <a:accent4>
        <a:srgbClr val="001450"/>
      </a:accent4>
      <a:accent5>
        <a:srgbClr val="0A777F"/>
      </a:accent5>
      <a:accent6>
        <a:srgbClr val="8CE6D7"/>
      </a:accent6>
      <a:hlink>
        <a:srgbClr val="00008C"/>
      </a:hlink>
      <a:folHlink>
        <a:srgbClr val="2F57B2"/>
      </a:folHlink>
    </a:clrScheme>
    <a:fontScheme name="TUD_Open Sans">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äsentation1" id="{FA3DDC62-2CE6-774E-8340-8260BC267E57}" vid="{CBF861B5-B793-E74B-9EAA-FF010F67C032}"/>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2020_Praesentationsvorlage_TUD_16zu9</Template>
  <TotalTime>920</TotalTime>
  <Words>4999</Words>
  <Application>Microsoft Office PowerPoint</Application>
  <PresentationFormat>宽屏</PresentationFormat>
  <Paragraphs>440</Paragraphs>
  <Slides>16</Slides>
  <Notes>12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Calibri</vt:lpstr>
      <vt:lpstr>Symbol</vt:lpstr>
      <vt:lpstr>Noto Sans</vt:lpstr>
      <vt:lpstr>Open Sans</vt:lpstr>
      <vt:lpstr>Arial</vt:lpstr>
      <vt:lpstr>Cambria Math</vt:lpstr>
      <vt:lpstr>TUD_2018_16zu9</vt:lpstr>
      <vt:lpstr>FPGA-based Real-Time Learning Architecture with Partial Reconfiguration for Spiking Neural Networks</vt:lpstr>
      <vt:lpstr>Contents</vt:lpstr>
      <vt:lpstr>Introduction &amp; Motivation</vt:lpstr>
      <vt:lpstr>Introduction &amp; Motivation</vt:lpstr>
      <vt:lpstr>Related Work</vt:lpstr>
      <vt:lpstr>Spiker+ Framework</vt:lpstr>
      <vt:lpstr>Spiker+ Framework</vt:lpstr>
      <vt:lpstr>Spike-Driven Synaptic Plasticity</vt:lpstr>
      <vt:lpstr>SDSP Weight Update Uses a Compact Signed-Increment Datapath</vt:lpstr>
      <vt:lpstr>Digital SDSP Implementation</vt:lpstr>
      <vt:lpstr>Digital SDSP Implementation</vt:lpstr>
      <vt:lpstr>Preliminary Results</vt:lpstr>
      <vt:lpstr>What‘s Next?</vt:lpstr>
      <vt:lpstr>Timeline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Präsentationsvorlagen im CD der TU Dresden</dc:title>
  <dc:creator>Windows User</dc:creator>
  <cp:lastModifiedBy>Yike Jing</cp:lastModifiedBy>
  <cp:revision>75</cp:revision>
  <dcterms:created xsi:type="dcterms:W3CDTF">2021-01-04T09:39:18Z</dcterms:created>
  <dcterms:modified xsi:type="dcterms:W3CDTF">2026-09-21T16:36:38Z</dcterms:modified>
</cp:coreProperties>
</file>