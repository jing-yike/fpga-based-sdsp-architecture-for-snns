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92" r:id="rId7"/>
    <p:sldId id="262" r:id="rId8"/>
    <p:sldId id="298" r:id="rId9"/>
    <p:sldId id="297" r:id="rId10"/>
    <p:sldId id="299" r:id="rId11"/>
    <p:sldId id="265" r:id="rId12"/>
    <p:sldId id="266" r:id="rId13"/>
    <p:sldId id="267" r:id="rId14"/>
    <p:sldId id="268" r:id="rId15"/>
    <p:sldId id="269" r:id="rId16"/>
    <p:sldId id="270" r:id="rId17"/>
    <p:sldId id="305" r:id="rId18"/>
    <p:sldId id="273" r:id="rId19"/>
    <p:sldId id="288" r:id="rId20"/>
    <p:sldId id="276" r:id="rId21"/>
    <p:sldId id="277" r:id="rId22"/>
    <p:sldId id="278" r:id="rId23"/>
    <p:sldId id="281" r:id="rId24"/>
    <p:sldId id="282" r:id="rId25"/>
    <p:sldId id="283" r:id="rId26"/>
    <p:sldId id="284" r:id="rId27"/>
    <p:sldId id="285" r:id="rId28"/>
    <p:sldId id="304" r:id="rId29"/>
    <p:sldId id="287" r:id="rId30"/>
    <p:sldId id="300" r:id="rId31"/>
    <p:sldId id="301" r:id="rId32"/>
    <p:sldId id="302" r:id="rId33"/>
    <p:sldId id="275" r:id="rId34"/>
    <p:sldId id="280" r:id="rId35"/>
    <p:sldId id="303" r:id="rId36"/>
  </p:sldIdLst>
  <p:sldSz cx="12192000" cy="6858000"/>
  <p:notesSz cx="6858000" cy="9144000"/>
  <p:embeddedFontLst>
    <p:embeddedFont>
      <p:font typeface="Cambria Math" panose="02040503050406030204" pitchFamily="18" charset="0"/>
      <p:regular r:id="rId38"/>
    </p:embeddedFont>
    <p:embeddedFont>
      <p:font typeface="Noto Sans" panose="020B0502040504020204" pitchFamily="34" charset="0"/>
      <p:regular r:id="rId39"/>
      <p:bold r:id="rId40"/>
      <p:italic r:id="rId41"/>
      <p:boldItalic r:id="rId42"/>
    </p:embeddedFont>
    <p:embeddedFont>
      <p:font typeface="Open Sans" panose="020B0606030504020204" pitchFamily="34" charset="0"/>
      <p:regular r:id="rId43"/>
      <p:bold r:id="rId44"/>
      <p:italic r:id="rId45"/>
      <p:boldItalic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B69"/>
    <a:srgbClr val="5663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224" autoAdjust="0"/>
  </p:normalViewPr>
  <p:slideViewPr>
    <p:cSldViewPr snapToGrid="0" snapToObjects="1">
      <p:cViewPr varScale="1">
        <p:scale>
          <a:sx n="76" d="100"/>
          <a:sy n="76" d="100"/>
        </p:scale>
        <p:origin x="88" y="4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725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Strict vs Active-image Validation Accuracy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Strict accuracy (all images)</c:v>
          </c:tx>
          <c:spPr>
            <a:ln w="33338">
              <a:solidFill>
                <a:srgbClr val="2461AD"/>
              </a:solidFill>
            </a:ln>
          </c:spPr>
          <c:marker>
            <c:symbol val="circle"/>
            <c:size val="9"/>
            <c:spPr>
              <a:solidFill>
                <a:srgbClr val="2461AD"/>
              </a:solidFill>
            </c:spPr>
          </c:marker>
          <c:dLbls>
            <c:dLbl>
              <c:idx val="0"/>
              <c:numFmt formatCode="0.00%" sourceLinked="0"/>
              <c:spPr/>
              <c:txPr>
                <a:bodyPr anchorCtr="1"/>
                <a:lstStyle/>
                <a:p>
                  <a:pPr>
                    <a:defRPr sz="1425" b="1">
                      <a:solidFill>
                        <a:srgbClr val="2461AD"/>
                      </a:solidFill>
                      <a:latin typeface="Noto Sans"/>
                      <a:ea typeface="Noto Sans"/>
                      <a:cs typeface="Noto Sans"/>
                    </a:defRPr>
                  </a:pPr>
                  <a:endParaRPr lang="zh-C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C7F-42D2-812B-651436574244}"/>
                </c:ext>
              </c:extLst>
            </c:dLbl>
            <c:dLbl>
              <c:idx val="1"/>
              <c:numFmt formatCode="0.00%" sourceLinked="0"/>
              <c:spPr/>
              <c:txPr>
                <a:bodyPr anchorCtr="1"/>
                <a:lstStyle/>
                <a:p>
                  <a:pPr>
                    <a:defRPr sz="1425" b="1">
                      <a:solidFill>
                        <a:srgbClr val="2461AD"/>
                      </a:solidFill>
                      <a:latin typeface="Noto Sans"/>
                      <a:ea typeface="Noto Sans"/>
                      <a:cs typeface="Noto Sans"/>
                    </a:defRPr>
                  </a:pPr>
                  <a:endParaRPr lang="zh-CN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FC7F-42D2-812B-651436574244}"/>
                </c:ext>
              </c:extLst>
            </c:dLbl>
            <c:dLbl>
              <c:idx val="2"/>
              <c:numFmt formatCode="0.00%" sourceLinked="0"/>
              <c:spPr/>
              <c:txPr>
                <a:bodyPr anchorCtr="1"/>
                <a:lstStyle/>
                <a:p>
                  <a:pPr>
                    <a:defRPr sz="1425" b="1">
                      <a:solidFill>
                        <a:srgbClr val="2461AD"/>
                      </a:solidFill>
                      <a:latin typeface="Noto Sans"/>
                      <a:ea typeface="Noto Sans"/>
                      <a:cs typeface="Noto Sans"/>
                    </a:defRPr>
                  </a:pPr>
                  <a:endParaRPr lang="zh-CN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FC7F-42D2-812B-651436574244}"/>
                </c:ext>
              </c:extLst>
            </c:dLbl>
            <c:dLbl>
              <c:idx val="3"/>
              <c:numFmt formatCode="0.00%" sourceLinked="0"/>
              <c:spPr/>
              <c:txPr>
                <a:bodyPr anchorCtr="1"/>
                <a:lstStyle/>
                <a:p>
                  <a:pPr>
                    <a:defRPr sz="1425" b="1">
                      <a:solidFill>
                        <a:srgbClr val="2461AD"/>
                      </a:solidFill>
                      <a:latin typeface="Noto Sans"/>
                      <a:ea typeface="Noto Sans"/>
                      <a:cs typeface="Noto Sans"/>
                    </a:defRPr>
                  </a:pPr>
                  <a:endParaRPr lang="zh-CN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FC7F-42D2-812B-651436574244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001B69"/>
                    </a:solidFill>
                    <a:latin typeface="Noto Sans"/>
                    <a:ea typeface="Noto Sans"/>
                    <a:cs typeface="Noto Sans"/>
                  </a:defRPr>
                </a:pPr>
                <a:endParaRPr lang="zh-CN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0 (initial)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'Chart Data'!$B$2:$B$5</c:f>
              <c:numCache>
                <c:formatCode>0.00%</c:formatCode>
                <c:ptCount val="4"/>
                <c:pt idx="0">
                  <c:v>5.8999999999999997E-2</c:v>
                </c:pt>
                <c:pt idx="1">
                  <c:v>0.32</c:v>
                </c:pt>
                <c:pt idx="2">
                  <c:v>0.36299999999999999</c:v>
                </c:pt>
                <c:pt idx="3">
                  <c:v>0.39600000000000002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C7F-42D2-812B-651436574244}"/>
            </c:ext>
          </c:extLst>
        </c:ser>
        <c:ser>
          <c:idx val="1"/>
          <c:order val="1"/>
          <c:tx>
            <c:v>Active-image accuracy (non-silent)</c:v>
          </c:tx>
          <c:spPr>
            <a:ln w="33338">
              <a:solidFill>
                <a:srgbClr val="D56B12"/>
              </a:solidFill>
              <a:prstDash val="dash"/>
            </a:ln>
          </c:spPr>
          <c:marker>
            <c:symbol val="diamond"/>
            <c:size val="9"/>
            <c:spPr>
              <a:solidFill>
                <a:srgbClr val="D56B12"/>
              </a:solidFill>
              <a:ln>
                <a:solidFill>
                  <a:srgbClr val="D56B12"/>
                </a:solidFill>
                <a:prstDash val="solid"/>
              </a:ln>
            </c:spPr>
          </c:marker>
          <c:dLbls>
            <c:dLbl>
              <c:idx val="0"/>
              <c:numFmt formatCode="0.00%" sourceLinked="0"/>
              <c:spPr/>
              <c:txPr>
                <a:bodyPr anchorCtr="1"/>
                <a:lstStyle/>
                <a:p>
                  <a:pPr>
                    <a:defRPr sz="1425" b="1">
                      <a:solidFill>
                        <a:srgbClr val="D56B12"/>
                      </a:solidFill>
                      <a:latin typeface="Noto Sans"/>
                      <a:ea typeface="Noto Sans"/>
                      <a:cs typeface="Noto Sans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FC7F-42D2-812B-651436574244}"/>
                </c:ext>
              </c:extLst>
            </c:dLbl>
            <c:dLbl>
              <c:idx val="1"/>
              <c:numFmt formatCode="0.00%" sourceLinked="0"/>
              <c:spPr/>
              <c:txPr>
                <a:bodyPr anchorCtr="1"/>
                <a:lstStyle/>
                <a:p>
                  <a:pPr>
                    <a:defRPr sz="1425" b="1">
                      <a:solidFill>
                        <a:srgbClr val="D56B12"/>
                      </a:solidFill>
                      <a:latin typeface="Noto Sans"/>
                      <a:ea typeface="Noto Sans"/>
                      <a:cs typeface="Noto Sans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FC7F-42D2-812B-651436574244}"/>
                </c:ext>
              </c:extLst>
            </c:dLbl>
            <c:dLbl>
              <c:idx val="2"/>
              <c:numFmt formatCode="0.00%" sourceLinked="0"/>
              <c:spPr/>
              <c:txPr>
                <a:bodyPr anchorCtr="1"/>
                <a:lstStyle/>
                <a:p>
                  <a:pPr>
                    <a:defRPr sz="1425" b="1">
                      <a:solidFill>
                        <a:srgbClr val="D56B12"/>
                      </a:solidFill>
                      <a:latin typeface="Noto Sans"/>
                      <a:ea typeface="Noto Sans"/>
                      <a:cs typeface="Noto Sans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FC7F-42D2-812B-651436574244}"/>
                </c:ext>
              </c:extLst>
            </c:dLbl>
            <c:dLbl>
              <c:idx val="3"/>
              <c:numFmt formatCode="0.00%" sourceLinked="0"/>
              <c:spPr/>
              <c:txPr>
                <a:bodyPr anchorCtr="1"/>
                <a:lstStyle/>
                <a:p>
                  <a:pPr>
                    <a:defRPr sz="1425" b="1">
                      <a:solidFill>
                        <a:srgbClr val="D56B12"/>
                      </a:solidFill>
                      <a:latin typeface="Noto Sans"/>
                      <a:ea typeface="Noto Sans"/>
                      <a:cs typeface="Noto Sans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FC7F-42D2-812B-651436574244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001B69"/>
                    </a:solidFill>
                    <a:latin typeface="Noto Sans"/>
                    <a:ea typeface="Noto Sans"/>
                    <a:cs typeface="Noto San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0 (initial)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'Chart Data'!$D$2:$D$5</c:f>
              <c:numCache>
                <c:formatCode>0.00%</c:formatCode>
                <c:ptCount val="4"/>
                <c:pt idx="0">
                  <c:v>7.6100000000000001E-2</c:v>
                </c:pt>
                <c:pt idx="1">
                  <c:v>0.5161</c:v>
                </c:pt>
                <c:pt idx="2">
                  <c:v>0.50560000000000005</c:v>
                </c:pt>
                <c:pt idx="3">
                  <c:v>0.50449999999999995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FC7F-42D2-812B-6514365742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500">
                    <a:solidFill>
                      <a:srgbClr val="001B69"/>
                    </a:solidFill>
                    <a:latin typeface="Noto Sans"/>
                    <a:ea typeface="Noto Sans"/>
                    <a:cs typeface="Noto Sans"/>
                  </a:rPr>
                  <a:t>Training epoch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7620">
            <a:solidFill>
              <a:srgbClr val="8393AA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w="7620">
              <a:solidFill>
                <a:srgbClr val="DCE3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500">
                    <a:solidFill>
                      <a:srgbClr val="001B69"/>
                    </a:solidFill>
                    <a:latin typeface="Noto Sans"/>
                    <a:ea typeface="Noto Sans"/>
                    <a:cs typeface="Noto Sans"/>
                  </a:rPr>
                  <a:t>Accuracy (%)</a:t>
                </a:r>
              </a:p>
            </c:rich>
          </c:tx>
          <c:overlay val="0"/>
        </c:title>
        <c:numFmt formatCode="0%" sourceLinked="0"/>
        <c:majorTickMark val="none"/>
        <c:minorTickMark val="none"/>
        <c:tickLblPos val="nextTo"/>
        <c:spPr>
          <a:ln w="7620">
            <a:solidFill>
              <a:srgbClr val="8393AA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endParaRPr lang="zh-CN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001B69"/>
              </a:solidFill>
              <a:latin typeface="Noto Sans"/>
              <a:ea typeface="Noto Sans"/>
              <a:cs typeface="Noto Sans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Images per second</c:v>
          </c:tx>
          <c:spPr>
            <a:solidFill>
              <a:srgbClr val="2461AD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800" b="1">
                    <a:solidFill>
                      <a:srgbClr val="001B69"/>
                    </a:solidFill>
                    <a:latin typeface="Noto Sans"/>
                    <a:ea typeface="Noto Sans"/>
                    <a:cs typeface="Noto San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Training</c:v>
              </c:pt>
              <c:pt idx="1">
                <c:v>Inference</c:v>
              </c:pt>
            </c:strLit>
          </c:cat>
          <c:val>
            <c:numLit>
              <c:formatCode>General</c:formatCode>
              <c:ptCount val="2"/>
              <c:pt idx="0">
                <c:v>66.16</c:v>
              </c:pt>
              <c:pt idx="1">
                <c:v>67.77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89D-43F7-B527-B9DD65BC5E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8393AA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w="6668">
              <a:solidFill>
                <a:srgbClr val="DCE3EE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Noto Sans"/>
                    <a:ea typeface="Noto Sans"/>
                    <a:cs typeface="Noto Sans"/>
                  </a:rPr>
                  <a:t>Images/s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8393AA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5676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7B840-2F00-24D0-7002-9085365E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6AA451-C634-2D49-FAC7-C604EAF15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5009E9-62C9-5E6B-F539-64B90A008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EC60B-B65D-2626-817A-D9D30ED86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0258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451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1EDA9-E96F-5809-3171-83D0B334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FB1497-0A17-D215-FB31-F910C3B51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02BE16-B672-6DCD-479C-D6E314B35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76A2B3-6FF4-D530-C32E-94CEBD30D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8889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A233B884-9D1E-49AB-9EF7-DFD979F93191}"/>
              </a:ext>
            </a:extLst>
          </p:cNvPr>
          <p:cNvSpPr>
            <a:spLocks noGrp="1"/>
          </p:cNvSpPr>
          <p:nvPr/>
        </p:nvSpPr>
        <p:spPr>
          <a:xfrm>
            <a:off x="0" y="1025526"/>
            <a:ext cx="12192000" cy="5832476"/>
          </a:xfrm>
          <a:prstGeom prst="rect">
            <a:avLst/>
          </a:prstGeom>
          <a:gradFill>
            <a:gsLst>
              <a:gs pos="14000">
                <a:schemeClr val="tx2"/>
              </a:gs>
              <a:gs pos="100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B4DB117-3AA3-4DCD-B612-490537C1A0B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4494775"/>
            <a:ext cx="10438871" cy="1334525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alpha val="80000"/>
                  </a:schemeClr>
                </a:solidFill>
                <a:latin typeface="Noto Sans"/>
                <a:ea typeface="Noto Sans"/>
                <a:cs typeface="Noto Sans"/>
              </a:defRPr>
            </a:lvl1pPr>
            <a:lvl2pPr marL="457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Firstname LastName</a:t>
            </a:r>
            <a:br/>
            <a:r>
              <a:t>Dresden, Germany. October 7, 2026</a:t>
            </a:r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944EC8DA-34BF-4564-9DFC-78C919A3901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74713" y="2420841"/>
            <a:ext cx="10438873" cy="828676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spcBef>
                <a:spcPts val="0"/>
              </a:spcBef>
              <a:buNone/>
              <a:defRPr sz="1600" baseline="0">
                <a:solidFill>
                  <a:schemeClr val="bg1">
                    <a:alpha val="80000"/>
                  </a:schemeClr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lvl="0">
              <a:buNone/>
            </a:pPr>
            <a:r>
              <a:t>Institute of Computer Engineering - Chair of Adaptive Dynamic Systems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236DF05-A9A7-4752-AB59-87B081CEA037}"/>
              </a:ext>
            </a:extLst>
          </p:cNvPr>
          <p:cNvSpPr>
            <a:spLocks noGrp="1"/>
          </p:cNvSpPr>
          <p:nvPr/>
        </p:nvSpPr>
        <p:spPr>
          <a:xfrm>
            <a:off x="0" y="1025525"/>
            <a:ext cx="12192000" cy="17145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5E703C96-234A-4EAB-9F78-C1F548A164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3392203"/>
            <a:ext cx="10438873" cy="97210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buNone/>
              <a:defRPr sz="3200" b="1">
                <a:solidFill>
                  <a:schemeClr val="bg1"/>
                </a:solidFill>
                <a:latin typeface="Noto Sans"/>
                <a:ea typeface="Noto Sans"/>
                <a:cs typeface="Noto Sans"/>
              </a:defRPr>
            </a:lvl1pPr>
          </a:lstStyle>
          <a:p>
            <a:r>
              <a:t>Title</a:t>
            </a:r>
          </a:p>
        </p:txBody>
      </p:sp>
      <p:pic>
        <p:nvPicPr>
          <p:cNvPr id="3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9948" y="268751"/>
            <a:ext cx="566023" cy="626310"/>
          </a:xfrm>
          <a:prstGeom prst="rect">
            <a:avLst/>
          </a:prstGeom>
        </p:spPr>
      </p:pic>
      <p:pic>
        <p:nvPicPr>
          <p:cNvPr id="36" name="Grafik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6000" y="177143"/>
            <a:ext cx="1910241" cy="856800"/>
          </a:xfrm>
          <a:prstGeom prst="rect">
            <a:avLst/>
          </a:prstGeom>
        </p:spPr>
      </p:pic>
      <p:pic>
        <p:nvPicPr>
          <p:cNvPr id="37" name="Afbeelding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285" y="291420"/>
            <a:ext cx="1764000" cy="6298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_T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E154F831-E0CA-4200-8C3D-25DD5E13597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2" y="4494775"/>
            <a:ext cx="10438873" cy="1334525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  <a:latin typeface="Noto Sans"/>
                <a:ea typeface="Noto Sans"/>
                <a:cs typeface="Noto Sans"/>
              </a:defRPr>
            </a:lvl1pPr>
            <a:lvl2pPr marL="457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Firstname LastName</a:t>
            </a:r>
            <a:br/>
            <a:r>
              <a:t>Dresden, Germany. October 7, 2026</a:t>
            </a:r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996A7AB0-5086-4252-BE5D-FCC674F9E73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74713" y="2420841"/>
            <a:ext cx="10438873" cy="828676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lvl="0">
              <a:buNone/>
            </a:pPr>
            <a:r>
              <a:t>Institute of Computer Engineering - Chair of Adaptive Dynamic Systems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1595D58-B7C5-49EA-9A1B-C67AFE8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4713" y="3392203"/>
            <a:ext cx="10438873" cy="97210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buNone/>
              <a:defRPr sz="3200" b="1">
                <a:solidFill>
                  <a:schemeClr val="tx2"/>
                </a:solidFill>
                <a:latin typeface="Noto Sans"/>
                <a:ea typeface="Noto Sans"/>
                <a:cs typeface="Noto Sans"/>
              </a:defRPr>
            </a:lvl1pPr>
          </a:lstStyle>
          <a:p>
            <a:r>
              <a:t>Title</a:t>
            </a:r>
          </a:p>
        </p:txBody>
      </p:sp>
      <p:sp>
        <p:nvSpPr>
          <p:cNvPr id="8" name="Gerade Verbindung 14">
            <a:extLst>
              <a:ext uri="{FF2B5EF4-FFF2-40B4-BE49-F238E27FC236}">
                <a16:creationId xmlns:a16="http://schemas.microsoft.com/office/drawing/2014/main" id="{A623166D-E624-49A7-BCF0-7D2CEB5E11A0}"/>
              </a:ext>
            </a:extLst>
          </p:cNvPr>
          <p:cNvSpPr>
            <a:spLocks noGrp="1"/>
          </p:cNvSpPr>
          <p:nvPr/>
        </p:nvSpPr>
        <p:spPr>
          <a:xfrm>
            <a:off x="0" y="1026000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Gerade Verbindung 14">
            <a:extLst>
              <a:ext uri="{FF2B5EF4-FFF2-40B4-BE49-F238E27FC236}">
                <a16:creationId xmlns:a16="http://schemas.microsoft.com/office/drawing/2014/main" id="{E78D052F-CFDB-4327-BC8B-57532D3389D0}"/>
              </a:ext>
            </a:extLst>
          </p:cNvPr>
          <p:cNvSpPr>
            <a:spLocks noGrp="1"/>
          </p:cNvSpPr>
          <p:nvPr/>
        </p:nvSpPr>
        <p:spPr>
          <a:xfrm>
            <a:off x="0" y="1206000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35" name="Grafik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6000" y="177143"/>
            <a:ext cx="1910241" cy="856800"/>
          </a:xfrm>
          <a:prstGeom prst="rect">
            <a:avLst/>
          </a:prstGeom>
        </p:spPr>
      </p:pic>
      <p:pic>
        <p:nvPicPr>
          <p:cNvPr id="36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48" y="268751"/>
            <a:ext cx="566023" cy="626310"/>
          </a:xfrm>
          <a:prstGeom prst="rect">
            <a:avLst/>
          </a:prstGeom>
        </p:spPr>
      </p:pic>
      <p:pic>
        <p:nvPicPr>
          <p:cNvPr id="37" name="Afbeelding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285" y="291420"/>
            <a:ext cx="1764000" cy="6298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6C68322-8637-40EE-8067-C3B0899D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88FBC7-31AD-4AD0-926A-2113B165C38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74711" y="1484313"/>
            <a:ext cx="10580688" cy="4344987"/>
          </a:xfrm>
        </p:spPr>
        <p:txBody>
          <a:bodyPr/>
          <a:lstStyle>
            <a:lvl1pPr>
              <a:spcBef>
                <a:spcPts val="1200"/>
              </a:spcBef>
              <a:buNone/>
              <a:defRPr>
                <a:latin typeface="Noto Sans"/>
                <a:ea typeface="Noto Sans"/>
                <a:cs typeface="Noto Sans"/>
              </a:defRPr>
            </a:lvl1pPr>
            <a:lvl3pPr>
              <a:spcBef>
                <a:spcPts val="1200"/>
              </a:spcBef>
              <a:buNone/>
              <a:defRPr/>
            </a:lvl3pPr>
          </a:lstStyle>
          <a:p>
            <a:pPr lvl="0">
              <a:buNone/>
            </a:pPr>
            <a:r>
              <a:t>Edit Master text styles</a:t>
            </a:r>
          </a:p>
        </p:txBody>
      </p:sp>
      <p:pic>
        <p:nvPicPr>
          <p:cNvPr id="10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9" y="6261207"/>
            <a:ext cx="1404446" cy="5014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8C75E66-9B09-4A87-B5C9-53441C50A37A}"/>
              </a:ext>
            </a:extLst>
          </p:cNvPr>
          <p:cNvSpPr>
            <a:spLocks noGrp="1"/>
          </p:cNvSpPr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tx2"/>
              </a:gs>
              <a:gs pos="100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1BFB56-1C26-4A8F-8BE2-F3E7888A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3387259"/>
            <a:ext cx="10580687" cy="1198491"/>
          </a:xfrm>
        </p:spPr>
        <p:txBody>
          <a:bodyPr/>
          <a:lstStyle>
            <a:lvl1pPr>
              <a:buNone/>
              <a:defRPr sz="3200" b="1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pic>
        <p:nvPicPr>
          <p:cNvPr id="7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9" y="6261207"/>
            <a:ext cx="1404446" cy="5014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354C92-E7E5-4343-B298-08A4C4FB8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5749" y="1484313"/>
            <a:ext cx="6089649" cy="4344987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DD639599-C6AF-471A-9590-074EECAC390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74711" y="1484313"/>
            <a:ext cx="4300539" cy="133200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0" name="Bildplatzhalter 7">
            <a:extLst>
              <a:ext uri="{FF2B5EF4-FFF2-40B4-BE49-F238E27FC236}">
                <a16:creationId xmlns:a16="http://schemas.microsoft.com/office/drawing/2014/main" id="{B14542A0-ABBB-4A43-84DB-1A47FE008AD9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74712" y="2943181"/>
            <a:ext cx="4300537" cy="133200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426B2726-4B55-4C01-B7C8-323F588EA289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874710" y="4402050"/>
            <a:ext cx="4300537" cy="1427249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B89918A-319B-47E6-AC30-D0F3D7E1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pic>
        <p:nvPicPr>
          <p:cNvPr id="1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9" y="6261207"/>
            <a:ext cx="1404446" cy="5014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B9523B-E8CC-4346-992B-735B4091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EACA81BA-9573-4F53-AB83-C7437D26F9E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267449" y="1484314"/>
            <a:ext cx="5187950" cy="4344985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4C6D85A-093F-4AFB-8C05-FD297DBB20C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874713" y="1484314"/>
            <a:ext cx="5195887" cy="4344985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</p:txBody>
      </p:sp>
      <p:pic>
        <p:nvPicPr>
          <p:cNvPr id="14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9" y="6261207"/>
            <a:ext cx="1404446" cy="5014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2E96D3A-1EFD-4751-B80E-E94E1E5C4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52F6275-74F6-463F-BECD-C20E920D2A1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74713" y="1484314"/>
            <a:ext cx="5195887" cy="4344985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CE023E7-2E2D-4CF5-9FA1-88E309092C5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67449" y="1484315"/>
            <a:ext cx="5187950" cy="4344984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</p:txBody>
      </p:sp>
      <p:pic>
        <p:nvPicPr>
          <p:cNvPr id="13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9" y="6261207"/>
            <a:ext cx="1404446" cy="5014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2CA4DE-9A45-4524-89CB-618B262C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0BB644B-7CBB-43C0-AA01-70DF4FE3BCF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74712" y="1484314"/>
            <a:ext cx="3399576" cy="4344985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677292F-F48F-4986-87FB-3E9CDDCEC68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70849" y="1484315"/>
            <a:ext cx="3384550" cy="4344984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228C18B1-6560-43AE-8801-A877FFB1D38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457700" y="1484315"/>
            <a:ext cx="3416300" cy="4344984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</p:txBody>
      </p:sp>
      <p:pic>
        <p:nvPicPr>
          <p:cNvPr id="15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9" y="6261207"/>
            <a:ext cx="1404446" cy="5014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9C1E876A-A7DA-4960-A0C6-180BC13DBA48}"/>
              </a:ext>
            </a:extLst>
          </p:cNvPr>
          <p:cNvSpPr>
            <a:spLocks noGrp="1"/>
          </p:cNvSpPr>
          <p:nvPr/>
        </p:nvSpPr>
        <p:spPr>
          <a:xfrm>
            <a:off x="6267450" y="368305"/>
            <a:ext cx="5046135" cy="662147"/>
          </a:xfrm>
          <a:prstGeom prst="rect">
            <a:avLst/>
          </a:prstGeom>
          <a:ln>
            <a:noFill/>
          </a:ln>
        </p:spPr>
        <p:txBody>
          <a:bodyPr vert="horz" lIns="0" tIns="0" rIns="0" bIns="0" anchor="t">
            <a:noAutofit/>
          </a:bodyPr>
          <a:lstStyle>
            <a:lvl1pPr algn="l" defTabSz="914400"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r>
              <a:rPr sz="2400"/>
              <a:t>Titelmasterformat durch Klicken bearbeiten</a:t>
            </a:r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AFA9A91F-B8FD-45B8-B263-FEF78B8A2F1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74712" y="1484314"/>
            <a:ext cx="5195887" cy="4344985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542DBE62-A7E9-4C93-BEA3-54D2A9833B1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67450" y="1484315"/>
            <a:ext cx="5187950" cy="4344984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3147B2F-BB92-4CCC-846B-CD1BC2CF5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367507"/>
            <a:ext cx="5195887" cy="662781"/>
          </a:xfrm>
        </p:spPr>
        <p:txBody>
          <a:bodyPr/>
          <a:lstStyle/>
          <a:p>
            <a:r>
              <a:t>Click to edit Master title style</a:t>
            </a:r>
          </a:p>
        </p:txBody>
      </p:sp>
      <p:pic>
        <p:nvPicPr>
          <p:cNvPr id="15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9" y="6261207"/>
            <a:ext cx="1404446" cy="5014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F1073D-C082-4E95-92C9-2F1832E9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t>Click to edit Master title style</a:t>
            </a:r>
          </a:p>
        </p:txBody>
      </p:sp>
      <p:pic>
        <p:nvPicPr>
          <p:cNvPr id="5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9" y="6261207"/>
            <a:ext cx="1404446" cy="5014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A0CD7-BBF6-4819-819F-4C9043EFC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BC57DE9-A5C3-4E35-8CFD-E52FDC01C525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030288"/>
            <a:ext cx="12192000" cy="5099050"/>
          </a:xfrm>
        </p:spPr>
        <p:txBody>
          <a:bodyPr/>
          <a:lstStyle/>
          <a:p>
            <a:r>
              <a:t>Click icon to add picture</a:t>
            </a:r>
          </a:p>
        </p:txBody>
      </p:sp>
      <p:pic>
        <p:nvPicPr>
          <p:cNvPr id="11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9" y="6261207"/>
            <a:ext cx="1404446" cy="5014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47B5214-17FD-4927-B16E-3959C1CDA0FE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6"/>
            <a:ext cx="12192000" cy="6129331"/>
          </a:xfrm>
        </p:spPr>
        <p:txBody>
          <a:bodyPr/>
          <a:lstStyle/>
          <a:p>
            <a:r>
              <a:t>Click icon to add picture</a:t>
            </a:r>
          </a:p>
        </p:txBody>
      </p:sp>
      <p:pic>
        <p:nvPicPr>
          <p:cNvPr id="6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9" y="6261207"/>
            <a:ext cx="1404446" cy="5014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9" y="6261207"/>
            <a:ext cx="1404446" cy="50143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04E65DF-6BCA-4324-A2FD-06513008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anchor="t">
            <a:noAutofit/>
          </a:bodyPr>
          <a:lstStyle/>
          <a:p>
            <a:r>
              <a:t>Das ist eine Überschrift</a:t>
            </a:r>
            <a:br/>
            <a:r>
              <a:t>in zwei Zeilen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696323-B873-4FAC-9A4C-F4E05C305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4712" y="1481138"/>
            <a:ext cx="10580687" cy="4360861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Autofit/>
          </a:bodyPr>
          <a:lstStyle/>
          <a:p>
            <a:pPr lvl="0">
              <a:buNone/>
            </a:pPr>
            <a:r>
              <a:t>Erste Textebene (16pt)</a:t>
            </a:r>
          </a:p>
          <a:p>
            <a:pPr lvl="1">
              <a:buNone/>
            </a:pPr>
            <a:r>
              <a:t>Zweite Textebene für Aufzählungen</a:t>
            </a:r>
          </a:p>
          <a:p>
            <a:pPr lvl="2">
              <a:buNone/>
            </a:pPr>
            <a:r>
              <a:t>Dritte Textebene bei viel Text (14pt)</a:t>
            </a:r>
          </a:p>
          <a:p>
            <a:pPr lvl="3">
              <a:buNone/>
            </a:pPr>
            <a:r>
              <a:t>Vierte Textebene für Aufzählungen bei viel Text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689B487-BF77-4BB0-AC01-A5BAD888B41A}"/>
              </a:ext>
            </a:extLst>
          </p:cNvPr>
          <p:cNvSpPr>
            <a:spLocks noGrp="1"/>
          </p:cNvSpPr>
          <p:nvPr/>
        </p:nvSpPr>
        <p:spPr>
          <a:xfrm>
            <a:off x="3575050" y="6319797"/>
            <a:ext cx="5187950" cy="36933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26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dirty="0">
                <a:solidFill>
                  <a:srgbClr val="566371"/>
                </a:solidFill>
                <a:latin typeface="Noto Sans"/>
                <a:ea typeface="Noto Sans"/>
                <a:cs typeface="Noto Sans"/>
              </a:rPr>
              <a:t>FPGA-Based Real-Time Learning Architecture with Partial Reconfiguration for Spiking Neural Networks</a:t>
            </a:r>
          </a:p>
          <a:p>
            <a:pPr marL="0" marR="0" lvl="0" indent="0" algn="l" defTabSz="91426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dirty="0">
                <a:solidFill>
                  <a:schemeClr val="bg2"/>
                </a:solidFill>
                <a:latin typeface="Noto Sans"/>
                <a:ea typeface="Noto Sans"/>
                <a:cs typeface="Noto Sans"/>
              </a:rPr>
              <a:t>Yike Jing</a:t>
            </a:r>
            <a:br>
              <a:rPr dirty="0"/>
            </a:br>
            <a:r>
              <a:rPr sz="800" dirty="0">
                <a:solidFill>
                  <a:schemeClr val="bg2"/>
                </a:solidFill>
                <a:latin typeface="Noto Sans"/>
                <a:ea typeface="Noto Sans"/>
                <a:cs typeface="Noto Sans"/>
              </a:rPr>
              <a:t>Dresden, Germany // October 7, 2026</a:t>
            </a:r>
          </a:p>
        </p:txBody>
      </p:sp>
      <p:sp>
        <p:nvSpPr>
          <p:cNvPr id="8" name="Gerade Verbindung 14">
            <a:extLst>
              <a:ext uri="{FF2B5EF4-FFF2-40B4-BE49-F238E27FC236}">
                <a16:creationId xmlns:a16="http://schemas.microsoft.com/office/drawing/2014/main" id="{38B7C446-4AA6-44C9-A2AA-E69E225FC8D3}"/>
              </a:ext>
            </a:extLst>
          </p:cNvPr>
          <p:cNvSpPr>
            <a:spLocks noGrp="1"/>
          </p:cNvSpPr>
          <p:nvPr/>
        </p:nvSpPr>
        <p:spPr>
          <a:xfrm>
            <a:off x="0" y="6123216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5" name="Grafik 1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93386" y="6272950"/>
            <a:ext cx="376119" cy="416179"/>
          </a:xfrm>
          <a:prstGeom prst="rect">
            <a:avLst/>
          </a:prstGeom>
        </p:spPr>
      </p:pic>
      <p:pic>
        <p:nvPicPr>
          <p:cNvPr id="16" name="Grafik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398339" y="6228000"/>
            <a:ext cx="1203933" cy="54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269">
        <a:spcBef>
          <a:spcPct val="0"/>
        </a:spcBef>
        <a:buNone/>
        <a:defRPr sz="2400" b="1" kern="1200" baseline="0">
          <a:solidFill>
            <a:schemeClr val="tx2"/>
          </a:solidFill>
          <a:latin typeface="Noto Sans"/>
          <a:ea typeface="Noto Sans"/>
          <a:cs typeface="Noto Sans"/>
        </a:defRPr>
      </a:lvl1pPr>
    </p:titleStyle>
    <p:bodyStyle>
      <a:lvl1pPr marL="0" indent="0" algn="l" defTabSz="914269">
        <a:spcBef>
          <a:spcPts val="600"/>
        </a:spcBef>
        <a:buFont typeface="Arial"/>
        <a:buNone/>
        <a:defRPr sz="1600" kern="1200">
          <a:solidFill>
            <a:schemeClr val="tx2"/>
          </a:solidFill>
          <a:latin typeface="Noto Sans"/>
          <a:ea typeface="Noto Sans"/>
          <a:cs typeface="Noto Sans"/>
        </a:defRPr>
      </a:lvl1pPr>
      <a:lvl2pPr marL="395942" indent="-323953" algn="l" defTabSz="914269">
        <a:spcBef>
          <a:spcPts val="300"/>
        </a:spcBef>
        <a:buFont typeface="Open Sans"/>
        <a:buChar char="—"/>
        <a:defRPr sz="1600" kern="1200">
          <a:solidFill>
            <a:schemeClr val="tx2"/>
          </a:solidFill>
          <a:latin typeface="Noto Sans"/>
          <a:ea typeface="Noto Sans"/>
          <a:cs typeface="Noto Sans"/>
        </a:defRPr>
      </a:lvl2pPr>
      <a:lvl3pPr marL="0" indent="0" algn="l" defTabSz="914269">
        <a:spcBef>
          <a:spcPts val="600"/>
        </a:spcBef>
        <a:buFont typeface="Arial"/>
        <a:buNone/>
        <a:defRPr sz="1400" kern="1200">
          <a:solidFill>
            <a:schemeClr val="tx2"/>
          </a:solidFill>
          <a:latin typeface="Noto Sans"/>
          <a:ea typeface="Noto Sans"/>
          <a:cs typeface="Noto Sans"/>
        </a:defRPr>
      </a:lvl3pPr>
      <a:lvl4pPr marL="395942" indent="-215969" algn="l" defTabSz="914269">
        <a:spcBef>
          <a:spcPts val="300"/>
        </a:spcBef>
        <a:buFont typeface="Symbol"/>
        <a:buChar char="-"/>
        <a:defRPr sz="1400" kern="1200">
          <a:solidFill>
            <a:schemeClr val="tx2"/>
          </a:solidFill>
          <a:latin typeface="Noto Sans"/>
          <a:ea typeface="Noto Sans"/>
          <a:cs typeface="Noto Sans"/>
        </a:defRPr>
      </a:lvl4pPr>
      <a:lvl5pPr marL="575916" indent="-179362" algn="l" defTabSz="914269">
        <a:spcBef>
          <a:spcPts val="300"/>
        </a:spcBef>
        <a:buFont typeface="Symbol"/>
        <a:buChar char="-"/>
        <a:defRPr sz="1400" kern="1200" baseline="0">
          <a:solidFill>
            <a:schemeClr val="tx2"/>
          </a:solidFill>
          <a:latin typeface="Noto Sans"/>
          <a:ea typeface="Noto Sans"/>
          <a:cs typeface="Noto Sans"/>
        </a:defRPr>
      </a:lvl5pPr>
      <a:lvl6pPr marL="358723" indent="0" algn="l" defTabSz="914269">
        <a:spcBef>
          <a:spcPts val="0"/>
        </a:spcBef>
        <a:buFont typeface="Arial"/>
        <a:buNone/>
        <a:defRPr sz="3200" b="1" kern="1200">
          <a:solidFill>
            <a:schemeClr val="bg1"/>
          </a:solidFill>
          <a:latin typeface="+mn-lt"/>
          <a:ea typeface="+mn-lt"/>
          <a:cs typeface="+mn-lt"/>
        </a:defRPr>
      </a:lvl6pPr>
      <a:lvl7pPr marL="358723" indent="0" algn="l" defTabSz="914269">
        <a:spcBef>
          <a:spcPts val="0"/>
        </a:spcBef>
        <a:buFont typeface="Arial"/>
        <a:buNone/>
        <a:defRPr sz="3200" kern="1200">
          <a:solidFill>
            <a:schemeClr val="bg1"/>
          </a:solidFill>
          <a:latin typeface="+mn-lt"/>
          <a:ea typeface="+mn-lt"/>
          <a:cs typeface="+mn-lt"/>
        </a:defRPr>
      </a:lvl7pPr>
      <a:lvl8pPr marL="3428502" indent="-228566" algn="l" defTabSz="914269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5635" indent="-228566" algn="l" defTabSz="914269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26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135" algn="l" defTabSz="91426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269" algn="l" defTabSz="91426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402" algn="l" defTabSz="91426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534" algn="l" defTabSz="91426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5670" algn="l" defTabSz="91426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2803" algn="l" defTabSz="91426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199936" algn="l" defTabSz="91426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070" algn="l" defTabSz="91426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6" pos="992">
          <p15:clr>
            <a:srgbClr val="F26B43"/>
          </p15:clr>
        </p15:guide>
        <p15:guide id="7" pos="1120">
          <p15:clr>
            <a:srgbClr val="F26B43"/>
          </p15:clr>
        </p15:guide>
        <p15:guide id="8" pos="1676">
          <p15:clr>
            <a:srgbClr val="F26B43"/>
          </p15:clr>
        </p15:guide>
        <p15:guide id="9" pos="1556">
          <p15:clr>
            <a:srgbClr val="F26B43"/>
          </p15:clr>
        </p15:guide>
        <p15:guide id="10" pos="2252">
          <p15:clr>
            <a:srgbClr val="F26B43"/>
          </p15:clr>
        </p15:guide>
        <p15:guide id="11" pos="2128">
          <p15:clr>
            <a:srgbClr val="F26B43"/>
          </p15:clr>
        </p15:guide>
        <p15:guide id="16" pos="3824">
          <p15:clr>
            <a:srgbClr val="F26B43"/>
          </p15:clr>
        </p15:guide>
        <p15:guide id="17" pos="3948">
          <p15:clr>
            <a:srgbClr val="F26B43"/>
          </p15:clr>
        </p15:guide>
        <p15:guide id="20" pos="4384">
          <p15:clr>
            <a:srgbClr val="F26B43"/>
          </p15:clr>
        </p15:guide>
        <p15:guide id="21" pos="4508">
          <p15:clr>
            <a:srgbClr val="F26B43"/>
          </p15:clr>
        </p15:guide>
        <p15:guide id="22" pos="6780">
          <p15:clr>
            <a:srgbClr val="F26B43"/>
          </p15:clr>
        </p15:guide>
        <p15:guide id="23" pos="6656">
          <p15:clr>
            <a:srgbClr val="F26B43"/>
          </p15:clr>
        </p15:guide>
        <p15:guide id="24" pos="4960">
          <p15:clr>
            <a:srgbClr val="F26B43"/>
          </p15:clr>
        </p15:guide>
        <p15:guide id="25" pos="5084">
          <p15:clr>
            <a:srgbClr val="F26B43"/>
          </p15:clr>
        </p15:guide>
        <p15:guide id="30" orient="horz" pos="538">
          <p15:clr>
            <a:srgbClr val="F26B43"/>
          </p15:clr>
        </p15:guide>
        <p15:guide id="31" pos="551">
          <p15:clr>
            <a:srgbClr val="F26B43"/>
          </p15:clr>
        </p15:guide>
        <p15:guide id="39" pos="6108" userDrawn="1">
          <p15:clr>
            <a:srgbClr val="F26B43"/>
          </p15:clr>
        </p15:guide>
        <p15:guide id="40" pos="6216">
          <p15:clr>
            <a:srgbClr val="F26B43"/>
          </p15:clr>
        </p15:guide>
        <p15:guide id="41" pos="2692">
          <p15:clr>
            <a:srgbClr val="F26B43"/>
          </p15:clr>
        </p15:guide>
        <p15:guide id="42" pos="2808">
          <p15:clr>
            <a:srgbClr val="F26B43"/>
          </p15:clr>
        </p15:guide>
        <p15:guide id="43" pos="3260">
          <p15:clr>
            <a:srgbClr val="F26B43"/>
          </p15:clr>
        </p15:guide>
        <p15:guide id="44" pos="3380">
          <p15:clr>
            <a:srgbClr val="F26B43"/>
          </p15:clr>
        </p15:guide>
        <p15:guide id="50" pos="5520">
          <p15:clr>
            <a:srgbClr val="F26B43"/>
          </p15:clr>
        </p15:guide>
        <p15:guide id="52" orient="horz" pos="933">
          <p15:clr>
            <a:srgbClr val="F26B43"/>
          </p15:clr>
        </p15:guide>
        <p15:guide id="53" orient="horz" pos="759">
          <p15:clr>
            <a:srgbClr val="F26B43"/>
          </p15:clr>
        </p15:guide>
        <p15:guide id="58" orient="horz" pos="218">
          <p15:clr>
            <a:srgbClr val="F26B43"/>
          </p15:clr>
        </p15:guide>
        <p15:guide id="59" orient="horz" pos="3680">
          <p15:clr>
            <a:srgbClr val="F26B43"/>
          </p15:clr>
        </p15:guide>
        <p15:guide id="60" orient="horz" pos="3861">
          <p15:clr>
            <a:srgbClr val="F26B43"/>
          </p15:clr>
        </p15:guide>
        <p15:guide id="62" orient="horz" pos="2130">
          <p15:clr>
            <a:srgbClr val="F26B43"/>
          </p15:clr>
        </p15:guide>
        <p15:guide id="65" pos="5654" userDrawn="1">
          <p15:clr>
            <a:srgbClr val="F26B43"/>
          </p15:clr>
        </p15:guide>
        <p15:guide id="66" orient="horz" pos="649">
          <p15:clr>
            <a:srgbClr val="F26B43"/>
          </p15:clr>
        </p15:guide>
        <p15:guide id="67" pos="7216">
          <p15:clr>
            <a:srgbClr val="F26B43"/>
          </p15:clr>
        </p15:guide>
        <p15:guide id="69" orient="horz" pos="3988">
          <p15:clr>
            <a:srgbClr val="F26B43"/>
          </p15:clr>
        </p15:guide>
        <p15:guide id="70" orient="horz" pos="4196">
          <p15:clr>
            <a:srgbClr val="F26B43"/>
          </p15:clr>
        </p15:guide>
        <p15:guide id="71" pos="318">
          <p15:clr>
            <a:srgbClr val="F26B43"/>
          </p15:clr>
        </p15:guide>
        <p15:guide id="72" orient="horz" pos="41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8859FB9-4AAB-4FCD-9264-5DC0951FF1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Yike Jing</a:t>
            </a:r>
          </a:p>
          <a:p>
            <a:r>
              <a:rPr dirty="0"/>
              <a:t>Dresden, Germany. October 7, 2026</a:t>
            </a:r>
            <a:endParaRPr lang="en-US" dirty="0"/>
          </a:p>
          <a:p>
            <a:endParaRPr lang="en-US" dirty="0"/>
          </a:p>
          <a:p>
            <a:r>
              <a:rPr lang="en-US" dirty="0"/>
              <a:t>Supervisors: Gloria Sepanta, Dr.-</a:t>
            </a:r>
            <a:r>
              <a:rPr lang="en-US" dirty="0" err="1"/>
              <a:t>ing</a:t>
            </a:r>
            <a:r>
              <a:rPr lang="en-US" dirty="0"/>
              <a:t>. Lester Kalms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84775-5F77-4204-8D7C-0FF809A9398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Institute of Computer Engineering – Chair of Adaptive Dynamic Systems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FF9E36-5C2F-494D-B219-5A927BB4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FPGA-based Real-Time Learning Architecture with Partial Reconfiguration for Spiking Neural Networks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3C4658CA-E469-8922-9C69-CAE0ED35802D}"/>
              </a:ext>
            </a:extLst>
          </p:cNvPr>
          <p:cNvSpPr txBox="1">
            <a:spLocks/>
          </p:cNvSpPr>
          <p:nvPr/>
        </p:nvSpPr>
        <p:spPr>
          <a:xfrm>
            <a:off x="874715" y="2941222"/>
            <a:ext cx="10438871" cy="32051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Autofit/>
          </a:bodyPr>
          <a:lstStyle>
            <a:lvl1pPr marL="0" indent="0" algn="l" defTabSz="914269">
              <a:spcBef>
                <a:spcPts val="600"/>
              </a:spcBef>
              <a:buFont typeface="Arial"/>
              <a:buNone/>
              <a:defRPr sz="1600" kern="1200">
                <a:solidFill>
                  <a:schemeClr val="bg1">
                    <a:alpha val="80000"/>
                  </a:schemeClr>
                </a:solidFill>
                <a:latin typeface="Noto Sans"/>
                <a:ea typeface="Noto Sans"/>
                <a:cs typeface="Noto Sans"/>
              </a:defRPr>
            </a:lvl1pPr>
            <a:lvl2pPr marL="457135" indent="0" algn="ctr" defTabSz="914269">
              <a:spcBef>
                <a:spcPts val="300"/>
              </a:spcBef>
              <a:buFont typeface="Open Sans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Noto Sans"/>
                <a:ea typeface="Noto Sans"/>
                <a:cs typeface="Noto Sans"/>
              </a:defRPr>
            </a:lvl2pPr>
            <a:lvl3pPr marL="914269" indent="0" algn="ctr" defTabSz="914269">
              <a:spcBef>
                <a:spcPts val="6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Noto Sans"/>
                <a:ea typeface="Noto Sans"/>
                <a:cs typeface="Noto Sans"/>
              </a:defRPr>
            </a:lvl3pPr>
            <a:lvl4pPr marL="1371402" indent="0" algn="ctr" defTabSz="914269">
              <a:spcBef>
                <a:spcPts val="300"/>
              </a:spcBef>
              <a:buFont typeface="Symbo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Noto Sans"/>
                <a:ea typeface="Noto Sans"/>
                <a:cs typeface="Noto Sans"/>
              </a:defRPr>
            </a:lvl4pPr>
            <a:lvl5pPr marL="1828534" indent="0" algn="ctr" defTabSz="914269">
              <a:spcBef>
                <a:spcPts val="300"/>
              </a:spcBef>
              <a:buFont typeface="Symbol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Noto Sans"/>
                <a:ea typeface="Noto Sans"/>
                <a:cs typeface="Noto Sans"/>
              </a:defRPr>
            </a:lvl5pPr>
            <a:lvl6pPr marL="2285670" indent="0" algn="ctr" defTabSz="914269">
              <a:spcBef>
                <a:spcPts val="0"/>
              </a:spcBef>
              <a:buFont typeface="Arial"/>
              <a:buNone/>
              <a:defRPr sz="3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2803" indent="0" algn="ctr" defTabSz="914269">
              <a:spcBef>
                <a:spcPts val="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199936" indent="0" algn="ctr" defTabSz="914269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070" indent="0" algn="ctr" defTabSz="914269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dirty="0"/>
              <a:t>M</a:t>
            </a:r>
            <a:r>
              <a:rPr lang="en-US" altLang="zh-CN" dirty="0"/>
              <a:t>aster Thesis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96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s section 1">
            <a:extLst>
              <a:ext uri="{FF2B5EF4-FFF2-40B4-BE49-F238E27FC236}">
                <a16:creationId xmlns:a16="http://schemas.microsoft.com/office/drawing/2014/main" id="{3DB0015E-5FEF-4B2A-8474-C83E9B5089E3}"/>
              </a:ext>
            </a:extLst>
          </p:cNvPr>
          <p:cNvSpPr>
            <a:spLocks noGrp="1"/>
          </p:cNvSpPr>
          <p:nvPr/>
        </p:nvSpPr>
        <p:spPr>
          <a:xfrm>
            <a:off x="876300" y="1419225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1   Introduction &amp; Motivation</a:t>
            </a:r>
          </a:p>
        </p:txBody>
      </p:sp>
      <p:sp>
        <p:nvSpPr>
          <p:cNvPr id="4" name="Contents section 2">
            <a:extLst>
              <a:ext uri="{FF2B5EF4-FFF2-40B4-BE49-F238E27FC236}">
                <a16:creationId xmlns:a16="http://schemas.microsoft.com/office/drawing/2014/main" id="{74AB8896-74D3-4EE5-BA07-B9354ADF4EDE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2   Related Work</a:t>
            </a:r>
          </a:p>
        </p:txBody>
      </p:sp>
      <p:sp>
        <p:nvSpPr>
          <p:cNvPr id="5" name="Contents section 3">
            <a:extLst>
              <a:ext uri="{FF2B5EF4-FFF2-40B4-BE49-F238E27FC236}">
                <a16:creationId xmlns:a16="http://schemas.microsoft.com/office/drawing/2014/main" id="{B86F5DC3-ADF2-4A65-B096-62227B29ED29}"/>
              </a:ext>
            </a:extLst>
          </p:cNvPr>
          <p:cNvSpPr>
            <a:spLocks noGrp="1"/>
          </p:cNvSpPr>
          <p:nvPr/>
        </p:nvSpPr>
        <p:spPr>
          <a:xfrm>
            <a:off x="876300" y="2771775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3   Background</a:t>
            </a:r>
          </a:p>
        </p:txBody>
      </p:sp>
      <p:sp>
        <p:nvSpPr>
          <p:cNvPr id="6" name="Contents section 4">
            <a:extLst>
              <a:ext uri="{FF2B5EF4-FFF2-40B4-BE49-F238E27FC236}">
                <a16:creationId xmlns:a16="http://schemas.microsoft.com/office/drawing/2014/main" id="{57926189-A015-446C-A1F7-BCDE2731917D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4   Design &amp; Implementation</a:t>
            </a:r>
          </a:p>
        </p:txBody>
      </p:sp>
      <p:sp>
        <p:nvSpPr>
          <p:cNvPr id="7" name="Contents section 5">
            <a:extLst>
              <a:ext uri="{FF2B5EF4-FFF2-40B4-BE49-F238E27FC236}">
                <a16:creationId xmlns:a16="http://schemas.microsoft.com/office/drawing/2014/main" id="{A350D9FB-76CB-4691-8014-A95C205D4D20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5   Results</a:t>
            </a:r>
          </a:p>
        </p:txBody>
      </p:sp>
      <p:sp>
        <p:nvSpPr>
          <p:cNvPr id="8" name="Contents section 6">
            <a:extLst>
              <a:ext uri="{FF2B5EF4-FFF2-40B4-BE49-F238E27FC236}">
                <a16:creationId xmlns:a16="http://schemas.microsoft.com/office/drawing/2014/main" id="{C7DE3886-4351-4B55-8B2D-DE53FC24F6A1}"/>
              </a:ext>
            </a:extLst>
          </p:cNvPr>
          <p:cNvSpPr>
            <a:spLocks noGrp="1"/>
          </p:cNvSpPr>
          <p:nvPr/>
        </p:nvSpPr>
        <p:spPr>
          <a:xfrm>
            <a:off x="876300" y="48006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6   Conclusion &amp; Outlook</a:t>
            </a:r>
          </a:p>
        </p:txBody>
      </p:sp>
      <p:sp>
        <p:nvSpPr>
          <p:cNvPr id="9" name="Updated page marker">
            <a:extLst>
              <a:ext uri="{FF2B5EF4-FFF2-40B4-BE49-F238E27FC236}">
                <a16:creationId xmlns:a16="http://schemas.microsoft.com/office/drawing/2014/main" id="{7BE41F67-8B5A-4684-BB57-EDDF175F9D36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2/29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92279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0AA15-FD78-9E68-CD95-3CAC55E1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2743200"/>
            <a:ext cx="10439400" cy="914400"/>
          </a:xfrm>
        </p:spPr>
        <p:txBody>
          <a:bodyPr lIns="0" tIns="0" rIns="0" bIns="0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Introduction &amp; Motivation</a:t>
            </a:r>
          </a:p>
        </p:txBody>
      </p:sp>
      <p:sp>
        <p:nvSpPr>
          <p:cNvPr id="3" name="Section number">
            <a:extLst>
              <a:ext uri="{FF2B5EF4-FFF2-40B4-BE49-F238E27FC236}">
                <a16:creationId xmlns:a16="http://schemas.microsoft.com/office/drawing/2014/main" id="{BDBF624E-473E-4F31-9638-790665DE6877}"/>
              </a:ext>
            </a:extLst>
          </p:cNvPr>
          <p:cNvSpPr>
            <a:spLocks noGrp="1"/>
          </p:cNvSpPr>
          <p:nvPr/>
        </p:nvSpPr>
        <p:spPr>
          <a:xfrm>
            <a:off x="876300" y="2200275"/>
            <a:ext cx="10439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D9E3F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D9E3F6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5" name="Updated page marker">
            <a:extLst>
              <a:ext uri="{FF2B5EF4-FFF2-40B4-BE49-F238E27FC236}">
                <a16:creationId xmlns:a16="http://schemas.microsoft.com/office/drawing/2014/main" id="{D7B272D3-F333-4D7F-90A5-F7EE1258B033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3/29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73510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Motivation and Research Problem</a:t>
            </a:r>
          </a:p>
        </p:txBody>
      </p:sp>
      <p:pic>
        <p:nvPicPr>
          <p:cNvPr id="21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57639" y="1713997"/>
            <a:ext cx="5145010" cy="3430006"/>
          </a:xfrm>
          <a:prstGeom prst="rect">
            <a:avLst/>
          </a:prstGeom>
        </p:spPr>
      </p:pic>
      <p:sp>
        <p:nvSpPr>
          <p:cNvPr id="13" name="Updated page marker">
            <a:extLst>
              <a:ext uri="{FF2B5EF4-FFF2-40B4-BE49-F238E27FC236}">
                <a16:creationId xmlns:a16="http://schemas.microsoft.com/office/drawing/2014/main" id="{FEA40B7D-A72D-423E-B000-9864010475EE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4/29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9" name="Motivation heading">
            <a:extLst>
              <a:ext uri="{FF2B5EF4-FFF2-40B4-BE49-F238E27FC236}">
                <a16:creationId xmlns:a16="http://schemas.microsoft.com/office/drawing/2014/main" id="{6D094F04-DF0F-D529-7F5B-F2D56203DA46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6143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95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Motivation</a:t>
            </a:r>
          </a:p>
        </p:txBody>
      </p:sp>
      <p:sp>
        <p:nvSpPr>
          <p:cNvPr id="10" name="Motivation bullets">
            <a:extLst>
              <a:ext uri="{FF2B5EF4-FFF2-40B4-BE49-F238E27FC236}">
                <a16:creationId xmlns:a16="http://schemas.microsoft.com/office/drawing/2014/main" id="{1CBC3B08-FAB7-C81F-7050-4AED1B271490}"/>
              </a:ext>
            </a:extLst>
          </p:cNvPr>
          <p:cNvSpPr>
            <a:spLocks noGrp="1"/>
          </p:cNvSpPr>
          <p:nvPr/>
        </p:nvSpPr>
        <p:spPr>
          <a:xfrm>
            <a:off x="876300" y="1876425"/>
            <a:ext cx="5977983" cy="1647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304800" indent="-228600">
              <a:spcAft>
                <a:spcPts val="1000"/>
              </a:spcAft>
              <a:buChar char="➢"/>
              <a:defRPr sz="1575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Why SNNs? Spike timing carries temporal information. Sparse activity offers potential for efficient edge processing.</a:t>
            </a:r>
          </a:p>
          <a:p>
            <a:pPr marL="304800" indent="-228600">
              <a:spcAft>
                <a:spcPts val="1000"/>
              </a:spcAft>
              <a:buChar char="➢"/>
              <a:defRPr sz="1575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Why online learning? Adapt weights on the device as new data arrives, reducing the need for offline retraining.</a:t>
            </a:r>
          </a:p>
        </p:txBody>
      </p:sp>
      <p:sp>
        <p:nvSpPr>
          <p:cNvPr id="12" name="Problem heading">
            <a:extLst>
              <a:ext uri="{FF2B5EF4-FFF2-40B4-BE49-F238E27FC236}">
                <a16:creationId xmlns:a16="http://schemas.microsoft.com/office/drawing/2014/main" id="{6275D0BB-79C7-8BB9-7430-8C7979B7ABDA}"/>
              </a:ext>
            </a:extLst>
          </p:cNvPr>
          <p:cNvSpPr>
            <a:spLocks noGrp="1"/>
          </p:cNvSpPr>
          <p:nvPr/>
        </p:nvSpPr>
        <p:spPr>
          <a:xfrm>
            <a:off x="876300" y="3705225"/>
            <a:ext cx="6143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95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Problem</a:t>
            </a:r>
          </a:p>
        </p:txBody>
      </p:sp>
      <p:sp>
        <p:nvSpPr>
          <p:cNvPr id="14" name="Problem bullets">
            <a:extLst>
              <a:ext uri="{FF2B5EF4-FFF2-40B4-BE49-F238E27FC236}">
                <a16:creationId xmlns:a16="http://schemas.microsoft.com/office/drawing/2014/main" id="{51591ECF-E1FD-48A3-7EB2-CD59681C0C42}"/>
              </a:ext>
            </a:extLst>
          </p:cNvPr>
          <p:cNvSpPr>
            <a:spLocks noGrp="1"/>
          </p:cNvSpPr>
          <p:nvPr/>
        </p:nvSpPr>
        <p:spPr>
          <a:xfrm>
            <a:off x="876300" y="4162425"/>
            <a:ext cx="5881339" cy="1543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304800" indent="-228600">
              <a:spcAft>
                <a:spcPts val="1000"/>
              </a:spcAft>
              <a:buChar char="➢"/>
              <a:defRPr sz="1575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Baseline Spiker+ deploys weights prepared offline, which remain fixed during inference.</a:t>
            </a:r>
          </a:p>
          <a:p>
            <a:pPr marL="304800" indent="-228600">
              <a:spcAft>
                <a:spcPts val="1000"/>
              </a:spcAft>
              <a:buChar char="➢"/>
              <a:defRPr sz="1575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Integrating SDSP requires writable weights and correct state and write-back timing within the inference schedule.</a:t>
            </a:r>
          </a:p>
        </p:txBody>
      </p:sp>
    </p:spTree>
    <p:extLst>
      <p:ext uri="{BB962C8B-B14F-4D97-AF65-F5344CB8AC3E}">
        <p14:creationId xmlns:p14="http://schemas.microsoft.com/office/powerpoint/2010/main" val="110347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0AA15-FD78-9E68-CD95-3CAC55E1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2743200"/>
            <a:ext cx="10439400" cy="914400"/>
          </a:xfrm>
        </p:spPr>
        <p:txBody>
          <a:bodyPr lIns="0" tIns="0" rIns="0" bIns="0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Related Work</a:t>
            </a:r>
          </a:p>
        </p:txBody>
      </p:sp>
      <p:sp>
        <p:nvSpPr>
          <p:cNvPr id="3" name="Section number">
            <a:extLst>
              <a:ext uri="{FF2B5EF4-FFF2-40B4-BE49-F238E27FC236}">
                <a16:creationId xmlns:a16="http://schemas.microsoft.com/office/drawing/2014/main" id="{E086BBB2-3ED4-4CC6-B1B7-A597D01299FC}"/>
              </a:ext>
            </a:extLst>
          </p:cNvPr>
          <p:cNvSpPr>
            <a:spLocks noGrp="1"/>
          </p:cNvSpPr>
          <p:nvPr/>
        </p:nvSpPr>
        <p:spPr>
          <a:xfrm>
            <a:off x="876300" y="2200275"/>
            <a:ext cx="10439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D9E3F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D9E3F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5" name="Updated page marker">
            <a:extLst>
              <a:ext uri="{FF2B5EF4-FFF2-40B4-BE49-F238E27FC236}">
                <a16:creationId xmlns:a16="http://schemas.microsoft.com/office/drawing/2014/main" id="{C61B80AF-56AB-4C4F-B30B-493A8442737D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5/29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2143244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47FEF1C-A020-41BB-B60F-CFE6CE48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Related Work</a:t>
            </a:r>
          </a:p>
        </p:txBody>
      </p:sp>
      <p:graphicFrame>
        <p:nvGraphicFramePr>
          <p:cNvPr id="2" name="Online-learning SNN hardware comparison">
            <a:extLst>
              <a:ext uri="{FF2B5EF4-FFF2-40B4-BE49-F238E27FC236}">
                <a16:creationId xmlns:a16="http://schemas.microsoft.com/office/drawing/2014/main" id="{81FBFF3F-1771-2EFE-AFD2-58DC78D02C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1528576"/>
              </p:ext>
            </p:extLst>
          </p:nvPr>
        </p:nvGraphicFramePr>
        <p:xfrm>
          <a:off x="873157" y="1257300"/>
          <a:ext cx="10582278" cy="4372293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Work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[</a:t>
                      </a:r>
                      <a:r>
                        <a:rPr lang="en-US"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1</a:t>
                      </a:r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] ODIN</a:t>
                      </a:r>
                    </a:p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Frenkel et al.</a:t>
                      </a:r>
                    </a:p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(2019, </a:t>
                      </a:r>
                      <a:r>
                        <a:rPr sz="1088" b="1" dirty="0" err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TBioCAS</a:t>
                      </a:r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[</a:t>
                      </a:r>
                      <a:r>
                        <a:rPr lang="en-US"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2</a:t>
                      </a:r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] </a:t>
                      </a:r>
                      <a:r>
                        <a:rPr sz="1088" b="1" dirty="0" err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MorphIC</a:t>
                      </a:r>
                      <a:endParaRPr sz="1088" b="1" dirty="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Frenkel et al.</a:t>
                      </a:r>
                    </a:p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(2019, </a:t>
                      </a:r>
                      <a:r>
                        <a:rPr sz="1088" b="1" dirty="0" err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TBioCAS</a:t>
                      </a:r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[</a:t>
                      </a:r>
                      <a:r>
                        <a:rPr lang="en-US"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3</a:t>
                      </a:r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] Asgari et al.</a:t>
                      </a:r>
                    </a:p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(2020, IJCTA)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[</a:t>
                      </a:r>
                      <a:r>
                        <a:rPr lang="en-US"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4</a:t>
                      </a:r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] Li et al.</a:t>
                      </a:r>
                    </a:p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(2021, TCAS-I)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[</a:t>
                      </a:r>
                      <a:r>
                        <a:rPr lang="en-US"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5</a:t>
                      </a:r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] TEDOP</a:t>
                      </a:r>
                    </a:p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Shi et al.</a:t>
                      </a:r>
                    </a:p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(2022, ICTA)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[</a:t>
                      </a:r>
                      <a:r>
                        <a:rPr lang="en-US"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6</a:t>
                      </a:r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] RAINE</a:t>
                      </a:r>
                    </a:p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Fang et al.</a:t>
                      </a:r>
                    </a:p>
                    <a:p>
                      <a:pPr algn="ctr"/>
                      <a:r>
                        <a:rPr sz="1088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(2022, A-SSCC)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This Work</a:t>
                      </a:r>
                    </a:p>
                  </a:txBody>
                  <a:tcPr marL="28575" marR="28575" marT="19050" marB="19050" anchor="ctr">
                    <a:solidFill>
                      <a:srgbClr val="2D7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088" b="1">
                          <a:solidFill>
                            <a:srgbClr val="00008C"/>
                          </a:solidFill>
                          <a:latin typeface="Open Sans"/>
                          <a:ea typeface="Open Sans"/>
                          <a:cs typeface="Open Sans"/>
                        </a:rPr>
                        <a:t>Platform and scale</a:t>
                      </a:r>
                    </a:p>
                  </a:txBody>
                  <a:tcPr marL="28575" marR="28575" marT="19050" marB="19050" anchor="ctr"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 dirty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28 nm ASIC</a:t>
                      </a:r>
                    </a:p>
                    <a:p>
                      <a:pPr algn="ctr"/>
                      <a:r>
                        <a:rPr sz="1088" b="0" dirty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256 neurons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64k synapses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65 nm ASIC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2,048 neurons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&gt;2M synapses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Spartan-6 LX45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2 neurons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1 plastic synapse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VC707, Virtex-7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984 neurons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88.4k synapses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Zynq-7010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Up to 1,024 × 10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Alveo U250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16 UDLEs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PYNQ-Z1, XC7Z020</a:t>
                      </a:r>
                    </a:p>
                    <a:p>
                      <a:pPr algn="ctr"/>
                      <a:r>
                        <a:rPr sz="1088" b="1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10 neurons</a:t>
                      </a:r>
                    </a:p>
                    <a:p>
                      <a:pPr algn="ctr"/>
                      <a:r>
                        <a:rPr sz="1088" b="1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7,840 plastic synapses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88" b="1">
                          <a:solidFill>
                            <a:srgbClr val="00008C"/>
                          </a:solidFill>
                          <a:latin typeface="Open Sans"/>
                          <a:ea typeface="Open Sans"/>
                          <a:cs typeface="Open Sans"/>
                        </a:rPr>
                        <a:t>Neuron model</a:t>
                      </a:r>
                    </a:p>
                  </a:txBody>
                  <a:tcPr marL="28575" marR="28575" marT="19050" marB="19050" anchor="ctr"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8-bit LIF /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Izhikevich-like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LIF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LIF + CAVE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Ca estimator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LIF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16-bit TI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(non-spiking)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LIF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Modified LIF</a:t>
                      </a:r>
                    </a:p>
                    <a:p>
                      <a:pPr algn="ctr"/>
                      <a:r>
                        <a:rPr sz="1088" b="1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subtractive reset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l"/>
                      <a:r>
                        <a:rPr sz="1088" b="1">
                          <a:solidFill>
                            <a:srgbClr val="00008C"/>
                          </a:solidFill>
                          <a:latin typeface="Open Sans"/>
                          <a:ea typeface="Open Sans"/>
                          <a:cs typeface="Open Sans"/>
                        </a:rPr>
                        <a:t>SNN model (topology)</a:t>
                      </a:r>
                    </a:p>
                  </a:txBody>
                  <a:tcPr marL="28575" marR="28575" marT="19050" marB="19050" anchor="ctr"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256–10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fully connected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4 conv. kernels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+ pooling + FC–8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2-neuron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minimum network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784 input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100 excitatory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+ 100 inhibitory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784–10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fully connected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251–100–4 SFNN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256–100–2 SRNN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784–1000–10 SCNN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784–10</a:t>
                      </a:r>
                    </a:p>
                    <a:p>
                      <a:pPr algn="ctr"/>
                      <a:r>
                        <a:rPr sz="1088" b="1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fully connected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88" b="1">
                          <a:solidFill>
                            <a:srgbClr val="00008C"/>
                          </a:solidFill>
                          <a:latin typeface="Open Sans"/>
                          <a:ea typeface="Open Sans"/>
                          <a:cs typeface="Open Sans"/>
                        </a:rPr>
                        <a:t>On-chip learning</a:t>
                      </a:r>
                    </a:p>
                    <a:p>
                      <a:pPr algn="l"/>
                      <a:r>
                        <a:rPr sz="1088" b="1">
                          <a:solidFill>
                            <a:srgbClr val="00008C"/>
                          </a:solidFill>
                          <a:latin typeface="Open Sans"/>
                          <a:ea typeface="Open Sans"/>
                          <a:cs typeface="Open Sans"/>
                        </a:rPr>
                        <a:t>(algorithm)</a:t>
                      </a:r>
                    </a:p>
                  </a:txBody>
                  <a:tcPr marL="28575" marR="28575" marT="19050" marB="19050" anchor="ctr"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 dirty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SDSP</a:t>
                      </a:r>
                    </a:p>
                    <a:p>
                      <a:pPr algn="ctr"/>
                      <a:r>
                        <a:rPr lang="en-US" sz="1088" b="0" dirty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(</a:t>
                      </a:r>
                      <a:r>
                        <a:rPr sz="1088" b="0" dirty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teacher-supervised</a:t>
                      </a:r>
                      <a:r>
                        <a:rPr lang="en-US" sz="1088" b="0" dirty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  <a:endParaRPr sz="1088" b="0" dirty="0">
                        <a:solidFill>
                          <a:srgbClr val="0B174F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Stochastic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S-SDSP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High-precision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SDSP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Trace-based STDP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(unsupervised)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S4DSP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(supervised)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Rewarded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Trace-STDP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SDSP</a:t>
                      </a:r>
                    </a:p>
                    <a:p>
                      <a:pPr algn="ctr"/>
                      <a:r>
                        <a:rPr sz="1088" b="1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(teacher-supervised)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088" b="1">
                          <a:solidFill>
                            <a:srgbClr val="00008C"/>
                          </a:solidFill>
                          <a:latin typeface="Open Sans"/>
                          <a:ea typeface="Open Sans"/>
                          <a:cs typeface="Open Sans"/>
                        </a:rPr>
                        <a:t>Dataset</a:t>
                      </a:r>
                    </a:p>
                  </a:txBody>
                  <a:tcPr marL="28575" marR="28575" marT="19050" marB="19050" anchor="ctr"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 dirty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MNIST</a:t>
                      </a:r>
                    </a:p>
                    <a:p>
                      <a:pPr algn="ctr"/>
                      <a:r>
                        <a:rPr sz="1088" b="0" dirty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(16 × 16)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8-pattern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benchmark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Synthetic spikes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(no dataset)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MNIST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MNIST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MIT-BIH ECG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CHB-MIT EEG</a:t>
                      </a:r>
                    </a:p>
                    <a:p>
                      <a:pPr algn="ctr"/>
                      <a:r>
                        <a:rPr sz="1088" b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MNIST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 dirty="0">
                          <a:solidFill>
                            <a:srgbClr val="0B174F"/>
                          </a:solidFill>
                          <a:latin typeface="Open Sans"/>
                          <a:ea typeface="Open Sans"/>
                          <a:cs typeface="Open Sans"/>
                        </a:rPr>
                        <a:t>MNIST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Updated page marker">
            <a:extLst>
              <a:ext uri="{FF2B5EF4-FFF2-40B4-BE49-F238E27FC236}">
                <a16:creationId xmlns:a16="http://schemas.microsoft.com/office/drawing/2014/main" id="{6D698F08-5E70-D126-6685-1F2A8C648D74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6/29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449AA9-8C2F-3DDB-B6E6-D0D008F88B1E}"/>
              </a:ext>
            </a:extLst>
          </p:cNvPr>
          <p:cNvSpPr/>
          <p:nvPr/>
        </p:nvSpPr>
        <p:spPr>
          <a:xfrm>
            <a:off x="10169912" y="1257300"/>
            <a:ext cx="1285523" cy="4343400"/>
          </a:xfrm>
          <a:prstGeom prst="rect">
            <a:avLst/>
          </a:prstGeom>
          <a:noFill/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15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0AA15-FD78-9E68-CD95-3CAC55E1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2743200"/>
            <a:ext cx="10439400" cy="914400"/>
          </a:xfrm>
        </p:spPr>
        <p:txBody>
          <a:bodyPr lIns="0" tIns="0" rIns="0" bIns="0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Background</a:t>
            </a:r>
          </a:p>
        </p:txBody>
      </p:sp>
      <p:sp>
        <p:nvSpPr>
          <p:cNvPr id="3" name="Section number">
            <a:extLst>
              <a:ext uri="{FF2B5EF4-FFF2-40B4-BE49-F238E27FC236}">
                <a16:creationId xmlns:a16="http://schemas.microsoft.com/office/drawing/2014/main" id="{06F6C9F7-0A9A-4BE1-B467-5399B5A48A72}"/>
              </a:ext>
            </a:extLst>
          </p:cNvPr>
          <p:cNvSpPr>
            <a:spLocks noGrp="1"/>
          </p:cNvSpPr>
          <p:nvPr/>
        </p:nvSpPr>
        <p:spPr>
          <a:xfrm>
            <a:off x="876300" y="2200275"/>
            <a:ext cx="10439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D9E3F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D9E3F6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5" name="Updated page marker">
            <a:extLst>
              <a:ext uri="{FF2B5EF4-FFF2-40B4-BE49-F238E27FC236}">
                <a16:creationId xmlns:a16="http://schemas.microsoft.com/office/drawing/2014/main" id="{C0AF0214-7C82-4D9D-B3CF-43C32DF238ED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7/29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567014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9341B-7113-7704-0808-B195892CA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F8BA9F8-F82F-60EC-975E-99D075E3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Spiker+ Framework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25F4F9-0F55-8E0F-28E3-4867E41C9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67" y="1650407"/>
            <a:ext cx="10470466" cy="3557185"/>
          </a:xfrm>
          <a:prstGeom prst="rect">
            <a:avLst/>
          </a:prstGeom>
        </p:spPr>
      </p:pic>
      <p:sp>
        <p:nvSpPr>
          <p:cNvPr id="4" name="Updated page marker">
            <a:extLst>
              <a:ext uri="{FF2B5EF4-FFF2-40B4-BE49-F238E27FC236}">
                <a16:creationId xmlns:a16="http://schemas.microsoft.com/office/drawing/2014/main" id="{B34FDE0F-9BA2-A162-9DC5-6CE83275448B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8/29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57CA25-53ED-41F6-05F7-EFFE38A54269}"/>
              </a:ext>
            </a:extLst>
          </p:cNvPr>
          <p:cNvSpPr txBox="1"/>
          <p:nvPr/>
        </p:nvSpPr>
        <p:spPr>
          <a:xfrm>
            <a:off x="2230244" y="5922014"/>
            <a:ext cx="99617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[7] A. </a:t>
            </a:r>
            <a:r>
              <a:rPr lang="en-US" altLang="zh-CN" sz="800" dirty="0" err="1"/>
              <a:t>Carpegna</a:t>
            </a:r>
            <a:r>
              <a:rPr lang="en-US" altLang="zh-CN" sz="800" dirty="0"/>
              <a:t> et al, "Spiker+: A Framework for the Generation of Efficient Spiking Neural Networks FPGA Accelerators for Inference at the Edge," in IEEE Transactions on Emerging Topics in Computing. 2025,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50A083-4A9C-7CD1-E5C5-A56B6F5AD462}"/>
              </a:ext>
            </a:extLst>
          </p:cNvPr>
          <p:cNvSpPr/>
          <p:nvPr/>
        </p:nvSpPr>
        <p:spPr>
          <a:xfrm>
            <a:off x="874712" y="1650407"/>
            <a:ext cx="1801581" cy="31111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FB7506-AD78-E164-0B97-D40D0D2FEEA4}"/>
              </a:ext>
            </a:extLst>
          </p:cNvPr>
          <p:cNvSpPr/>
          <p:nvPr/>
        </p:nvSpPr>
        <p:spPr>
          <a:xfrm>
            <a:off x="7380000" y="3384000"/>
            <a:ext cx="1368000" cy="1224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2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5CAC8-B8CB-6429-27AC-9FDA8602D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59BCAA9-CF30-323C-C777-84874278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 of SNN Accelerator from Spiker+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45C3C6A-C48F-D573-6758-1F258C2E46B8}"/>
              </a:ext>
            </a:extLst>
          </p:cNvPr>
          <p:cNvSpPr txBox="1"/>
          <p:nvPr/>
        </p:nvSpPr>
        <p:spPr>
          <a:xfrm>
            <a:off x="2230244" y="5922014"/>
            <a:ext cx="99617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[7] A. </a:t>
            </a:r>
            <a:r>
              <a:rPr lang="en-US" altLang="zh-CN" sz="800" dirty="0" err="1"/>
              <a:t>Carpegna</a:t>
            </a:r>
            <a:r>
              <a:rPr lang="en-US" altLang="zh-CN" sz="800" dirty="0"/>
              <a:t> et al, "Spiker+: A Framework for the Generation of Efficient Spiking Neural Networks FPGA Accelerators for Inference at the Edge," in IEEE Transactions on Emerging Topics in Computing. 2025,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F6B311-7AE8-6BC4-8D8E-2CA3522A7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46" y="1158883"/>
            <a:ext cx="10951508" cy="3914868"/>
          </a:xfrm>
          <a:prstGeom prst="rect">
            <a:avLst/>
          </a:prstGeom>
        </p:spPr>
      </p:pic>
      <p:sp>
        <p:nvSpPr>
          <p:cNvPr id="4" name="Updated page marker">
            <a:extLst>
              <a:ext uri="{FF2B5EF4-FFF2-40B4-BE49-F238E27FC236}">
                <a16:creationId xmlns:a16="http://schemas.microsoft.com/office/drawing/2014/main" id="{921E2836-980E-86C5-CBF7-F452D23E2DED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9/29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6D4937-CE9A-93E7-F6E8-54F27624EAB5}"/>
              </a:ext>
            </a:extLst>
          </p:cNvPr>
          <p:cNvSpPr/>
          <p:nvPr/>
        </p:nvSpPr>
        <p:spPr>
          <a:xfrm>
            <a:off x="2419814" y="1973764"/>
            <a:ext cx="1984918" cy="360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000CE3-9A6D-07E4-0D6A-FD5C520D43AC}"/>
              </a:ext>
            </a:extLst>
          </p:cNvPr>
          <p:cNvSpPr/>
          <p:nvPr/>
        </p:nvSpPr>
        <p:spPr>
          <a:xfrm>
            <a:off x="9288000" y="1565601"/>
            <a:ext cx="900000" cy="4973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65A02B-B780-C8DD-E3E5-DC09C4A2F1CD}"/>
              </a:ext>
            </a:extLst>
          </p:cNvPr>
          <p:cNvSpPr/>
          <p:nvPr/>
        </p:nvSpPr>
        <p:spPr>
          <a:xfrm>
            <a:off x="5103540" y="2354333"/>
            <a:ext cx="2066693" cy="360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ECEA20-F070-367F-390F-D344D87FD276}"/>
              </a:ext>
            </a:extLst>
          </p:cNvPr>
          <p:cNvSpPr/>
          <p:nvPr/>
        </p:nvSpPr>
        <p:spPr>
          <a:xfrm>
            <a:off x="7812000" y="2664000"/>
            <a:ext cx="2052000" cy="360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AB6922-8077-2BA8-4236-FFB8CDF28A40}"/>
              </a:ext>
            </a:extLst>
          </p:cNvPr>
          <p:cNvSpPr/>
          <p:nvPr/>
        </p:nvSpPr>
        <p:spPr>
          <a:xfrm>
            <a:off x="3275999" y="2462359"/>
            <a:ext cx="900000" cy="32400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E181E1-7F27-5F58-1FE1-552E05D6F639}"/>
              </a:ext>
            </a:extLst>
          </p:cNvPr>
          <p:cNvSpPr/>
          <p:nvPr/>
        </p:nvSpPr>
        <p:spPr>
          <a:xfrm>
            <a:off x="3286398" y="3240000"/>
            <a:ext cx="900000" cy="32400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E9C986-F522-C976-0652-C423960CAD27}"/>
              </a:ext>
            </a:extLst>
          </p:cNvPr>
          <p:cNvSpPr/>
          <p:nvPr/>
        </p:nvSpPr>
        <p:spPr>
          <a:xfrm>
            <a:off x="3286398" y="4023532"/>
            <a:ext cx="900000" cy="32400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CED8FB-2381-2CE8-70F0-9B73136408A9}"/>
              </a:ext>
            </a:extLst>
          </p:cNvPr>
          <p:cNvSpPr/>
          <p:nvPr/>
        </p:nvSpPr>
        <p:spPr>
          <a:xfrm>
            <a:off x="5988035" y="2842928"/>
            <a:ext cx="900000" cy="32400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E924AD0-B6C6-46FF-CCEC-D9237174B88C}"/>
              </a:ext>
            </a:extLst>
          </p:cNvPr>
          <p:cNvSpPr/>
          <p:nvPr/>
        </p:nvSpPr>
        <p:spPr>
          <a:xfrm>
            <a:off x="5988035" y="3618000"/>
            <a:ext cx="900000" cy="32400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AEC21F-0D4C-0FCD-FDB6-7FE7FE838818}"/>
              </a:ext>
            </a:extLst>
          </p:cNvPr>
          <p:cNvSpPr/>
          <p:nvPr/>
        </p:nvSpPr>
        <p:spPr>
          <a:xfrm>
            <a:off x="8694000" y="3168000"/>
            <a:ext cx="900000" cy="32400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47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EA8E9-FF6F-319C-55C5-7AC4DE9A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980FCB0-CC4E-7C0C-9B06-EA041080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</a:t>
            </a:r>
            <a:r>
              <a:rPr lang="en-US" altLang="zh-CN" dirty="0"/>
              <a:t>pike-Driven Synaptic Plasticity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5">
                <a:extLst>
                  <a:ext uri="{FF2B5EF4-FFF2-40B4-BE49-F238E27FC236}">
                    <a16:creationId xmlns:a16="http://schemas.microsoft.com/office/drawing/2014/main" id="{184BA946-B086-D43C-6914-3D1496A2D0F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874712" y="1030288"/>
                <a:ext cx="7825151" cy="816795"/>
              </a:xfrm>
            </p:spPr>
            <p:txBody>
              <a:bodyPr/>
              <a:lstStyle/>
              <a:p>
                <a:r>
                  <a:rPr lang="de-DE" altLang="zh-CN" b="1" dirty="0"/>
                  <a:t>Neuron</a:t>
                </a:r>
                <a:r>
                  <a:rPr lang="en-US" altLang="zh-CN" b="1" dirty="0"/>
                  <a:t> Model</a:t>
                </a:r>
                <a:r>
                  <a:rPr lang="en-US" altLang="zh-CN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DE" altLang="zh-CN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altLang="zh-CN" dirty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zh-CN" altLang="de-DE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de-DE" altLang="zh-CN" i="0" dirty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zh-CN" altLang="de-DE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e-DE" altLang="zh-CN" i="0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de-DE" i="1" dirty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de-DE" altLang="zh-CN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de-DE" i="1" dirty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zh-CN" altLang="de-DE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de-DE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2" name="Inhaltsplatzhalter 5">
                <a:extLst>
                  <a:ext uri="{FF2B5EF4-FFF2-40B4-BE49-F238E27FC236}">
                    <a16:creationId xmlns:a16="http://schemas.microsoft.com/office/drawing/2014/main" id="{184BA946-B086-D43C-6914-3D1496A2D0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874712" y="1030288"/>
                <a:ext cx="7825151" cy="816795"/>
              </a:xfrm>
              <a:blipFill>
                <a:blip r:embed="rId3"/>
                <a:stretch>
                  <a:fillRect l="-1558" t="-7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5">
                <a:extLst>
                  <a:ext uri="{FF2B5EF4-FFF2-40B4-BE49-F238E27FC236}">
                    <a16:creationId xmlns:a16="http://schemas.microsoft.com/office/drawing/2014/main" id="{2B432A97-2CC3-A682-1051-F09AAD2699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4712" y="1999483"/>
                <a:ext cx="7825151" cy="81679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269" rtl="0" eaLnBrk="1" latinLnBrk="0" hangingPunct="1">
                  <a:spcBef>
                    <a:spcPts val="12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1pPr>
                <a:lvl2pPr marL="395942" indent="-323953" algn="l" defTabSz="914269" rtl="0" eaLnBrk="1" latinLnBrk="0" hangingPunct="1">
                  <a:spcBef>
                    <a:spcPts val="300"/>
                  </a:spcBef>
                  <a:buFont typeface="Open Sans" panose="020B0606030504020204" pitchFamily="34" charset="0"/>
                  <a:buChar char="—"/>
                  <a:defRPr sz="16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2pPr>
                <a:lvl3pPr marL="0" indent="0" algn="l" defTabSz="914269" rtl="0" eaLnBrk="1" latinLnBrk="0" hangingPunct="1">
                  <a:spcBef>
                    <a:spcPts val="12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3pPr>
                <a:lvl4pPr marL="395942" indent="-215969" algn="l" defTabSz="914269" rtl="0" eaLnBrk="1" latinLnBrk="0" hangingPunct="1">
                  <a:spcBef>
                    <a:spcPts val="300"/>
                  </a:spcBef>
                  <a:buFont typeface="Symbol" panose="05050102010706020507" pitchFamily="18" charset="2"/>
                  <a:buChar char="-"/>
                  <a:defRPr sz="14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4pPr>
                <a:lvl5pPr marL="575916" indent="-179362" algn="l" defTabSz="914269" rtl="0" eaLnBrk="1" latinLnBrk="0" hangingPunct="1">
                  <a:spcBef>
                    <a:spcPts val="300"/>
                  </a:spcBef>
                  <a:buFont typeface="Symbol" panose="05050102010706020507" pitchFamily="18" charset="2"/>
                  <a:buChar char="-"/>
                  <a:defRPr sz="1400" kern="1200" baseline="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5pPr>
                <a:lvl6pPr marL="358723" indent="0" algn="l" defTabSz="914269" rtl="0" eaLnBrk="1" latinLnBrk="0" hangingPunct="1">
                  <a:spcBef>
                    <a:spcPts val="0"/>
                  </a:spcBef>
                  <a:buFont typeface="Arial" panose="020B0604020202020204" pitchFamily="34" charset="0"/>
                  <a:buNone/>
                  <a:defRPr sz="3200" b="1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358723" indent="0" algn="l" defTabSz="914269" rtl="0" eaLnBrk="1" latinLnBrk="0" hangingPunct="1">
                  <a:spcBef>
                    <a:spcPts val="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3428502" indent="-228566" algn="l" defTabSz="914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635" indent="-228566" algn="l" defTabSz="914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DE" altLang="zh-CN" b="1" dirty="0"/>
                  <a:t>Calcium Variable</a:t>
                </a:r>
                <a:r>
                  <a:rPr lang="en-US" altLang="zh-CN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altLang="zh-CN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altLang="zh-CN" i="0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𝑠𝑝𝑘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𝑝𝑜𝑠𝑡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  <a:p>
                <a:pPr algn="ctr"/>
                <a14:m>
                  <m:oMath xmlns:m="http://schemas.openxmlformats.org/officeDocument/2006/math"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altLang="zh-CN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𝑟𝑒𝑓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dirty="0"/>
              </a:p>
              <a:p>
                <a:pPr algn="ctr"/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5">
                <a:extLst>
                  <a:ext uri="{FF2B5EF4-FFF2-40B4-BE49-F238E27FC236}">
                    <a16:creationId xmlns:a16="http://schemas.microsoft.com/office/drawing/2014/main" id="{2B432A97-2CC3-A682-1051-F09AAD269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2" y="1999483"/>
                <a:ext cx="7825151" cy="816795"/>
              </a:xfrm>
              <a:prstGeom prst="rect">
                <a:avLst/>
              </a:prstGeom>
              <a:blipFill>
                <a:blip r:embed="rId4"/>
                <a:stretch>
                  <a:fillRect l="-1558" t="-7463" b="-365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5">
                <a:extLst>
                  <a:ext uri="{FF2B5EF4-FFF2-40B4-BE49-F238E27FC236}">
                    <a16:creationId xmlns:a16="http://schemas.microsoft.com/office/drawing/2014/main" id="{53B92B6A-004F-CA6B-4824-8E2FFBEBA2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4712" y="3160525"/>
                <a:ext cx="7825151" cy="2876193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269" rtl="0" eaLnBrk="1" latinLnBrk="0" hangingPunct="1">
                  <a:spcBef>
                    <a:spcPts val="12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1pPr>
                <a:lvl2pPr marL="395942" indent="-323953" algn="l" defTabSz="914269" rtl="0" eaLnBrk="1" latinLnBrk="0" hangingPunct="1">
                  <a:spcBef>
                    <a:spcPts val="300"/>
                  </a:spcBef>
                  <a:buFont typeface="Open Sans" panose="020B0606030504020204" pitchFamily="34" charset="0"/>
                  <a:buChar char="—"/>
                  <a:defRPr sz="16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2pPr>
                <a:lvl3pPr marL="0" indent="0" algn="l" defTabSz="914269" rtl="0" eaLnBrk="1" latinLnBrk="0" hangingPunct="1">
                  <a:spcBef>
                    <a:spcPts val="12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3pPr>
                <a:lvl4pPr marL="395942" indent="-215969" algn="l" defTabSz="914269" rtl="0" eaLnBrk="1" latinLnBrk="0" hangingPunct="1">
                  <a:spcBef>
                    <a:spcPts val="300"/>
                  </a:spcBef>
                  <a:buFont typeface="Symbol" panose="05050102010706020507" pitchFamily="18" charset="2"/>
                  <a:buChar char="-"/>
                  <a:defRPr sz="14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4pPr>
                <a:lvl5pPr marL="575916" indent="-179362" algn="l" defTabSz="914269" rtl="0" eaLnBrk="1" latinLnBrk="0" hangingPunct="1">
                  <a:spcBef>
                    <a:spcPts val="300"/>
                  </a:spcBef>
                  <a:buFont typeface="Symbol" panose="05050102010706020507" pitchFamily="18" charset="2"/>
                  <a:buChar char="-"/>
                  <a:defRPr sz="1400" kern="1200" baseline="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5pPr>
                <a:lvl6pPr marL="358723" indent="0" algn="l" defTabSz="914269" rtl="0" eaLnBrk="1" latinLnBrk="0" hangingPunct="1">
                  <a:spcBef>
                    <a:spcPts val="0"/>
                  </a:spcBef>
                  <a:buFont typeface="Arial" panose="020B0604020202020204" pitchFamily="34" charset="0"/>
                  <a:buNone/>
                  <a:defRPr sz="3200" b="1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358723" indent="0" algn="l" defTabSz="914269" rtl="0" eaLnBrk="1" latinLnBrk="0" hangingPunct="1">
                  <a:spcBef>
                    <a:spcPts val="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3428502" indent="-228566" algn="l" defTabSz="914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635" indent="-228566" algn="l" defTabSz="914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DE" altLang="zh-CN" b="1" dirty="0"/>
                  <a:t>Learning Conditions</a:t>
                </a:r>
                <a:r>
                  <a:rPr lang="en-US" altLang="zh-CN" dirty="0"/>
                  <a:t>:</a:t>
                </a:r>
              </a:p>
              <a:p>
                <a:r>
                  <a:rPr lang="en-US" altLang="zh-CN" dirty="0"/>
                  <a:t>1. Presence of a presynaptic spike: Jump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1  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if</m:t>
                    </m:r>
                  </m:oMath>
                </a14:m>
                <a:r>
                  <a:rPr lang="de-DE" dirty="0"/>
                  <a:t>  </a:t>
                </a:r>
                <a14:m>
                  <m:oMath xmlns:m="http://schemas.openxmlformats.org/officeDocument/2006/math"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𝑟𝑒</m:t>
                            </m:r>
                          </m:sub>
                        </m:sSub>
                      </m:e>
                    </m:d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zh-CN" altLang="de-D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zh-CN" alt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e>
                    </m:d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de-D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de-DE" dirty="0"/>
              </a:p>
              <a:p>
                <a:pPr algn="ctr"/>
                <a14:m>
                  <m:oMath xmlns:m="http://schemas.openxmlformats.org/officeDocument/2006/math"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1  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if</m:t>
                    </m:r>
                  </m:oMath>
                </a14:m>
                <a:r>
                  <a:rPr lang="de-DE" dirty="0"/>
                  <a:t>  </a:t>
                </a:r>
                <a14:m>
                  <m:oMath xmlns:m="http://schemas.openxmlformats.org/officeDocument/2006/math"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𝑟𝑒</m:t>
                            </m:r>
                          </m:sub>
                        </m:sSub>
                      </m:e>
                    </m:d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de-D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zh-CN" altLang="de-D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zh-CN" alt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e>
                    </m:d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de-D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DE" dirty="0"/>
              </a:p>
              <a:p>
                <a:r>
                  <a:rPr lang="de-DE" dirty="0"/>
                  <a:t>2. Absence of a spike: Bistability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DE" altLang="zh-CN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DE" altLang="zh-CN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−1]=1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𝑎𝑛𝑑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𝑏𝑖𝑠𝑡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dirty="0"/>
              </a:p>
              <a:p>
                <a:pPr algn="ctr"/>
                <a14:m>
                  <m:oMath xmlns:m="http://schemas.openxmlformats.org/officeDocument/2006/math"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DE" altLang="zh-CN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−1]=0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𝑎𝑛𝑑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𝑏𝑖𝑠𝑡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4" name="Inhaltsplatzhalter 5">
                <a:extLst>
                  <a:ext uri="{FF2B5EF4-FFF2-40B4-BE49-F238E27FC236}">
                    <a16:creationId xmlns:a16="http://schemas.microsoft.com/office/drawing/2014/main" id="{53B92B6A-004F-CA6B-4824-8E2FFBEBA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2" y="3160525"/>
                <a:ext cx="7825151" cy="2876193"/>
              </a:xfrm>
              <a:prstGeom prst="rect">
                <a:avLst/>
              </a:prstGeom>
              <a:blipFill>
                <a:blip r:embed="rId5"/>
                <a:stretch>
                  <a:fillRect l="-1558" t="-21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ymbol-legend-accent">
            <a:extLst>
              <a:ext uri="{FF2B5EF4-FFF2-40B4-BE49-F238E27FC236}">
                <a16:creationId xmlns:a16="http://schemas.microsoft.com/office/drawing/2014/main" id="{A9E88DF9-B334-4BED-2A8D-21B89A4DD2FC}"/>
              </a:ext>
            </a:extLst>
          </p:cNvPr>
          <p:cNvSpPr>
            <a:spLocks noGrp="1"/>
          </p:cNvSpPr>
          <p:nvPr/>
        </p:nvSpPr>
        <p:spPr>
          <a:xfrm>
            <a:off x="7905750" y="1114425"/>
            <a:ext cx="28575" cy="4752975"/>
          </a:xfrm>
          <a:prstGeom prst="rect">
            <a:avLst/>
          </a:prstGeom>
          <a:solidFill>
            <a:srgbClr val="2F75B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ymbol-legend-title">
            <a:extLst>
              <a:ext uri="{FF2B5EF4-FFF2-40B4-BE49-F238E27FC236}">
                <a16:creationId xmlns:a16="http://schemas.microsoft.com/office/drawing/2014/main" id="{2A59B9BB-F35B-D217-0C7D-491ABE021041}"/>
              </a:ext>
            </a:extLst>
          </p:cNvPr>
          <p:cNvSpPr>
            <a:spLocks noGrp="1"/>
          </p:cNvSpPr>
          <p:nvPr/>
        </p:nvSpPr>
        <p:spPr>
          <a:xfrm>
            <a:off x="8067675" y="1076325"/>
            <a:ext cx="3286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13" b="1">
                <a:solidFill>
                  <a:srgbClr val="17365D"/>
                </a:solidFill>
              </a:defRPr>
            </a:pPr>
            <a:r>
              <a:rPr sz="1313" b="1" dirty="0">
                <a:solidFill>
                  <a:srgbClr val="17365D"/>
                </a:solidFill>
              </a:rPr>
              <a:t>SYMBOL LEGEND</a:t>
            </a:r>
          </a:p>
        </p:txBody>
      </p:sp>
      <p:sp>
        <p:nvSpPr>
          <p:cNvPr id="11" name="symbol-legend-title-rule">
            <a:extLst>
              <a:ext uri="{FF2B5EF4-FFF2-40B4-BE49-F238E27FC236}">
                <a16:creationId xmlns:a16="http://schemas.microsoft.com/office/drawing/2014/main" id="{5FB935D0-568A-C1AB-D24A-2410FEF61AC9}"/>
              </a:ext>
            </a:extLst>
          </p:cNvPr>
          <p:cNvSpPr>
            <a:spLocks noGrp="1"/>
          </p:cNvSpPr>
          <p:nvPr/>
        </p:nvSpPr>
        <p:spPr>
          <a:xfrm>
            <a:off x="8067675" y="1381125"/>
            <a:ext cx="3286125" cy="19050"/>
          </a:xfrm>
          <a:prstGeom prst="rect">
            <a:avLst/>
          </a:prstGeom>
          <a:solidFill>
            <a:srgbClr val="2F75B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ymbol-legend-symbol-1">
            <a:extLst>
              <a:ext uri="{FF2B5EF4-FFF2-40B4-BE49-F238E27FC236}">
                <a16:creationId xmlns:a16="http://schemas.microsoft.com/office/drawing/2014/main" id="{FFE0580F-976A-0ADB-6A05-846F63B4D123}"/>
              </a:ext>
            </a:extLst>
          </p:cNvPr>
          <p:cNvSpPr>
            <a:spLocks noGrp="1"/>
          </p:cNvSpPr>
          <p:nvPr/>
        </p:nvSpPr>
        <p:spPr>
          <a:xfrm>
            <a:off x="8067675" y="1485900"/>
            <a:ext cx="885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70" b="1">
                <a:solidFill>
                  <a:srgbClr val="2F75B5"/>
                </a:solidFill>
              </a:defRPr>
            </a:pPr>
            <a:r>
              <a:rPr sz="1170" b="1" dirty="0">
                <a:solidFill>
                  <a:srgbClr val="2F75B5"/>
                </a:solidFill>
              </a:rPr>
              <a:t>V(t)</a:t>
            </a:r>
          </a:p>
        </p:txBody>
      </p:sp>
      <p:sp>
        <p:nvSpPr>
          <p:cNvPr id="15" name="symbol-legend-meaning-1">
            <a:extLst>
              <a:ext uri="{FF2B5EF4-FFF2-40B4-BE49-F238E27FC236}">
                <a16:creationId xmlns:a16="http://schemas.microsoft.com/office/drawing/2014/main" id="{1599AC70-85DC-3A2A-9727-0AAD93AF8A92}"/>
              </a:ext>
            </a:extLst>
          </p:cNvPr>
          <p:cNvSpPr>
            <a:spLocks noGrp="1"/>
          </p:cNvSpPr>
          <p:nvPr/>
        </p:nvSpPr>
        <p:spPr>
          <a:xfrm>
            <a:off x="9048750" y="1485900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95">
                <a:solidFill>
                  <a:srgbClr val="44546A"/>
                </a:solidFill>
              </a:defRPr>
            </a:pPr>
            <a:r>
              <a:rPr sz="1095" dirty="0">
                <a:solidFill>
                  <a:srgbClr val="001B69"/>
                </a:solidFill>
              </a:rPr>
              <a:t>Neuron membrane potential</a:t>
            </a:r>
          </a:p>
        </p:txBody>
      </p:sp>
      <p:sp>
        <p:nvSpPr>
          <p:cNvPr id="17" name="symbol-legend-rule-1">
            <a:extLst>
              <a:ext uri="{FF2B5EF4-FFF2-40B4-BE49-F238E27FC236}">
                <a16:creationId xmlns:a16="http://schemas.microsoft.com/office/drawing/2014/main" id="{4550B671-1972-D094-CEF6-57E255FAC843}"/>
              </a:ext>
            </a:extLst>
          </p:cNvPr>
          <p:cNvSpPr>
            <a:spLocks noGrp="1"/>
          </p:cNvSpPr>
          <p:nvPr/>
        </p:nvSpPr>
        <p:spPr>
          <a:xfrm>
            <a:off x="8067675" y="1781175"/>
            <a:ext cx="3286125" cy="9525"/>
          </a:xfrm>
          <a:prstGeom prst="rect">
            <a:avLst/>
          </a:prstGeom>
          <a:solidFill>
            <a:srgbClr val="D9E2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ymbol-legend-symbol-2">
            <a:extLst>
              <a:ext uri="{FF2B5EF4-FFF2-40B4-BE49-F238E27FC236}">
                <a16:creationId xmlns:a16="http://schemas.microsoft.com/office/drawing/2014/main" id="{218DCA1D-30AB-30A9-7EFB-11B3834CE22B}"/>
              </a:ext>
            </a:extLst>
          </p:cNvPr>
          <p:cNvSpPr>
            <a:spLocks noGrp="1"/>
          </p:cNvSpPr>
          <p:nvPr/>
        </p:nvSpPr>
        <p:spPr>
          <a:xfrm>
            <a:off x="8067675" y="2571750"/>
            <a:ext cx="885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70" b="1">
                <a:solidFill>
                  <a:srgbClr val="2F75B5"/>
                </a:solidFill>
              </a:defRPr>
            </a:pPr>
            <a:r>
              <a:rPr sz="1170" b="1" dirty="0">
                <a:solidFill>
                  <a:srgbClr val="2F75B5"/>
                </a:solidFill>
              </a:rPr>
              <a:t>C</a:t>
            </a:r>
          </a:p>
        </p:txBody>
      </p:sp>
      <p:sp>
        <p:nvSpPr>
          <p:cNvPr id="21" name="symbol-legend-meaning-2">
            <a:extLst>
              <a:ext uri="{FF2B5EF4-FFF2-40B4-BE49-F238E27FC236}">
                <a16:creationId xmlns:a16="http://schemas.microsoft.com/office/drawing/2014/main" id="{A62B903C-D617-8425-BC06-B6A266EE453E}"/>
              </a:ext>
            </a:extLst>
          </p:cNvPr>
          <p:cNvSpPr>
            <a:spLocks noGrp="1"/>
          </p:cNvSpPr>
          <p:nvPr/>
        </p:nvSpPr>
        <p:spPr>
          <a:xfrm>
            <a:off x="9048750" y="2571750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95">
                <a:solidFill>
                  <a:srgbClr val="44546A"/>
                </a:solidFill>
              </a:defRPr>
            </a:pPr>
            <a:r>
              <a:rPr sz="1095" dirty="0">
                <a:solidFill>
                  <a:srgbClr val="001B69"/>
                </a:solidFill>
              </a:rPr>
              <a:t>Calcium variable</a:t>
            </a:r>
          </a:p>
        </p:txBody>
      </p:sp>
      <p:sp>
        <p:nvSpPr>
          <p:cNvPr id="23" name="symbol-legend-rule-2">
            <a:extLst>
              <a:ext uri="{FF2B5EF4-FFF2-40B4-BE49-F238E27FC236}">
                <a16:creationId xmlns:a16="http://schemas.microsoft.com/office/drawing/2014/main" id="{E7894426-3158-F668-8C3A-B6BF3D9B6A20}"/>
              </a:ext>
            </a:extLst>
          </p:cNvPr>
          <p:cNvSpPr>
            <a:spLocks noGrp="1"/>
          </p:cNvSpPr>
          <p:nvPr/>
        </p:nvSpPr>
        <p:spPr>
          <a:xfrm>
            <a:off x="8067675" y="2143125"/>
            <a:ext cx="3286125" cy="9525"/>
          </a:xfrm>
          <a:prstGeom prst="rect">
            <a:avLst/>
          </a:prstGeom>
          <a:solidFill>
            <a:srgbClr val="D9E2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ymbol-legend-symbol-3">
            <a:extLst>
              <a:ext uri="{FF2B5EF4-FFF2-40B4-BE49-F238E27FC236}">
                <a16:creationId xmlns:a16="http://schemas.microsoft.com/office/drawing/2014/main" id="{4CB09262-2F88-6EF0-0E59-D5B67724478D}"/>
              </a:ext>
            </a:extLst>
          </p:cNvPr>
          <p:cNvSpPr>
            <a:spLocks noGrp="1"/>
          </p:cNvSpPr>
          <p:nvPr/>
        </p:nvSpPr>
        <p:spPr>
          <a:xfrm>
            <a:off x="8067675" y="3657600"/>
            <a:ext cx="885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70" b="1">
                <a:solidFill>
                  <a:srgbClr val="2F75B5"/>
                </a:solidFill>
              </a:defRPr>
            </a:pPr>
            <a:r>
              <a:rPr sz="1170" b="1">
                <a:solidFill>
                  <a:srgbClr val="2F75B5"/>
                </a:solidFill>
              </a:rPr>
              <a:t>w</a:t>
            </a:r>
          </a:p>
        </p:txBody>
      </p:sp>
      <p:sp>
        <p:nvSpPr>
          <p:cNvPr id="27" name="symbol-legend-meaning-3">
            <a:extLst>
              <a:ext uri="{FF2B5EF4-FFF2-40B4-BE49-F238E27FC236}">
                <a16:creationId xmlns:a16="http://schemas.microsoft.com/office/drawing/2014/main" id="{EC77EDD1-4C33-C194-2F39-67F72BDBDC85}"/>
              </a:ext>
            </a:extLst>
          </p:cNvPr>
          <p:cNvSpPr>
            <a:spLocks noGrp="1"/>
          </p:cNvSpPr>
          <p:nvPr/>
        </p:nvSpPr>
        <p:spPr>
          <a:xfrm>
            <a:off x="9048750" y="3657600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95">
                <a:solidFill>
                  <a:srgbClr val="44546A"/>
                </a:solidFill>
              </a:defRPr>
            </a:pPr>
            <a:r>
              <a:rPr sz="1095" dirty="0">
                <a:solidFill>
                  <a:srgbClr val="001B69"/>
                </a:solidFill>
              </a:rPr>
              <a:t>Synaptic weight</a:t>
            </a:r>
          </a:p>
        </p:txBody>
      </p:sp>
      <p:sp>
        <p:nvSpPr>
          <p:cNvPr id="29" name="symbol-legend-rule-3">
            <a:extLst>
              <a:ext uri="{FF2B5EF4-FFF2-40B4-BE49-F238E27FC236}">
                <a16:creationId xmlns:a16="http://schemas.microsoft.com/office/drawing/2014/main" id="{1186D59B-3D27-E231-9D99-1D50F5A28EA3}"/>
              </a:ext>
            </a:extLst>
          </p:cNvPr>
          <p:cNvSpPr>
            <a:spLocks noGrp="1"/>
          </p:cNvSpPr>
          <p:nvPr/>
        </p:nvSpPr>
        <p:spPr>
          <a:xfrm>
            <a:off x="8067675" y="2505075"/>
            <a:ext cx="3286125" cy="9525"/>
          </a:xfrm>
          <a:prstGeom prst="rect">
            <a:avLst/>
          </a:prstGeom>
          <a:solidFill>
            <a:srgbClr val="D9E2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ymbol-legend-symbol-4">
            <a:extLst>
              <a:ext uri="{FF2B5EF4-FFF2-40B4-BE49-F238E27FC236}">
                <a16:creationId xmlns:a16="http://schemas.microsoft.com/office/drawing/2014/main" id="{1177FF95-2804-C7FC-C540-D7A6BDE3790A}"/>
              </a:ext>
            </a:extLst>
          </p:cNvPr>
          <p:cNvSpPr>
            <a:spLocks noGrp="1"/>
          </p:cNvSpPr>
          <p:nvPr/>
        </p:nvSpPr>
        <p:spPr>
          <a:xfrm>
            <a:off x="8067675" y="4381500"/>
            <a:ext cx="885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70" b="1">
                <a:solidFill>
                  <a:srgbClr val="2F75B5"/>
                </a:solidFill>
              </a:defRPr>
            </a:pPr>
            <a:r>
              <a:rPr sz="1170" b="1" dirty="0">
                <a:solidFill>
                  <a:srgbClr val="2F75B5"/>
                </a:solidFill>
              </a:rPr>
              <a:t>θₘ</a:t>
            </a:r>
          </a:p>
        </p:txBody>
      </p:sp>
      <p:sp>
        <p:nvSpPr>
          <p:cNvPr id="33" name="symbol-legend-meaning-4">
            <a:extLst>
              <a:ext uri="{FF2B5EF4-FFF2-40B4-BE49-F238E27FC236}">
                <a16:creationId xmlns:a16="http://schemas.microsoft.com/office/drawing/2014/main" id="{96D927B1-8A05-A905-DC01-BF810D948A71}"/>
              </a:ext>
            </a:extLst>
          </p:cNvPr>
          <p:cNvSpPr>
            <a:spLocks noGrp="1"/>
          </p:cNvSpPr>
          <p:nvPr/>
        </p:nvSpPr>
        <p:spPr>
          <a:xfrm>
            <a:off x="9048750" y="4381500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95">
                <a:solidFill>
                  <a:srgbClr val="44546A"/>
                </a:solidFill>
              </a:defRPr>
            </a:pPr>
            <a:r>
              <a:rPr sz="1095" dirty="0">
                <a:solidFill>
                  <a:srgbClr val="001B69"/>
                </a:solidFill>
              </a:rPr>
              <a:t>Membrane-voltage threshold</a:t>
            </a:r>
          </a:p>
        </p:txBody>
      </p:sp>
      <p:sp>
        <p:nvSpPr>
          <p:cNvPr id="35" name="symbol-legend-rule-4">
            <a:extLst>
              <a:ext uri="{FF2B5EF4-FFF2-40B4-BE49-F238E27FC236}">
                <a16:creationId xmlns:a16="http://schemas.microsoft.com/office/drawing/2014/main" id="{9D5D9E3A-C926-E603-8BC2-0D79414D3EF8}"/>
              </a:ext>
            </a:extLst>
          </p:cNvPr>
          <p:cNvSpPr>
            <a:spLocks noGrp="1"/>
          </p:cNvSpPr>
          <p:nvPr/>
        </p:nvSpPr>
        <p:spPr>
          <a:xfrm>
            <a:off x="8067675" y="2867025"/>
            <a:ext cx="3286125" cy="9525"/>
          </a:xfrm>
          <a:prstGeom prst="rect">
            <a:avLst/>
          </a:prstGeom>
          <a:solidFill>
            <a:srgbClr val="D9E2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ymbol-legend-symbol-5">
            <a:extLst>
              <a:ext uri="{FF2B5EF4-FFF2-40B4-BE49-F238E27FC236}">
                <a16:creationId xmlns:a16="http://schemas.microsoft.com/office/drawing/2014/main" id="{1B00C830-AC73-238E-1E93-79FECA33C755}"/>
              </a:ext>
            </a:extLst>
          </p:cNvPr>
          <p:cNvSpPr>
            <a:spLocks noGrp="1"/>
          </p:cNvSpPr>
          <p:nvPr/>
        </p:nvSpPr>
        <p:spPr>
          <a:xfrm>
            <a:off x="8067675" y="4743450"/>
            <a:ext cx="885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70" b="1">
                <a:solidFill>
                  <a:srgbClr val="2F75B5"/>
                </a:solidFill>
              </a:defRPr>
            </a:pPr>
            <a:r>
              <a:rPr sz="1170" b="1" dirty="0">
                <a:solidFill>
                  <a:srgbClr val="2F75B5"/>
                </a:solidFill>
              </a:rPr>
              <a:t>θ₁, θ₂, θ₃</a:t>
            </a:r>
          </a:p>
        </p:txBody>
      </p:sp>
      <p:sp>
        <p:nvSpPr>
          <p:cNvPr id="39" name="symbol-legend-meaning-5">
            <a:extLst>
              <a:ext uri="{FF2B5EF4-FFF2-40B4-BE49-F238E27FC236}">
                <a16:creationId xmlns:a16="http://schemas.microsoft.com/office/drawing/2014/main" id="{88E328F8-44CA-91A8-3DA0-1C99A0C03459}"/>
              </a:ext>
            </a:extLst>
          </p:cNvPr>
          <p:cNvSpPr>
            <a:spLocks noGrp="1"/>
          </p:cNvSpPr>
          <p:nvPr/>
        </p:nvSpPr>
        <p:spPr>
          <a:xfrm>
            <a:off x="9048750" y="4743450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95">
                <a:solidFill>
                  <a:srgbClr val="44546A"/>
                </a:solidFill>
              </a:defRPr>
            </a:pPr>
            <a:r>
              <a:rPr sz="1095" dirty="0">
                <a:solidFill>
                  <a:srgbClr val="001B69"/>
                </a:solidFill>
              </a:rPr>
              <a:t>Calcium-variable thresholds</a:t>
            </a:r>
          </a:p>
        </p:txBody>
      </p:sp>
      <p:sp>
        <p:nvSpPr>
          <p:cNvPr id="41" name="symbol-legend-rule-5">
            <a:extLst>
              <a:ext uri="{FF2B5EF4-FFF2-40B4-BE49-F238E27FC236}">
                <a16:creationId xmlns:a16="http://schemas.microsoft.com/office/drawing/2014/main" id="{D212BB47-0E6F-484D-A413-F712F83AC556}"/>
              </a:ext>
            </a:extLst>
          </p:cNvPr>
          <p:cNvSpPr>
            <a:spLocks noGrp="1"/>
          </p:cNvSpPr>
          <p:nvPr/>
        </p:nvSpPr>
        <p:spPr>
          <a:xfrm>
            <a:off x="8067675" y="3228975"/>
            <a:ext cx="3286125" cy="9525"/>
          </a:xfrm>
          <a:prstGeom prst="rect">
            <a:avLst/>
          </a:prstGeom>
          <a:solidFill>
            <a:srgbClr val="D9E2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ymbol-legend-symbol-6">
            <a:extLst>
              <a:ext uri="{FF2B5EF4-FFF2-40B4-BE49-F238E27FC236}">
                <a16:creationId xmlns:a16="http://schemas.microsoft.com/office/drawing/2014/main" id="{AE4E6329-2916-236A-5342-0A90741A7411}"/>
              </a:ext>
            </a:extLst>
          </p:cNvPr>
          <p:cNvSpPr>
            <a:spLocks noGrp="1"/>
          </p:cNvSpPr>
          <p:nvPr/>
        </p:nvSpPr>
        <p:spPr>
          <a:xfrm>
            <a:off x="8067675" y="1847850"/>
            <a:ext cx="885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70" b="1">
                <a:solidFill>
                  <a:srgbClr val="2F75B5"/>
                </a:solidFill>
              </a:defRPr>
            </a:pPr>
            <a:r>
              <a:rPr sz="1170" b="1">
                <a:solidFill>
                  <a:srgbClr val="2F75B5"/>
                </a:solidFill>
              </a:rPr>
              <a:t>λ</a:t>
            </a:r>
          </a:p>
        </p:txBody>
      </p:sp>
      <p:sp>
        <p:nvSpPr>
          <p:cNvPr id="45" name="symbol-legend-meaning-6">
            <a:extLst>
              <a:ext uri="{FF2B5EF4-FFF2-40B4-BE49-F238E27FC236}">
                <a16:creationId xmlns:a16="http://schemas.microsoft.com/office/drawing/2014/main" id="{734E1263-D17E-2753-7FEE-8106D2A79F8E}"/>
              </a:ext>
            </a:extLst>
          </p:cNvPr>
          <p:cNvSpPr>
            <a:spLocks noGrp="1"/>
          </p:cNvSpPr>
          <p:nvPr/>
        </p:nvSpPr>
        <p:spPr>
          <a:xfrm>
            <a:off x="9048750" y="1847850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95">
                <a:solidFill>
                  <a:srgbClr val="44546A"/>
                </a:solidFill>
              </a:defRPr>
            </a:pPr>
            <a:r>
              <a:rPr sz="1095" dirty="0">
                <a:solidFill>
                  <a:srgbClr val="001B69"/>
                </a:solidFill>
              </a:rPr>
              <a:t>Membrane leakage term</a:t>
            </a:r>
          </a:p>
        </p:txBody>
      </p:sp>
      <p:sp>
        <p:nvSpPr>
          <p:cNvPr id="47" name="symbol-legend-rule-6">
            <a:extLst>
              <a:ext uri="{FF2B5EF4-FFF2-40B4-BE49-F238E27FC236}">
                <a16:creationId xmlns:a16="http://schemas.microsoft.com/office/drawing/2014/main" id="{C58BB811-8037-E3BD-F9F0-8171E5420374}"/>
              </a:ext>
            </a:extLst>
          </p:cNvPr>
          <p:cNvSpPr>
            <a:spLocks noGrp="1"/>
          </p:cNvSpPr>
          <p:nvPr/>
        </p:nvSpPr>
        <p:spPr>
          <a:xfrm>
            <a:off x="8067675" y="3590925"/>
            <a:ext cx="3286125" cy="9525"/>
          </a:xfrm>
          <a:prstGeom prst="rect">
            <a:avLst/>
          </a:prstGeom>
          <a:solidFill>
            <a:srgbClr val="D9E2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ymbol-legend-symbol-7">
            <a:extLst>
              <a:ext uri="{FF2B5EF4-FFF2-40B4-BE49-F238E27FC236}">
                <a16:creationId xmlns:a16="http://schemas.microsoft.com/office/drawing/2014/main" id="{0E0DB07A-C93C-8D59-05D6-F54B9ED821F5}"/>
              </a:ext>
            </a:extLst>
          </p:cNvPr>
          <p:cNvSpPr>
            <a:spLocks noGrp="1"/>
          </p:cNvSpPr>
          <p:nvPr/>
        </p:nvSpPr>
        <p:spPr>
          <a:xfrm>
            <a:off x="8067675" y="2209800"/>
            <a:ext cx="885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70" b="1">
                <a:solidFill>
                  <a:srgbClr val="2F75B5"/>
                </a:solidFill>
              </a:defRPr>
            </a:pPr>
            <a:r>
              <a:rPr sz="1170" b="1" dirty="0">
                <a:solidFill>
                  <a:srgbClr val="2F75B5"/>
                </a:solidFill>
              </a:rPr>
              <a:t>I(t)</a:t>
            </a:r>
          </a:p>
        </p:txBody>
      </p:sp>
      <p:sp>
        <p:nvSpPr>
          <p:cNvPr id="51" name="symbol-legend-meaning-7">
            <a:extLst>
              <a:ext uri="{FF2B5EF4-FFF2-40B4-BE49-F238E27FC236}">
                <a16:creationId xmlns:a16="http://schemas.microsoft.com/office/drawing/2014/main" id="{1239D5A0-D4D7-CD4B-7A37-EEA764C3F39C}"/>
              </a:ext>
            </a:extLst>
          </p:cNvPr>
          <p:cNvSpPr>
            <a:spLocks noGrp="1"/>
          </p:cNvSpPr>
          <p:nvPr/>
        </p:nvSpPr>
        <p:spPr>
          <a:xfrm>
            <a:off x="9048750" y="2209800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95">
                <a:solidFill>
                  <a:srgbClr val="44546A"/>
                </a:solidFill>
              </a:defRPr>
            </a:pPr>
            <a:r>
              <a:rPr sz="1095" dirty="0">
                <a:solidFill>
                  <a:srgbClr val="001B69"/>
                </a:solidFill>
              </a:rPr>
              <a:t>Input current at time t</a:t>
            </a:r>
          </a:p>
        </p:txBody>
      </p:sp>
      <p:sp>
        <p:nvSpPr>
          <p:cNvPr id="53" name="symbol-legend-rule-7">
            <a:extLst>
              <a:ext uri="{FF2B5EF4-FFF2-40B4-BE49-F238E27FC236}">
                <a16:creationId xmlns:a16="http://schemas.microsoft.com/office/drawing/2014/main" id="{6E84C7F7-D82F-F417-3242-8D8D8AB266E1}"/>
              </a:ext>
            </a:extLst>
          </p:cNvPr>
          <p:cNvSpPr>
            <a:spLocks noGrp="1"/>
          </p:cNvSpPr>
          <p:nvPr/>
        </p:nvSpPr>
        <p:spPr>
          <a:xfrm>
            <a:off x="8067675" y="3952875"/>
            <a:ext cx="3286125" cy="9525"/>
          </a:xfrm>
          <a:prstGeom prst="rect">
            <a:avLst/>
          </a:prstGeom>
          <a:solidFill>
            <a:srgbClr val="D9E2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ymbol-legend-symbol-8">
            <a:extLst>
              <a:ext uri="{FF2B5EF4-FFF2-40B4-BE49-F238E27FC236}">
                <a16:creationId xmlns:a16="http://schemas.microsoft.com/office/drawing/2014/main" id="{3465E54D-CA57-420A-9E72-DC7B735A0FAF}"/>
              </a:ext>
            </a:extLst>
          </p:cNvPr>
          <p:cNvSpPr>
            <a:spLocks noGrp="1"/>
          </p:cNvSpPr>
          <p:nvPr/>
        </p:nvSpPr>
        <p:spPr>
          <a:xfrm>
            <a:off x="8067675" y="4019550"/>
            <a:ext cx="885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70" b="1">
                <a:solidFill>
                  <a:srgbClr val="2F75B5"/>
                </a:solidFill>
              </a:defRPr>
            </a:pPr>
            <a:r>
              <a:rPr sz="1170" b="1">
                <a:solidFill>
                  <a:srgbClr val="2F75B5"/>
                </a:solidFill>
              </a:rPr>
              <a:t>t_pre</a:t>
            </a:r>
          </a:p>
        </p:txBody>
      </p:sp>
      <p:sp>
        <p:nvSpPr>
          <p:cNvPr id="57" name="symbol-legend-meaning-8">
            <a:extLst>
              <a:ext uri="{FF2B5EF4-FFF2-40B4-BE49-F238E27FC236}">
                <a16:creationId xmlns:a16="http://schemas.microsoft.com/office/drawing/2014/main" id="{1CCA59E5-44D5-9EB8-8175-005BEB892E98}"/>
              </a:ext>
            </a:extLst>
          </p:cNvPr>
          <p:cNvSpPr>
            <a:spLocks noGrp="1"/>
          </p:cNvSpPr>
          <p:nvPr/>
        </p:nvSpPr>
        <p:spPr>
          <a:xfrm>
            <a:off x="9048750" y="4019550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95">
                <a:solidFill>
                  <a:srgbClr val="44546A"/>
                </a:solidFill>
              </a:defRPr>
            </a:pPr>
            <a:r>
              <a:rPr sz="1095" dirty="0">
                <a:solidFill>
                  <a:srgbClr val="001B69"/>
                </a:solidFill>
              </a:rPr>
              <a:t>Presynaptic </a:t>
            </a:r>
            <a:r>
              <a:rPr lang="en-US" altLang="zh-CN" sz="1095" dirty="0">
                <a:solidFill>
                  <a:srgbClr val="001B69"/>
                </a:solidFill>
              </a:rPr>
              <a:t>spike arrival</a:t>
            </a:r>
            <a:r>
              <a:rPr sz="1095" dirty="0">
                <a:solidFill>
                  <a:srgbClr val="001B69"/>
                </a:solidFill>
              </a:rPr>
              <a:t> time</a:t>
            </a:r>
          </a:p>
        </p:txBody>
      </p:sp>
      <p:sp>
        <p:nvSpPr>
          <p:cNvPr id="59" name="symbol-legend-rule-8">
            <a:extLst>
              <a:ext uri="{FF2B5EF4-FFF2-40B4-BE49-F238E27FC236}">
                <a16:creationId xmlns:a16="http://schemas.microsoft.com/office/drawing/2014/main" id="{FBF70203-D6E2-80C2-BC56-2AF1DA2142BE}"/>
              </a:ext>
            </a:extLst>
          </p:cNvPr>
          <p:cNvSpPr>
            <a:spLocks noGrp="1"/>
          </p:cNvSpPr>
          <p:nvPr/>
        </p:nvSpPr>
        <p:spPr>
          <a:xfrm>
            <a:off x="8067675" y="4314825"/>
            <a:ext cx="3286125" cy="9525"/>
          </a:xfrm>
          <a:prstGeom prst="rect">
            <a:avLst/>
          </a:prstGeom>
          <a:solidFill>
            <a:srgbClr val="D9E2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ymbol-legend-symbol-9">
            <a:extLst>
              <a:ext uri="{FF2B5EF4-FFF2-40B4-BE49-F238E27FC236}">
                <a16:creationId xmlns:a16="http://schemas.microsoft.com/office/drawing/2014/main" id="{F35589B4-207B-1EA4-A399-AD8FC50A1125}"/>
              </a:ext>
            </a:extLst>
          </p:cNvPr>
          <p:cNvSpPr>
            <a:spLocks noGrp="1"/>
          </p:cNvSpPr>
          <p:nvPr/>
        </p:nvSpPr>
        <p:spPr>
          <a:xfrm>
            <a:off x="8067675" y="2933700"/>
            <a:ext cx="885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70" b="1">
                <a:solidFill>
                  <a:srgbClr val="2F75B5"/>
                </a:solidFill>
              </a:defRPr>
            </a:pPr>
            <a:r>
              <a:rPr sz="1170" b="1" dirty="0" err="1">
                <a:solidFill>
                  <a:srgbClr val="2F75B5"/>
                </a:solidFill>
              </a:rPr>
              <a:t>spk_post</a:t>
            </a:r>
            <a:endParaRPr sz="1170" b="1" dirty="0">
              <a:solidFill>
                <a:srgbClr val="2F75B5"/>
              </a:solidFill>
            </a:endParaRPr>
          </a:p>
        </p:txBody>
      </p:sp>
      <p:sp>
        <p:nvSpPr>
          <p:cNvPr id="63" name="symbol-legend-meaning-9">
            <a:extLst>
              <a:ext uri="{FF2B5EF4-FFF2-40B4-BE49-F238E27FC236}">
                <a16:creationId xmlns:a16="http://schemas.microsoft.com/office/drawing/2014/main" id="{0889CB29-5BFF-80E1-7E7C-26EA3FE4EF38}"/>
              </a:ext>
            </a:extLst>
          </p:cNvPr>
          <p:cNvSpPr>
            <a:spLocks noGrp="1"/>
          </p:cNvSpPr>
          <p:nvPr/>
        </p:nvSpPr>
        <p:spPr>
          <a:xfrm>
            <a:off x="9048750" y="2933700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95">
                <a:solidFill>
                  <a:srgbClr val="44546A"/>
                </a:solidFill>
              </a:defRPr>
            </a:pPr>
            <a:r>
              <a:rPr sz="1095" dirty="0">
                <a:solidFill>
                  <a:srgbClr val="001B69"/>
                </a:solidFill>
              </a:rPr>
              <a:t>Postsynaptic-spike indicator</a:t>
            </a:r>
          </a:p>
        </p:txBody>
      </p:sp>
      <p:sp>
        <p:nvSpPr>
          <p:cNvPr id="65" name="symbol-legend-rule-9">
            <a:extLst>
              <a:ext uri="{FF2B5EF4-FFF2-40B4-BE49-F238E27FC236}">
                <a16:creationId xmlns:a16="http://schemas.microsoft.com/office/drawing/2014/main" id="{C3140E4F-B6C7-6E6E-A49D-998356292281}"/>
              </a:ext>
            </a:extLst>
          </p:cNvPr>
          <p:cNvSpPr>
            <a:spLocks noGrp="1"/>
          </p:cNvSpPr>
          <p:nvPr/>
        </p:nvSpPr>
        <p:spPr>
          <a:xfrm>
            <a:off x="8067675" y="4676775"/>
            <a:ext cx="3286125" cy="9525"/>
          </a:xfrm>
          <a:prstGeom prst="rect">
            <a:avLst/>
          </a:prstGeom>
          <a:solidFill>
            <a:srgbClr val="D9E2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ymbol-legend-symbol-10">
            <a:extLst>
              <a:ext uri="{FF2B5EF4-FFF2-40B4-BE49-F238E27FC236}">
                <a16:creationId xmlns:a16="http://schemas.microsoft.com/office/drawing/2014/main" id="{AFA84C16-44E4-CE61-5A5E-4272AD0B8350}"/>
              </a:ext>
            </a:extLst>
          </p:cNvPr>
          <p:cNvSpPr>
            <a:spLocks noGrp="1"/>
          </p:cNvSpPr>
          <p:nvPr/>
        </p:nvSpPr>
        <p:spPr>
          <a:xfrm>
            <a:off x="8067675" y="3295650"/>
            <a:ext cx="885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70" b="1">
                <a:solidFill>
                  <a:srgbClr val="2F75B5"/>
                </a:solidFill>
              </a:defRPr>
            </a:pPr>
            <a:r>
              <a:rPr sz="1170" b="1" dirty="0" err="1">
                <a:solidFill>
                  <a:srgbClr val="2F75B5"/>
                </a:solidFill>
              </a:rPr>
              <a:t>time_ref</a:t>
            </a:r>
            <a:endParaRPr sz="1170" b="1" dirty="0">
              <a:solidFill>
                <a:srgbClr val="2F75B5"/>
              </a:solidFill>
            </a:endParaRPr>
          </a:p>
        </p:txBody>
      </p:sp>
      <p:sp>
        <p:nvSpPr>
          <p:cNvPr id="69" name="symbol-legend-meaning-10">
            <a:extLst>
              <a:ext uri="{FF2B5EF4-FFF2-40B4-BE49-F238E27FC236}">
                <a16:creationId xmlns:a16="http://schemas.microsoft.com/office/drawing/2014/main" id="{091C3632-A041-8D12-8549-6E5D59834142}"/>
              </a:ext>
            </a:extLst>
          </p:cNvPr>
          <p:cNvSpPr>
            <a:spLocks noGrp="1"/>
          </p:cNvSpPr>
          <p:nvPr/>
        </p:nvSpPr>
        <p:spPr>
          <a:xfrm>
            <a:off x="9048750" y="3295650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95">
                <a:solidFill>
                  <a:srgbClr val="44546A"/>
                </a:solidFill>
              </a:defRPr>
            </a:pPr>
            <a:r>
              <a:rPr sz="1095" dirty="0">
                <a:solidFill>
                  <a:srgbClr val="001B69"/>
                </a:solidFill>
              </a:rPr>
              <a:t>Reference event for C decay</a:t>
            </a:r>
          </a:p>
        </p:txBody>
      </p:sp>
      <p:sp>
        <p:nvSpPr>
          <p:cNvPr id="71" name="symbol-legend-rule-10">
            <a:extLst>
              <a:ext uri="{FF2B5EF4-FFF2-40B4-BE49-F238E27FC236}">
                <a16:creationId xmlns:a16="http://schemas.microsoft.com/office/drawing/2014/main" id="{46EEAC6C-556F-A179-D749-2B178F343C95}"/>
              </a:ext>
            </a:extLst>
          </p:cNvPr>
          <p:cNvSpPr>
            <a:spLocks noGrp="1"/>
          </p:cNvSpPr>
          <p:nvPr/>
        </p:nvSpPr>
        <p:spPr>
          <a:xfrm>
            <a:off x="8067675" y="5038725"/>
            <a:ext cx="3286125" cy="9525"/>
          </a:xfrm>
          <a:prstGeom prst="rect">
            <a:avLst/>
          </a:prstGeom>
          <a:solidFill>
            <a:srgbClr val="D9E2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ymbol-legend-symbol-11">
            <a:extLst>
              <a:ext uri="{FF2B5EF4-FFF2-40B4-BE49-F238E27FC236}">
                <a16:creationId xmlns:a16="http://schemas.microsoft.com/office/drawing/2014/main" id="{43C6EF61-A52C-8295-336D-70EAE0758F79}"/>
              </a:ext>
            </a:extLst>
          </p:cNvPr>
          <p:cNvSpPr>
            <a:spLocks noGrp="1"/>
          </p:cNvSpPr>
          <p:nvPr/>
        </p:nvSpPr>
        <p:spPr>
          <a:xfrm>
            <a:off x="8067675" y="5562600"/>
            <a:ext cx="885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70" b="1">
                <a:solidFill>
                  <a:srgbClr val="2F75B5"/>
                </a:solidFill>
              </a:defRPr>
            </a:pPr>
            <a:r>
              <a:rPr sz="1170" b="1">
                <a:solidFill>
                  <a:srgbClr val="2F75B5"/>
                </a:solidFill>
              </a:rPr>
              <a:t>bist</a:t>
            </a:r>
          </a:p>
        </p:txBody>
      </p:sp>
      <p:sp>
        <p:nvSpPr>
          <p:cNvPr id="75" name="symbol-legend-meaning-11">
            <a:extLst>
              <a:ext uri="{FF2B5EF4-FFF2-40B4-BE49-F238E27FC236}">
                <a16:creationId xmlns:a16="http://schemas.microsoft.com/office/drawing/2014/main" id="{07EF5F1C-EFEE-B98B-EFB7-12B4DC7C9102}"/>
              </a:ext>
            </a:extLst>
          </p:cNvPr>
          <p:cNvSpPr>
            <a:spLocks noGrp="1"/>
          </p:cNvSpPr>
          <p:nvPr/>
        </p:nvSpPr>
        <p:spPr>
          <a:xfrm>
            <a:off x="9048750" y="5562600"/>
            <a:ext cx="2305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95">
                <a:solidFill>
                  <a:srgbClr val="44546A"/>
                </a:solidFill>
              </a:defRPr>
            </a:pPr>
            <a:r>
              <a:rPr sz="1095" dirty="0" err="1">
                <a:solidFill>
                  <a:srgbClr val="001B69"/>
                </a:solidFill>
              </a:rPr>
              <a:t>Bistability</a:t>
            </a:r>
            <a:r>
              <a:rPr sz="1095" dirty="0">
                <a:solidFill>
                  <a:srgbClr val="001B69"/>
                </a:solidFill>
              </a:rPr>
              <a:t> control signal</a:t>
            </a:r>
          </a:p>
        </p:txBody>
      </p:sp>
      <p:sp>
        <p:nvSpPr>
          <p:cNvPr id="77" name="symbol-legend-rule-11">
            <a:extLst>
              <a:ext uri="{FF2B5EF4-FFF2-40B4-BE49-F238E27FC236}">
                <a16:creationId xmlns:a16="http://schemas.microsoft.com/office/drawing/2014/main" id="{04F09710-DF95-0388-390C-AEEEB7497003}"/>
              </a:ext>
            </a:extLst>
          </p:cNvPr>
          <p:cNvSpPr>
            <a:spLocks noGrp="1"/>
          </p:cNvSpPr>
          <p:nvPr/>
        </p:nvSpPr>
        <p:spPr>
          <a:xfrm>
            <a:off x="8067675" y="5495925"/>
            <a:ext cx="3286125" cy="9525"/>
          </a:xfrm>
          <a:prstGeom prst="rect">
            <a:avLst/>
          </a:prstGeom>
          <a:solidFill>
            <a:srgbClr val="D9E2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ymbol-legend-symbol-12">
            <a:extLst>
              <a:ext uri="{FF2B5EF4-FFF2-40B4-BE49-F238E27FC236}">
                <a16:creationId xmlns:a16="http://schemas.microsoft.com/office/drawing/2014/main" id="{0E5451BE-966D-3516-E64D-DF5CABE09349}"/>
              </a:ext>
            </a:extLst>
          </p:cNvPr>
          <p:cNvSpPr>
            <a:spLocks noGrp="1"/>
          </p:cNvSpPr>
          <p:nvPr/>
        </p:nvSpPr>
        <p:spPr>
          <a:xfrm>
            <a:off x="8067675" y="5105400"/>
            <a:ext cx="885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70" b="1">
                <a:solidFill>
                  <a:srgbClr val="2F75B5"/>
                </a:solidFill>
              </a:defRPr>
            </a:pPr>
            <a:r>
              <a:rPr sz="1170" b="1" dirty="0">
                <a:solidFill>
                  <a:srgbClr val="2F75B5"/>
                </a:solidFill>
              </a:rPr>
              <a:t>n; w[n−1]</a:t>
            </a:r>
          </a:p>
        </p:txBody>
      </p:sp>
      <p:sp>
        <p:nvSpPr>
          <p:cNvPr id="81" name="symbol-legend-meaning-12">
            <a:extLst>
              <a:ext uri="{FF2B5EF4-FFF2-40B4-BE49-F238E27FC236}">
                <a16:creationId xmlns:a16="http://schemas.microsoft.com/office/drawing/2014/main" id="{F6E6E634-BCED-653E-EB44-BBD0AFD5C509}"/>
              </a:ext>
            </a:extLst>
          </p:cNvPr>
          <p:cNvSpPr>
            <a:spLocks noGrp="1"/>
          </p:cNvSpPr>
          <p:nvPr/>
        </p:nvSpPr>
        <p:spPr>
          <a:xfrm>
            <a:off x="9048750" y="5105399"/>
            <a:ext cx="2305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95">
                <a:solidFill>
                  <a:srgbClr val="44546A"/>
                </a:solidFill>
              </a:defRPr>
            </a:pPr>
            <a:r>
              <a:rPr sz="1095" dirty="0">
                <a:solidFill>
                  <a:srgbClr val="001B69"/>
                </a:solidFill>
              </a:rPr>
              <a:t>Weight width; most-significant bit</a:t>
            </a:r>
          </a:p>
        </p:txBody>
      </p:sp>
      <p:sp>
        <p:nvSpPr>
          <p:cNvPr id="8" name="Updated page marker">
            <a:extLst>
              <a:ext uri="{FF2B5EF4-FFF2-40B4-BE49-F238E27FC236}">
                <a16:creationId xmlns:a16="http://schemas.microsoft.com/office/drawing/2014/main" id="{D38D3B14-4BCF-07A5-5ED0-00CC8116CD3B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10/29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428632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  <p:bldP spid="4" grpId="0"/>
      <p:bldP spid="9" grpId="0"/>
      <p:bldP spid="13" grpId="0"/>
      <p:bldP spid="15" grpId="0"/>
      <p:bldP spid="19" grpId="0"/>
      <p:bldP spid="21" grpId="0"/>
      <p:bldP spid="25" grpId="0"/>
      <p:bldP spid="27" grpId="0"/>
      <p:bldP spid="31" grpId="0"/>
      <p:bldP spid="33" grpId="0"/>
      <p:bldP spid="37" grpId="0"/>
      <p:bldP spid="39" grpId="0"/>
      <p:bldP spid="43" grpId="0"/>
      <p:bldP spid="45" grpId="0"/>
      <p:bldP spid="49" grpId="0"/>
      <p:bldP spid="51" grpId="0"/>
      <p:bldP spid="55" grpId="0"/>
      <p:bldP spid="57" grpId="0"/>
      <p:bldP spid="61" grpId="0"/>
      <p:bldP spid="63" grpId="0"/>
      <p:bldP spid="67" grpId="0"/>
      <p:bldP spid="69" grpId="0"/>
      <p:bldP spid="73" grpId="0"/>
      <p:bldP spid="75" grpId="0"/>
      <p:bldP spid="79" grpId="0"/>
      <p:bldP spid="8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0AA15-FD78-9E68-CD95-3CAC55E1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2743200"/>
            <a:ext cx="10439400" cy="914400"/>
          </a:xfrm>
        </p:spPr>
        <p:txBody>
          <a:bodyPr lIns="0" tIns="0" rIns="0" bIns="0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Design &amp; Implementation</a:t>
            </a:r>
          </a:p>
        </p:txBody>
      </p:sp>
      <p:sp>
        <p:nvSpPr>
          <p:cNvPr id="3" name="Section number">
            <a:extLst>
              <a:ext uri="{FF2B5EF4-FFF2-40B4-BE49-F238E27FC236}">
                <a16:creationId xmlns:a16="http://schemas.microsoft.com/office/drawing/2014/main" id="{6D3282C5-02B6-45DC-BC1A-BBE701243293}"/>
              </a:ext>
            </a:extLst>
          </p:cNvPr>
          <p:cNvSpPr>
            <a:spLocks noGrp="1"/>
          </p:cNvSpPr>
          <p:nvPr/>
        </p:nvSpPr>
        <p:spPr>
          <a:xfrm>
            <a:off x="876300" y="2200275"/>
            <a:ext cx="10439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D9E3F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D9E3F6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5" name="Updated page marker">
            <a:extLst>
              <a:ext uri="{FF2B5EF4-FFF2-40B4-BE49-F238E27FC236}">
                <a16:creationId xmlns:a16="http://schemas.microsoft.com/office/drawing/2014/main" id="{E6D293BE-26FB-47E8-BB9B-C410CC7E10D4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11/29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451105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Online-Learning Integration</a:t>
            </a:r>
          </a:p>
        </p:txBody>
      </p:sp>
      <p:sp>
        <p:nvSpPr>
          <p:cNvPr id="7" name="Updated page marker">
            <a:extLst>
              <a:ext uri="{FF2B5EF4-FFF2-40B4-BE49-F238E27FC236}">
                <a16:creationId xmlns:a16="http://schemas.microsoft.com/office/drawing/2014/main" id="{46CDA7F1-598B-4E3C-8568-10CD51CBB47A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12/29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19" name="Integration-weight-memory">
            <a:extLst>
              <a:ext uri="{FF2B5EF4-FFF2-40B4-BE49-F238E27FC236}">
                <a16:creationId xmlns:a16="http://schemas.microsoft.com/office/drawing/2014/main" id="{F2E3F56D-CD38-D110-A543-2833DD9D00B4}"/>
              </a:ext>
            </a:extLst>
          </p:cNvPr>
          <p:cNvSpPr>
            <a:spLocks noGrp="1"/>
          </p:cNvSpPr>
          <p:nvPr/>
        </p:nvSpPr>
        <p:spPr>
          <a:xfrm>
            <a:off x="2190750" y="2095500"/>
            <a:ext cx="2476500" cy="1047750"/>
          </a:xfrm>
          <a:prstGeom prst="rect">
            <a:avLst/>
          </a:prstGeom>
          <a:solidFill>
            <a:srgbClr val="EFF5FB"/>
          </a:solidFill>
          <a:ln w="22860">
            <a:solidFill>
              <a:srgbClr val="2469A8"/>
            </a:solidFill>
          </a:ln>
        </p:spPr>
        <p:txBody>
          <a:bodyPr lIns="95250" tIns="0" rIns="95250" bIns="0" anchor="ctr">
            <a:noAutofit/>
          </a:bodyPr>
          <a:lstStyle/>
          <a:p>
            <a:pPr algn="ctr">
              <a:def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Weight memory</a:t>
            </a:r>
          </a:p>
        </p:txBody>
      </p:sp>
      <p:sp>
        <p:nvSpPr>
          <p:cNvPr id="20" name="Integration-neurons">
            <a:extLst>
              <a:ext uri="{FF2B5EF4-FFF2-40B4-BE49-F238E27FC236}">
                <a16:creationId xmlns:a16="http://schemas.microsoft.com/office/drawing/2014/main" id="{02BF1D04-E97A-3BD8-B3AC-C0D7252564BC}"/>
              </a:ext>
            </a:extLst>
          </p:cNvPr>
          <p:cNvSpPr>
            <a:spLocks noGrp="1"/>
          </p:cNvSpPr>
          <p:nvPr/>
        </p:nvSpPr>
        <p:spPr>
          <a:xfrm>
            <a:off x="7048500" y="2095500"/>
            <a:ext cx="2476500" cy="1047750"/>
          </a:xfrm>
          <a:prstGeom prst="rect">
            <a:avLst/>
          </a:prstGeom>
          <a:solidFill>
            <a:srgbClr val="EFF5FB"/>
          </a:solidFill>
          <a:ln w="22860">
            <a:solidFill>
              <a:srgbClr val="2469A8"/>
            </a:solidFill>
          </a:ln>
        </p:spPr>
        <p:txBody>
          <a:bodyPr lIns="95250" tIns="0" rIns="95250" bIns="0" anchor="ctr">
            <a:noAutofit/>
          </a:bodyPr>
          <a:lstStyle/>
          <a:p>
            <a:pPr algn="ctr">
              <a:defRPr sz="225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Neurons</a:t>
            </a:r>
          </a:p>
        </p:txBody>
      </p:sp>
      <p:sp>
        <p:nvSpPr>
          <p:cNvPr id="21" name="Integration-sdsp">
            <a:extLst>
              <a:ext uri="{FF2B5EF4-FFF2-40B4-BE49-F238E27FC236}">
                <a16:creationId xmlns:a16="http://schemas.microsoft.com/office/drawing/2014/main" id="{8E3F019B-BA3B-D2D2-B3F6-C0338CAA152B}"/>
              </a:ext>
            </a:extLst>
          </p:cNvPr>
          <p:cNvSpPr>
            <a:spLocks noGrp="1"/>
          </p:cNvSpPr>
          <p:nvPr/>
        </p:nvSpPr>
        <p:spPr>
          <a:xfrm>
            <a:off x="7048500" y="4095750"/>
            <a:ext cx="2476500" cy="952500"/>
          </a:xfrm>
          <a:prstGeom prst="rect">
            <a:avLst/>
          </a:prstGeom>
          <a:solidFill>
            <a:srgbClr val="FFF3E8"/>
          </a:solidFill>
          <a:ln w="22860">
            <a:solidFill>
              <a:srgbClr val="D56B12"/>
            </a:solidFill>
          </a:ln>
        </p:spPr>
        <p:txBody>
          <a:bodyPr lIns="95250" tIns="0" rIns="95250" bIns="0" anchor="ctr">
            <a:noAutofit/>
          </a:bodyPr>
          <a:lstStyle/>
          <a:p>
            <a:pPr algn="ctr">
              <a:defRPr sz="2100" b="1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SDSP update</a:t>
            </a:r>
          </a:p>
        </p:txBody>
      </p:sp>
      <p:sp>
        <p:nvSpPr>
          <p:cNvPr id="22" name="Integration-input">
            <a:extLst>
              <a:ext uri="{FF2B5EF4-FFF2-40B4-BE49-F238E27FC236}">
                <a16:creationId xmlns:a16="http://schemas.microsoft.com/office/drawing/2014/main" id="{52BF4CAD-DA7D-7507-51FA-720B3B03D0AB}"/>
              </a:ext>
            </a:extLst>
          </p:cNvPr>
          <p:cNvSpPr>
            <a:spLocks noGrp="1"/>
          </p:cNvSpPr>
          <p:nvPr/>
        </p:nvSpPr>
        <p:spPr>
          <a:xfrm>
            <a:off x="7048500" y="119062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2469A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469A8"/>
                </a:solidFill>
                <a:latin typeface="Noto Sans"/>
                <a:ea typeface="Noto Sans"/>
                <a:cs typeface="Noto Sans"/>
              </a:rPr>
              <a:t>Input spikes</a:t>
            </a:r>
          </a:p>
        </p:txBody>
      </p:sp>
      <p:sp>
        <p:nvSpPr>
          <p:cNvPr id="23" name="Integration-output">
            <a:extLst>
              <a:ext uri="{FF2B5EF4-FFF2-40B4-BE49-F238E27FC236}">
                <a16:creationId xmlns:a16="http://schemas.microsoft.com/office/drawing/2014/main" id="{5071708A-9C6F-A60C-0BF4-F51E761FCE14}"/>
              </a:ext>
            </a:extLst>
          </p:cNvPr>
          <p:cNvSpPr>
            <a:spLocks noGrp="1"/>
          </p:cNvSpPr>
          <p:nvPr/>
        </p:nvSpPr>
        <p:spPr>
          <a:xfrm>
            <a:off x="9906000" y="2095500"/>
            <a:ext cx="1809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75" b="0">
                <a:solidFill>
                  <a:srgbClr val="2469A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469A8"/>
                </a:solidFill>
                <a:latin typeface="Noto Sans"/>
                <a:ea typeface="Noto Sans"/>
                <a:cs typeface="Noto Sans"/>
              </a:rPr>
              <a:t>Output spikes</a:t>
            </a:r>
          </a:p>
        </p:txBody>
      </p:sp>
      <p:cxnSp>
        <p:nvCxnSpPr>
          <p:cNvPr id="24" name="Integration-weights-flow">
            <a:extLst>
              <a:ext uri="{FF2B5EF4-FFF2-40B4-BE49-F238E27FC236}">
                <a16:creationId xmlns:a16="http://schemas.microsoft.com/office/drawing/2014/main" id="{A4073B5E-9912-C03E-DE32-BF8365FD2411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4667250" y="2619375"/>
            <a:ext cx="2381250" cy="0"/>
          </a:xfrm>
          <a:prstGeom prst="straightConnector1">
            <a:avLst/>
          </a:prstGeom>
          <a:ln w="30480">
            <a:solidFill>
              <a:srgbClr val="2469A8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Integration-input-flow">
            <a:extLst>
              <a:ext uri="{FF2B5EF4-FFF2-40B4-BE49-F238E27FC236}">
                <a16:creationId xmlns:a16="http://schemas.microsoft.com/office/drawing/2014/main" id="{D4B970D7-CF8D-300F-02CC-1F9F43954E85}"/>
              </a:ext>
            </a:extLst>
          </p:cNvPr>
          <p:cNvCxnSpPr>
            <a:stCxn id="22" idx="2"/>
            <a:endCxn id="20" idx="0"/>
          </p:cNvCxnSpPr>
          <p:nvPr/>
        </p:nvCxnSpPr>
        <p:spPr>
          <a:xfrm>
            <a:off x="8286750" y="1590675"/>
            <a:ext cx="0" cy="504825"/>
          </a:xfrm>
          <a:prstGeom prst="straightConnector1">
            <a:avLst/>
          </a:prstGeom>
          <a:ln w="30480">
            <a:solidFill>
              <a:srgbClr val="2469A8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Integration-output-flow">
            <a:extLst>
              <a:ext uri="{FF2B5EF4-FFF2-40B4-BE49-F238E27FC236}">
                <a16:creationId xmlns:a16="http://schemas.microsoft.com/office/drawing/2014/main" id="{31D2BBF5-6A05-553F-2876-144690C53655}"/>
              </a:ext>
            </a:extLst>
          </p:cNvPr>
          <p:cNvCxnSpPr>
            <a:stCxn id="20" idx="3"/>
            <a:endCxn id="23" idx="1"/>
          </p:cNvCxnSpPr>
          <p:nvPr/>
        </p:nvCxnSpPr>
        <p:spPr>
          <a:xfrm>
            <a:off x="9525000" y="2619375"/>
            <a:ext cx="381000" cy="0"/>
          </a:xfrm>
          <a:prstGeom prst="straightConnector1">
            <a:avLst/>
          </a:prstGeom>
          <a:ln w="30480">
            <a:solidFill>
              <a:srgbClr val="2469A8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Integration-neuron-state-flow">
            <a:extLst>
              <a:ext uri="{FF2B5EF4-FFF2-40B4-BE49-F238E27FC236}">
                <a16:creationId xmlns:a16="http://schemas.microsoft.com/office/drawing/2014/main" id="{A32D2080-3FEA-77BD-EBD4-9EB6B1E04573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8286750" y="3143250"/>
            <a:ext cx="0" cy="952500"/>
          </a:xfrm>
          <a:prstGeom prst="straightConnector1">
            <a:avLst/>
          </a:prstGeom>
          <a:ln w="30480">
            <a:solidFill>
              <a:srgbClr val="D56B12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8" name="Integration-writeback-joint">
            <a:extLst>
              <a:ext uri="{FF2B5EF4-FFF2-40B4-BE49-F238E27FC236}">
                <a16:creationId xmlns:a16="http://schemas.microsoft.com/office/drawing/2014/main" id="{11DB1D94-198B-CE38-CE96-5DA22EDCB789}"/>
              </a:ext>
            </a:extLst>
          </p:cNvPr>
          <p:cNvSpPr>
            <a:spLocks noGrp="1"/>
          </p:cNvSpPr>
          <p:nvPr/>
        </p:nvSpPr>
        <p:spPr>
          <a:xfrm>
            <a:off x="3424238" y="45672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30" name="Integration-writeback-vertical">
            <a:extLst>
              <a:ext uri="{FF2B5EF4-FFF2-40B4-BE49-F238E27FC236}">
                <a16:creationId xmlns:a16="http://schemas.microsoft.com/office/drawing/2014/main" id="{093DA2D5-E0BA-11AD-1EAE-7E8AA440E663}"/>
              </a:ext>
            </a:extLst>
          </p:cNvPr>
          <p:cNvCxnSpPr>
            <a:stCxn id="28" idx="0"/>
            <a:endCxn id="19" idx="2"/>
          </p:cNvCxnSpPr>
          <p:nvPr/>
        </p:nvCxnSpPr>
        <p:spPr>
          <a:xfrm flipH="1" flipV="1">
            <a:off x="3429000" y="3143250"/>
            <a:ext cx="1" cy="1423988"/>
          </a:xfrm>
          <a:prstGeom prst="straightConnector1">
            <a:avLst/>
          </a:prstGeom>
          <a:ln w="30480">
            <a:solidFill>
              <a:srgbClr val="D56B12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1" name="Integration-state-label">
            <a:extLst>
              <a:ext uri="{FF2B5EF4-FFF2-40B4-BE49-F238E27FC236}">
                <a16:creationId xmlns:a16="http://schemas.microsoft.com/office/drawing/2014/main" id="{2D4065BE-0165-9934-77F6-2F229FC6BD51}"/>
              </a:ext>
            </a:extLst>
          </p:cNvPr>
          <p:cNvSpPr>
            <a:spLocks noGrp="1"/>
          </p:cNvSpPr>
          <p:nvPr/>
        </p:nvSpPr>
        <p:spPr>
          <a:xfrm>
            <a:off x="8524875" y="3390900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sz="1725" b="0" dirty="0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Neuron state</a:t>
            </a:r>
          </a:p>
        </p:txBody>
      </p:sp>
      <p:sp>
        <p:nvSpPr>
          <p:cNvPr id="32" name="Integration-writeback-label">
            <a:extLst>
              <a:ext uri="{FF2B5EF4-FFF2-40B4-BE49-F238E27FC236}">
                <a16:creationId xmlns:a16="http://schemas.microsoft.com/office/drawing/2014/main" id="{07B138F7-3F92-3ADE-7D11-B8332CD2C627}"/>
              </a:ext>
            </a:extLst>
          </p:cNvPr>
          <p:cNvSpPr>
            <a:spLocks noGrp="1"/>
          </p:cNvSpPr>
          <p:nvPr/>
        </p:nvSpPr>
        <p:spPr>
          <a:xfrm>
            <a:off x="1619250" y="3717073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sz="1725" b="0" dirty="0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Write-back</a:t>
            </a:r>
          </a:p>
        </p:txBody>
      </p:sp>
      <p:cxnSp>
        <p:nvCxnSpPr>
          <p:cNvPr id="34" name="Integration-neuron-state-flow">
            <a:extLst>
              <a:ext uri="{FF2B5EF4-FFF2-40B4-BE49-F238E27FC236}">
                <a16:creationId xmlns:a16="http://schemas.microsoft.com/office/drawing/2014/main" id="{0DA38CB0-3FFC-0FF0-F5B8-035765523E0B}"/>
              </a:ext>
            </a:extLst>
          </p:cNvPr>
          <p:cNvCxnSpPr>
            <a:cxnSpLocks/>
          </p:cNvCxnSpPr>
          <p:nvPr/>
        </p:nvCxnSpPr>
        <p:spPr>
          <a:xfrm flipH="1">
            <a:off x="9525000" y="4550627"/>
            <a:ext cx="522249" cy="0"/>
          </a:xfrm>
          <a:prstGeom prst="straightConnector1">
            <a:avLst/>
          </a:prstGeom>
          <a:ln w="30480">
            <a:solidFill>
              <a:srgbClr val="D56B12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7" name="Integration-state-label">
            <a:extLst>
              <a:ext uri="{FF2B5EF4-FFF2-40B4-BE49-F238E27FC236}">
                <a16:creationId xmlns:a16="http://schemas.microsoft.com/office/drawing/2014/main" id="{770587B1-FE3E-D665-4668-C6011745DEC7}"/>
              </a:ext>
            </a:extLst>
          </p:cNvPr>
          <p:cNvSpPr>
            <a:spLocks noGrp="1"/>
          </p:cNvSpPr>
          <p:nvPr/>
        </p:nvSpPr>
        <p:spPr>
          <a:xfrm>
            <a:off x="10282586" y="4341077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lang="en-US" sz="1725" b="0" dirty="0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E</a:t>
            </a:r>
            <a:r>
              <a:rPr lang="en-US" altLang="zh-CN" sz="1725" b="0" dirty="0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vents</a:t>
            </a:r>
            <a:endParaRPr sz="1725" b="0" dirty="0">
              <a:solidFill>
                <a:srgbClr val="D56B12"/>
              </a:solidFill>
              <a:latin typeface="Noto Sans"/>
              <a:ea typeface="Noto Sans"/>
              <a:cs typeface="Noto Sans"/>
            </a:endParaRPr>
          </a:p>
        </p:txBody>
      </p:sp>
      <p:cxnSp>
        <p:nvCxnSpPr>
          <p:cNvPr id="39" name="Integration-writeback-vertical">
            <a:extLst>
              <a:ext uri="{FF2B5EF4-FFF2-40B4-BE49-F238E27FC236}">
                <a16:creationId xmlns:a16="http://schemas.microsoft.com/office/drawing/2014/main" id="{0D89D8E1-0FEA-3B65-D421-2B4C5D0AB9A3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3433763" y="4567238"/>
            <a:ext cx="3614737" cy="4762"/>
          </a:xfrm>
          <a:prstGeom prst="straightConnector1">
            <a:avLst/>
          </a:prstGeom>
          <a:ln w="30480">
            <a:solidFill>
              <a:srgbClr val="D56B12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3" name="Integration-writeback-label">
            <a:extLst>
              <a:ext uri="{FF2B5EF4-FFF2-40B4-BE49-F238E27FC236}">
                <a16:creationId xmlns:a16="http://schemas.microsoft.com/office/drawing/2014/main" id="{D8D9847C-F7DA-2031-BFD1-623966EEE52D}"/>
              </a:ext>
            </a:extLst>
          </p:cNvPr>
          <p:cNvSpPr>
            <a:spLocks noGrp="1"/>
          </p:cNvSpPr>
          <p:nvPr/>
        </p:nvSpPr>
        <p:spPr>
          <a:xfrm>
            <a:off x="4195414" y="4110037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lang="en-US" sz="1725" b="0" dirty="0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Read weight</a:t>
            </a:r>
            <a:endParaRPr sz="1725" b="0" dirty="0">
              <a:solidFill>
                <a:srgbClr val="D56B12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44" name="Condensed-verification-bullets">
            <a:extLst>
              <a:ext uri="{FF2B5EF4-FFF2-40B4-BE49-F238E27FC236}">
                <a16:creationId xmlns:a16="http://schemas.microsoft.com/office/drawing/2014/main" id="{020DB7E7-BC33-E5BF-DF29-F922A3A8E811}"/>
              </a:ext>
            </a:extLst>
          </p:cNvPr>
          <p:cNvSpPr>
            <a:spLocks noGrp="1"/>
          </p:cNvSpPr>
          <p:nvPr/>
        </p:nvSpPr>
        <p:spPr>
          <a:xfrm>
            <a:off x="2882881" y="5510329"/>
            <a:ext cx="5949988" cy="32315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114300" algn="ctr">
              <a:spcAft>
                <a:spcPts val="1800"/>
              </a:spcAft>
              <a:defRPr sz="19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lang="en-US" dirty="0"/>
              <a:t>SDSP updates stored weights for inference.</a:t>
            </a:r>
          </a:p>
        </p:txBody>
      </p:sp>
    </p:spTree>
    <p:extLst>
      <p:ext uri="{BB962C8B-B14F-4D97-AF65-F5344CB8AC3E}">
        <p14:creationId xmlns:p14="http://schemas.microsoft.com/office/powerpoint/2010/main" val="1894297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Weight-Update Datapath</a:t>
            </a:r>
          </a:p>
        </p:txBody>
      </p:sp>
      <p:pic>
        <p:nvPicPr>
          <p:cNvPr id="9" name="图片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9020" y="1153533"/>
            <a:ext cx="10832336" cy="4250664"/>
          </a:xfrm>
          <a:prstGeom prst="rect">
            <a:avLst/>
          </a:prstGeom>
        </p:spPr>
      </p:pic>
      <p:sp>
        <p:nvSpPr>
          <p:cNvPr id="7" name="Updated page marker">
            <a:extLst>
              <a:ext uri="{FF2B5EF4-FFF2-40B4-BE49-F238E27FC236}">
                <a16:creationId xmlns:a16="http://schemas.microsoft.com/office/drawing/2014/main" id="{7663B964-7077-4480-B41C-2B1C9D829E44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13/29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5">
                <a:extLst>
                  <a:ext uri="{FF2B5EF4-FFF2-40B4-BE49-F238E27FC236}">
                    <a16:creationId xmlns:a16="http://schemas.microsoft.com/office/drawing/2014/main" id="{EB7BCF9B-848C-FA6F-4965-21D16AEFEC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42123" y="5095228"/>
                <a:ext cx="4845864" cy="81679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269" rtl="0" eaLnBrk="1" latinLnBrk="0" hangingPunct="1">
                  <a:spcBef>
                    <a:spcPts val="12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1pPr>
                <a:lvl2pPr marL="395942" indent="-323953" algn="l" defTabSz="914269" rtl="0" eaLnBrk="1" latinLnBrk="0" hangingPunct="1">
                  <a:spcBef>
                    <a:spcPts val="300"/>
                  </a:spcBef>
                  <a:buFont typeface="Open Sans" panose="020B0606030504020204" pitchFamily="34" charset="0"/>
                  <a:buChar char="—"/>
                  <a:defRPr sz="16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2pPr>
                <a:lvl3pPr marL="0" indent="0" algn="l" defTabSz="914269" rtl="0" eaLnBrk="1" latinLnBrk="0" hangingPunct="1">
                  <a:spcBef>
                    <a:spcPts val="12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3pPr>
                <a:lvl4pPr marL="395942" indent="-215969" algn="l" defTabSz="914269" rtl="0" eaLnBrk="1" latinLnBrk="0" hangingPunct="1">
                  <a:spcBef>
                    <a:spcPts val="300"/>
                  </a:spcBef>
                  <a:buFont typeface="Symbol" panose="05050102010706020507" pitchFamily="18" charset="2"/>
                  <a:buChar char="-"/>
                  <a:defRPr sz="14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4pPr>
                <a:lvl5pPr marL="575916" indent="-179362" algn="l" defTabSz="914269" rtl="0" eaLnBrk="1" latinLnBrk="0" hangingPunct="1">
                  <a:spcBef>
                    <a:spcPts val="300"/>
                  </a:spcBef>
                  <a:buFont typeface="Symbol" panose="05050102010706020507" pitchFamily="18" charset="2"/>
                  <a:buChar char="-"/>
                  <a:defRPr sz="1400" kern="1200" baseline="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5pPr>
                <a:lvl6pPr marL="358723" indent="0" algn="l" defTabSz="914269" rtl="0" eaLnBrk="1" latinLnBrk="0" hangingPunct="1">
                  <a:spcBef>
                    <a:spcPts val="0"/>
                  </a:spcBef>
                  <a:buFont typeface="Arial" panose="020B0604020202020204" pitchFamily="34" charset="0"/>
                  <a:buNone/>
                  <a:defRPr sz="3200" b="1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358723" indent="0" algn="l" defTabSz="914269" rtl="0" eaLnBrk="1" latinLnBrk="0" hangingPunct="1">
                  <a:spcBef>
                    <a:spcPts val="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3428502" indent="-228566" algn="l" defTabSz="914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635" indent="-228566" algn="l" defTabSz="914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dirty="0"/>
                  <a:t>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de-D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𝑟𝑒</m:t>
                            </m:r>
                          </m:sub>
                        </m:sSub>
                      </m:e>
                    </m:d>
                    <m:r>
                      <a:rPr lang="de-DE" altLang="zh-CN" dirty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zh-CN" altLang="de-D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zh-CN" alt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de-D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e>
                    </m:d>
                    <m:r>
                      <a:rPr lang="de-DE" altLang="zh-CN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de-D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𝑑𝑜𝑤𝑛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de-D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𝑟𝑒</m:t>
                            </m:r>
                          </m:sub>
                        </m:sSub>
                      </m:e>
                    </m:d>
                    <m:r>
                      <a:rPr lang="de-DE" altLang="zh-CN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de-D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zh-CN" altLang="de-D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zh-CN" alt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de-D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e>
                    </m:d>
                    <m:r>
                      <a:rPr lang="de-DE" altLang="zh-CN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de-D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algn="ctr"/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5">
                <a:extLst>
                  <a:ext uri="{FF2B5EF4-FFF2-40B4-BE49-F238E27FC236}">
                    <a16:creationId xmlns:a16="http://schemas.microsoft.com/office/drawing/2014/main" id="{EB7BCF9B-848C-FA6F-4965-21D16AEFE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123" y="5095228"/>
                <a:ext cx="4845864" cy="816795"/>
              </a:xfrm>
              <a:prstGeom prst="rect">
                <a:avLst/>
              </a:prstGeom>
              <a:blipFill>
                <a:blip r:embed="rId4"/>
                <a:stretch>
                  <a:fillRect l="-15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4360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Address-Aligned Weight Write-Back</a:t>
            </a:r>
          </a:p>
        </p:txBody>
      </p:sp>
      <p:sp>
        <p:nvSpPr>
          <p:cNvPr id="8" name="Updated page marker">
            <a:extLst>
              <a:ext uri="{FF2B5EF4-FFF2-40B4-BE49-F238E27FC236}">
                <a16:creationId xmlns:a16="http://schemas.microsoft.com/office/drawing/2014/main" id="{93D1E625-4AA7-4BFE-9F72-110DF7709B13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14/29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3" name="Condensed-writeback-bullets">
            <a:extLst>
              <a:ext uri="{FF2B5EF4-FFF2-40B4-BE49-F238E27FC236}">
                <a16:creationId xmlns:a16="http://schemas.microsoft.com/office/drawing/2014/main" id="{184B4076-D729-2431-BE4C-F280BA984206}"/>
              </a:ext>
            </a:extLst>
          </p:cNvPr>
          <p:cNvSpPr>
            <a:spLocks noGrp="1"/>
          </p:cNvSpPr>
          <p:nvPr/>
        </p:nvSpPr>
        <p:spPr>
          <a:xfrm>
            <a:off x="876300" y="4143375"/>
            <a:ext cx="104394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19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dirty="0"/>
              <a:t>Keep each updated weight paired with its original address.</a:t>
            </a:r>
          </a:p>
          <a:p>
            <a:pPr marL="228600" indent="-114300">
              <a:spcAft>
                <a:spcPts val="1800"/>
              </a:spcAft>
              <a:buChar char="•"/>
              <a:defRPr sz="19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lang="zh-CN" altLang="zh-CN" sz="1950" dirty="0">
                <a:solidFill>
                  <a:srgbClr val="001B69"/>
                </a:solidFill>
                <a:latin typeface="Noto Sans"/>
              </a:rPr>
              <a:t>Weight write-back overlaps with the next weight read</a:t>
            </a:r>
            <a:r>
              <a:rPr dirty="0"/>
              <a:t>.</a:t>
            </a:r>
          </a:p>
        </p:txBody>
      </p:sp>
      <p:sp>
        <p:nvSpPr>
          <p:cNvPr id="6" name="Condensed-read">
            <a:extLst>
              <a:ext uri="{FF2B5EF4-FFF2-40B4-BE49-F238E27FC236}">
                <a16:creationId xmlns:a16="http://schemas.microsoft.com/office/drawing/2014/main" id="{C31A7661-D60C-6015-F2AC-ADFAB684E543}"/>
              </a:ext>
            </a:extLst>
          </p:cNvPr>
          <p:cNvSpPr>
            <a:spLocks noGrp="1"/>
          </p:cNvSpPr>
          <p:nvPr/>
        </p:nvSpPr>
        <p:spPr>
          <a:xfrm>
            <a:off x="1381125" y="2095500"/>
            <a:ext cx="2476500" cy="1190625"/>
          </a:xfrm>
          <a:prstGeom prst="rect">
            <a:avLst/>
          </a:prstGeom>
          <a:solidFill>
            <a:srgbClr val="EFF5FB"/>
          </a:solidFill>
          <a:ln w="22860">
            <a:solidFill>
              <a:srgbClr val="2469A8"/>
            </a:solidFill>
          </a:ln>
        </p:spPr>
        <p:txBody>
          <a:bodyPr lIns="95250" tIns="0" rIns="95250" bIns="0" anchor="ctr">
            <a:noAutofit/>
          </a:bodyPr>
          <a:lstStyle/>
          <a:p>
            <a:pPr algn="ctr">
              <a:def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Read</a:t>
            </a:r>
          </a:p>
          <a:p>
            <a:pPr algn="ctr">
              <a:def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weight k</a:t>
            </a:r>
          </a:p>
        </p:txBody>
      </p:sp>
      <p:sp>
        <p:nvSpPr>
          <p:cNvPr id="7" name="Condensed-update">
            <a:extLst>
              <a:ext uri="{FF2B5EF4-FFF2-40B4-BE49-F238E27FC236}">
                <a16:creationId xmlns:a16="http://schemas.microsoft.com/office/drawing/2014/main" id="{9ADC58F0-14BD-AC94-BFD7-3935F7D16E85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2476500" cy="1190625"/>
          </a:xfrm>
          <a:prstGeom prst="rect">
            <a:avLst/>
          </a:prstGeom>
          <a:solidFill>
            <a:srgbClr val="FFF3E8"/>
          </a:solidFill>
          <a:ln w="22860">
            <a:solidFill>
              <a:srgbClr val="D56B12"/>
            </a:solidFill>
          </a:ln>
        </p:spPr>
        <p:txBody>
          <a:bodyPr lIns="95250" tIns="0" rIns="95250" bIns="0" anchor="ctr">
            <a:noAutofit/>
          </a:bodyPr>
          <a:lstStyle/>
          <a:p>
            <a:pPr algn="ctr">
              <a:defRPr sz="2100" b="1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Update</a:t>
            </a:r>
          </a:p>
          <a:p>
            <a:pPr algn="ctr">
              <a:defRPr sz="2100" b="1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weight k</a:t>
            </a:r>
          </a:p>
        </p:txBody>
      </p:sp>
      <p:sp>
        <p:nvSpPr>
          <p:cNvPr id="9" name="Condensed-write">
            <a:extLst>
              <a:ext uri="{FF2B5EF4-FFF2-40B4-BE49-F238E27FC236}">
                <a16:creationId xmlns:a16="http://schemas.microsoft.com/office/drawing/2014/main" id="{E385BBE8-8E24-5B5C-6A80-5EE2002EDC9B}"/>
              </a:ext>
            </a:extLst>
          </p:cNvPr>
          <p:cNvSpPr>
            <a:spLocks noGrp="1"/>
          </p:cNvSpPr>
          <p:nvPr/>
        </p:nvSpPr>
        <p:spPr>
          <a:xfrm>
            <a:off x="8334375" y="2095500"/>
            <a:ext cx="2476500" cy="1190625"/>
          </a:xfrm>
          <a:prstGeom prst="rect">
            <a:avLst/>
          </a:prstGeom>
          <a:solidFill>
            <a:srgbClr val="EFF5FB"/>
          </a:solidFill>
          <a:ln w="22860">
            <a:solidFill>
              <a:srgbClr val="2469A8"/>
            </a:solidFill>
          </a:ln>
        </p:spPr>
        <p:txBody>
          <a:bodyPr lIns="95250" tIns="0" rIns="95250" bIns="0" anchor="ctr">
            <a:noAutofit/>
          </a:bodyPr>
          <a:lstStyle/>
          <a:p>
            <a:pPr algn="ctr">
              <a:def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210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Write back</a:t>
            </a:r>
          </a:p>
          <a:p>
            <a:pPr algn="ctr">
              <a:defRPr sz="21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210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to address k</a:t>
            </a:r>
          </a:p>
        </p:txBody>
      </p:sp>
      <p:cxnSp>
        <p:nvCxnSpPr>
          <p:cNvPr id="11" name="Condensed-writeback-flow-1">
            <a:extLst>
              <a:ext uri="{FF2B5EF4-FFF2-40B4-BE49-F238E27FC236}">
                <a16:creationId xmlns:a16="http://schemas.microsoft.com/office/drawing/2014/main" id="{64C7AD5A-A43F-A2F7-FC63-47B902BF0C55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857625" y="2690813"/>
            <a:ext cx="1000125" cy="0"/>
          </a:xfrm>
          <a:prstGeom prst="straightConnector1">
            <a:avLst/>
          </a:prstGeom>
          <a:ln w="30480">
            <a:solidFill>
              <a:srgbClr val="D56B12"/>
            </a:solidFill>
            <a:headEnd type="none" w="med" len="med"/>
            <a:tailEnd type="triangle" w="med" len="med"/>
          </a:ln>
        </p:spPr>
      </p:cxnSp>
      <p:cxnSp>
        <p:nvCxnSpPr>
          <p:cNvPr id="12" name="Condensed-writeback-flow-2">
            <a:extLst>
              <a:ext uri="{FF2B5EF4-FFF2-40B4-BE49-F238E27FC236}">
                <a16:creationId xmlns:a16="http://schemas.microsoft.com/office/drawing/2014/main" id="{A605DC10-FEC9-067F-C9E8-124E158B7C76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7334250" y="2690813"/>
            <a:ext cx="1000125" cy="0"/>
          </a:xfrm>
          <a:prstGeom prst="straightConnector1">
            <a:avLst/>
          </a:prstGeom>
          <a:ln w="30480">
            <a:solidFill>
              <a:srgbClr val="D56B12"/>
            </a:solidFill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0207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PYNQ-Z1 System Integration</a:t>
            </a:r>
          </a:p>
        </p:txBody>
      </p:sp>
      <p:sp>
        <p:nvSpPr>
          <p:cNvPr id="4" name="Topic 0">
            <a:extLst>
              <a:ext uri="{FF2B5EF4-FFF2-40B4-BE49-F238E27FC236}">
                <a16:creationId xmlns:a16="http://schemas.microsoft.com/office/drawing/2014/main" id="{C0550B86-8E10-4939-BFC4-1EE4FCB5766A}"/>
              </a:ext>
            </a:extLst>
          </p:cNvPr>
          <p:cNvSpPr>
            <a:spLocks noGrp="1"/>
          </p:cNvSpPr>
          <p:nvPr/>
        </p:nvSpPr>
        <p:spPr>
          <a:xfrm>
            <a:off x="874712" y="5173662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Control</a:t>
            </a:r>
          </a:p>
        </p:txBody>
      </p:sp>
      <p:sp>
        <p:nvSpPr>
          <p:cNvPr id="5" name="Explanation 0">
            <a:extLst>
              <a:ext uri="{FF2B5EF4-FFF2-40B4-BE49-F238E27FC236}">
                <a16:creationId xmlns:a16="http://schemas.microsoft.com/office/drawing/2014/main" id="{48328066-3EA4-4AC2-8AB5-2BCCF0F543F5}"/>
              </a:ext>
            </a:extLst>
          </p:cNvPr>
          <p:cNvSpPr>
            <a:spLocks noGrp="1"/>
          </p:cNvSpPr>
          <p:nvPr/>
        </p:nvSpPr>
        <p:spPr>
          <a:xfrm>
            <a:off x="874712" y="5507037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AXI4-Lite registers</a:t>
            </a:r>
          </a:p>
        </p:txBody>
      </p:sp>
      <p:sp>
        <p:nvSpPr>
          <p:cNvPr id="6" name="Topic 1">
            <a:extLst>
              <a:ext uri="{FF2B5EF4-FFF2-40B4-BE49-F238E27FC236}">
                <a16:creationId xmlns:a16="http://schemas.microsoft.com/office/drawing/2014/main" id="{19CE4867-ED38-4B58-B243-43D4BF17EC2B}"/>
              </a:ext>
            </a:extLst>
          </p:cNvPr>
          <p:cNvSpPr>
            <a:spLocks noGrp="1"/>
          </p:cNvSpPr>
          <p:nvPr/>
        </p:nvSpPr>
        <p:spPr>
          <a:xfrm>
            <a:off x="4495335" y="5170642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Input transfer</a:t>
            </a:r>
          </a:p>
        </p:txBody>
      </p:sp>
      <p:sp>
        <p:nvSpPr>
          <p:cNvPr id="7" name="Explanation 1">
            <a:extLst>
              <a:ext uri="{FF2B5EF4-FFF2-40B4-BE49-F238E27FC236}">
                <a16:creationId xmlns:a16="http://schemas.microsoft.com/office/drawing/2014/main" id="{CAA84364-11DD-4687-9E7C-05AE0352FBD1}"/>
              </a:ext>
            </a:extLst>
          </p:cNvPr>
          <p:cNvSpPr>
            <a:spLocks noGrp="1"/>
          </p:cNvSpPr>
          <p:nvPr/>
        </p:nvSpPr>
        <p:spPr>
          <a:xfrm>
            <a:off x="4495335" y="5504017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DDR, DMA and stream FIFO</a:t>
            </a:r>
          </a:p>
        </p:txBody>
      </p:sp>
      <p:sp>
        <p:nvSpPr>
          <p:cNvPr id="8" name="Topic 2">
            <a:extLst>
              <a:ext uri="{FF2B5EF4-FFF2-40B4-BE49-F238E27FC236}">
                <a16:creationId xmlns:a16="http://schemas.microsoft.com/office/drawing/2014/main" id="{4AB90EB2-C88F-4EC8-8C40-E11C009A1A31}"/>
              </a:ext>
            </a:extLst>
          </p:cNvPr>
          <p:cNvSpPr>
            <a:spLocks noGrp="1"/>
          </p:cNvSpPr>
          <p:nvPr/>
        </p:nvSpPr>
        <p:spPr>
          <a:xfrm>
            <a:off x="8443060" y="5170642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Hardware</a:t>
            </a:r>
          </a:p>
        </p:txBody>
      </p:sp>
      <p:sp>
        <p:nvSpPr>
          <p:cNvPr id="9" name="Explanation 2">
            <a:extLst>
              <a:ext uri="{FF2B5EF4-FFF2-40B4-BE49-F238E27FC236}">
                <a16:creationId xmlns:a16="http://schemas.microsoft.com/office/drawing/2014/main" id="{F3E49747-523C-4E7F-9419-A04711C82595}"/>
              </a:ext>
            </a:extLst>
          </p:cNvPr>
          <p:cNvSpPr>
            <a:spLocks noGrp="1"/>
          </p:cNvSpPr>
          <p:nvPr/>
        </p:nvSpPr>
        <p:spPr>
          <a:xfrm>
            <a:off x="8443060" y="5504017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SNN–SDSP accelerator IP</a:t>
            </a:r>
          </a:p>
        </p:txBody>
      </p:sp>
      <p:sp>
        <p:nvSpPr>
          <p:cNvPr id="13" name="Updated page marker">
            <a:extLst>
              <a:ext uri="{FF2B5EF4-FFF2-40B4-BE49-F238E27FC236}">
                <a16:creationId xmlns:a16="http://schemas.microsoft.com/office/drawing/2014/main" id="{B6D60261-9C4E-4F92-8985-F6892F88FD08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15/29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C72B444-D41A-165E-21EB-DCB0B9B07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45" y="1465537"/>
            <a:ext cx="11205310" cy="329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682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Overview</a:t>
            </a:r>
            <a:endParaRPr dirty="0"/>
          </a:p>
        </p:txBody>
      </p:sp>
      <p:sp>
        <p:nvSpPr>
          <p:cNvPr id="7" name="Updated page marker">
            <a:extLst>
              <a:ext uri="{FF2B5EF4-FFF2-40B4-BE49-F238E27FC236}">
                <a16:creationId xmlns:a16="http://schemas.microsoft.com/office/drawing/2014/main" id="{526812D8-A8DC-4D3C-8922-7A92C8320C5C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16/29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3" name="Condensed-verification-bullets">
            <a:extLst>
              <a:ext uri="{FF2B5EF4-FFF2-40B4-BE49-F238E27FC236}">
                <a16:creationId xmlns:a16="http://schemas.microsoft.com/office/drawing/2014/main" id="{4DEA6E0F-5999-6E02-72EF-F4DC1CE6E6F6}"/>
              </a:ext>
            </a:extLst>
          </p:cNvPr>
          <p:cNvSpPr>
            <a:spLocks noGrp="1"/>
          </p:cNvSpPr>
          <p:nvPr/>
        </p:nvSpPr>
        <p:spPr>
          <a:xfrm>
            <a:off x="876300" y="2012563"/>
            <a:ext cx="5905500" cy="7154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19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dirty="0"/>
              <a:t>RTL checks: learning logic and weight-memory behavior.</a:t>
            </a:r>
          </a:p>
        </p:txBody>
      </p:sp>
      <p:pic>
        <p:nvPicPr>
          <p:cNvPr id="4" name="Condensed-board-image">
            <a:extLst>
              <a:ext uri="{FF2B5EF4-FFF2-40B4-BE49-F238E27FC236}">
                <a16:creationId xmlns:a16="http://schemas.microsoft.com/office/drawing/2014/main" id="{C0722BF2-5EB9-DE21-54E8-944635AEB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1796277"/>
            <a:ext cx="4095750" cy="3055896"/>
          </a:xfrm>
          <a:prstGeom prst="rect">
            <a:avLst/>
          </a:prstGeom>
        </p:spPr>
      </p:pic>
      <p:sp>
        <p:nvSpPr>
          <p:cNvPr id="10" name="Condensed-verification-bullets">
            <a:extLst>
              <a:ext uri="{FF2B5EF4-FFF2-40B4-BE49-F238E27FC236}">
                <a16:creationId xmlns:a16="http://schemas.microsoft.com/office/drawing/2014/main" id="{D91659F7-8116-CDBA-9AEA-B5EADDE60BCC}"/>
              </a:ext>
            </a:extLst>
          </p:cNvPr>
          <p:cNvSpPr>
            <a:spLocks noGrp="1"/>
          </p:cNvSpPr>
          <p:nvPr/>
        </p:nvSpPr>
        <p:spPr>
          <a:xfrm>
            <a:off x="876300" y="2966515"/>
            <a:ext cx="5905500" cy="7154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19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dirty="0"/>
              <a:t>Board checks: interfaces, outputs and software–hardware behavior.</a:t>
            </a:r>
          </a:p>
        </p:txBody>
      </p:sp>
      <p:sp>
        <p:nvSpPr>
          <p:cNvPr id="12" name="Condensed-verification-bullets">
            <a:extLst>
              <a:ext uri="{FF2B5EF4-FFF2-40B4-BE49-F238E27FC236}">
                <a16:creationId xmlns:a16="http://schemas.microsoft.com/office/drawing/2014/main" id="{AE8B6357-7E72-D802-A3B7-81B7FDAC3DF2}"/>
              </a:ext>
            </a:extLst>
          </p:cNvPr>
          <p:cNvSpPr>
            <a:spLocks noGrp="1"/>
          </p:cNvSpPr>
          <p:nvPr/>
        </p:nvSpPr>
        <p:spPr>
          <a:xfrm>
            <a:off x="876300" y="3920467"/>
            <a:ext cx="5905500" cy="7154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19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lang="en-US" dirty="0"/>
              <a:t>Learning checks: persistent updates and three complete training epochs.</a:t>
            </a:r>
          </a:p>
        </p:txBody>
      </p:sp>
      <p:sp>
        <p:nvSpPr>
          <p:cNvPr id="14" name="Condensed-verification-bullets">
            <a:extLst>
              <a:ext uri="{FF2B5EF4-FFF2-40B4-BE49-F238E27FC236}">
                <a16:creationId xmlns:a16="http://schemas.microsoft.com/office/drawing/2014/main" id="{866017FC-BF34-06F7-16B2-4FA656112770}"/>
              </a:ext>
            </a:extLst>
          </p:cNvPr>
          <p:cNvSpPr>
            <a:spLocks noGrp="1"/>
          </p:cNvSpPr>
          <p:nvPr/>
        </p:nvSpPr>
        <p:spPr>
          <a:xfrm>
            <a:off x="8428347" y="4820348"/>
            <a:ext cx="1717055" cy="42781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114300" algn="ctr">
              <a:spcAft>
                <a:spcPts val="1800"/>
              </a:spcAft>
              <a:defRPr sz="19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lang="en-US" dirty="0"/>
              <a:t>PYNQ Z1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612EFB5-3CD1-9AEC-3567-F29FC74F5868}"/>
              </a:ext>
            </a:extLst>
          </p:cNvPr>
          <p:cNvSpPr txBox="1"/>
          <p:nvPr/>
        </p:nvSpPr>
        <p:spPr>
          <a:xfrm>
            <a:off x="4140820" y="5916142"/>
            <a:ext cx="80511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[8] </a:t>
            </a:r>
            <a:r>
              <a:rPr lang="zh-CN" altLang="zh-CN" sz="800" dirty="0"/>
              <a:t>Digilent Inc. PYNQ-Z1: Python Productivity for Zynq-7000 ARM/FPGA SoC.</a:t>
            </a:r>
            <a:r>
              <a:rPr lang="en-US" altLang="zh-CN" sz="800" dirty="0"/>
              <a:t> </a:t>
            </a:r>
            <a:r>
              <a:rPr lang="zh-CN" altLang="zh-CN" sz="800" dirty="0"/>
              <a:t>URL: https:/</a:t>
            </a:r>
            <a:r>
              <a:rPr lang="en-US" altLang="zh-CN" sz="800" dirty="0"/>
              <a:t>/digilent.com/shop/pynq-z1-python-productivity-for-zynq-7000-arm-fpga-soc/</a:t>
            </a:r>
          </a:p>
        </p:txBody>
      </p:sp>
    </p:spTree>
    <p:extLst>
      <p:ext uri="{BB962C8B-B14F-4D97-AF65-F5344CB8AC3E}">
        <p14:creationId xmlns:p14="http://schemas.microsoft.com/office/powerpoint/2010/main" val="7920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2" grpId="0"/>
      <p:bldP spid="14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Partial Reconfiguration (DPR)</a:t>
            </a:r>
            <a:endParaRPr dirty="0"/>
          </a:p>
        </p:txBody>
      </p:sp>
      <p:sp>
        <p:nvSpPr>
          <p:cNvPr id="7" name="Updated page marker">
            <a:extLst>
              <a:ext uri="{FF2B5EF4-FFF2-40B4-BE49-F238E27FC236}">
                <a16:creationId xmlns:a16="http://schemas.microsoft.com/office/drawing/2014/main" id="{526812D8-A8DC-4D3C-8922-7A92C8320C5C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17/29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8" name="DPR-bullets">
            <a:extLst>
              <a:ext uri="{FF2B5EF4-FFF2-40B4-BE49-F238E27FC236}">
                <a16:creationId xmlns:a16="http://schemas.microsoft.com/office/drawing/2014/main" id="{F7526407-2701-C2D5-2075-8C8D47F95362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1043940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228600" indent="-114300">
              <a:spcAft>
                <a:spcPts val="2800"/>
              </a:spcAft>
              <a:buChar char="•"/>
              <a:defRPr sz="195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95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Only SDSP was implemented. No runtime switching between learning rules was required.</a:t>
            </a:r>
          </a:p>
          <a:p>
            <a:pPr marL="228600" indent="-114300">
              <a:spcAft>
                <a:spcPts val="2800"/>
              </a:spcAft>
              <a:buChar char="•"/>
              <a:defRPr sz="195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95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SDSP is coupled to neuron state, synaptic memory and layer timing.</a:t>
            </a:r>
          </a:p>
          <a:p>
            <a:pPr marL="228600" indent="-114300">
              <a:spcAft>
                <a:spcPts val="2800"/>
              </a:spcAft>
              <a:buChar char="•"/>
              <a:defRPr sz="195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95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DPR would require a common interface, state preservation and additional verification.</a:t>
            </a:r>
          </a:p>
        </p:txBody>
      </p:sp>
      <p:sp>
        <p:nvSpPr>
          <p:cNvPr id="9" name="DPR-decision">
            <a:extLst>
              <a:ext uri="{FF2B5EF4-FFF2-40B4-BE49-F238E27FC236}">
                <a16:creationId xmlns:a16="http://schemas.microsoft.com/office/drawing/2014/main" id="{14F94EE8-16F8-2E8C-E864-468EA0A10F87}"/>
              </a:ext>
            </a:extLst>
          </p:cNvPr>
          <p:cNvSpPr>
            <a:spLocks noGrp="1"/>
          </p:cNvSpPr>
          <p:nvPr/>
        </p:nvSpPr>
        <p:spPr>
          <a:xfrm>
            <a:off x="876300" y="4895850"/>
            <a:ext cx="104394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75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Final implementation: static configuration with runtime learning control.</a:t>
            </a:r>
          </a:p>
        </p:txBody>
      </p:sp>
    </p:spTree>
    <p:extLst>
      <p:ext uri="{BB962C8B-B14F-4D97-AF65-F5344CB8AC3E}">
        <p14:creationId xmlns:p14="http://schemas.microsoft.com/office/powerpoint/2010/main" val="329322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0AA15-FD78-9E68-CD95-3CAC55E1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2743200"/>
            <a:ext cx="10439400" cy="914400"/>
          </a:xfrm>
        </p:spPr>
        <p:txBody>
          <a:bodyPr lIns="0" tIns="0" rIns="0" bIns="0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Results</a:t>
            </a:r>
          </a:p>
        </p:txBody>
      </p:sp>
      <p:sp>
        <p:nvSpPr>
          <p:cNvPr id="3" name="Section number">
            <a:extLst>
              <a:ext uri="{FF2B5EF4-FFF2-40B4-BE49-F238E27FC236}">
                <a16:creationId xmlns:a16="http://schemas.microsoft.com/office/drawing/2014/main" id="{E9FA1C2C-66A6-4F58-AB86-D5F96718DA87}"/>
              </a:ext>
            </a:extLst>
          </p:cNvPr>
          <p:cNvSpPr>
            <a:spLocks noGrp="1"/>
          </p:cNvSpPr>
          <p:nvPr/>
        </p:nvSpPr>
        <p:spPr>
          <a:xfrm>
            <a:off x="876300" y="2200275"/>
            <a:ext cx="10439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D9E3F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D9E3F6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5" name="Updated page marker">
            <a:extLst>
              <a:ext uri="{FF2B5EF4-FFF2-40B4-BE49-F238E27FC236}">
                <a16:creationId xmlns:a16="http://schemas.microsoft.com/office/drawing/2014/main" id="{40542B22-F11E-4007-BD1A-FCB1CCC18397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18/29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639740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Utilization, Overhead and Power</a:t>
            </a:r>
            <a:endParaRPr dirty="0"/>
          </a:p>
        </p:txBody>
      </p:sp>
      <p:sp>
        <p:nvSpPr>
          <p:cNvPr id="3" name="Comparison stage">
            <a:extLst>
              <a:ext uri="{FF2B5EF4-FFF2-40B4-BE49-F238E27FC236}">
                <a16:creationId xmlns:a16="http://schemas.microsoft.com/office/drawing/2014/main" id="{75FF8934-9976-4577-B61F-7F2CE0798DEA}"/>
              </a:ext>
            </a:extLst>
          </p:cNvPr>
          <p:cNvSpPr>
            <a:spLocks noGrp="1"/>
          </p:cNvSpPr>
          <p:nvPr/>
        </p:nvSpPr>
        <p:spPr>
          <a:xfrm>
            <a:off x="876300" y="1095375"/>
            <a:ext cx="10439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75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Post-implementation results on XC7Z020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876300" y="1562100"/>
          <a:ext cx="10439400" cy="2667000"/>
        </p:xfrm>
        <a:graphic>
          <a:graphicData uri="http://schemas.openxmlformats.org/drawingml/2006/table">
            <a:tbl>
              <a:tblPr/>
              <a:tblGrid>
                <a:gridCol w="140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Resource</a:t>
                      </a:r>
                    </a:p>
                  </a:txBody>
                  <a:tcPr>
                    <a:solidFill>
                      <a:srgbClr val="001B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Pure Spiker</a:t>
                      </a:r>
                    </a:p>
                  </a:txBody>
                  <a:tcPr>
                    <a:solidFill>
                      <a:srgbClr val="001B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SNN + SDSP system</a:t>
                      </a:r>
                    </a:p>
                  </a:txBody>
                  <a:tcPr>
                    <a:solidFill>
                      <a:srgbClr val="001B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Difference</a:t>
                      </a:r>
                    </a:p>
                  </a:txBody>
                  <a:tcPr>
                    <a:solidFill>
                      <a:srgbClr val="001B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Change</a:t>
                      </a:r>
                    </a:p>
                  </a:txBody>
                  <a:tcPr>
                    <a:solidFill>
                      <a:srgbClr val="001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LUT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1,780 (3.35%)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5,056 (9.50%)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+3,276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+184.0%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1,829 (1.72%)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5,294 (4.98%)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+3,465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+189.4%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BRAM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1.50 (1.07%)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4.00 (2.86%)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+2.50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+166.7%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BUFG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 (3.13%)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 (3.13%)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Updated page marker">
            <a:extLst>
              <a:ext uri="{FF2B5EF4-FFF2-40B4-BE49-F238E27FC236}">
                <a16:creationId xmlns:a16="http://schemas.microsoft.com/office/drawing/2014/main" id="{3F37F3DB-789D-4199-9E89-2FC3B2409B4E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19/29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10A42D-EF1A-F120-B4BE-5B05DB277A97}"/>
              </a:ext>
            </a:extLst>
          </p:cNvPr>
          <p:cNvSpPr/>
          <p:nvPr/>
        </p:nvSpPr>
        <p:spPr>
          <a:xfrm>
            <a:off x="4427034" y="1562100"/>
            <a:ext cx="3021981" cy="2667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ower-resource-scope">
            <a:extLst>
              <a:ext uri="{FF2B5EF4-FFF2-40B4-BE49-F238E27FC236}">
                <a16:creationId xmlns:a16="http://schemas.microsoft.com/office/drawing/2014/main" id="{4C4E27C9-E8BA-4634-AE8F-5F1875F9F6FA}"/>
              </a:ext>
            </a:extLst>
          </p:cNvPr>
          <p:cNvSpPr>
            <a:spLocks noGrp="1"/>
          </p:cNvSpPr>
          <p:nvPr/>
        </p:nvSpPr>
        <p:spPr>
          <a:xfrm>
            <a:off x="876300" y="4324350"/>
            <a:ext cx="10439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sz="135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Resource differences include learning and system integration.</a:t>
            </a:r>
          </a:p>
        </p:txBody>
      </p:sp>
      <p:sp>
        <p:nvSpPr>
          <p:cNvPr id="11" name="Power-heading">
            <a:extLst>
              <a:ext uri="{FF2B5EF4-FFF2-40B4-BE49-F238E27FC236}">
                <a16:creationId xmlns:a16="http://schemas.microsoft.com/office/drawing/2014/main" id="{0EFCF7E8-F45D-400F-B3E3-870A5C2FBB18}"/>
              </a:ext>
            </a:extLst>
          </p:cNvPr>
          <p:cNvSpPr>
            <a:spLocks noGrp="1"/>
          </p:cNvSpPr>
          <p:nvPr/>
        </p:nvSpPr>
        <p:spPr>
          <a:xfrm>
            <a:off x="876300" y="4667250"/>
            <a:ext cx="10439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725" b="1" dirty="0" err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Vivado</a:t>
            </a:r>
            <a:r>
              <a:rPr sz="1725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 post-implementation power estimate</a:t>
            </a:r>
          </a:p>
        </p:txBody>
      </p:sp>
      <p:graphicFrame>
        <p:nvGraphicFramePr>
          <p:cNvPr id="12" name="Power-summary-table"/>
          <p:cNvGraphicFramePr/>
          <p:nvPr/>
        </p:nvGraphicFramePr>
        <p:xfrm>
          <a:off x="876300" y="5010150"/>
          <a:ext cx="10439400" cy="609600"/>
        </p:xfrm>
        <a:graphic>
          <a:graphicData uri="http://schemas.openxmlformats.org/drawingml/2006/table">
            <a:tbl>
              <a:tblPr/>
              <a:tblGrid>
                <a:gridCol w="260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Total on-chip</a:t>
                      </a:r>
                    </a:p>
                  </a:txBody>
                  <a:tcPr marL="57150" marR="57150" marT="19050" marB="19050" anchor="ctr">
                    <a:solidFill>
                      <a:srgbClr val="001B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Dynamic</a:t>
                      </a:r>
                    </a:p>
                  </a:txBody>
                  <a:tcPr marL="57150" marR="57150" marT="19050" marB="19050" anchor="ctr">
                    <a:solidFill>
                      <a:srgbClr val="001B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Static</a:t>
                      </a:r>
                    </a:p>
                  </a:txBody>
                  <a:tcPr marL="57150" marR="57150" marT="19050" marB="19050" anchor="ctr">
                    <a:solidFill>
                      <a:srgbClr val="001B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PS7 dynamic</a:t>
                      </a:r>
                    </a:p>
                  </a:txBody>
                  <a:tcPr marL="57150" marR="57150" marT="19050" marB="19050" anchor="ctr">
                    <a:solidFill>
                      <a:srgbClr val="001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1.445 W</a:t>
                      </a:r>
                    </a:p>
                  </a:txBody>
                  <a:tcPr marL="57150" marR="57150" marT="19050" marB="1905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1.309 W</a:t>
                      </a:r>
                    </a:p>
                  </a:txBody>
                  <a:tcPr marL="57150" marR="57150" marT="19050" marB="1905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0.136 W</a:t>
                      </a:r>
                    </a:p>
                  </a:txBody>
                  <a:tcPr marL="57150" marR="57150" marT="19050" marB="19050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1.260 W</a:t>
                      </a:r>
                    </a:p>
                  </a:txBody>
                  <a:tcPr marL="57150" marR="57150" marT="19050" marB="19050" anchor="ctr"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Power-estimate-scope">
            <a:extLst>
              <a:ext uri="{FF2B5EF4-FFF2-40B4-BE49-F238E27FC236}">
                <a16:creationId xmlns:a16="http://schemas.microsoft.com/office/drawing/2014/main" id="{535E11E2-F720-4613-90CD-3CCD35B6AAE4}"/>
              </a:ext>
            </a:extLst>
          </p:cNvPr>
          <p:cNvSpPr>
            <a:spLocks noGrp="1"/>
          </p:cNvSpPr>
          <p:nvPr/>
        </p:nvSpPr>
        <p:spPr>
          <a:xfrm>
            <a:off x="876300" y="5734050"/>
            <a:ext cx="10439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sz="12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Complete Zynq device, medium-confidence estimate. PS7 dominates dynamic power.</a:t>
            </a:r>
          </a:p>
        </p:txBody>
      </p:sp>
    </p:spTree>
    <p:extLst>
      <p:ext uri="{BB962C8B-B14F-4D97-AF65-F5344CB8AC3E}">
        <p14:creationId xmlns:p14="http://schemas.microsoft.com/office/powerpoint/2010/main" val="250240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10" grpId="0"/>
      <p:bldP spid="11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Evaluation Configuration</a:t>
            </a:r>
          </a:p>
        </p:txBody>
      </p:sp>
      <p:graphicFrame>
        <p:nvGraphicFramePr>
          <p:cNvPr id="8" name="表格 5"/>
          <p:cNvGraphicFramePr/>
          <p:nvPr/>
        </p:nvGraphicFramePr>
        <p:xfrm>
          <a:off x="876300" y="1352550"/>
          <a:ext cx="10439400" cy="4114800"/>
        </p:xfrm>
        <a:graphic>
          <a:graphicData uri="http://schemas.openxmlformats.org/drawingml/2006/table">
            <a:tbl>
              <a:tblPr/>
              <a:tblGrid>
                <a:gridCol w="366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Parameter</a:t>
                      </a:r>
                    </a:p>
                  </a:txBody>
                  <a:tcPr>
                    <a:solidFill>
                      <a:srgbClr val="001B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Fixed value</a:t>
                      </a:r>
                    </a:p>
                  </a:txBody>
                  <a:tcPr>
                    <a:solidFill>
                      <a:srgbClr val="001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Network / neuron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784–10, modified subtractive-reset LIF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Membrane / excitatory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16-bit signed Q9 state / 3-bit unsigned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Spike encoder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Spiker+ rate coding, gain 0.1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Window / stream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100 steps, 2,500 words, 10,000 bytes per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Teacher current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128 in Q9 = 0.25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Calcium leakage / bistability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Once every 10 steps / disabled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Training seeds / validation seed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2028, 2029, 2030 / 2027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Updated page marker">
            <a:extLst>
              <a:ext uri="{FF2B5EF4-FFF2-40B4-BE49-F238E27FC236}">
                <a16:creationId xmlns:a16="http://schemas.microsoft.com/office/drawing/2014/main" id="{FEE46133-EC9A-464F-901B-45E4C2A05FE4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20/29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593308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MNIST Evaluation Protocol</a:t>
            </a:r>
          </a:p>
        </p:txBody>
      </p:sp>
      <p:sp>
        <p:nvSpPr>
          <p:cNvPr id="9" name="Updated page marker">
            <a:extLst>
              <a:ext uri="{FF2B5EF4-FFF2-40B4-BE49-F238E27FC236}">
                <a16:creationId xmlns:a16="http://schemas.microsoft.com/office/drawing/2014/main" id="{AA0FE5FE-3F35-4D88-861E-FC55EB730210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21/29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3" name="Protocol-body">
            <a:extLst>
              <a:ext uri="{FF2B5EF4-FFF2-40B4-BE49-F238E27FC236}">
                <a16:creationId xmlns:a16="http://schemas.microsoft.com/office/drawing/2014/main" id="{AE281CA7-5267-4801-548A-68C63D4BA7A9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10439400" cy="6148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228600" indent="-114300">
              <a:spcAft>
                <a:spcPts val="1200"/>
              </a:spcAft>
              <a:buChar char="•"/>
              <a:defRPr sz="180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Training: 60,000 images per epoch. Learning and teacher input enabled.</a:t>
            </a:r>
          </a:p>
        </p:txBody>
      </p:sp>
      <p:sp>
        <p:nvSpPr>
          <p:cNvPr id="6" name="Protocol-stage-0">
            <a:extLst>
              <a:ext uri="{FF2B5EF4-FFF2-40B4-BE49-F238E27FC236}">
                <a16:creationId xmlns:a16="http://schemas.microsoft.com/office/drawing/2014/main" id="{DBB485BC-7E1E-7753-81AD-93287B714555}"/>
              </a:ext>
            </a:extLst>
          </p:cNvPr>
          <p:cNvSpPr>
            <a:spLocks noGrp="1"/>
          </p:cNvSpPr>
          <p:nvPr/>
        </p:nvSpPr>
        <p:spPr>
          <a:xfrm>
            <a:off x="876300" y="2047875"/>
            <a:ext cx="1333500" cy="1047750"/>
          </a:xfrm>
          <a:prstGeom prst="rect">
            <a:avLst/>
          </a:prstGeom>
          <a:solidFill>
            <a:srgbClr val="EFF5FB"/>
          </a:solidFill>
          <a:ln w="21908">
            <a:solidFill>
              <a:srgbClr val="2461AD"/>
            </a:solidFill>
          </a:ln>
        </p:spPr>
        <p:txBody>
          <a:bodyPr lIns="57150" tIns="0" rIns="57150" bIns="0" anchor="ctr">
            <a:noAutofit/>
          </a:bodyPr>
          <a:lstStyle/>
          <a:p>
            <a:pPr algn="ctr">
              <a:defRPr sz="1725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Initial</a:t>
            </a:r>
          </a:p>
          <a:p>
            <a:pPr algn="ctr">
              <a:defRPr sz="1725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evaluation</a:t>
            </a:r>
          </a:p>
        </p:txBody>
      </p:sp>
      <p:sp>
        <p:nvSpPr>
          <p:cNvPr id="7" name="Protocol-stage-1">
            <a:extLst>
              <a:ext uri="{FF2B5EF4-FFF2-40B4-BE49-F238E27FC236}">
                <a16:creationId xmlns:a16="http://schemas.microsoft.com/office/drawing/2014/main" id="{30ED14A4-F4F7-3B7A-C9CE-10C316B40AC0}"/>
              </a:ext>
            </a:extLst>
          </p:cNvPr>
          <p:cNvSpPr>
            <a:spLocks noGrp="1"/>
          </p:cNvSpPr>
          <p:nvPr/>
        </p:nvSpPr>
        <p:spPr>
          <a:xfrm>
            <a:off x="2438400" y="2047875"/>
            <a:ext cx="1333500" cy="1047750"/>
          </a:xfrm>
          <a:prstGeom prst="rect">
            <a:avLst/>
          </a:prstGeom>
          <a:solidFill>
            <a:srgbClr val="FFF3E8"/>
          </a:solidFill>
          <a:ln w="21908">
            <a:solidFill>
              <a:srgbClr val="D56B12"/>
            </a:solidFill>
          </a:ln>
        </p:spPr>
        <p:txBody>
          <a:bodyPr lIns="57150" tIns="0" rIns="57150" bIns="0" anchor="ctr">
            <a:noAutofit/>
          </a:bodyPr>
          <a:lstStyle/>
          <a:p>
            <a:pPr algn="ctr">
              <a:defRPr sz="1950" b="1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Train</a:t>
            </a:r>
          </a:p>
          <a:p>
            <a:pPr algn="ctr">
              <a:defRPr sz="1950" b="1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Epoch 1</a:t>
            </a:r>
          </a:p>
        </p:txBody>
      </p:sp>
      <p:sp>
        <p:nvSpPr>
          <p:cNvPr id="8" name="Protocol-stage-2">
            <a:extLst>
              <a:ext uri="{FF2B5EF4-FFF2-40B4-BE49-F238E27FC236}">
                <a16:creationId xmlns:a16="http://schemas.microsoft.com/office/drawing/2014/main" id="{11D57559-CDAA-5E59-5E6C-2558BDD1A664}"/>
              </a:ext>
            </a:extLst>
          </p:cNvPr>
          <p:cNvSpPr>
            <a:spLocks noGrp="1"/>
          </p:cNvSpPr>
          <p:nvPr/>
        </p:nvSpPr>
        <p:spPr>
          <a:xfrm>
            <a:off x="4000500" y="2047875"/>
            <a:ext cx="1238250" cy="1047750"/>
          </a:xfrm>
          <a:prstGeom prst="rect">
            <a:avLst/>
          </a:prstGeom>
          <a:solidFill>
            <a:srgbClr val="EFF5FB"/>
          </a:solidFill>
          <a:ln w="21908">
            <a:solidFill>
              <a:srgbClr val="2461AD"/>
            </a:solidFill>
          </a:ln>
        </p:spPr>
        <p:txBody>
          <a:bodyPr lIns="57150" tIns="0" rIns="57150" bIns="0" anchor="ctr">
            <a:noAutofit/>
          </a:bodyPr>
          <a:lstStyle/>
          <a:p>
            <a:pPr algn="ctr">
              <a:defRPr sz="1725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Evaluate</a:t>
            </a:r>
          </a:p>
        </p:txBody>
      </p:sp>
      <p:sp>
        <p:nvSpPr>
          <p:cNvPr id="10" name="Protocol-stage-3">
            <a:extLst>
              <a:ext uri="{FF2B5EF4-FFF2-40B4-BE49-F238E27FC236}">
                <a16:creationId xmlns:a16="http://schemas.microsoft.com/office/drawing/2014/main" id="{3824E05D-5685-40DB-DCF2-39D685B08F3B}"/>
              </a:ext>
            </a:extLst>
          </p:cNvPr>
          <p:cNvSpPr>
            <a:spLocks noGrp="1"/>
          </p:cNvSpPr>
          <p:nvPr/>
        </p:nvSpPr>
        <p:spPr>
          <a:xfrm>
            <a:off x="5467350" y="2047875"/>
            <a:ext cx="1333500" cy="1047750"/>
          </a:xfrm>
          <a:prstGeom prst="rect">
            <a:avLst/>
          </a:prstGeom>
          <a:solidFill>
            <a:srgbClr val="FFF3E8"/>
          </a:solidFill>
          <a:ln w="21908">
            <a:solidFill>
              <a:srgbClr val="D56B12"/>
            </a:solidFill>
          </a:ln>
        </p:spPr>
        <p:txBody>
          <a:bodyPr lIns="57150" tIns="0" rIns="57150" bIns="0" anchor="ctr">
            <a:noAutofit/>
          </a:bodyPr>
          <a:lstStyle/>
          <a:p>
            <a:pPr algn="ctr">
              <a:defRPr sz="1950" b="1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Train</a:t>
            </a:r>
          </a:p>
          <a:p>
            <a:pPr algn="ctr">
              <a:defRPr sz="1950" b="1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Epoch 2</a:t>
            </a:r>
          </a:p>
        </p:txBody>
      </p:sp>
      <p:sp>
        <p:nvSpPr>
          <p:cNvPr id="12" name="Protocol-stage-4">
            <a:extLst>
              <a:ext uri="{FF2B5EF4-FFF2-40B4-BE49-F238E27FC236}">
                <a16:creationId xmlns:a16="http://schemas.microsoft.com/office/drawing/2014/main" id="{2B1A8EB6-AA5A-9326-2D1A-01B20EE98B2D}"/>
              </a:ext>
            </a:extLst>
          </p:cNvPr>
          <p:cNvSpPr>
            <a:spLocks noGrp="1"/>
          </p:cNvSpPr>
          <p:nvPr/>
        </p:nvSpPr>
        <p:spPr>
          <a:xfrm>
            <a:off x="7029450" y="2047875"/>
            <a:ext cx="1238250" cy="1047750"/>
          </a:xfrm>
          <a:prstGeom prst="rect">
            <a:avLst/>
          </a:prstGeom>
          <a:solidFill>
            <a:srgbClr val="EFF5FB"/>
          </a:solidFill>
          <a:ln w="21908">
            <a:solidFill>
              <a:srgbClr val="2461AD"/>
            </a:solidFill>
          </a:ln>
        </p:spPr>
        <p:txBody>
          <a:bodyPr lIns="57150" tIns="0" rIns="57150" bIns="0" anchor="ctr">
            <a:noAutofit/>
          </a:bodyPr>
          <a:lstStyle/>
          <a:p>
            <a:pPr algn="ctr">
              <a:defRPr sz="1725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Evaluate</a:t>
            </a:r>
          </a:p>
        </p:txBody>
      </p:sp>
      <p:sp>
        <p:nvSpPr>
          <p:cNvPr id="13" name="Protocol-stage-5">
            <a:extLst>
              <a:ext uri="{FF2B5EF4-FFF2-40B4-BE49-F238E27FC236}">
                <a16:creationId xmlns:a16="http://schemas.microsoft.com/office/drawing/2014/main" id="{032D46B9-D405-EA92-1FE9-6DE10CCF8C35}"/>
              </a:ext>
            </a:extLst>
          </p:cNvPr>
          <p:cNvSpPr>
            <a:spLocks noGrp="1"/>
          </p:cNvSpPr>
          <p:nvPr/>
        </p:nvSpPr>
        <p:spPr>
          <a:xfrm>
            <a:off x="8496300" y="2047875"/>
            <a:ext cx="1333500" cy="1047750"/>
          </a:xfrm>
          <a:prstGeom prst="rect">
            <a:avLst/>
          </a:prstGeom>
          <a:solidFill>
            <a:srgbClr val="FFF3E8"/>
          </a:solidFill>
          <a:ln w="21908">
            <a:solidFill>
              <a:srgbClr val="D56B12"/>
            </a:solidFill>
          </a:ln>
        </p:spPr>
        <p:txBody>
          <a:bodyPr lIns="57150" tIns="0" rIns="57150" bIns="0" anchor="ctr">
            <a:noAutofit/>
          </a:bodyPr>
          <a:lstStyle/>
          <a:p>
            <a:pPr algn="ctr">
              <a:defRPr sz="1950" b="1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Train</a:t>
            </a:r>
          </a:p>
          <a:p>
            <a:pPr algn="ctr">
              <a:defRPr sz="1950" b="1">
                <a:solidFill>
                  <a:srgbClr val="D56B12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D56B12"/>
                </a:solidFill>
                <a:latin typeface="Noto Sans"/>
                <a:ea typeface="Noto Sans"/>
                <a:cs typeface="Noto Sans"/>
              </a:rPr>
              <a:t>Epoch 3</a:t>
            </a:r>
          </a:p>
        </p:txBody>
      </p:sp>
      <p:sp>
        <p:nvSpPr>
          <p:cNvPr id="14" name="Protocol-stage-6">
            <a:extLst>
              <a:ext uri="{FF2B5EF4-FFF2-40B4-BE49-F238E27FC236}">
                <a16:creationId xmlns:a16="http://schemas.microsoft.com/office/drawing/2014/main" id="{F5008247-EC87-B041-A4D0-92FC4E076FAF}"/>
              </a:ext>
            </a:extLst>
          </p:cNvPr>
          <p:cNvSpPr>
            <a:spLocks noGrp="1"/>
          </p:cNvSpPr>
          <p:nvPr/>
        </p:nvSpPr>
        <p:spPr>
          <a:xfrm>
            <a:off x="10058400" y="2047875"/>
            <a:ext cx="1238250" cy="1047750"/>
          </a:xfrm>
          <a:prstGeom prst="rect">
            <a:avLst/>
          </a:prstGeom>
          <a:solidFill>
            <a:srgbClr val="EFF5FB"/>
          </a:solidFill>
          <a:ln w="21908">
            <a:solidFill>
              <a:srgbClr val="2461AD"/>
            </a:solidFill>
          </a:ln>
        </p:spPr>
        <p:txBody>
          <a:bodyPr lIns="57150" tIns="0" rIns="57150" bIns="0" anchor="ctr">
            <a:noAutofit/>
          </a:bodyPr>
          <a:lstStyle/>
          <a:p>
            <a:pPr algn="ctr">
              <a:defRPr sz="1725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Evaluate</a:t>
            </a:r>
          </a:p>
        </p:txBody>
      </p:sp>
      <p:cxnSp>
        <p:nvCxnSpPr>
          <p:cNvPr id="15" name="Protocol-flow-0">
            <a:extLst>
              <a:ext uri="{FF2B5EF4-FFF2-40B4-BE49-F238E27FC236}">
                <a16:creationId xmlns:a16="http://schemas.microsoft.com/office/drawing/2014/main" id="{8E0CF150-7D1C-06E9-344F-E17A49EA84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209800" y="2571750"/>
            <a:ext cx="228600" cy="0"/>
          </a:xfrm>
          <a:prstGeom prst="straightConnector1">
            <a:avLst/>
          </a:prstGeom>
          <a:ln w="23813">
            <a:solidFill>
              <a:srgbClr val="8393AA"/>
            </a:solidFill>
            <a:headEnd type="none" w="med" len="med"/>
            <a:tailEnd type="triangle" w="med" len="med"/>
          </a:ln>
        </p:spPr>
      </p:cxnSp>
      <p:cxnSp>
        <p:nvCxnSpPr>
          <p:cNvPr id="16" name="Protocol-flow-1">
            <a:extLst>
              <a:ext uri="{FF2B5EF4-FFF2-40B4-BE49-F238E27FC236}">
                <a16:creationId xmlns:a16="http://schemas.microsoft.com/office/drawing/2014/main" id="{0F996146-E471-1BD5-F4C8-1615AB5B6AD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771900" y="2571750"/>
            <a:ext cx="228600" cy="0"/>
          </a:xfrm>
          <a:prstGeom prst="straightConnector1">
            <a:avLst/>
          </a:prstGeom>
          <a:ln w="23813">
            <a:solidFill>
              <a:srgbClr val="8393AA"/>
            </a:solidFill>
            <a:headEnd type="none" w="med" len="med"/>
            <a:tailEnd type="triangle" w="med" len="med"/>
          </a:ln>
        </p:spPr>
      </p:cxnSp>
      <p:cxnSp>
        <p:nvCxnSpPr>
          <p:cNvPr id="17" name="Protocol-flow-2">
            <a:extLst>
              <a:ext uri="{FF2B5EF4-FFF2-40B4-BE49-F238E27FC236}">
                <a16:creationId xmlns:a16="http://schemas.microsoft.com/office/drawing/2014/main" id="{D63FFF0D-CA45-89BF-4FD6-32CA6A38B53F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5238750" y="2571750"/>
            <a:ext cx="228600" cy="0"/>
          </a:xfrm>
          <a:prstGeom prst="straightConnector1">
            <a:avLst/>
          </a:prstGeom>
          <a:ln w="23813">
            <a:solidFill>
              <a:srgbClr val="8393AA"/>
            </a:solidFill>
            <a:headEnd type="none" w="med" len="med"/>
            <a:tailEnd type="triangle" w="med" len="med"/>
          </a:ln>
        </p:spPr>
      </p:cxnSp>
      <p:cxnSp>
        <p:nvCxnSpPr>
          <p:cNvPr id="18" name="Protocol-flow-3">
            <a:extLst>
              <a:ext uri="{FF2B5EF4-FFF2-40B4-BE49-F238E27FC236}">
                <a16:creationId xmlns:a16="http://schemas.microsoft.com/office/drawing/2014/main" id="{1944F86C-405E-DD3C-B994-D14DE6313B23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6800850" y="2571750"/>
            <a:ext cx="228600" cy="0"/>
          </a:xfrm>
          <a:prstGeom prst="straightConnector1">
            <a:avLst/>
          </a:prstGeom>
          <a:ln w="23813">
            <a:solidFill>
              <a:srgbClr val="8393AA"/>
            </a:solidFill>
            <a:headEnd type="none" w="med" len="med"/>
            <a:tailEnd type="triangle" w="med" len="med"/>
          </a:ln>
        </p:spPr>
      </p:cxnSp>
      <p:cxnSp>
        <p:nvCxnSpPr>
          <p:cNvPr id="19" name="Protocol-flow-4">
            <a:extLst>
              <a:ext uri="{FF2B5EF4-FFF2-40B4-BE49-F238E27FC236}">
                <a16:creationId xmlns:a16="http://schemas.microsoft.com/office/drawing/2014/main" id="{B5D2A8CE-A4D9-47F7-161D-FCBEA45F7912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8267700" y="2571750"/>
            <a:ext cx="228600" cy="0"/>
          </a:xfrm>
          <a:prstGeom prst="straightConnector1">
            <a:avLst/>
          </a:prstGeom>
          <a:ln w="23813">
            <a:solidFill>
              <a:srgbClr val="8393AA"/>
            </a:solidFill>
            <a:headEnd type="none" w="med" len="med"/>
            <a:tailEnd type="triangle" w="med" len="med"/>
          </a:ln>
        </p:spPr>
      </p:cxnSp>
      <p:cxnSp>
        <p:nvCxnSpPr>
          <p:cNvPr id="20" name="Protocol-flow-5">
            <a:extLst>
              <a:ext uri="{FF2B5EF4-FFF2-40B4-BE49-F238E27FC236}">
                <a16:creationId xmlns:a16="http://schemas.microsoft.com/office/drawing/2014/main" id="{8BD879F8-4750-8C96-E103-3AFA9C07B07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9829800" y="2571750"/>
            <a:ext cx="228600" cy="0"/>
          </a:xfrm>
          <a:prstGeom prst="straightConnector1">
            <a:avLst/>
          </a:prstGeom>
          <a:ln w="23813">
            <a:solidFill>
              <a:srgbClr val="8393AA"/>
            </a:solidFill>
            <a:headEnd type="none" w="med" len="med"/>
            <a:tailEnd type="triangle" w="med" len="med"/>
          </a:ln>
        </p:spPr>
      </p:cxnSp>
      <p:sp>
        <p:nvSpPr>
          <p:cNvPr id="5" name="Protocol-body">
            <a:extLst>
              <a:ext uri="{FF2B5EF4-FFF2-40B4-BE49-F238E27FC236}">
                <a16:creationId xmlns:a16="http://schemas.microsoft.com/office/drawing/2014/main" id="{D8CB33FB-9B39-3AF3-7A36-8C40E0C39661}"/>
              </a:ext>
            </a:extLst>
          </p:cNvPr>
          <p:cNvSpPr>
            <a:spLocks noGrp="1"/>
          </p:cNvSpPr>
          <p:nvPr/>
        </p:nvSpPr>
        <p:spPr>
          <a:xfrm>
            <a:off x="857250" y="4593016"/>
            <a:ext cx="10439400" cy="6148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228600" indent="-114300">
              <a:spcAft>
                <a:spcPts val="1200"/>
              </a:spcAft>
              <a:buChar char="•"/>
              <a:defRPr sz="180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Evaluation: reuse 1,000 class-balanced images with fixed spike encoding. Learning and teacher input disabled.</a:t>
            </a:r>
          </a:p>
        </p:txBody>
      </p:sp>
      <p:sp>
        <p:nvSpPr>
          <p:cNvPr id="21" name="Protocol-body">
            <a:extLst>
              <a:ext uri="{FF2B5EF4-FFF2-40B4-BE49-F238E27FC236}">
                <a16:creationId xmlns:a16="http://schemas.microsoft.com/office/drawing/2014/main" id="{B4F1E711-DBD8-7B43-A007-F6F1F0C31AAE}"/>
              </a:ext>
            </a:extLst>
          </p:cNvPr>
          <p:cNvSpPr>
            <a:spLocks noGrp="1"/>
          </p:cNvSpPr>
          <p:nvPr/>
        </p:nvSpPr>
        <p:spPr>
          <a:xfrm>
            <a:off x="857250" y="5473219"/>
            <a:ext cx="10439400" cy="6148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228600" indent="-114300">
              <a:spcAft>
                <a:spcPts val="1200"/>
              </a:spcAft>
              <a:buChar char="•"/>
              <a:defRPr sz="180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One bitstream load. Learned weights persist across all three epochs.</a:t>
            </a:r>
          </a:p>
        </p:txBody>
      </p:sp>
    </p:spTree>
    <p:extLst>
      <p:ext uri="{BB962C8B-B14F-4D97-AF65-F5344CB8AC3E}">
        <p14:creationId xmlns:p14="http://schemas.microsoft.com/office/powerpoint/2010/main" val="93583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 animBg="1"/>
      <p:bldP spid="8" grpId="0" animBg="1"/>
      <p:bldP spid="10" grpId="0" animBg="1"/>
      <p:bldP spid="12" grpId="0" animBg="1"/>
      <p:bldP spid="13" grpId="0" animBg="1"/>
      <p:bldP spid="14" grpId="0" animBg="1"/>
      <p:bldP spid="5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Accuracy and Output Activity</a:t>
            </a:r>
            <a:endParaRPr dirty="0"/>
          </a:p>
        </p:txBody>
      </p:sp>
      <p:sp>
        <p:nvSpPr>
          <p:cNvPr id="10" name="Updated page marker">
            <a:extLst>
              <a:ext uri="{FF2B5EF4-FFF2-40B4-BE49-F238E27FC236}">
                <a16:creationId xmlns:a16="http://schemas.microsoft.com/office/drawing/2014/main" id="{D0C97824-0D9E-4795-8F72-F73EE4D5AEA6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22/29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graphicFrame>
        <p:nvGraphicFramePr>
          <p:cNvPr id="3" name="Strict and active-image accuracy chart">
            <a:extLst>
              <a:ext uri="{FF2B5EF4-FFF2-40B4-BE49-F238E27FC236}">
                <a16:creationId xmlns:a16="http://schemas.microsoft.com/office/drawing/2014/main" id="{FD7078E5-A291-11FA-6411-24B703A352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781709"/>
              </p:ext>
            </p:extLst>
          </p:nvPr>
        </p:nvGraphicFramePr>
        <p:xfrm>
          <a:off x="876300" y="990600"/>
          <a:ext cx="10439400" cy="4210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Accuracy-silent-counts">
            <a:extLst>
              <a:ext uri="{FF2B5EF4-FFF2-40B4-BE49-F238E27FC236}">
                <a16:creationId xmlns:a16="http://schemas.microsoft.com/office/drawing/2014/main" id="{E6EC8E66-6C77-1FCA-80C0-EC0899CE31D8}"/>
              </a:ext>
            </a:extLst>
          </p:cNvPr>
          <p:cNvSpPr>
            <a:spLocks noGrp="1"/>
          </p:cNvSpPr>
          <p:nvPr/>
        </p:nvSpPr>
        <p:spPr>
          <a:xfrm>
            <a:off x="876300" y="5314950"/>
            <a:ext cx="10439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sz="1500" b="0" dirty="0">
                <a:latin typeface="Noto Sans"/>
                <a:ea typeface="Noto Sans"/>
                <a:cs typeface="Noto Sans"/>
              </a:rPr>
              <a:t>Silent / 1,000: Initial 225, Epoch 1</a:t>
            </a:r>
            <a:r>
              <a:rPr lang="en-US" sz="1500" b="0" dirty="0">
                <a:latin typeface="Noto Sans"/>
                <a:ea typeface="Noto Sans"/>
                <a:cs typeface="Noto Sans"/>
              </a:rPr>
              <a:t>:</a:t>
            </a:r>
            <a:r>
              <a:rPr sz="1500" b="0" dirty="0">
                <a:latin typeface="Noto Sans"/>
                <a:ea typeface="Noto Sans"/>
                <a:cs typeface="Noto Sans"/>
              </a:rPr>
              <a:t> 380, Epoch 2</a:t>
            </a:r>
            <a:r>
              <a:rPr lang="en-US" sz="1500" b="0" dirty="0">
                <a:latin typeface="Noto Sans"/>
                <a:ea typeface="Noto Sans"/>
                <a:cs typeface="Noto Sans"/>
              </a:rPr>
              <a:t>:</a:t>
            </a:r>
            <a:r>
              <a:rPr sz="1500" b="0" dirty="0">
                <a:latin typeface="Noto Sans"/>
                <a:ea typeface="Noto Sans"/>
                <a:cs typeface="Noto Sans"/>
              </a:rPr>
              <a:t> 282, Epoch 3</a:t>
            </a:r>
            <a:r>
              <a:rPr lang="en-US" sz="1500" b="0" dirty="0">
                <a:latin typeface="Noto Sans"/>
                <a:ea typeface="Noto Sans"/>
                <a:cs typeface="Noto Sans"/>
              </a:rPr>
              <a:t>:</a:t>
            </a:r>
            <a:r>
              <a:rPr sz="1500" b="0" dirty="0">
                <a:latin typeface="Noto Sans"/>
                <a:ea typeface="Noto Sans"/>
                <a:cs typeface="Noto Sans"/>
              </a:rPr>
              <a:t> 215.</a:t>
            </a:r>
          </a:p>
        </p:txBody>
      </p:sp>
      <p:sp>
        <p:nvSpPr>
          <p:cNvPr id="6" name="Accuracy-key-message">
            <a:extLst>
              <a:ext uri="{FF2B5EF4-FFF2-40B4-BE49-F238E27FC236}">
                <a16:creationId xmlns:a16="http://schemas.microsoft.com/office/drawing/2014/main" id="{443C2888-FEB0-460E-9F5A-870CA5EFE939}"/>
              </a:ext>
            </a:extLst>
          </p:cNvPr>
          <p:cNvSpPr>
            <a:spLocks noGrp="1"/>
          </p:cNvSpPr>
          <p:nvPr/>
        </p:nvSpPr>
        <p:spPr>
          <a:xfrm>
            <a:off x="876300" y="5657850"/>
            <a:ext cx="10439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725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Later gains in strict accuracy mainly reflect fewer silent images.</a:t>
            </a:r>
          </a:p>
        </p:txBody>
      </p:sp>
    </p:spTree>
    <p:extLst>
      <p:ext uri="{BB962C8B-B14F-4D97-AF65-F5344CB8AC3E}">
        <p14:creationId xmlns:p14="http://schemas.microsoft.com/office/powerpoint/2010/main" val="103712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Runtime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876300" y="1419225"/>
          <a:ext cx="6953250" cy="3448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raining workload">
            <a:extLst>
              <a:ext uri="{FF2B5EF4-FFF2-40B4-BE49-F238E27FC236}">
                <a16:creationId xmlns:a16="http://schemas.microsoft.com/office/drawing/2014/main" id="{EE81715F-8CBA-425A-9454-B238D854EA1C}"/>
              </a:ext>
            </a:extLst>
          </p:cNvPr>
          <p:cNvSpPr>
            <a:spLocks noGrp="1"/>
          </p:cNvSpPr>
          <p:nvPr/>
        </p:nvSpPr>
        <p:spPr>
          <a:xfrm>
            <a:off x="8429625" y="2457450"/>
            <a:ext cx="29146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training transactions</a:t>
            </a:r>
          </a:p>
          <a:p>
            <a:pPr>
              <a:buNone/>
              <a:defRPr sz="180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in 45 min 20.77 s</a:t>
            </a:r>
          </a:p>
        </p:txBody>
      </p:sp>
      <p:sp>
        <p:nvSpPr>
          <p:cNvPr id="10" name="Updated page marker">
            <a:extLst>
              <a:ext uri="{FF2B5EF4-FFF2-40B4-BE49-F238E27FC236}">
                <a16:creationId xmlns:a16="http://schemas.microsoft.com/office/drawing/2014/main" id="{8016516A-D3EA-44F0-B23F-E61765EBE159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23/29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4" name="Training workload">
            <a:extLst>
              <a:ext uri="{FF2B5EF4-FFF2-40B4-BE49-F238E27FC236}">
                <a16:creationId xmlns:a16="http://schemas.microsoft.com/office/drawing/2014/main" id="{699C0A51-8E6F-E2E1-4751-269DC1EE39D0}"/>
              </a:ext>
            </a:extLst>
          </p:cNvPr>
          <p:cNvSpPr>
            <a:spLocks noGrp="1"/>
          </p:cNvSpPr>
          <p:nvPr/>
        </p:nvSpPr>
        <p:spPr>
          <a:xfrm>
            <a:off x="8401050" y="3733144"/>
            <a:ext cx="2990850" cy="116429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lang="en-US" sz="180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I</a:t>
            </a:r>
            <a:r>
              <a:rPr lang="en-US" altLang="zh-CN" sz="180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ncludes Python control, DMA, register access and a 10 </a:t>
            </a:r>
            <a:r>
              <a:rPr lang="en-US" altLang="zh-CN" sz="1800" b="0" dirty="0" err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ms</a:t>
            </a:r>
            <a:r>
              <a:rPr lang="en-US" altLang="zh-CN" sz="180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 delay/image</a:t>
            </a:r>
            <a:endParaRPr sz="1800" b="0" dirty="0">
              <a:solidFill>
                <a:srgbClr val="001B69"/>
              </a:solidFill>
              <a:latin typeface="Noto Sans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523064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Quantitative Comparison</a:t>
            </a:r>
            <a:endParaRPr dirty="0"/>
          </a:p>
        </p:txBody>
      </p:sp>
      <p:sp>
        <p:nvSpPr>
          <p:cNvPr id="7" name="Updated page marker">
            <a:extLst>
              <a:ext uri="{FF2B5EF4-FFF2-40B4-BE49-F238E27FC236}">
                <a16:creationId xmlns:a16="http://schemas.microsoft.com/office/drawing/2014/main" id="{E5D32F6A-8D6E-4F2F-BEC3-9C73403016A9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24/29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graphicFrame>
        <p:nvGraphicFramePr>
          <p:cNvPr id="3" name="Quantitative related-work comparison">
            <a:extLst>
              <a:ext uri="{FF2B5EF4-FFF2-40B4-BE49-F238E27FC236}">
                <a16:creationId xmlns:a16="http://schemas.microsoft.com/office/drawing/2014/main" id="{A314D61F-CDA4-E8E4-D857-EFE7E693EE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0292106"/>
              </p:ext>
            </p:extLst>
          </p:nvPr>
        </p:nvGraphicFramePr>
        <p:xfrm>
          <a:off x="876300" y="1104900"/>
          <a:ext cx="10582278" cy="46863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31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Work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[1] ODIN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Frenkel et al.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(2019, TBioCAS)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[2] MorphIC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Frenkel et al.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(2019, TBioCAS)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[3] Asgari et al.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(2020, IJCTA)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[4] Li et al.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(2021, TCAS-I)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[5] TEDOP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Shi et al.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(2022, ICTA)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[6] RAINE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Fang et al.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(2022, A-SSCC)</a:t>
                      </a:r>
                    </a:p>
                  </a:txBody>
                  <a:tcPr marL="28575" marR="28575" marT="19050" marB="19050" anchor="ctr"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This Work</a:t>
                      </a:r>
                    </a:p>
                  </a:txBody>
                  <a:tcPr marL="28575" marR="28575" marT="19050" marB="19050" anchor="ctr">
                    <a:solidFill>
                      <a:srgbClr val="2D7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990" b="1">
                          <a:solidFill>
                            <a:srgbClr val="00008C"/>
                          </a:solidFill>
                          <a:latin typeface="Open Sans"/>
                          <a:ea typeface="Open Sans"/>
                          <a:cs typeface="Open Sans"/>
                        </a:rPr>
                        <a:t>Platform and scale</a:t>
                      </a:r>
                    </a:p>
                  </a:txBody>
                  <a:tcPr marL="28575" marR="28575" marT="19050" marB="19050" anchor="ctr"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 dirty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28 nm ASIC</a:t>
                      </a:r>
                    </a:p>
                    <a:p>
                      <a:pPr algn="ctr"/>
                      <a:r>
                        <a:rPr sz="990" b="0" dirty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256 neurons</a:t>
                      </a:r>
                    </a:p>
                    <a:p>
                      <a:pPr algn="ctr"/>
                      <a:r>
                        <a:rPr sz="990" b="0" dirty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64k synapses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65 nm ASIC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2,048 neurons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&gt;2M synapses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Spartan-6 LX45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2 neurons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1 plastic synapse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VC707, Virtex-7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984 neurons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88.4k synapses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Zynq-7010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Up to 1,024 × 10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Alveo U250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16 UDLEs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PYNQ-Z1, XC7Z020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10 neurons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7,840 plastic synapses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90" b="1">
                          <a:solidFill>
                            <a:srgbClr val="00008C"/>
                          </a:solidFill>
                          <a:latin typeface="Open Sans"/>
                          <a:ea typeface="Open Sans"/>
                          <a:cs typeface="Open Sans"/>
                        </a:rPr>
                        <a:t>Neuron model</a:t>
                      </a:r>
                    </a:p>
                  </a:txBody>
                  <a:tcPr marL="28575" marR="28575" marT="19050" marB="19050" anchor="ctr"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8-bit LIF /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Izhikevich-like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LIF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LIF + CAVE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Ca estimator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LIF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16-bit TI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(non-spiking)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LIF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Modified LIF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subtractive reset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90" b="1">
                          <a:solidFill>
                            <a:srgbClr val="00008C"/>
                          </a:solidFill>
                          <a:latin typeface="Open Sans"/>
                          <a:ea typeface="Open Sans"/>
                          <a:cs typeface="Open Sans"/>
                        </a:rPr>
                        <a:t>SNN model (topology)</a:t>
                      </a:r>
                    </a:p>
                  </a:txBody>
                  <a:tcPr marL="28575" marR="28575" marT="19050" marB="19050" anchor="ctr"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256–10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fully connected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4 conv. kernels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+ pooling + FC–8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2-neuron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minimum network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784 input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100 excitatory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+ 100 inhibitory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784–10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fully connected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251–100–4 SFNN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256–100–2 SRNN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784–1000–10 SCNN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784–10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fully connected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990" b="1">
                          <a:solidFill>
                            <a:srgbClr val="00008C"/>
                          </a:solidFill>
                          <a:latin typeface="Open Sans"/>
                          <a:ea typeface="Open Sans"/>
                          <a:cs typeface="Open Sans"/>
                        </a:rPr>
                        <a:t>On-chip learning</a:t>
                      </a:r>
                    </a:p>
                    <a:p>
                      <a:pPr algn="l"/>
                      <a:r>
                        <a:rPr sz="990" b="1">
                          <a:solidFill>
                            <a:srgbClr val="00008C"/>
                          </a:solidFill>
                          <a:latin typeface="Open Sans"/>
                          <a:ea typeface="Open Sans"/>
                          <a:cs typeface="Open Sans"/>
                        </a:rPr>
                        <a:t>(algorithm)</a:t>
                      </a:r>
                    </a:p>
                  </a:txBody>
                  <a:tcPr marL="28575" marR="28575" marT="19050" marB="19050" anchor="ctr"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SDSP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(teacher-supervised)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Stochastic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S-SDSP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High-precision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SDSP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Trace-based STDP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(unsupervised)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S4DSP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(supervised)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Rewarded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Trace-STDP</a:t>
                      </a:r>
                    </a:p>
                  </a:txBody>
                  <a:tcPr marL="28575" marR="28575" marT="19050" marB="19050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SDSP</a:t>
                      </a:r>
                    </a:p>
                    <a:p>
                      <a:pPr algn="ctr"/>
                      <a:r>
                        <a:rPr sz="990" b="1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(teacher-supervised)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990" b="1">
                          <a:solidFill>
                            <a:srgbClr val="00008C"/>
                          </a:solidFill>
                          <a:latin typeface="Open Sans"/>
                          <a:ea typeface="Open Sans"/>
                          <a:cs typeface="Open Sans"/>
                        </a:rPr>
                        <a:t>Dataset</a:t>
                      </a:r>
                    </a:p>
                  </a:txBody>
                  <a:tcPr marL="28575" marR="28575" marT="19050" marB="19050" anchor="ctr">
                    <a:solidFill>
                      <a:srgbClr val="E3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MNIST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(16 × 16)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8-pattern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benchmark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Synthetic spikes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(no dataset)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MNIST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MNIST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MIT-BIH ECG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CHB-MIT EEG</a:t>
                      </a:r>
                    </a:p>
                    <a:p>
                      <a:pPr algn="ctr"/>
                      <a:r>
                        <a:rPr sz="990" b="0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MNIST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90" b="1">
                          <a:solidFill>
                            <a:srgbClr val="334763"/>
                          </a:solidFill>
                          <a:latin typeface="Open Sans"/>
                          <a:ea typeface="Open Sans"/>
                          <a:cs typeface="Open Sans"/>
                        </a:rPr>
                        <a:t>MNIST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Resources / area</a:t>
                      </a:r>
                    </a:p>
                  </a:txBody>
                  <a:tcPr marL="28575" marR="28575" marT="19050" marB="19050" anchor="ctr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0.086 mm²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2.86 mm²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450 LUTs</a:t>
                      </a:r>
                    </a:p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249 registers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N/R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952 LUTs</a:t>
                      </a:r>
                    </a:p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741 FF</a:t>
                      </a:r>
                    </a:p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4 BRAM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21,560 LUTs*</a:t>
                      </a:r>
                    </a:p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20,863 FF*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5,056 LUTs</a:t>
                      </a:r>
                    </a:p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5,294 FF</a:t>
                      </a:r>
                    </a:p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4 BRAM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Frequency</a:t>
                      </a:r>
                    </a:p>
                  </a:txBody>
                  <a:tcPr marL="28575" marR="28575" marT="19050" marB="19050" anchor="ctr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75 MHz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55 MHz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131 MHz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100 MHz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250 MHz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75 MHz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100 MHz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Accuracy</a:t>
                      </a:r>
                    </a:p>
                  </a:txBody>
                  <a:tcPr marL="28575" marR="28575" marT="19050" marB="19050" anchor="ctr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85.0% rate</a:t>
                      </a:r>
                    </a:p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84.5% rank-order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100% patterns</a:t>
                      </a:r>
                    </a:p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(800/800)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N/A</a:t>
                      </a:r>
                    </a:p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No classifier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85.28% online</a:t>
                      </a:r>
                    </a:p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82.52% relearning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90.4%</a:t>
                      </a:r>
                    </a:p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MNIST test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98.26%</a:t>
                      </a:r>
                    </a:p>
                    <a:p>
                      <a:pPr algn="ctr"/>
                      <a:r>
                        <a:rPr sz="1005" b="1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MNIST</a:t>
                      </a:r>
                    </a:p>
                  </a:txBody>
                  <a:tcPr marL="28575" marR="28575" marT="19050" marB="19050" anchor="ctr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5" b="1" dirty="0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39.6%</a:t>
                      </a:r>
                    </a:p>
                    <a:p>
                      <a:pPr algn="ctr"/>
                      <a:r>
                        <a:rPr sz="1005" b="1" dirty="0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fixed validation</a:t>
                      </a:r>
                    </a:p>
                    <a:p>
                      <a:pPr algn="ctr"/>
                      <a:r>
                        <a:rPr sz="1005" b="1" dirty="0">
                          <a:solidFill>
                            <a:srgbClr val="001B69"/>
                          </a:solidFill>
                          <a:latin typeface="Open Sans"/>
                          <a:ea typeface="Open Sans"/>
                          <a:cs typeface="Open Sans"/>
                        </a:rPr>
                        <a:t>3 epochs</a:t>
                      </a:r>
                    </a:p>
                  </a:txBody>
                  <a:tcPr marL="28575" marR="28575" marT="19050" marB="19050" anchor="ctr">
                    <a:solidFill>
                      <a:srgbClr val="E7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847DAFB6-3886-0AC5-6D54-6D4DFB3E8626}"/>
              </a:ext>
            </a:extLst>
          </p:cNvPr>
          <p:cNvSpPr/>
          <p:nvPr/>
        </p:nvSpPr>
        <p:spPr>
          <a:xfrm>
            <a:off x="874712" y="4371278"/>
            <a:ext cx="10580687" cy="14199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96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0AA15-FD78-9E68-CD95-3CAC55E1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2743200"/>
            <a:ext cx="10439400" cy="914400"/>
          </a:xfrm>
        </p:spPr>
        <p:txBody>
          <a:bodyPr lIns="0" tIns="0" rIns="0" bIns="0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Conclusion &amp; Outlook</a:t>
            </a:r>
          </a:p>
        </p:txBody>
      </p:sp>
      <p:sp>
        <p:nvSpPr>
          <p:cNvPr id="3" name="Section number">
            <a:extLst>
              <a:ext uri="{FF2B5EF4-FFF2-40B4-BE49-F238E27FC236}">
                <a16:creationId xmlns:a16="http://schemas.microsoft.com/office/drawing/2014/main" id="{73F54618-599B-4242-822F-F0841838927B}"/>
              </a:ext>
            </a:extLst>
          </p:cNvPr>
          <p:cNvSpPr>
            <a:spLocks noGrp="1"/>
          </p:cNvSpPr>
          <p:nvPr/>
        </p:nvSpPr>
        <p:spPr>
          <a:xfrm>
            <a:off x="876300" y="2200275"/>
            <a:ext cx="10439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D9E3F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D9E3F6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5" name="Updated page marker">
            <a:extLst>
              <a:ext uri="{FF2B5EF4-FFF2-40B4-BE49-F238E27FC236}">
                <a16:creationId xmlns:a16="http://schemas.microsoft.com/office/drawing/2014/main" id="{DCD82354-DCAD-4C12-9B94-5C662CAFD24A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25/29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621915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Conclusions</a:t>
            </a:r>
          </a:p>
        </p:txBody>
      </p:sp>
      <p:sp>
        <p:nvSpPr>
          <p:cNvPr id="11" name="Updated page marker">
            <a:extLst>
              <a:ext uri="{FF2B5EF4-FFF2-40B4-BE49-F238E27FC236}">
                <a16:creationId xmlns:a16="http://schemas.microsoft.com/office/drawing/2014/main" id="{6CF265A3-3707-49C8-A4D8-BF6E8610922C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26/29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9" name="Conclusion-topic-0">
            <a:extLst>
              <a:ext uri="{FF2B5EF4-FFF2-40B4-BE49-F238E27FC236}">
                <a16:creationId xmlns:a16="http://schemas.microsoft.com/office/drawing/2014/main" id="{6D96BEA4-CCC9-D059-32B3-800B313177FD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10439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304800" indent="-228600">
              <a:spcAft>
                <a:spcPts val="0"/>
              </a:spcAft>
              <a:buChar char="➢"/>
              <a:defRPr sz="18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Hardware contribution</a:t>
            </a:r>
          </a:p>
        </p:txBody>
      </p:sp>
      <p:sp>
        <p:nvSpPr>
          <p:cNvPr id="10" name="Conclusion-explanation-0">
            <a:extLst>
              <a:ext uri="{FF2B5EF4-FFF2-40B4-BE49-F238E27FC236}">
                <a16:creationId xmlns:a16="http://schemas.microsoft.com/office/drawing/2014/main" id="{DD43D61E-766E-5F94-4D99-3997F49710A1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10439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0">
                <a:solidFill>
                  <a:srgbClr val="536787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Synthesizable SDSP, ten learning lanes and address-aligned writable synapses.</a:t>
            </a:r>
          </a:p>
        </p:txBody>
      </p:sp>
      <p:sp>
        <p:nvSpPr>
          <p:cNvPr id="13" name="Conclusion-topic-1">
            <a:extLst>
              <a:ext uri="{FF2B5EF4-FFF2-40B4-BE49-F238E27FC236}">
                <a16:creationId xmlns:a16="http://schemas.microsoft.com/office/drawing/2014/main" id="{6384CE30-EBB1-5D6D-DF96-2895884EC5AA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10439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304800" indent="-228600">
              <a:spcAft>
                <a:spcPts val="0"/>
              </a:spcAft>
              <a:buChar char="➢"/>
              <a:defRPr sz="18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System contribution</a:t>
            </a:r>
          </a:p>
        </p:txBody>
      </p:sp>
      <p:sp>
        <p:nvSpPr>
          <p:cNvPr id="14" name="Conclusion-explanation-1">
            <a:extLst>
              <a:ext uri="{FF2B5EF4-FFF2-40B4-BE49-F238E27FC236}">
                <a16:creationId xmlns:a16="http://schemas.microsoft.com/office/drawing/2014/main" id="{50F99A15-ED0D-0BB7-FD7F-FEE03FA502AA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10439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0">
                <a:solidFill>
                  <a:srgbClr val="536787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Reusable Spiker+ extension on PYNQ-Z1 at 100 MHz, with 180,000 continuous training transactions.</a:t>
            </a:r>
          </a:p>
        </p:txBody>
      </p:sp>
      <p:sp>
        <p:nvSpPr>
          <p:cNvPr id="15" name="Conclusion-topic-2">
            <a:extLst>
              <a:ext uri="{FF2B5EF4-FFF2-40B4-BE49-F238E27FC236}">
                <a16:creationId xmlns:a16="http://schemas.microsoft.com/office/drawing/2014/main" id="{9742788E-9FE5-D32C-3FFA-3B95C628A7DE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10439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304800" indent="-228600">
              <a:spcAft>
                <a:spcPts val="0"/>
              </a:spcAft>
              <a:buChar char="➢"/>
              <a:defRPr sz="18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Strict validation accuracy: 5.9% to 39.6% after three epochs</a:t>
            </a:r>
          </a:p>
        </p:txBody>
      </p:sp>
      <p:sp>
        <p:nvSpPr>
          <p:cNvPr id="16" name="Conclusion-explanation-2">
            <a:extLst>
              <a:ext uri="{FF2B5EF4-FFF2-40B4-BE49-F238E27FC236}">
                <a16:creationId xmlns:a16="http://schemas.microsoft.com/office/drawing/2014/main" id="{9845738A-9D07-57F1-3DA0-98BE734A5D22}"/>
              </a:ext>
            </a:extLst>
          </p:cNvPr>
          <p:cNvSpPr>
            <a:spLocks noGrp="1"/>
          </p:cNvSpPr>
          <p:nvPr/>
        </p:nvSpPr>
        <p:spPr>
          <a:xfrm>
            <a:off x="876300" y="3943350"/>
            <a:ext cx="10439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0">
                <a:solidFill>
                  <a:srgbClr val="536787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Epoch 1 improves classification among active images. Later gains mainly reflect fewer</a:t>
            </a:r>
          </a:p>
          <a:p>
            <a:pPr>
              <a:defRPr sz="1575" b="0">
                <a:solidFill>
                  <a:srgbClr val="536787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silent images (380 to 215), with active-image accuracy remaining near 50%.</a:t>
            </a:r>
          </a:p>
        </p:txBody>
      </p:sp>
      <p:sp>
        <p:nvSpPr>
          <p:cNvPr id="17" name="Conclusion-topic-3">
            <a:extLst>
              <a:ext uri="{FF2B5EF4-FFF2-40B4-BE49-F238E27FC236}">
                <a16:creationId xmlns:a16="http://schemas.microsoft.com/office/drawing/2014/main" id="{668CEB6C-011C-9582-DBC7-5E924F1C2390}"/>
              </a:ext>
            </a:extLst>
          </p:cNvPr>
          <p:cNvSpPr>
            <a:spLocks noGrp="1"/>
          </p:cNvSpPr>
          <p:nvPr/>
        </p:nvSpPr>
        <p:spPr>
          <a:xfrm>
            <a:off x="876300" y="4791075"/>
            <a:ext cx="10439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304800" indent="-228600">
              <a:spcAft>
                <a:spcPts val="0"/>
              </a:spcAft>
              <a:buChar char="➢"/>
              <a:defRPr sz="18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Accuracy remains an intermediate result</a:t>
            </a:r>
          </a:p>
        </p:txBody>
      </p:sp>
      <p:sp>
        <p:nvSpPr>
          <p:cNvPr id="18" name="Conclusion-explanation-3">
            <a:extLst>
              <a:ext uri="{FF2B5EF4-FFF2-40B4-BE49-F238E27FC236}">
                <a16:creationId xmlns:a16="http://schemas.microsoft.com/office/drawing/2014/main" id="{27CBB625-AF17-14CE-E2CE-3BD537CC5ACA}"/>
              </a:ext>
            </a:extLst>
          </p:cNvPr>
          <p:cNvSpPr>
            <a:spLocks noGrp="1"/>
          </p:cNvSpPr>
          <p:nvPr/>
        </p:nvSpPr>
        <p:spPr>
          <a:xfrm>
            <a:off x="876300" y="5114925"/>
            <a:ext cx="10439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0">
                <a:solidFill>
                  <a:srgbClr val="536787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Convergence is unestablished and class responses remain unstable. Single-layer capacity</a:t>
            </a:r>
          </a:p>
          <a:p>
            <a:pPr>
              <a:defRPr sz="1575" b="0">
                <a:solidFill>
                  <a:srgbClr val="536787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and 3-bit weights may constrain accuracy, but their individual effects are untested.</a:t>
            </a:r>
          </a:p>
        </p:txBody>
      </p:sp>
    </p:spTree>
    <p:extLst>
      <p:ext uri="{BB962C8B-B14F-4D97-AF65-F5344CB8AC3E}">
        <p14:creationId xmlns:p14="http://schemas.microsoft.com/office/powerpoint/2010/main" val="146913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 and Next Experiments</a:t>
            </a:r>
          </a:p>
        </p:txBody>
      </p:sp>
      <p:sp>
        <p:nvSpPr>
          <p:cNvPr id="7" name="Updated page marker">
            <a:extLst>
              <a:ext uri="{FF2B5EF4-FFF2-40B4-BE49-F238E27FC236}">
                <a16:creationId xmlns:a16="http://schemas.microsoft.com/office/drawing/2014/main" id="{9FBF9235-5308-4FBE-9644-3B22FF92BA6A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27/29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  <p:sp>
        <p:nvSpPr>
          <p:cNvPr id="5" name="Limitations-body">
            <a:extLst>
              <a:ext uri="{FF2B5EF4-FFF2-40B4-BE49-F238E27FC236}">
                <a16:creationId xmlns:a16="http://schemas.microsoft.com/office/drawing/2014/main" id="{785C9B97-066F-54BA-A35F-E49E38115B97}"/>
              </a:ext>
            </a:extLst>
          </p:cNvPr>
          <p:cNvSpPr>
            <a:spLocks noGrp="1"/>
          </p:cNvSpPr>
          <p:nvPr/>
        </p:nvSpPr>
        <p:spPr>
          <a:xfrm>
            <a:off x="874712" y="1529713"/>
            <a:ext cx="10439400" cy="6881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228600" indent="-114300">
              <a:spcAft>
                <a:spcPts val="2400"/>
              </a:spcAft>
              <a:buChar char="•"/>
              <a:defRPr sz="19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95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Training scope: one run over three epochs. Extend training and repeat runs across parameter settings.</a:t>
            </a:r>
          </a:p>
        </p:txBody>
      </p:sp>
      <p:sp>
        <p:nvSpPr>
          <p:cNvPr id="4" name="Limitations-body">
            <a:extLst>
              <a:ext uri="{FF2B5EF4-FFF2-40B4-BE49-F238E27FC236}">
                <a16:creationId xmlns:a16="http://schemas.microsoft.com/office/drawing/2014/main" id="{B0762442-7D4A-E55A-23EB-67E85AB51179}"/>
              </a:ext>
            </a:extLst>
          </p:cNvPr>
          <p:cNvSpPr>
            <a:spLocks noGrp="1"/>
          </p:cNvSpPr>
          <p:nvPr/>
        </p:nvSpPr>
        <p:spPr>
          <a:xfrm>
            <a:off x="874712" y="2602614"/>
            <a:ext cx="10439400" cy="688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228600" indent="-114300">
              <a:spcAft>
                <a:spcPts val="2400"/>
              </a:spcAft>
              <a:buChar char="•"/>
              <a:defRPr sz="19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95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Validation: the fixed validation set guided</a:t>
            </a:r>
            <a:r>
              <a:rPr lang="en-US" sz="195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 continuation. Use an untouched final test set.</a:t>
            </a:r>
          </a:p>
        </p:txBody>
      </p:sp>
      <p:sp>
        <p:nvSpPr>
          <p:cNvPr id="10" name="Limitations-body">
            <a:extLst>
              <a:ext uri="{FF2B5EF4-FFF2-40B4-BE49-F238E27FC236}">
                <a16:creationId xmlns:a16="http://schemas.microsoft.com/office/drawing/2014/main" id="{7102211D-213B-2D0F-8384-4B18C4883550}"/>
              </a:ext>
            </a:extLst>
          </p:cNvPr>
          <p:cNvSpPr>
            <a:spLocks noGrp="1"/>
          </p:cNvSpPr>
          <p:nvPr/>
        </p:nvSpPr>
        <p:spPr>
          <a:xfrm>
            <a:off x="874712" y="3675514"/>
            <a:ext cx="10439400" cy="688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228600" indent="-114300">
              <a:spcAft>
                <a:spcPts val="2400"/>
              </a:spcAft>
              <a:buChar char="•"/>
              <a:defRPr sz="19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lang="en-US" altLang="zh-CN" sz="195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Model capacity: one layer with 3-bit weights. Explore higher precision and larger networks.</a:t>
            </a:r>
          </a:p>
        </p:txBody>
      </p:sp>
      <p:sp>
        <p:nvSpPr>
          <p:cNvPr id="12" name="Limitations-body">
            <a:extLst>
              <a:ext uri="{FF2B5EF4-FFF2-40B4-BE49-F238E27FC236}">
                <a16:creationId xmlns:a16="http://schemas.microsoft.com/office/drawing/2014/main" id="{6D7E8647-B30F-A577-6A08-5BB2D4DC7448}"/>
              </a:ext>
            </a:extLst>
          </p:cNvPr>
          <p:cNvSpPr>
            <a:spLocks noGrp="1"/>
          </p:cNvSpPr>
          <p:nvPr/>
        </p:nvSpPr>
        <p:spPr>
          <a:xfrm>
            <a:off x="874712" y="4748414"/>
            <a:ext cx="10439400" cy="6881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228600" indent="-114300">
              <a:spcAft>
                <a:spcPts val="2400"/>
              </a:spcAft>
              <a:buChar char="•"/>
              <a:defRPr sz="19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lang="en-US" altLang="zh-CN" sz="195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Performance and energy: application runtime and estimated power. Add cycle counters and measure board energy per image.</a:t>
            </a:r>
          </a:p>
        </p:txBody>
      </p:sp>
    </p:spTree>
    <p:extLst>
      <p:ext uri="{BB962C8B-B14F-4D97-AF65-F5344CB8AC3E}">
        <p14:creationId xmlns:p14="http://schemas.microsoft.com/office/powerpoint/2010/main" val="17705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10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5986D1-0586-71FE-7350-5396A10C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1194A-7087-5765-9261-FA57423EC3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941375"/>
            <a:ext cx="10580688" cy="5087718"/>
          </a:xfrm>
        </p:spPr>
        <p:txBody>
          <a:bodyPr/>
          <a:lstStyle/>
          <a:p>
            <a:r>
              <a:rPr lang="en-US" altLang="zh-CN" sz="1200" dirty="0"/>
              <a:t>[1] C. Frenkel, M. Lefebvre, J. -D. Legat and D. Bol, "A 0.086-mm 2  12.7-pJ/SOP 64k-Synapse 256-Neuron Online-Learning Digital Spiking Neuromorphic Processor in 28-nm CMOS," in IEEE Transactions on Biomedical Circuits and Systems, vol. 13, no. 1, pp. 145-158, Feb. 2019, </a:t>
            </a:r>
            <a:r>
              <a:rPr lang="en-US" altLang="zh-CN" sz="1200" dirty="0" err="1"/>
              <a:t>doi</a:t>
            </a:r>
            <a:r>
              <a:rPr lang="en-US" altLang="zh-CN" sz="1200" dirty="0"/>
              <a:t>: 10.1109/TBCAS.2018.2880425.</a:t>
            </a:r>
          </a:p>
          <a:p>
            <a:r>
              <a:rPr lang="en-US" altLang="zh-CN" sz="1200" dirty="0"/>
              <a:t>[2] Frenkel, Charlotte, Jean-Didier Legat, and David Bol. "</a:t>
            </a:r>
            <a:r>
              <a:rPr lang="en-US" altLang="zh-CN" sz="1200" dirty="0" err="1"/>
              <a:t>MorphIC</a:t>
            </a:r>
            <a:r>
              <a:rPr lang="en-US" altLang="zh-CN" sz="1200" dirty="0"/>
              <a:t>: A 65-nm 738k-synapse/mm $^ 2$ quad-core binary-weight digital neuromorphic processor with stochastic spike-driven online learning." IEEE transactions on biomedical circuits and systems 13.5 (2019): 999-1010.</a:t>
            </a:r>
          </a:p>
          <a:p>
            <a:r>
              <a:rPr lang="en-US" altLang="zh-CN" sz="1200" dirty="0"/>
              <a:t>[3] Asgari H, Mazloom-Nezhad </a:t>
            </a:r>
            <a:r>
              <a:rPr lang="en-US" altLang="zh-CN" sz="1200" dirty="0" err="1"/>
              <a:t>Maybodi</a:t>
            </a:r>
            <a:r>
              <a:rPr lang="en-US" altLang="zh-CN" sz="1200" dirty="0"/>
              <a:t> B, </a:t>
            </a:r>
            <a:r>
              <a:rPr lang="en-US" altLang="zh-CN" sz="1200" dirty="0" err="1"/>
              <a:t>Sandamirskaya</a:t>
            </a:r>
            <a:r>
              <a:rPr lang="en-US" altLang="zh-CN" sz="1200" dirty="0"/>
              <a:t> Y. Digital multiplier-less implementation of high-precision SDSP and synaptic strength-based STDP. Int J Circ Theor Appl. 2020; 48: 724–738.</a:t>
            </a:r>
          </a:p>
          <a:p>
            <a:r>
              <a:rPr lang="en-US" altLang="zh-CN" sz="1200" dirty="0"/>
              <a:t>[4] S. Li, Z. Zhang, R. Mao, J. Xiao, L. Chang and J. Zhou, "A Fast and Energy-Efficient SNN Processor With Adaptive Clock/Event-Driven Computation Scheme and Online Learning," in IEEE Transactions on Circuits and Systems I: Regular Papers, vol. 68, no. 4, pp. 1543-1552, April 2021, </a:t>
            </a:r>
            <a:r>
              <a:rPr lang="en-US" altLang="zh-CN" sz="1200" dirty="0" err="1"/>
              <a:t>doi</a:t>
            </a:r>
            <a:r>
              <a:rPr lang="en-US" altLang="zh-CN" sz="1200" dirty="0"/>
              <a:t>: 10.1109/TCSI.2021.3052885.</a:t>
            </a:r>
          </a:p>
          <a:p>
            <a:r>
              <a:rPr lang="en-US" altLang="zh-CN" sz="1200" dirty="0"/>
              <a:t>[5] C. Shi et al., "TEDOP: A Tiny Event-Driven Neural Network Hardware Core Enabling On-Chip Spike-Driven Synaptic Plasticity," 2022 IEEE International Conference on Integrated Circuits, Technologies and Applications (ICTA), Xi'an, China, 2022, pp. 62-63, </a:t>
            </a:r>
            <a:r>
              <a:rPr lang="en-US" altLang="zh-CN" sz="1200" dirty="0" err="1"/>
              <a:t>doi</a:t>
            </a:r>
            <a:r>
              <a:rPr lang="en-US" altLang="zh-CN" sz="1200" dirty="0"/>
              <a:t>: 10.1109/ICTA56932.2022.9963064. </a:t>
            </a:r>
          </a:p>
          <a:p>
            <a:r>
              <a:rPr lang="en-US" altLang="zh-CN" sz="1200" dirty="0"/>
              <a:t>[6] C. Fang, F. Tian, C. Wang, J. Yang and M. Sawan, "A 217.8 MSOPs/W FPGA-based Online Learning SNN Processor Using Unified Event-Driven Structure and Topology Aware Data Reuse Strategies," 2022 IEEE Asian Solid-State Circuits Conference (A-SSCC), Taipei, Taiwan, 2022, pp. 1-3, </a:t>
            </a:r>
            <a:r>
              <a:rPr lang="en-US" altLang="zh-CN" sz="1200" dirty="0" err="1"/>
              <a:t>doi</a:t>
            </a:r>
            <a:r>
              <a:rPr lang="en-US" altLang="zh-CN" sz="1200" dirty="0"/>
              <a:t>: 10.1109/A-SSCC56115.2022.9980727.</a:t>
            </a:r>
          </a:p>
          <a:p>
            <a:r>
              <a:rPr lang="en-US" altLang="zh-CN" sz="1200" dirty="0"/>
              <a:t>[7] A. </a:t>
            </a:r>
            <a:r>
              <a:rPr lang="en-US" altLang="zh-CN" sz="1200" dirty="0" err="1"/>
              <a:t>Carpegna</a:t>
            </a:r>
            <a:r>
              <a:rPr lang="en-US" altLang="zh-CN" sz="1200" dirty="0"/>
              <a:t>, A. Savino and S. D. Carlo, "Spiker+: A Framework for the Generation of Efficient Spiking Neural Networks FPGA Accelerators for Inference at the Edge," in IEEE Transactions on Emerging Topics in Computing, vol. 13, no. 3, pp. 784-798, July-Sept. 2025, </a:t>
            </a:r>
            <a:r>
              <a:rPr lang="en-US" altLang="zh-CN" sz="1200" dirty="0" err="1"/>
              <a:t>doi</a:t>
            </a:r>
            <a:r>
              <a:rPr lang="en-US" altLang="zh-CN" sz="1200" dirty="0"/>
              <a:t>: 10.1109/TETC.2024.3511676.</a:t>
            </a:r>
          </a:p>
          <a:p>
            <a:r>
              <a:rPr lang="en-US" altLang="zh-CN" sz="1200" dirty="0"/>
              <a:t>[8] </a:t>
            </a:r>
            <a:r>
              <a:rPr lang="zh-CN" altLang="zh-CN" sz="1200" dirty="0"/>
              <a:t>Digilent Inc. PYNQ-Z1: Python Productivity for Zynq-7000 ARM/FPGA SoC. URL: https://digilent.com/shop/pynq-z1-python-productivity-for-zynq</a:t>
            </a:r>
            <a:r>
              <a:rPr lang="en-US" altLang="zh-CN" sz="1200" dirty="0"/>
              <a:t>-</a:t>
            </a:r>
            <a:r>
              <a:rPr lang="zh-CN" altLang="zh-CN" sz="1200" dirty="0"/>
              <a:t>7000-armfpga-soc/</a:t>
            </a:r>
            <a:endParaRPr lang="en-US" altLang="zh-CN" sz="1200" dirty="0"/>
          </a:p>
        </p:txBody>
      </p:sp>
      <p:sp>
        <p:nvSpPr>
          <p:cNvPr id="5" name="Updated page marker">
            <a:extLst>
              <a:ext uri="{FF2B5EF4-FFF2-40B4-BE49-F238E27FC236}">
                <a16:creationId xmlns:a16="http://schemas.microsoft.com/office/drawing/2014/main" id="{C641D4F5-4108-BA77-EED4-4FD505DACC4C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28/29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4212489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0AA15-FD78-9E68-CD95-3CAC55E1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Updated page marker">
            <a:extLst>
              <a:ext uri="{FF2B5EF4-FFF2-40B4-BE49-F238E27FC236}">
                <a16:creationId xmlns:a16="http://schemas.microsoft.com/office/drawing/2014/main" id="{C31085C9-CF26-4D7A-A5E2-DE2C2351E762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Slide 29/29</a:t>
            </a:r>
            <a:endParaRPr sz="750" dirty="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988670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Backup: Write-Back Timing</a:t>
            </a:r>
            <a:endParaRPr dirty="0"/>
          </a:p>
        </p:txBody>
      </p:sp>
      <p:pic>
        <p:nvPicPr>
          <p:cNvPr id="10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79096" y="1419225"/>
            <a:ext cx="9233807" cy="3590925"/>
          </a:xfrm>
          <a:prstGeom prst="rect">
            <a:avLst/>
          </a:prstGeom>
        </p:spPr>
      </p:pic>
      <p:sp>
        <p:nvSpPr>
          <p:cNvPr id="4" name="Timing contract">
            <a:extLst>
              <a:ext uri="{FF2B5EF4-FFF2-40B4-BE49-F238E27FC236}">
                <a16:creationId xmlns:a16="http://schemas.microsoft.com/office/drawing/2014/main" id="{54A6F45E-3718-4CC7-AE5D-250BF5BD4CAA}"/>
              </a:ext>
            </a:extLst>
          </p:cNvPr>
          <p:cNvSpPr>
            <a:spLocks noGrp="1"/>
          </p:cNvSpPr>
          <p:nvPr/>
        </p:nvSpPr>
        <p:spPr>
          <a:xfrm>
            <a:off x="876300" y="5133975"/>
            <a:ext cx="10439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The update for W[k] must return to address k while the read pipeline advances.</a:t>
            </a:r>
          </a:p>
        </p:txBody>
      </p:sp>
      <p:sp>
        <p:nvSpPr>
          <p:cNvPr id="5" name="Key message">
            <a:extLst>
              <a:ext uri="{FF2B5EF4-FFF2-40B4-BE49-F238E27FC236}">
                <a16:creationId xmlns:a16="http://schemas.microsoft.com/office/drawing/2014/main" id="{AF38F6D0-D1A0-4990-AA0F-85BDC38284EB}"/>
              </a:ext>
            </a:extLst>
          </p:cNvPr>
          <p:cNvSpPr>
            <a:spLocks noGrp="1"/>
          </p:cNvSpPr>
          <p:nvPr/>
        </p:nvSpPr>
        <p:spPr>
          <a:xfrm>
            <a:off x="876300" y="5562600"/>
            <a:ext cx="105156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65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Registered address and pending-write state preserve the final excitatory update</a:t>
            </a:r>
          </a:p>
        </p:txBody>
      </p:sp>
      <p:sp>
        <p:nvSpPr>
          <p:cNvPr id="8" name="Updated page marker">
            <a:extLst>
              <a:ext uri="{FF2B5EF4-FFF2-40B4-BE49-F238E27FC236}">
                <a16:creationId xmlns:a16="http://schemas.microsoft.com/office/drawing/2014/main" id="{93D1E625-4AA7-4BFE-9F72-110DF7709B13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Backup 1/6</a:t>
            </a:r>
            <a:endParaRPr sz="75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2273926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Backup: Verification Details</a:t>
            </a:r>
            <a:endParaRPr dirty="0"/>
          </a:p>
        </p:txBody>
      </p:sp>
      <p:graphicFrame>
        <p:nvGraphicFramePr>
          <p:cNvPr id="9" name="表格 6"/>
          <p:cNvGraphicFramePr/>
          <p:nvPr/>
        </p:nvGraphicFramePr>
        <p:xfrm>
          <a:off x="876300" y="1438275"/>
          <a:ext cx="10439400" cy="3733800"/>
        </p:xfrm>
        <a:graphic>
          <a:graphicData uri="http://schemas.openxmlformats.org/drawingml/2006/table">
            <a:tbl>
              <a:tblPr/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Level</a:t>
                      </a:r>
                    </a:p>
                  </a:txBody>
                  <a:tcPr>
                    <a:solidFill>
                      <a:srgbClr val="001B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Question</a:t>
                      </a:r>
                    </a:p>
                  </a:txBody>
                  <a:tcPr>
                    <a:solidFill>
                      <a:srgbClr val="001B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Evidence</a:t>
                      </a:r>
                    </a:p>
                  </a:txBody>
                  <a:tcPr>
                    <a:solidFill>
                      <a:srgbClr val="001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RTL modules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Are local operations correct?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Thresholds, bounded updates and RAM behaviour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Integrated interfaces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Is a transaction complete?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2,500 words and 100 accepted/completed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Board controls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Does the deployed path match?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Register read-back, zero and dense inputs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Persistent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Does training affect later inference?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Teacher control and bitstream reload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Full workload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Does operation remain continuous?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Three epochs, 180,000 training transactions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Updated page marker">
            <a:extLst>
              <a:ext uri="{FF2B5EF4-FFF2-40B4-BE49-F238E27FC236}">
                <a16:creationId xmlns:a16="http://schemas.microsoft.com/office/drawing/2014/main" id="{526812D8-A8DC-4D3C-8922-7A92C8320C5C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Backup 2/6</a:t>
            </a:r>
            <a:endParaRPr sz="75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4227377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Backup: Functional Evidence</a:t>
            </a:r>
            <a:endParaRPr dirty="0"/>
          </a:p>
        </p:txBody>
      </p:sp>
      <p:graphicFrame>
        <p:nvGraphicFramePr>
          <p:cNvPr id="9" name="表格 6"/>
          <p:cNvGraphicFramePr/>
          <p:nvPr/>
        </p:nvGraphicFramePr>
        <p:xfrm>
          <a:off x="876300" y="1504950"/>
          <a:ext cx="10439400" cy="3362328"/>
        </p:xfrm>
        <a:graphic>
          <a:graphicData uri="http://schemas.openxmlformats.org/drawingml/2006/table">
            <a:tbl>
              <a:tblPr/>
              <a:tblGrid>
                <a:gridCol w="427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3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Check</a:t>
                      </a:r>
                    </a:p>
                  </a:txBody>
                  <a:tcPr>
                    <a:solidFill>
                      <a:srgbClr val="001B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Observed evidence</a:t>
                      </a:r>
                    </a:p>
                  </a:txBody>
                  <a:tcPr>
                    <a:solidFill>
                      <a:srgbClr val="001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Zero-input board transaction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100 accepted steps, all output counts zero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Dense-input board transaction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100 accepted steps, 99 spikes per output neuron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Teacher-controlled persistent test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5/10 output vectors changed only at target neuron 7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Aligned software / hardware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4 silent samples each, 5/10 exact count vectors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Long-run operation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1B69"/>
                          </a:solidFill>
                          <a:latin typeface="Noto Sans"/>
                          <a:ea typeface="Noto Sans"/>
                          <a:cs typeface="Noto Sans"/>
                        </a:rPr>
                        <a:t>180,000 supervised transactions over three epochs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Updated page marker">
            <a:extLst>
              <a:ext uri="{FF2B5EF4-FFF2-40B4-BE49-F238E27FC236}">
                <a16:creationId xmlns:a16="http://schemas.microsoft.com/office/drawing/2014/main" id="{10BE5865-BCD5-4479-8043-531312942FB5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Backup 3/6</a:t>
            </a:r>
            <a:endParaRPr sz="75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27649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Backup: </a:t>
            </a:r>
            <a:r>
              <a:rPr dirty="0"/>
              <a:t>Persistent Learning on the FPGA</a:t>
            </a:r>
          </a:p>
        </p:txBody>
      </p:sp>
      <p:pic>
        <p:nvPicPr>
          <p:cNvPr id="9" name="图片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58143" y="1390650"/>
            <a:ext cx="7075714" cy="3810000"/>
          </a:xfrm>
          <a:prstGeom prst="rect">
            <a:avLst/>
          </a:prstGeom>
        </p:spPr>
      </p:pic>
      <p:sp>
        <p:nvSpPr>
          <p:cNvPr id="4" name="Key message">
            <a:extLst>
              <a:ext uri="{FF2B5EF4-FFF2-40B4-BE49-F238E27FC236}">
                <a16:creationId xmlns:a16="http://schemas.microsoft.com/office/drawing/2014/main" id="{49D718AA-18E4-4473-9B71-08E31AB95311}"/>
              </a:ext>
            </a:extLst>
          </p:cNvPr>
          <p:cNvSpPr>
            <a:spLocks noGrp="1"/>
          </p:cNvSpPr>
          <p:nvPr/>
        </p:nvSpPr>
        <p:spPr>
          <a:xfrm>
            <a:off x="876300" y="5562600"/>
            <a:ext cx="105156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65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65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Later </a:t>
            </a:r>
            <a:r>
              <a:rPr sz="165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inference</a:t>
            </a:r>
            <a:r>
              <a:rPr sz="1650" b="1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 changes with the teacher off, and bitstream reload restores </a:t>
            </a:r>
            <a:r>
              <a:rPr sz="165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baseline</a:t>
            </a:r>
          </a:p>
        </p:txBody>
      </p:sp>
      <p:sp>
        <p:nvSpPr>
          <p:cNvPr id="7" name="Updated page marker">
            <a:extLst>
              <a:ext uri="{FF2B5EF4-FFF2-40B4-BE49-F238E27FC236}">
                <a16:creationId xmlns:a16="http://schemas.microsoft.com/office/drawing/2014/main" id="{293B051A-CFDE-44A8-BE8B-F986D85B1B44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>
                <a:solidFill>
                  <a:srgbClr val="53647C"/>
                </a:solidFill>
                <a:latin typeface="Noto Sans" panose="020B0502040504020204" pitchFamily="34" charset="0"/>
                <a:ea typeface="Noto Sans"/>
                <a:cs typeface="Noto Sans"/>
              </a:rPr>
              <a:t>Backup 4/6</a:t>
            </a:r>
            <a:endParaRPr sz="750">
              <a:solidFill>
                <a:srgbClr val="53647C"/>
              </a:solidFill>
              <a:latin typeface="Noto Sans" panose="020B0502040504020204" pitchFamily="34" charset="0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009350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Backup: </a:t>
            </a:r>
            <a:r>
              <a:rPr dirty="0"/>
              <a:t>Per-Class Learning Behavior</a:t>
            </a:r>
          </a:p>
        </p:txBody>
      </p:sp>
      <p:pic>
        <p:nvPicPr>
          <p:cNvPr id="9" name="图片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5478" y="844465"/>
            <a:ext cx="10801043" cy="5169070"/>
          </a:xfrm>
          <a:prstGeom prst="rect">
            <a:avLst/>
          </a:prstGeom>
        </p:spPr>
      </p:pic>
      <p:sp>
        <p:nvSpPr>
          <p:cNvPr id="7" name="Updated page marker">
            <a:extLst>
              <a:ext uri="{FF2B5EF4-FFF2-40B4-BE49-F238E27FC236}">
                <a16:creationId xmlns:a16="http://schemas.microsoft.com/office/drawing/2014/main" id="{DA303CF1-C669-4CFA-9D63-6B0C83AD266D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 b="0">
                <a:solidFill>
                  <a:srgbClr val="53647C"/>
                </a:solidFill>
                <a:latin typeface="Noto Sans"/>
                <a:ea typeface="Noto Sans"/>
                <a:cs typeface="Noto Sans"/>
              </a:rPr>
              <a:t>Backup 5/6</a:t>
            </a:r>
            <a:endParaRPr sz="750" b="0">
              <a:solidFill>
                <a:srgbClr val="53647C"/>
              </a:solidFill>
              <a:latin typeface="Noto Sans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0531104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73DB-0526-E5BD-DA43-DA049970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Backup: snn_axi_wrapper</a:t>
            </a:r>
            <a:endParaRPr dirty="0"/>
          </a:p>
        </p:txBody>
      </p:sp>
      <p:sp>
        <p:nvSpPr>
          <p:cNvPr id="7" name="Updated page marker">
            <a:extLst>
              <a:ext uri="{FF2B5EF4-FFF2-40B4-BE49-F238E27FC236}">
                <a16:creationId xmlns:a16="http://schemas.microsoft.com/office/drawing/2014/main" id="{DA303CF1-C669-4CFA-9D63-6B0C83AD266D}"/>
              </a:ext>
            </a:extLst>
          </p:cNvPr>
          <p:cNvSpPr>
            <a:spLocks noGrp="1"/>
          </p:cNvSpPr>
          <p:nvPr/>
        </p:nvSpPr>
        <p:spPr>
          <a:xfrm>
            <a:off x="9144000" y="64198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7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750" b="0">
                <a:solidFill>
                  <a:srgbClr val="53647C"/>
                </a:solidFill>
                <a:latin typeface="Noto Sans"/>
                <a:ea typeface="Noto Sans"/>
                <a:cs typeface="Noto Sans"/>
              </a:rPr>
              <a:t>Backup 6/6</a:t>
            </a:r>
            <a:endParaRPr sz="750" b="0">
              <a:solidFill>
                <a:srgbClr val="53647C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Wrapper-boundary">
            <a:extLst>
              <a:ext uri="{FF2B5EF4-FFF2-40B4-BE49-F238E27FC236}">
                <a16:creationId xmlns:a16="http://schemas.microsoft.com/office/drawing/2014/main" id="{287BC922-95D1-BB5B-DF62-4E21D8A10B7A}"/>
              </a:ext>
            </a:extLst>
          </p:cNvPr>
          <p:cNvSpPr>
            <a:spLocks noGrp="1"/>
          </p:cNvSpPr>
          <p:nvPr/>
        </p:nvSpPr>
        <p:spPr>
          <a:xfrm>
            <a:off x="2571750" y="1543050"/>
            <a:ext cx="8743950" cy="3733800"/>
          </a:xfrm>
          <a:prstGeom prst="rect">
            <a:avLst/>
          </a:prstGeom>
          <a:noFill/>
          <a:ln w="13335">
            <a:solidFill>
              <a:srgbClr val="A6B1C1"/>
            </a:solidFill>
          </a:ln>
        </p:spPr>
      </p:sp>
      <p:sp>
        <p:nvSpPr>
          <p:cNvPr id="4" name="Wrapper-name">
            <a:extLst>
              <a:ext uri="{FF2B5EF4-FFF2-40B4-BE49-F238E27FC236}">
                <a16:creationId xmlns:a16="http://schemas.microsoft.com/office/drawing/2014/main" id="{4C1D9AE4-4E45-A57C-1B6C-EF5CF5CD1850}"/>
              </a:ext>
            </a:extLst>
          </p:cNvPr>
          <p:cNvSpPr>
            <a:spLocks noGrp="1"/>
          </p:cNvSpPr>
          <p:nvPr/>
        </p:nvSpPr>
        <p:spPr>
          <a:xfrm>
            <a:off x="2733675" y="1619250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1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snn_axi_wrapper</a:t>
            </a:r>
          </a:p>
        </p:txBody>
      </p:sp>
      <p:sp>
        <p:nvSpPr>
          <p:cNvPr id="5" name="Wrapper-stream-port">
            <a:extLst>
              <a:ext uri="{FF2B5EF4-FFF2-40B4-BE49-F238E27FC236}">
                <a16:creationId xmlns:a16="http://schemas.microsoft.com/office/drawing/2014/main" id="{29FA26B2-E57F-00E5-3054-E6D11E74B748}"/>
              </a:ext>
            </a:extLst>
          </p:cNvPr>
          <p:cNvSpPr>
            <a:spLocks noGrp="1"/>
          </p:cNvSpPr>
          <p:nvPr/>
        </p:nvSpPr>
        <p:spPr>
          <a:xfrm>
            <a:off x="809625" y="3738562"/>
            <a:ext cx="16764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AXI4-Stream</a:t>
            </a:r>
          </a:p>
          <a:p>
            <a:pPr algn="ctr">
              <a:defRPr sz="1575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75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from DMA/FIFO</a:t>
            </a:r>
          </a:p>
        </p:txBody>
      </p:sp>
      <p:sp>
        <p:nvSpPr>
          <p:cNvPr id="6" name="Wrapper-control-port">
            <a:extLst>
              <a:ext uri="{FF2B5EF4-FFF2-40B4-BE49-F238E27FC236}">
                <a16:creationId xmlns:a16="http://schemas.microsoft.com/office/drawing/2014/main" id="{65781C0B-EECF-139F-1CC8-6C48C7D34E64}"/>
              </a:ext>
            </a:extLst>
          </p:cNvPr>
          <p:cNvSpPr>
            <a:spLocks noGrp="1"/>
          </p:cNvSpPr>
          <p:nvPr/>
        </p:nvSpPr>
        <p:spPr>
          <a:xfrm>
            <a:off x="9258300" y="110490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PS: AXI4-Lite</a:t>
            </a:r>
          </a:p>
        </p:txBody>
      </p:sp>
      <p:sp>
        <p:nvSpPr>
          <p:cNvPr id="8" name="Wrapper-irq">
            <a:extLst>
              <a:ext uri="{FF2B5EF4-FFF2-40B4-BE49-F238E27FC236}">
                <a16:creationId xmlns:a16="http://schemas.microsoft.com/office/drawing/2014/main" id="{50B214FC-64BA-A090-D3FF-9144B930FE3B}"/>
              </a:ext>
            </a:extLst>
          </p:cNvPr>
          <p:cNvSpPr>
            <a:spLocks noGrp="1"/>
          </p:cNvSpPr>
          <p:nvPr/>
        </p:nvSpPr>
        <p:spPr>
          <a:xfrm>
            <a:off x="6867525" y="11049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IRQ to PS</a:t>
            </a:r>
          </a:p>
        </p:txBody>
      </p:sp>
      <p:sp>
        <p:nvSpPr>
          <p:cNvPr id="10" name="Wrapper-registers">
            <a:extLst>
              <a:ext uri="{FF2B5EF4-FFF2-40B4-BE49-F238E27FC236}">
                <a16:creationId xmlns:a16="http://schemas.microsoft.com/office/drawing/2014/main" id="{62F5F0A3-F205-BB64-338C-6340C0D37F98}"/>
              </a:ext>
            </a:extLst>
          </p:cNvPr>
          <p:cNvSpPr>
            <a:spLocks noGrp="1"/>
          </p:cNvSpPr>
          <p:nvPr/>
        </p:nvSpPr>
        <p:spPr>
          <a:xfrm>
            <a:off x="9258300" y="2000250"/>
            <a:ext cx="1905000" cy="1009650"/>
          </a:xfrm>
          <a:prstGeom prst="rect">
            <a:avLst/>
          </a:prstGeom>
          <a:solidFill>
            <a:srgbClr val="EFF5FB"/>
          </a:solidFill>
          <a:ln w="19050">
            <a:solidFill>
              <a:srgbClr val="2461AD"/>
            </a:solidFill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AXI4-Lite registers</a:t>
            </a:r>
          </a:p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Configuration</a:t>
            </a:r>
          </a:p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Status and results</a:t>
            </a:r>
          </a:p>
        </p:txBody>
      </p:sp>
      <p:sp>
        <p:nvSpPr>
          <p:cNvPr id="11" name="Wrapper-controller">
            <a:extLst>
              <a:ext uri="{FF2B5EF4-FFF2-40B4-BE49-F238E27FC236}">
                <a16:creationId xmlns:a16="http://schemas.microsoft.com/office/drawing/2014/main" id="{C4210F7E-4429-A998-C6D3-3C7EDFAFD4AB}"/>
              </a:ext>
            </a:extLst>
          </p:cNvPr>
          <p:cNvSpPr>
            <a:spLocks noGrp="1"/>
          </p:cNvSpPr>
          <p:nvPr/>
        </p:nvSpPr>
        <p:spPr>
          <a:xfrm>
            <a:off x="6686550" y="2000250"/>
            <a:ext cx="2457450" cy="1009650"/>
          </a:xfrm>
          <a:prstGeom prst="rect">
            <a:avLst/>
          </a:prstGeom>
          <a:solidFill>
            <a:srgbClr val="EFF5FB"/>
          </a:solidFill>
          <a:ln w="19050">
            <a:solidFill>
              <a:srgbClr val="2461AD"/>
            </a:solidFill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Transaction &amp; event control</a:t>
            </a:r>
          </a:p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Start and reset</a:t>
            </a:r>
          </a:p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Learning events</a:t>
            </a:r>
          </a:p>
        </p:txBody>
      </p:sp>
      <p:sp>
        <p:nvSpPr>
          <p:cNvPr id="12" name="Wrapper-unpacker">
            <a:extLst>
              <a:ext uri="{FF2B5EF4-FFF2-40B4-BE49-F238E27FC236}">
                <a16:creationId xmlns:a16="http://schemas.microsoft.com/office/drawing/2014/main" id="{C8F0BEBD-FE29-0688-43A8-E0261857A802}"/>
              </a:ext>
            </a:extLst>
          </p:cNvPr>
          <p:cNvSpPr>
            <a:spLocks noGrp="1"/>
          </p:cNvSpPr>
          <p:nvPr/>
        </p:nvSpPr>
        <p:spPr>
          <a:xfrm>
            <a:off x="2781300" y="3629025"/>
            <a:ext cx="1676400" cy="1009650"/>
          </a:xfrm>
          <a:prstGeom prst="rect">
            <a:avLst/>
          </a:prstGeom>
          <a:solidFill>
            <a:srgbClr val="EFF5FB"/>
          </a:solidFill>
          <a:ln w="19050">
            <a:solidFill>
              <a:srgbClr val="2461AD"/>
            </a:solidFill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Stream unpacker</a:t>
            </a:r>
          </a:p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25 × 32-bit</a:t>
            </a:r>
          </a:p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words per step</a:t>
            </a:r>
          </a:p>
        </p:txBody>
      </p:sp>
      <p:sp>
        <p:nvSpPr>
          <p:cNvPr id="13" name="Wrapper-buffers">
            <a:extLst>
              <a:ext uri="{FF2B5EF4-FFF2-40B4-BE49-F238E27FC236}">
                <a16:creationId xmlns:a16="http://schemas.microsoft.com/office/drawing/2014/main" id="{5C57066F-0C37-AD5D-745E-D8E16B58348F}"/>
              </a:ext>
            </a:extLst>
          </p:cNvPr>
          <p:cNvSpPr>
            <a:spLocks noGrp="1"/>
          </p:cNvSpPr>
          <p:nvPr/>
        </p:nvSpPr>
        <p:spPr>
          <a:xfrm>
            <a:off x="4895850" y="3629025"/>
            <a:ext cx="1676400" cy="1009650"/>
          </a:xfrm>
          <a:prstGeom prst="rect">
            <a:avLst/>
          </a:prstGeom>
          <a:solidFill>
            <a:srgbClr val="EFF5FB"/>
          </a:solidFill>
          <a:ln w="19050">
            <a:solidFill>
              <a:srgbClr val="2461AD"/>
            </a:solidFill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Ping-pong buffers</a:t>
            </a:r>
          </a:p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2 × 784-bit</a:t>
            </a:r>
          </a:p>
        </p:txBody>
      </p:sp>
      <p:sp>
        <p:nvSpPr>
          <p:cNvPr id="14" name="Wrapper-network">
            <a:extLst>
              <a:ext uri="{FF2B5EF4-FFF2-40B4-BE49-F238E27FC236}">
                <a16:creationId xmlns:a16="http://schemas.microsoft.com/office/drawing/2014/main" id="{5C62E259-B7B6-25EE-A916-522387DB6CD7}"/>
              </a:ext>
            </a:extLst>
          </p:cNvPr>
          <p:cNvSpPr>
            <a:spLocks noGrp="1"/>
          </p:cNvSpPr>
          <p:nvPr/>
        </p:nvSpPr>
        <p:spPr>
          <a:xfrm>
            <a:off x="7010400" y="3629025"/>
            <a:ext cx="1809750" cy="1009650"/>
          </a:xfrm>
          <a:prstGeom prst="rect">
            <a:avLst/>
          </a:prstGeom>
          <a:solidFill>
            <a:srgbClr val="FFF3E8"/>
          </a:solidFill>
          <a:ln w="19050">
            <a:solidFill>
              <a:srgbClr val="BE6A1B"/>
            </a:solidFill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network_sdsp</a:t>
            </a:r>
          </a:p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784-input SNN</a:t>
            </a:r>
          </a:p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with SDSP</a:t>
            </a:r>
          </a:p>
        </p:txBody>
      </p:sp>
      <p:sp>
        <p:nvSpPr>
          <p:cNvPr id="15" name="Wrapper-output">
            <a:extLst>
              <a:ext uri="{FF2B5EF4-FFF2-40B4-BE49-F238E27FC236}">
                <a16:creationId xmlns:a16="http://schemas.microsoft.com/office/drawing/2014/main" id="{9F815109-C213-FEC5-5B37-FE3E56066AA1}"/>
              </a:ext>
            </a:extLst>
          </p:cNvPr>
          <p:cNvSpPr>
            <a:spLocks noGrp="1"/>
          </p:cNvSpPr>
          <p:nvPr/>
        </p:nvSpPr>
        <p:spPr>
          <a:xfrm>
            <a:off x="9191625" y="3629025"/>
            <a:ext cx="2038350" cy="1009650"/>
          </a:xfrm>
          <a:prstGeom prst="rect">
            <a:avLst/>
          </a:prstGeom>
          <a:solidFill>
            <a:srgbClr val="EFF5FB"/>
          </a:solidFill>
          <a:ln w="19050">
            <a:solidFill>
              <a:srgbClr val="2461AD"/>
            </a:solidFill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Output processing</a:t>
            </a:r>
          </a:p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10 spike counters</a:t>
            </a:r>
          </a:p>
          <a:p>
            <a:pPr algn="ctr">
              <a:defRPr sz="150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50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Sequential argmax</a:t>
            </a:r>
          </a:p>
        </p:txBody>
      </p:sp>
      <p:cxnSp>
        <p:nvCxnSpPr>
          <p:cNvPr id="16" name="Wrapper-axis-ingress">
            <a:extLst>
              <a:ext uri="{FF2B5EF4-FFF2-40B4-BE49-F238E27FC236}">
                <a16:creationId xmlns:a16="http://schemas.microsoft.com/office/drawing/2014/main" id="{6E33DFBD-9998-3EA3-6057-7233C6BE9BCB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2486025" y="4133850"/>
            <a:ext cx="295275" cy="0"/>
          </a:xfrm>
          <a:prstGeom prst="straightConnector1">
            <a:avLst/>
          </a:prstGeom>
          <a:ln w="23813">
            <a:solidFill>
              <a:srgbClr val="2461AD"/>
            </a:solidFill>
            <a:headEnd type="none" w="med" len="med"/>
            <a:tailEnd type="triangle" w="med" len="med"/>
          </a:ln>
        </p:spPr>
      </p:cxnSp>
      <p:cxnSp>
        <p:nvCxnSpPr>
          <p:cNvPr id="17" name="Wrapper-unpack-buffer">
            <a:extLst>
              <a:ext uri="{FF2B5EF4-FFF2-40B4-BE49-F238E27FC236}">
                <a16:creationId xmlns:a16="http://schemas.microsoft.com/office/drawing/2014/main" id="{D37B319D-C3CF-1B8A-A69D-DA4453EE9DE2}"/>
              </a:ext>
            </a:extLst>
          </p:cNvPr>
          <p:cNvCxnSpPr>
            <a:cxnSpLocks/>
          </p:cNvCxnSpPr>
          <p:nvPr/>
        </p:nvCxnSpPr>
        <p:spPr>
          <a:xfrm>
            <a:off x="4457700" y="4133850"/>
            <a:ext cx="438150" cy="0"/>
          </a:xfrm>
          <a:prstGeom prst="straightConnector1">
            <a:avLst/>
          </a:prstGeom>
          <a:ln w="23813">
            <a:solidFill>
              <a:srgbClr val="2461AD"/>
            </a:solidFill>
            <a:headEnd type="none" w="med" len="med"/>
            <a:tailEnd type="triangle" w="med" len="med"/>
          </a:ln>
        </p:spPr>
      </p:cxnSp>
      <p:cxnSp>
        <p:nvCxnSpPr>
          <p:cNvPr id="18" name="Wrapper-buffer-core">
            <a:extLst>
              <a:ext uri="{FF2B5EF4-FFF2-40B4-BE49-F238E27FC236}">
                <a16:creationId xmlns:a16="http://schemas.microsoft.com/office/drawing/2014/main" id="{74E558CC-FDCB-7A37-CA1C-AC46054B3CBB}"/>
              </a:ext>
            </a:extLst>
          </p:cNvPr>
          <p:cNvCxnSpPr>
            <a:cxnSpLocks/>
          </p:cNvCxnSpPr>
          <p:nvPr/>
        </p:nvCxnSpPr>
        <p:spPr>
          <a:xfrm>
            <a:off x="6572250" y="4133850"/>
            <a:ext cx="438150" cy="0"/>
          </a:xfrm>
          <a:prstGeom prst="straightConnector1">
            <a:avLst/>
          </a:prstGeom>
          <a:ln w="23813">
            <a:solidFill>
              <a:srgbClr val="2461AD"/>
            </a:solidFill>
            <a:headEnd type="none" w="med" len="med"/>
            <a:tailEnd type="triangle" w="med" len="med"/>
          </a:ln>
        </p:spPr>
      </p:cxnSp>
      <p:cxnSp>
        <p:nvCxnSpPr>
          <p:cNvPr id="19" name="Wrapper-core-output">
            <a:extLst>
              <a:ext uri="{FF2B5EF4-FFF2-40B4-BE49-F238E27FC236}">
                <a16:creationId xmlns:a16="http://schemas.microsoft.com/office/drawing/2014/main" id="{A1EF7B07-BDC3-728B-187F-8D69E77FB146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8820150" y="4133850"/>
            <a:ext cx="371475" cy="0"/>
          </a:xfrm>
          <a:prstGeom prst="straightConnector1">
            <a:avLst/>
          </a:prstGeom>
          <a:ln w="23813">
            <a:solidFill>
              <a:srgbClr val="2461AD"/>
            </a:solidFill>
            <a:headEnd type="none" w="med" len="med"/>
            <a:tailEnd type="triangle" w="med" len="med"/>
          </a:ln>
        </p:spPr>
      </p:cxnSp>
      <p:cxnSp>
        <p:nvCxnSpPr>
          <p:cNvPr id="20" name="Wrapper-axi-registers">
            <a:extLst>
              <a:ext uri="{FF2B5EF4-FFF2-40B4-BE49-F238E27FC236}">
                <a16:creationId xmlns:a16="http://schemas.microsoft.com/office/drawing/2014/main" id="{79D651BB-5D23-E23F-D4A0-12403FFBC187}"/>
              </a:ext>
            </a:extLst>
          </p:cNvPr>
          <p:cNvCxnSpPr>
            <a:cxnSpLocks/>
          </p:cNvCxnSpPr>
          <p:nvPr/>
        </p:nvCxnSpPr>
        <p:spPr>
          <a:xfrm>
            <a:off x="10210800" y="1428750"/>
            <a:ext cx="0" cy="571500"/>
          </a:xfrm>
          <a:prstGeom prst="straightConnector1">
            <a:avLst/>
          </a:prstGeom>
          <a:ln w="23813">
            <a:solidFill>
              <a:srgbClr val="2461AD"/>
            </a:solidFill>
            <a:headEnd type="none" w="med" len="med"/>
            <a:tailEnd type="triangle" w="med" len="med"/>
          </a:ln>
        </p:spPr>
      </p:cxnSp>
      <p:cxnSp>
        <p:nvCxnSpPr>
          <p:cNvPr id="21" name="Wrapper-registers-control">
            <a:extLst>
              <a:ext uri="{FF2B5EF4-FFF2-40B4-BE49-F238E27FC236}">
                <a16:creationId xmlns:a16="http://schemas.microsoft.com/office/drawing/2014/main" id="{81CDA713-3700-202B-DD68-FF1A47340BAD}"/>
              </a:ext>
            </a:extLst>
          </p:cNvPr>
          <p:cNvCxnSpPr>
            <a:cxnSpLocks/>
          </p:cNvCxnSpPr>
          <p:nvPr/>
        </p:nvCxnSpPr>
        <p:spPr>
          <a:xfrm flipH="1">
            <a:off x="9144000" y="2505075"/>
            <a:ext cx="114300" cy="0"/>
          </a:xfrm>
          <a:prstGeom prst="straightConnector1">
            <a:avLst/>
          </a:prstGeom>
          <a:ln w="23813">
            <a:solidFill>
              <a:srgbClr val="2461AD"/>
            </a:solidFill>
            <a:headEnd type="none" w="med" len="med"/>
            <a:tailEnd type="triangle" w="med" len="med"/>
          </a:ln>
        </p:spPr>
      </p:cxnSp>
      <p:cxnSp>
        <p:nvCxnSpPr>
          <p:cNvPr id="22" name="Wrapper-control-core">
            <a:extLst>
              <a:ext uri="{FF2B5EF4-FFF2-40B4-BE49-F238E27FC236}">
                <a16:creationId xmlns:a16="http://schemas.microsoft.com/office/drawing/2014/main" id="{18ACB616-F1F0-37C1-16BE-F2E4F206D93E}"/>
              </a:ext>
            </a:extLst>
          </p:cNvPr>
          <p:cNvCxnSpPr>
            <a:cxnSpLocks/>
          </p:cNvCxnSpPr>
          <p:nvPr/>
        </p:nvCxnSpPr>
        <p:spPr>
          <a:xfrm>
            <a:off x="7915275" y="3009900"/>
            <a:ext cx="0" cy="619125"/>
          </a:xfrm>
          <a:prstGeom prst="straightConnector1">
            <a:avLst/>
          </a:prstGeom>
          <a:ln w="23813">
            <a:solidFill>
              <a:srgbClr val="BE6A1B"/>
            </a:solidFill>
            <a:headEnd type="triangle" w="med" len="med"/>
            <a:tailEnd type="triangle" w="med" len="med"/>
          </a:ln>
        </p:spPr>
      </p:cxnSp>
      <p:cxnSp>
        <p:nvCxnSpPr>
          <p:cNvPr id="23" name="Wrapper-output-registers">
            <a:extLst>
              <a:ext uri="{FF2B5EF4-FFF2-40B4-BE49-F238E27FC236}">
                <a16:creationId xmlns:a16="http://schemas.microsoft.com/office/drawing/2014/main" id="{0F343083-A4AA-CCBF-F2E5-8D7C4416E239}"/>
              </a:ext>
            </a:extLst>
          </p:cNvPr>
          <p:cNvCxnSpPr>
            <a:cxnSpLocks/>
            <a:stCxn id="15" idx="0"/>
            <a:endCxn id="10" idx="2"/>
          </p:cNvCxnSpPr>
          <p:nvPr/>
        </p:nvCxnSpPr>
        <p:spPr>
          <a:xfrm flipV="1">
            <a:off x="10210800" y="3009900"/>
            <a:ext cx="0" cy="619125"/>
          </a:xfrm>
          <a:prstGeom prst="straightConnector1">
            <a:avLst/>
          </a:prstGeom>
          <a:ln w="23813">
            <a:solidFill>
              <a:srgbClr val="2461AD"/>
            </a:solidFill>
            <a:headEnd type="none" w="med" len="med"/>
            <a:tailEnd type="triangle" w="med" len="med"/>
          </a:ln>
        </p:spPr>
      </p:cxnSp>
      <p:cxnSp>
        <p:nvCxnSpPr>
          <p:cNvPr id="24" name="Wrapper-control-irq">
            <a:extLst>
              <a:ext uri="{FF2B5EF4-FFF2-40B4-BE49-F238E27FC236}">
                <a16:creationId xmlns:a16="http://schemas.microsoft.com/office/drawing/2014/main" id="{C2A21E6F-23B6-DCE7-E27B-F99838AAE875}"/>
              </a:ext>
            </a:extLst>
          </p:cNvPr>
          <p:cNvCxnSpPr>
            <a:cxnSpLocks/>
          </p:cNvCxnSpPr>
          <p:nvPr/>
        </p:nvCxnSpPr>
        <p:spPr>
          <a:xfrm flipV="1">
            <a:off x="7915275" y="1428750"/>
            <a:ext cx="0" cy="571500"/>
          </a:xfrm>
          <a:prstGeom prst="straightConnector1">
            <a:avLst/>
          </a:prstGeom>
          <a:ln w="23813">
            <a:solidFill>
              <a:srgbClr val="2461AD"/>
            </a:solidFill>
            <a:headEnd type="none" w="med" len="med"/>
            <a:tailEnd type="triangle" w="med" len="med"/>
          </a:ln>
        </p:spPr>
      </p:cxnSp>
      <p:sp>
        <p:nvSpPr>
          <p:cNvPr id="25" name="Wrapper-control-label">
            <a:extLst>
              <a:ext uri="{FF2B5EF4-FFF2-40B4-BE49-F238E27FC236}">
                <a16:creationId xmlns:a16="http://schemas.microsoft.com/office/drawing/2014/main" id="{2A5B28B0-77F6-7A97-1D8F-A8E3EB478E91}"/>
              </a:ext>
            </a:extLst>
          </p:cNvPr>
          <p:cNvSpPr>
            <a:spLocks noGrp="1"/>
          </p:cNvSpPr>
          <p:nvPr/>
        </p:nvSpPr>
        <p:spPr>
          <a:xfrm>
            <a:off x="8067675" y="3209925"/>
            <a:ext cx="15906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sz="1275" b="0" dirty="0">
                <a:latin typeface="Noto Sans"/>
                <a:ea typeface="Noto Sans"/>
                <a:cs typeface="Noto Sans"/>
              </a:rPr>
              <a:t>Control / ready</a:t>
            </a:r>
          </a:p>
        </p:txBody>
      </p:sp>
      <p:sp>
        <p:nvSpPr>
          <p:cNvPr id="26" name="Wrapper-result-label">
            <a:extLst>
              <a:ext uri="{FF2B5EF4-FFF2-40B4-BE49-F238E27FC236}">
                <a16:creationId xmlns:a16="http://schemas.microsoft.com/office/drawing/2014/main" id="{32939272-3E73-FFA5-BC44-C5C821AC5C36}"/>
              </a:ext>
            </a:extLst>
          </p:cNvPr>
          <p:cNvSpPr>
            <a:spLocks noGrp="1"/>
          </p:cNvSpPr>
          <p:nvPr/>
        </p:nvSpPr>
        <p:spPr>
          <a:xfrm>
            <a:off x="10306050" y="32099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sz="1275" b="0" dirty="0">
                <a:solidFill>
                  <a:srgbClr val="53647C"/>
                </a:solidFill>
                <a:latin typeface="Noto Sans"/>
                <a:ea typeface="Noto Sans"/>
                <a:cs typeface="Noto Sans"/>
              </a:rPr>
              <a:t>Results</a:t>
            </a:r>
          </a:p>
        </p:txBody>
      </p:sp>
      <p:sp>
        <p:nvSpPr>
          <p:cNvPr id="28" name="Wrapper-summary">
            <a:extLst>
              <a:ext uri="{FF2B5EF4-FFF2-40B4-BE49-F238E27FC236}">
                <a16:creationId xmlns:a16="http://schemas.microsoft.com/office/drawing/2014/main" id="{2CB172D8-6C7F-74D1-AD4D-4C324FFBED0C}"/>
              </a:ext>
            </a:extLst>
          </p:cNvPr>
          <p:cNvSpPr>
            <a:spLocks noGrp="1"/>
          </p:cNvSpPr>
          <p:nvPr/>
        </p:nvSpPr>
        <p:spPr>
          <a:xfrm>
            <a:off x="876300" y="5505450"/>
            <a:ext cx="104394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28600" indent="-114300" algn="l">
              <a:spcAft>
                <a:spcPts val="600"/>
              </a:spcAft>
              <a:buChar char="•"/>
              <a:defRPr sz="16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65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Two buffers overlap input loading with network processing.</a:t>
            </a:r>
          </a:p>
          <a:p>
            <a:pPr marL="228600" indent="-114300" algn="l">
              <a:spcAft>
                <a:spcPts val="600"/>
              </a:spcAft>
              <a:buChar char="•"/>
              <a:defRPr sz="1650" b="0">
                <a:solidFill>
                  <a:srgbClr val="001B69"/>
                </a:solidFill>
                <a:latin typeface="Noto Sans"/>
                <a:ea typeface="Noto Sans"/>
                <a:cs typeface="Noto Sans"/>
              </a:defRPr>
            </a:pPr>
            <a:r>
              <a:rPr sz="1650" b="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AXI4-Lite provides runtime control and reads back counts and class.</a:t>
            </a:r>
          </a:p>
        </p:txBody>
      </p:sp>
      <p:sp>
        <p:nvSpPr>
          <p:cNvPr id="38" name="Power-resource-scope">
            <a:extLst>
              <a:ext uri="{FF2B5EF4-FFF2-40B4-BE49-F238E27FC236}">
                <a16:creationId xmlns:a16="http://schemas.microsoft.com/office/drawing/2014/main" id="{92C66CA4-E12C-654A-5370-D302A8BB91E6}"/>
              </a:ext>
            </a:extLst>
          </p:cNvPr>
          <p:cNvSpPr>
            <a:spLocks noGrp="1"/>
          </p:cNvSpPr>
          <p:nvPr/>
        </p:nvSpPr>
        <p:spPr>
          <a:xfrm>
            <a:off x="2695575" y="5024438"/>
            <a:ext cx="5861196" cy="25241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53647C"/>
                </a:solidFill>
                <a:latin typeface="Noto Sans"/>
                <a:ea typeface="Noto Sans"/>
                <a:cs typeface="Noto Sans"/>
              </a:defRPr>
            </a:pPr>
            <a:r>
              <a:rPr lang="en-US" sz="135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Functions inside the wrapper. </a:t>
            </a:r>
            <a:r>
              <a:rPr lang="en-US" sz="1350" dirty="0" err="1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network_sdsp</a:t>
            </a:r>
            <a:r>
              <a:rPr lang="en-US" sz="1350" dirty="0">
                <a:solidFill>
                  <a:srgbClr val="001B69"/>
                </a:solidFill>
                <a:latin typeface="Noto Sans"/>
                <a:ea typeface="Noto Sans"/>
                <a:cs typeface="Noto Sans"/>
              </a:rPr>
              <a:t> is the instantiated core.</a:t>
            </a:r>
            <a:endParaRPr sz="1350" b="0" dirty="0">
              <a:solidFill>
                <a:srgbClr val="001B69"/>
              </a:solidFill>
              <a:latin typeface="Noto Sans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2401939679"/>
      </p:ext>
    </p:extLst>
  </p:cSld>
  <p:clrMapOvr>
    <a:masterClrMapping/>
  </p:clrMapOvr>
</p:sld>
</file>

<file path=ppt/theme/theme1.xml><?xml version="1.0" encoding="utf-8"?>
<a:theme xmlns:a="http://schemas.openxmlformats.org/drawingml/2006/main" name="TUD_2018_16zu9">
  <a:themeElements>
    <a:clrScheme name="TUD_2025">
      <a:dk1>
        <a:srgbClr val="001450"/>
      </a:dk1>
      <a:lt1>
        <a:srgbClr val="FFFFFF"/>
      </a:lt1>
      <a:dk2>
        <a:srgbClr val="001450"/>
      </a:dk2>
      <a:lt2>
        <a:srgbClr val="566371"/>
      </a:lt2>
      <a:accent1>
        <a:srgbClr val="00008C"/>
      </a:accent1>
      <a:accent2>
        <a:srgbClr val="2F57B2"/>
      </a:accent2>
      <a:accent3>
        <a:srgbClr val="97C6FF"/>
      </a:accent3>
      <a:accent4>
        <a:srgbClr val="001450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TUD_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UD_2018_16zu9">
  <a:themeElements>
    <a:clrScheme name="TUD_2025">
      <a:dk1>
        <a:srgbClr val="001450"/>
      </a:dk1>
      <a:lt1>
        <a:srgbClr val="FFFFFF"/>
      </a:lt1>
      <a:dk2>
        <a:srgbClr val="001450"/>
      </a:dk2>
      <a:lt2>
        <a:srgbClr val="566371"/>
      </a:lt2>
      <a:accent1>
        <a:srgbClr val="00008C"/>
      </a:accent1>
      <a:accent2>
        <a:srgbClr val="2F57B2"/>
      </a:accent2>
      <a:accent3>
        <a:srgbClr val="97C6FF"/>
      </a:accent3>
      <a:accent4>
        <a:srgbClr val="001450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TUD_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</TotalTime>
  <Words>2809</Words>
  <Application>Microsoft Office PowerPoint</Application>
  <DocSecurity>0</DocSecurity>
  <PresentationFormat>宽屏</PresentationFormat>
  <Paragraphs>559</Paragraphs>
  <Slides>35</Slides>
  <Notes>35</Notes>
  <HiddenSlides>6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1" baseType="lpstr">
      <vt:lpstr>Cambria Math</vt:lpstr>
      <vt:lpstr>Symbol</vt:lpstr>
      <vt:lpstr>Noto Sans</vt:lpstr>
      <vt:lpstr>Open Sans</vt:lpstr>
      <vt:lpstr>Arial</vt:lpstr>
      <vt:lpstr>TUD_2018_16zu9</vt:lpstr>
      <vt:lpstr>FPGA-based Real-Time Learning Architecture with Partial Reconfiguration for Spiking Neural Networks</vt:lpstr>
      <vt:lpstr>Contents</vt:lpstr>
      <vt:lpstr>Introduction &amp; Motivation</vt:lpstr>
      <vt:lpstr>Motivation and Research Problem</vt:lpstr>
      <vt:lpstr>Related Work</vt:lpstr>
      <vt:lpstr>Related Work</vt:lpstr>
      <vt:lpstr>Background</vt:lpstr>
      <vt:lpstr>Spiker+ Framework</vt:lpstr>
      <vt:lpstr>Architecture of SNN Accelerator from Spiker+</vt:lpstr>
      <vt:lpstr>Spike-Driven Synaptic Plasticity</vt:lpstr>
      <vt:lpstr>Design &amp; Implementation</vt:lpstr>
      <vt:lpstr>Online-Learning Integration</vt:lpstr>
      <vt:lpstr>Digital Weight-Update Datapath</vt:lpstr>
      <vt:lpstr>Address-Aligned Weight Write-Back</vt:lpstr>
      <vt:lpstr>PYNQ-Z1 System Integration</vt:lpstr>
      <vt:lpstr>Verification Overview</vt:lpstr>
      <vt:lpstr>Dynamic Partial Reconfiguration (DPR)</vt:lpstr>
      <vt:lpstr>Results</vt:lpstr>
      <vt:lpstr>Resource Utilization, Overhead and Power</vt:lpstr>
      <vt:lpstr>Evaluation Configuration</vt:lpstr>
      <vt:lpstr>MNIST Evaluation Protocol</vt:lpstr>
      <vt:lpstr>Accuracy and Output Activity</vt:lpstr>
      <vt:lpstr>End-to-End Runtime</vt:lpstr>
      <vt:lpstr>Quantitative Comparison</vt:lpstr>
      <vt:lpstr>Conclusion &amp; Outlook</vt:lpstr>
      <vt:lpstr>Conclusions</vt:lpstr>
      <vt:lpstr>Limitations and Next Experiments</vt:lpstr>
      <vt:lpstr>References</vt:lpstr>
      <vt:lpstr>Thank you!</vt:lpstr>
      <vt:lpstr>Backup: Write-Back Timing</vt:lpstr>
      <vt:lpstr>Backup: Verification Details</vt:lpstr>
      <vt:lpstr>Backup: Functional Evidence</vt:lpstr>
      <vt:lpstr>Backup: Persistent Learning on the FPGA</vt:lpstr>
      <vt:lpstr>Backup: Per-Class Learning Behavior</vt:lpstr>
      <vt:lpstr>Backup: snn_axi_wrapper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Yike Jing</cp:lastModifiedBy>
  <cp:revision>117</cp:revision>
  <dcterms:created xsi:type="dcterms:W3CDTF">2026-10-05T13:54:07Z</dcterms:created>
  <dcterms:modified xsi:type="dcterms:W3CDTF">2026-10-07T13:30:18Z</dcterms:modified>
</cp:coreProperties>
</file>