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1" r:id="rId1"/>
  </p:sldMasterIdLst>
  <p:notesMasterIdLst>
    <p:notesMasterId r:id="rId6"/>
  </p:notesMasterIdLst>
  <p:handoutMasterIdLst>
    <p:handoutMasterId r:id="rId7"/>
  </p:handoutMasterIdLst>
  <p:sldIdLst>
    <p:sldId id="291" r:id="rId2"/>
    <p:sldId id="292" r:id="rId3"/>
    <p:sldId id="267" r:id="rId4"/>
    <p:sldId id="281" r:id="rId5"/>
  </p:sldIdLst>
  <p:sldSz cx="12192000" cy="6858000"/>
  <p:notesSz cx="6858000" cy="9144000"/>
  <p:embeddedFontLst>
    <p:embeddedFont>
      <p:font typeface="Noto Sans" panose="020B0502040504020204" pitchFamily="34" charset="0"/>
      <p:regular r:id="rId8"/>
      <p:bold r:id="rId9"/>
      <p:italic r:id="rId10"/>
      <p:boldItalic r:id="rId11"/>
    </p:embeddedFont>
    <p:embeddedFont>
      <p:font typeface="Open Sans" panose="020B0606030504020204" pitchFamily="34" charset="0"/>
      <p:regular r:id="rId12"/>
      <p:bold r:id="rId13"/>
      <p:italic r:id="rId14"/>
      <p:boldItalic r:id="rId15"/>
    </p:embeddedFont>
  </p:embeddedFontLst>
  <p:defaultTextStyle>
    <a:defPPr>
      <a:defRPr lang="de-DE"/>
    </a:defPPr>
    <a:lvl1pPr marL="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nöfel,Anja" initials="K" lastIdx="10" clrIdx="0">
    <p:extLst>
      <p:ext uri="{19B8F6BF-5375-455C-9EA6-DF929625EA0E}">
        <p15:presenceInfo xmlns:p15="http://schemas.microsoft.com/office/powerpoint/2012/main" userId="S-1-5-21-1982228756-150042506-1537001085-188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3A983"/>
    <a:srgbClr val="009BA4"/>
    <a:srgbClr val="93C356"/>
    <a:srgbClr val="BCCF02"/>
    <a:srgbClr val="28618C"/>
    <a:srgbClr val="539DC5"/>
    <a:srgbClr val="02ACA8"/>
    <a:srgbClr val="F07D00"/>
    <a:srgbClr val="E02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2" autoAdjust="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2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B2-493F-B775-061CA8951423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B2-493F-B775-061CA8951423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B2-493F-B775-061CA895142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73446264"/>
        <c:axId val="573446656"/>
      </c:barChart>
      <c:catAx>
        <c:axId val="573446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73446656"/>
        <c:crosses val="autoZero"/>
        <c:auto val="1"/>
        <c:lblAlgn val="ctr"/>
        <c:lblOffset val="100"/>
        <c:noMultiLvlLbl val="0"/>
      </c:catAx>
      <c:valAx>
        <c:axId val="573446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73446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C6211-610F-44E5-BF19-D3CDF6EDD281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61AA8-FB04-42D1-9939-D1A1356F80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31560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435D3-23A6-45D3-8DFA-7317DC1E7A64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9AC09-DF60-43F4-96BF-67D4D9A7409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31825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025526"/>
            <a:ext cx="12192000" cy="5832476"/>
          </a:xfrm>
          <a:prstGeom prst="rect">
            <a:avLst/>
          </a:prstGeom>
          <a:gradFill>
            <a:gsLst>
              <a:gs pos="14000">
                <a:schemeClr val="tx2"/>
              </a:gs>
              <a:gs pos="100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74714" y="4494775"/>
            <a:ext cx="10438871" cy="1334525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>
                    <a:alpha val="80000"/>
                  </a:schemeClr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  <a:lvl2pPr marL="457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Firstname </a:t>
            </a:r>
            <a:r>
              <a:rPr lang="de-DE" dirty="0" err="1"/>
              <a:t>LastName</a:t>
            </a:r>
            <a:br>
              <a:rPr lang="de-DE" dirty="0"/>
            </a:br>
            <a:r>
              <a:rPr lang="de-DE" dirty="0"/>
              <a:t>Dresden, Germany. </a:t>
            </a:r>
            <a:fld id="{48C791B1-24FF-4AFA-90D5-7043F45F29E4}" type="datetime4">
              <a:rPr lang="en-US" smtClean="0"/>
              <a:t>October 2, 2025</a:t>
            </a:fld>
            <a:endParaRPr lang="de-DE" dirty="0"/>
          </a:p>
        </p:txBody>
      </p:sp>
      <p:sp>
        <p:nvSpPr>
          <p:cNvPr id="26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2420841"/>
            <a:ext cx="10438873" cy="828676"/>
          </a:xfrm>
          <a:ln>
            <a:noFill/>
          </a:ln>
        </p:spPr>
        <p:txBody>
          <a:bodyPr/>
          <a:lstStyle>
            <a:lvl1pPr>
              <a:spcBef>
                <a:spcPts val="0"/>
              </a:spcBef>
              <a:defRPr sz="1600" baseline="0">
                <a:solidFill>
                  <a:schemeClr val="bg1">
                    <a:alpha val="80000"/>
                  </a:schemeClr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pPr lvl="0"/>
            <a:r>
              <a:rPr lang="de-DE" dirty="0"/>
              <a:t>Institute of Computer Engineering - Chair of Adaptive Dynamic Systems</a:t>
            </a:r>
          </a:p>
        </p:txBody>
      </p:sp>
      <p:sp>
        <p:nvSpPr>
          <p:cNvPr id="4" name="Rechteck 3"/>
          <p:cNvSpPr/>
          <p:nvPr/>
        </p:nvSpPr>
        <p:spPr>
          <a:xfrm>
            <a:off x="0" y="1025525"/>
            <a:ext cx="12192000" cy="171451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874713" y="3392203"/>
            <a:ext cx="10438873" cy="972108"/>
          </a:xfrm>
          <a:ln>
            <a:noFill/>
          </a:ln>
        </p:spPr>
        <p:txBody>
          <a:bodyPr/>
          <a:lstStyle>
            <a:lvl1pPr>
              <a:defRPr sz="3200" b="1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de-DE" dirty="0"/>
              <a:t>Title</a:t>
            </a:r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9948" y="268751"/>
            <a:ext cx="566023" cy="6263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483987BA-E327-4979-8B35-7BDF46B60C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6000" y="177143"/>
            <a:ext cx="1910241" cy="85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1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_T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74712" y="4494775"/>
            <a:ext cx="10438873" cy="1334525"/>
          </a:xfrm>
        </p:spPr>
        <p:txBody>
          <a:bodyPr/>
          <a:lstStyle>
            <a:lvl1pPr marL="0" indent="0" algn="l">
              <a:buNone/>
              <a:defRPr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  <a:lvl2pPr marL="457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Firstname </a:t>
            </a:r>
            <a:r>
              <a:rPr lang="de-DE" dirty="0" err="1"/>
              <a:t>LastName</a:t>
            </a:r>
            <a:br>
              <a:rPr lang="de-DE" dirty="0"/>
            </a:br>
            <a:r>
              <a:rPr lang="en-US" dirty="0"/>
              <a:t>Dresden, Germany. </a:t>
            </a:r>
            <a:fld id="{807DADF4-AC39-4D79-B584-5E0B11C42ECF}" type="datetime4">
              <a:rPr lang="en-US" smtClean="0"/>
              <a:t>October 2, 2025</a:t>
            </a:fld>
            <a:endParaRPr lang="de-DE" dirty="0"/>
          </a:p>
        </p:txBody>
      </p:sp>
      <p:sp>
        <p:nvSpPr>
          <p:cNvPr id="26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2420841"/>
            <a:ext cx="10438873" cy="828676"/>
          </a:xfrm>
          <a:ln>
            <a:noFill/>
          </a:ln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pPr lvl="0"/>
            <a:r>
              <a:rPr lang="en-US" dirty="0"/>
              <a:t>Institute of Computer Engineering - Chair of Adaptive Dynamic Systems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74713" y="3392203"/>
            <a:ext cx="10438873" cy="972108"/>
          </a:xfrm>
          <a:ln>
            <a:noFill/>
          </a:ln>
        </p:spPr>
        <p:txBody>
          <a:bodyPr/>
          <a:lstStyle>
            <a:lvl1pPr>
              <a:defRPr sz="3200" b="1">
                <a:solidFill>
                  <a:schemeClr val="tx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de-DE" dirty="0"/>
              <a:t>Title</a:t>
            </a:r>
          </a:p>
        </p:txBody>
      </p:sp>
      <p:cxnSp>
        <p:nvCxnSpPr>
          <p:cNvPr id="8" name="Gerade Verbindung 14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4"/>
          <p:cNvCxnSpPr/>
          <p:nvPr/>
        </p:nvCxnSpPr>
        <p:spPr>
          <a:xfrm>
            <a:off x="0" y="1206000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8FDB4495-5904-4E27-B67C-2D6F001870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6000" y="177143"/>
            <a:ext cx="1910241" cy="8568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B0C5C0A-660C-4270-AF0F-46BFAF9E8E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6848" y="268751"/>
            <a:ext cx="566023" cy="62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9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10580688" cy="4344987"/>
          </a:xfrm>
        </p:spPr>
        <p:txBody>
          <a:bodyPr/>
          <a:lstStyle>
            <a:lvl1pPr>
              <a:spcBef>
                <a:spcPts val="1200"/>
              </a:spcBef>
              <a:defRPr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8119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tx2"/>
              </a:gs>
              <a:gs pos="100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387259"/>
            <a:ext cx="10580687" cy="1198491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706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65749" y="1484313"/>
            <a:ext cx="6089649" cy="43449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74711" y="1484313"/>
            <a:ext cx="4300539" cy="133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4"/>
          </p:nvPr>
        </p:nvSpPr>
        <p:spPr>
          <a:xfrm>
            <a:off x="874712" y="2943181"/>
            <a:ext cx="4300537" cy="133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5"/>
          </p:nvPr>
        </p:nvSpPr>
        <p:spPr>
          <a:xfrm>
            <a:off x="874710" y="4402050"/>
            <a:ext cx="4300537" cy="14272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138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6267449" y="1484314"/>
            <a:ext cx="5187950" cy="43449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/>
          </p:nvPr>
        </p:nvSpPr>
        <p:spPr>
          <a:xfrm>
            <a:off x="874713" y="1484314"/>
            <a:ext cx="5195887" cy="434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024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874713" y="1484314"/>
            <a:ext cx="5195887" cy="434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6267449" y="1484315"/>
            <a:ext cx="5187950" cy="43449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661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874712" y="1484314"/>
            <a:ext cx="3399576" cy="434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8070849" y="1484315"/>
            <a:ext cx="3384550" cy="43449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457700" y="1484315"/>
            <a:ext cx="3416300" cy="43449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3359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 txBox="1">
            <a:spLocks/>
          </p:cNvSpPr>
          <p:nvPr/>
        </p:nvSpPr>
        <p:spPr>
          <a:xfrm>
            <a:off x="6267450" y="368305"/>
            <a:ext cx="5046135" cy="66214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2"/>
                </a:solidFill>
                <a:latin typeface="Open Sans" panose="020B0606030504020204" pitchFamily="34" charset="0"/>
                <a:ea typeface="+mj-ea"/>
                <a:cs typeface="+mj-cs"/>
              </a:defRPr>
            </a:lvl1pPr>
          </a:lstStyle>
          <a:p>
            <a:r>
              <a:rPr lang="de-DE" sz="2400" dirty="0"/>
              <a:t>Titelmasterformat durch Klicken bearbeiten</a:t>
            </a:r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874712" y="1484314"/>
            <a:ext cx="5195887" cy="434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6267450" y="1484315"/>
            <a:ext cx="5187950" cy="43449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74712" y="367507"/>
            <a:ext cx="5195887" cy="6627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653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984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1030288"/>
            <a:ext cx="12192000" cy="50990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956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6"/>
            <a:ext cx="12192000" cy="612933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961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Das ist eine Überschrift</a:t>
            </a:r>
            <a:br>
              <a:rPr lang="de-DE" dirty="0"/>
            </a:br>
            <a:r>
              <a:rPr lang="de-DE" dirty="0"/>
              <a:t>in zwei Zeilen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74712" y="1481138"/>
            <a:ext cx="10580687" cy="436086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Textebene (16pt)</a:t>
            </a:r>
          </a:p>
          <a:p>
            <a:pPr lvl="1"/>
            <a:r>
              <a:rPr lang="de-DE" dirty="0"/>
              <a:t>Zweite Textebene für Aufzählungen</a:t>
            </a:r>
          </a:p>
          <a:p>
            <a:pPr lvl="2"/>
            <a:r>
              <a:rPr lang="de-DE" dirty="0"/>
              <a:t>Dritte Textebene bei viel Text (14pt)</a:t>
            </a:r>
          </a:p>
          <a:p>
            <a:pPr lvl="3"/>
            <a:r>
              <a:rPr lang="de-DE" dirty="0"/>
              <a:t>Vierte Textebene für Aufzählungen bei viel Text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feld 3"/>
          <p:cNvSpPr txBox="1"/>
          <p:nvPr userDrawn="1"/>
        </p:nvSpPr>
        <p:spPr>
          <a:xfrm>
            <a:off x="3575050" y="6319797"/>
            <a:ext cx="5187950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800" dirty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Title</a:t>
            </a:r>
          </a:p>
          <a:p>
            <a:pPr algn="l"/>
            <a:r>
              <a:rPr lang="de-DE" sz="800" dirty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Firstname LastName</a:t>
            </a:r>
            <a:br>
              <a:rPr lang="de-DE" sz="800" dirty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</a:br>
            <a:r>
              <a:rPr lang="de-DE" sz="800" baseline="0" dirty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Dresden, Germany // </a:t>
            </a:r>
            <a:fld id="{4F61969B-4A33-4EE7-82B7-F698330CE837}" type="datetime4">
              <a:rPr lang="en-US" sz="800" baseline="0" smtClean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May 26, 2026</a:t>
            </a:fld>
            <a:endParaRPr lang="de-DE" sz="800" dirty="0">
              <a:solidFill>
                <a:schemeClr val="bg2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cxnSp>
        <p:nvCxnSpPr>
          <p:cNvPr id="8" name="Gerade Verbindung 14"/>
          <p:cNvCxnSpPr/>
          <p:nvPr/>
        </p:nvCxnSpPr>
        <p:spPr>
          <a:xfrm>
            <a:off x="0" y="6123216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8966200" y="6306444"/>
            <a:ext cx="704850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r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de-DE" sz="800" dirty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</a:br>
            <a:r>
              <a:rPr lang="de-DE" sz="800" dirty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Slide</a:t>
            </a:r>
            <a:r>
              <a:rPr lang="de-DE" sz="800" baseline="0" dirty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</a:t>
            </a:r>
            <a:fld id="{38F97D41-8991-4148-BA02-56FEE4AAF2CC}" type="slidenum">
              <a:rPr lang="de-DE" sz="800" baseline="0" smtClean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pPr marL="0" marR="0" lvl="0" indent="0" algn="r" defTabSz="9142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de-DE" sz="800" baseline="0" dirty="0">
              <a:solidFill>
                <a:schemeClr val="bg2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  <a:p>
            <a:pPr marL="0" marR="0" lvl="0" indent="0" algn="r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800" dirty="0">
              <a:solidFill>
                <a:schemeClr val="bg2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386" y="6272950"/>
            <a:ext cx="376119" cy="41617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7374898-078D-484B-9485-FFBC56F366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398339" y="6228000"/>
            <a:ext cx="1203933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9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hf hdr="0"/>
  <p:txStyles>
    <p:titleStyle>
      <a:lvl1pPr algn="l" defTabSz="914269" rtl="0" eaLnBrk="1" latinLnBrk="0" hangingPunct="1">
        <a:spcBef>
          <a:spcPct val="0"/>
        </a:spcBef>
        <a:buNone/>
        <a:defRPr sz="2400" b="1" kern="1200" baseline="0">
          <a:solidFill>
            <a:schemeClr val="tx2"/>
          </a:solidFill>
          <a:latin typeface="Noto Sans" panose="020B0502040504020204" pitchFamily="34"/>
          <a:ea typeface="Noto Sans" panose="020B0502040504020204" pitchFamily="34"/>
          <a:cs typeface="Noto Sans" panose="020B0502040504020204" pitchFamily="34"/>
        </a:defRPr>
      </a:lvl1pPr>
    </p:titleStyle>
    <p:bodyStyle>
      <a:lvl1pPr marL="0" indent="0" algn="l" defTabSz="914269" rtl="0" eaLnBrk="1" latinLnBrk="0" hangingPunct="1">
        <a:spcBef>
          <a:spcPts val="6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Noto Sans" panose="020B0502040504020204" pitchFamily="34"/>
          <a:ea typeface="Noto Sans" panose="020B0502040504020204" pitchFamily="34"/>
          <a:cs typeface="Noto Sans" panose="020B0502040504020204" pitchFamily="34"/>
        </a:defRPr>
      </a:lvl1pPr>
      <a:lvl2pPr marL="395942" indent="-323953" algn="l" defTabSz="914269" rtl="0" eaLnBrk="1" latinLnBrk="0" hangingPunct="1">
        <a:spcBef>
          <a:spcPts val="300"/>
        </a:spcBef>
        <a:buFont typeface="Open Sans" panose="020B0606030504020204" pitchFamily="34" charset="0"/>
        <a:buChar char="—"/>
        <a:defRPr sz="1600" kern="1200">
          <a:solidFill>
            <a:schemeClr val="tx2"/>
          </a:solidFill>
          <a:latin typeface="Noto Sans" panose="020B0502040504020204" pitchFamily="34"/>
          <a:ea typeface="Noto Sans" panose="020B0502040504020204" pitchFamily="34"/>
          <a:cs typeface="Noto Sans" panose="020B0502040504020204" pitchFamily="34"/>
        </a:defRPr>
      </a:lvl2pPr>
      <a:lvl3pPr marL="0" indent="0" algn="l" defTabSz="914269" rtl="0" eaLnBrk="1" latinLnBrk="0" hangingPunct="1"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2"/>
          </a:solidFill>
          <a:latin typeface="Noto Sans" panose="020B0502040504020204" pitchFamily="34"/>
          <a:ea typeface="Noto Sans" panose="020B0502040504020204" pitchFamily="34"/>
          <a:cs typeface="Noto Sans" panose="020B0502040504020204" pitchFamily="34"/>
        </a:defRPr>
      </a:lvl3pPr>
      <a:lvl4pPr marL="395942" indent="-215969" algn="l" defTabSz="914269" rtl="0" eaLnBrk="1" latinLnBrk="0" hangingPunct="1">
        <a:spcBef>
          <a:spcPts val="300"/>
        </a:spcBef>
        <a:buFont typeface="Symbol" panose="05050102010706020507" pitchFamily="18" charset="2"/>
        <a:buChar char="-"/>
        <a:defRPr sz="1400" kern="1200">
          <a:solidFill>
            <a:schemeClr val="tx2"/>
          </a:solidFill>
          <a:latin typeface="Noto Sans" panose="020B0502040504020204" pitchFamily="34"/>
          <a:ea typeface="Noto Sans" panose="020B0502040504020204" pitchFamily="34"/>
          <a:cs typeface="Noto Sans" panose="020B0502040504020204" pitchFamily="34"/>
        </a:defRPr>
      </a:lvl4pPr>
      <a:lvl5pPr marL="575916" indent="-179362" algn="l" defTabSz="914269" rtl="0" eaLnBrk="1" latinLnBrk="0" hangingPunct="1">
        <a:spcBef>
          <a:spcPts val="300"/>
        </a:spcBef>
        <a:buFont typeface="Symbol" panose="05050102010706020507" pitchFamily="18" charset="2"/>
        <a:buChar char="-"/>
        <a:defRPr sz="1400" kern="1200" baseline="0">
          <a:solidFill>
            <a:schemeClr val="tx2"/>
          </a:solidFill>
          <a:latin typeface="Noto Sans" panose="020B0502040504020204" pitchFamily="34"/>
          <a:ea typeface="Noto Sans" panose="020B0502040504020204" pitchFamily="34"/>
          <a:cs typeface="Noto Sans" panose="020B0502040504020204" pitchFamily="34"/>
        </a:defRPr>
      </a:lvl5pPr>
      <a:lvl6pPr marL="358723" indent="0" algn="l" defTabSz="914269" rtl="0" eaLnBrk="1" latinLnBrk="0" hangingPunct="1">
        <a:spcBef>
          <a:spcPts val="0"/>
        </a:spcBef>
        <a:buFont typeface="Arial" panose="020B0604020202020204" pitchFamily="34" charset="0"/>
        <a:buNone/>
        <a:defRPr sz="3200" b="1" kern="1200">
          <a:solidFill>
            <a:schemeClr val="bg1"/>
          </a:solidFill>
          <a:latin typeface="+mn-lt"/>
          <a:ea typeface="+mn-ea"/>
          <a:cs typeface="+mn-cs"/>
        </a:defRPr>
      </a:lvl6pPr>
      <a:lvl7pPr marL="358723" indent="0" algn="l" defTabSz="914269" rtl="0" eaLnBrk="1" latinLnBrk="0" hangingPunct="1">
        <a:spcBef>
          <a:spcPts val="0"/>
        </a:spcBef>
        <a:buFont typeface="Arial" panose="020B0604020202020204" pitchFamily="34" charset="0"/>
        <a:buNone/>
        <a:defRPr sz="3200" kern="1200">
          <a:solidFill>
            <a:schemeClr val="bg1"/>
          </a:solidFill>
          <a:latin typeface="+mn-lt"/>
          <a:ea typeface="+mn-ea"/>
          <a:cs typeface="+mn-cs"/>
        </a:defRPr>
      </a:lvl7pPr>
      <a:lvl8pPr marL="3428502" indent="-228566" algn="l" defTabSz="91426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35" indent="-228566" algn="l" defTabSz="91426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9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2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34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03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36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992">
          <p15:clr>
            <a:srgbClr val="F26B43"/>
          </p15:clr>
        </p15:guide>
        <p15:guide id="7" pos="1120">
          <p15:clr>
            <a:srgbClr val="F26B43"/>
          </p15:clr>
        </p15:guide>
        <p15:guide id="8" pos="1676">
          <p15:clr>
            <a:srgbClr val="F26B43"/>
          </p15:clr>
        </p15:guide>
        <p15:guide id="9" pos="1556">
          <p15:clr>
            <a:srgbClr val="F26B43"/>
          </p15:clr>
        </p15:guide>
        <p15:guide id="10" pos="2252">
          <p15:clr>
            <a:srgbClr val="F26B43"/>
          </p15:clr>
        </p15:guide>
        <p15:guide id="11" pos="2128">
          <p15:clr>
            <a:srgbClr val="F26B43"/>
          </p15:clr>
        </p15:guide>
        <p15:guide id="16" pos="3824">
          <p15:clr>
            <a:srgbClr val="F26B43"/>
          </p15:clr>
        </p15:guide>
        <p15:guide id="17" pos="3948">
          <p15:clr>
            <a:srgbClr val="F26B43"/>
          </p15:clr>
        </p15:guide>
        <p15:guide id="20" pos="4384">
          <p15:clr>
            <a:srgbClr val="F26B43"/>
          </p15:clr>
        </p15:guide>
        <p15:guide id="21" pos="4508">
          <p15:clr>
            <a:srgbClr val="F26B43"/>
          </p15:clr>
        </p15:guide>
        <p15:guide id="22" pos="6780">
          <p15:clr>
            <a:srgbClr val="F26B43"/>
          </p15:clr>
        </p15:guide>
        <p15:guide id="23" pos="6656">
          <p15:clr>
            <a:srgbClr val="F26B43"/>
          </p15:clr>
        </p15:guide>
        <p15:guide id="24" pos="4960">
          <p15:clr>
            <a:srgbClr val="F26B43"/>
          </p15:clr>
        </p15:guide>
        <p15:guide id="25" pos="5084">
          <p15:clr>
            <a:srgbClr val="F26B43"/>
          </p15:clr>
        </p15:guide>
        <p15:guide id="30" orient="horz" pos="538">
          <p15:clr>
            <a:srgbClr val="F26B43"/>
          </p15:clr>
        </p15:guide>
        <p15:guide id="31" pos="551">
          <p15:clr>
            <a:srgbClr val="F26B43"/>
          </p15:clr>
        </p15:guide>
        <p15:guide id="39" pos="6108" userDrawn="1">
          <p15:clr>
            <a:srgbClr val="F26B43"/>
          </p15:clr>
        </p15:guide>
        <p15:guide id="40" pos="6216">
          <p15:clr>
            <a:srgbClr val="F26B43"/>
          </p15:clr>
        </p15:guide>
        <p15:guide id="41" pos="2692">
          <p15:clr>
            <a:srgbClr val="F26B43"/>
          </p15:clr>
        </p15:guide>
        <p15:guide id="42" pos="2808">
          <p15:clr>
            <a:srgbClr val="F26B43"/>
          </p15:clr>
        </p15:guide>
        <p15:guide id="43" pos="3260">
          <p15:clr>
            <a:srgbClr val="F26B43"/>
          </p15:clr>
        </p15:guide>
        <p15:guide id="44" pos="3380">
          <p15:clr>
            <a:srgbClr val="F26B43"/>
          </p15:clr>
        </p15:guide>
        <p15:guide id="50" pos="5520">
          <p15:clr>
            <a:srgbClr val="F26B43"/>
          </p15:clr>
        </p15:guide>
        <p15:guide id="52" orient="horz" pos="933">
          <p15:clr>
            <a:srgbClr val="F26B43"/>
          </p15:clr>
        </p15:guide>
        <p15:guide id="53" orient="horz" pos="759">
          <p15:clr>
            <a:srgbClr val="F26B43"/>
          </p15:clr>
        </p15:guide>
        <p15:guide id="58" orient="horz" pos="218">
          <p15:clr>
            <a:srgbClr val="F26B43"/>
          </p15:clr>
        </p15:guide>
        <p15:guide id="59" orient="horz" pos="3680">
          <p15:clr>
            <a:srgbClr val="F26B43"/>
          </p15:clr>
        </p15:guide>
        <p15:guide id="60" orient="horz" pos="3861">
          <p15:clr>
            <a:srgbClr val="F26B43"/>
          </p15:clr>
        </p15:guide>
        <p15:guide id="62" orient="horz" pos="2130">
          <p15:clr>
            <a:srgbClr val="F26B43"/>
          </p15:clr>
        </p15:guide>
        <p15:guide id="65" pos="5654" userDrawn="1">
          <p15:clr>
            <a:srgbClr val="F26B43"/>
          </p15:clr>
        </p15:guide>
        <p15:guide id="66" orient="horz" pos="649">
          <p15:clr>
            <a:srgbClr val="F26B43"/>
          </p15:clr>
        </p15:guide>
        <p15:guide id="67" pos="7216">
          <p15:clr>
            <a:srgbClr val="F26B43"/>
          </p15:clr>
        </p15:guide>
        <p15:guide id="69" orient="horz" pos="3988">
          <p15:clr>
            <a:srgbClr val="F26B43"/>
          </p15:clr>
        </p15:guide>
        <p15:guide id="70" orient="horz" pos="4196">
          <p15:clr>
            <a:srgbClr val="F26B43"/>
          </p15:clr>
        </p15:guide>
        <p15:guide id="71" pos="318">
          <p15:clr>
            <a:srgbClr val="F26B43"/>
          </p15:clr>
        </p15:guide>
        <p15:guide id="72" orient="horz" pos="41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Yike Jing</a:t>
            </a:r>
          </a:p>
          <a:p>
            <a:r>
              <a:rPr lang="en-US" dirty="0"/>
              <a:t>Dresden, Germany. </a:t>
            </a:r>
            <a:r>
              <a:rPr lang="en-US"/>
              <a:t>May 27, 2026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FPGA-based Real-Time Learning Architecture with Partial Reconfiguration for Spiking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4238409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47FEF1C-A020-41BB-B60F-CFE6CE48B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86EF3DF-8D6E-457C-835A-5DD972E90A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2154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/>
        </p:nvGrpSpPr>
        <p:grpSpPr>
          <a:xfrm>
            <a:off x="7156450" y="1854676"/>
            <a:ext cx="4796534" cy="2660862"/>
            <a:chOff x="7431548" y="1854676"/>
            <a:chExt cx="4023852" cy="2660862"/>
          </a:xfrm>
        </p:grpSpPr>
        <p:sp>
          <p:nvSpPr>
            <p:cNvPr id="11" name="Rechteck 10"/>
            <p:cNvSpPr/>
            <p:nvPr/>
          </p:nvSpPr>
          <p:spPr>
            <a:xfrm>
              <a:off x="7431548" y="2251851"/>
              <a:ext cx="4023852" cy="277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eck 11"/>
            <p:cNvSpPr/>
            <p:nvPr/>
          </p:nvSpPr>
          <p:spPr>
            <a:xfrm>
              <a:off x="7431548" y="2649026"/>
              <a:ext cx="4023852" cy="277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7431548" y="3046201"/>
              <a:ext cx="4023852" cy="2778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/>
            <p:cNvSpPr/>
            <p:nvPr/>
          </p:nvSpPr>
          <p:spPr>
            <a:xfrm>
              <a:off x="7431548" y="3443376"/>
              <a:ext cx="4023852" cy="277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Rechteck 14"/>
            <p:cNvSpPr/>
            <p:nvPr/>
          </p:nvSpPr>
          <p:spPr>
            <a:xfrm>
              <a:off x="7431548" y="3840551"/>
              <a:ext cx="4023852" cy="277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/>
            <p:cNvSpPr/>
            <p:nvPr/>
          </p:nvSpPr>
          <p:spPr>
            <a:xfrm>
              <a:off x="7431548" y="4237726"/>
              <a:ext cx="4023852" cy="277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/>
            <p:cNvSpPr/>
            <p:nvPr/>
          </p:nvSpPr>
          <p:spPr>
            <a:xfrm>
              <a:off x="7431548" y="1854676"/>
              <a:ext cx="4023852" cy="277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8" name="Gruppieren 27"/>
          <p:cNvGrpSpPr/>
          <p:nvPr/>
        </p:nvGrpSpPr>
        <p:grpSpPr>
          <a:xfrm>
            <a:off x="6255800" y="1847813"/>
            <a:ext cx="278539" cy="2660862"/>
            <a:chOff x="6659299" y="1847813"/>
            <a:chExt cx="278539" cy="2660862"/>
          </a:xfrm>
        </p:grpSpPr>
        <p:sp>
          <p:nvSpPr>
            <p:cNvPr id="19" name="Rechteck 18"/>
            <p:cNvSpPr/>
            <p:nvPr/>
          </p:nvSpPr>
          <p:spPr>
            <a:xfrm>
              <a:off x="6659299" y="2244988"/>
              <a:ext cx="278539" cy="277812"/>
            </a:xfrm>
            <a:prstGeom prst="rect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/>
            <p:cNvSpPr/>
            <p:nvPr/>
          </p:nvSpPr>
          <p:spPr>
            <a:xfrm>
              <a:off x="6659299" y="2642163"/>
              <a:ext cx="278539" cy="277812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/>
            <p:cNvSpPr/>
            <p:nvPr/>
          </p:nvSpPr>
          <p:spPr>
            <a:xfrm>
              <a:off x="6659299" y="3039338"/>
              <a:ext cx="278539" cy="277812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Rechteck 21"/>
            <p:cNvSpPr/>
            <p:nvPr/>
          </p:nvSpPr>
          <p:spPr>
            <a:xfrm>
              <a:off x="6659299" y="3436513"/>
              <a:ext cx="278539" cy="277812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/>
            <p:cNvSpPr/>
            <p:nvPr/>
          </p:nvSpPr>
          <p:spPr>
            <a:xfrm>
              <a:off x="6659299" y="3833688"/>
              <a:ext cx="278539" cy="277812"/>
            </a:xfrm>
            <a:prstGeom prst="rect">
              <a:avLst/>
            </a:prstGeom>
            <a:solidFill>
              <a:schemeClr val="accent6">
                <a:alpha val="6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Rechteck 23"/>
            <p:cNvSpPr/>
            <p:nvPr/>
          </p:nvSpPr>
          <p:spPr>
            <a:xfrm>
              <a:off x="6659299" y="4230863"/>
              <a:ext cx="278539" cy="277812"/>
            </a:xfrm>
            <a:prstGeom prst="rect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Rechteck 26"/>
            <p:cNvSpPr/>
            <p:nvPr/>
          </p:nvSpPr>
          <p:spPr>
            <a:xfrm>
              <a:off x="6659299" y="1847813"/>
              <a:ext cx="278539" cy="277812"/>
            </a:xfrm>
            <a:prstGeom prst="rect">
              <a:avLst/>
            </a:prstGeom>
            <a:solidFill>
              <a:schemeClr val="tx1">
                <a:alpha val="6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9" name="Gruppieren 28"/>
          <p:cNvGrpSpPr/>
          <p:nvPr/>
        </p:nvGrpSpPr>
        <p:grpSpPr>
          <a:xfrm>
            <a:off x="6694545" y="1847813"/>
            <a:ext cx="278539" cy="2660862"/>
            <a:chOff x="7045423" y="1847813"/>
            <a:chExt cx="278539" cy="2660862"/>
          </a:xfrm>
        </p:grpSpPr>
        <p:sp>
          <p:nvSpPr>
            <p:cNvPr id="39" name="Rechteck 38"/>
            <p:cNvSpPr/>
            <p:nvPr/>
          </p:nvSpPr>
          <p:spPr>
            <a:xfrm>
              <a:off x="7045423" y="2244988"/>
              <a:ext cx="278539" cy="277812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Rechteck 39"/>
            <p:cNvSpPr/>
            <p:nvPr/>
          </p:nvSpPr>
          <p:spPr>
            <a:xfrm>
              <a:off x="7045423" y="2642163"/>
              <a:ext cx="278539" cy="277812"/>
            </a:xfrm>
            <a:prstGeom prst="rect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Rechteck 40"/>
            <p:cNvSpPr/>
            <p:nvPr/>
          </p:nvSpPr>
          <p:spPr>
            <a:xfrm>
              <a:off x="7045423" y="3039338"/>
              <a:ext cx="278539" cy="277812"/>
            </a:xfrm>
            <a:prstGeom prst="rect">
              <a:avLst/>
            </a:pr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Rechteck 41"/>
            <p:cNvSpPr/>
            <p:nvPr/>
          </p:nvSpPr>
          <p:spPr>
            <a:xfrm>
              <a:off x="7045423" y="3436513"/>
              <a:ext cx="278539" cy="277812"/>
            </a:xfrm>
            <a:prstGeom prst="rect">
              <a:avLst/>
            </a:prstGeom>
            <a:solidFill>
              <a:schemeClr val="accent5">
                <a:alpha val="80000"/>
              </a:schemeClr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Rechteck 42"/>
            <p:cNvSpPr/>
            <p:nvPr/>
          </p:nvSpPr>
          <p:spPr>
            <a:xfrm>
              <a:off x="7045423" y="3833688"/>
              <a:ext cx="278539" cy="277812"/>
            </a:xfrm>
            <a:prstGeom prst="rect">
              <a:avLst/>
            </a:prstGeom>
            <a:solidFill>
              <a:schemeClr val="accent6">
                <a:alpha val="8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Rechteck 43"/>
            <p:cNvSpPr/>
            <p:nvPr/>
          </p:nvSpPr>
          <p:spPr>
            <a:xfrm>
              <a:off x="7045423" y="4230863"/>
              <a:ext cx="278539" cy="277812"/>
            </a:xfrm>
            <a:prstGeom prst="rect">
              <a:avLst/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Rechteck 46"/>
            <p:cNvSpPr/>
            <p:nvPr/>
          </p:nvSpPr>
          <p:spPr>
            <a:xfrm>
              <a:off x="7045423" y="1847813"/>
              <a:ext cx="278539" cy="277812"/>
            </a:xfrm>
            <a:prstGeom prst="rect">
              <a:avLst/>
            </a:prstGeom>
            <a:solidFill>
              <a:schemeClr val="tx1">
                <a:alpha val="8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9" name="Gruppieren 8"/>
          <p:cNvGrpSpPr/>
          <p:nvPr/>
        </p:nvGrpSpPr>
        <p:grpSpPr>
          <a:xfrm>
            <a:off x="5817055" y="1847813"/>
            <a:ext cx="278539" cy="2660862"/>
            <a:chOff x="6274263" y="1847813"/>
            <a:chExt cx="278539" cy="2660862"/>
          </a:xfrm>
        </p:grpSpPr>
        <p:sp>
          <p:nvSpPr>
            <p:cNvPr id="49" name="Rechteck 48"/>
            <p:cNvSpPr/>
            <p:nvPr/>
          </p:nvSpPr>
          <p:spPr>
            <a:xfrm>
              <a:off x="6274263" y="2244988"/>
              <a:ext cx="278539" cy="277812"/>
            </a:xfrm>
            <a:prstGeom prst="rect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Rechteck 49"/>
            <p:cNvSpPr/>
            <p:nvPr/>
          </p:nvSpPr>
          <p:spPr>
            <a:xfrm>
              <a:off x="6274263" y="2642163"/>
              <a:ext cx="278539" cy="277812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Rechteck 50"/>
            <p:cNvSpPr/>
            <p:nvPr/>
          </p:nvSpPr>
          <p:spPr>
            <a:xfrm>
              <a:off x="6274263" y="3039338"/>
              <a:ext cx="278539" cy="277812"/>
            </a:xfrm>
            <a:prstGeom prst="rect">
              <a:avLst/>
            </a:prstGeom>
            <a:solidFill>
              <a:schemeClr val="bg2">
                <a:alpha val="4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Rechteck 51"/>
            <p:cNvSpPr/>
            <p:nvPr/>
          </p:nvSpPr>
          <p:spPr>
            <a:xfrm>
              <a:off x="6274263" y="3436513"/>
              <a:ext cx="278539" cy="277812"/>
            </a:xfrm>
            <a:prstGeom prst="rect">
              <a:avLst/>
            </a:prstGeom>
            <a:solidFill>
              <a:schemeClr val="accent5">
                <a:alpha val="40000"/>
              </a:schemeClr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Rechteck 52"/>
            <p:cNvSpPr/>
            <p:nvPr/>
          </p:nvSpPr>
          <p:spPr>
            <a:xfrm>
              <a:off x="6274263" y="3833688"/>
              <a:ext cx="278539" cy="277812"/>
            </a:xfrm>
            <a:prstGeom prst="rect">
              <a:avLst/>
            </a:prstGeom>
            <a:solidFill>
              <a:schemeClr val="accent6">
                <a:alpha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Rechteck 53"/>
            <p:cNvSpPr/>
            <p:nvPr/>
          </p:nvSpPr>
          <p:spPr>
            <a:xfrm>
              <a:off x="6274263" y="4230863"/>
              <a:ext cx="278539" cy="277812"/>
            </a:xfrm>
            <a:prstGeom prst="rect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Rechteck 56"/>
            <p:cNvSpPr/>
            <p:nvPr/>
          </p:nvSpPr>
          <p:spPr>
            <a:xfrm>
              <a:off x="6274263" y="1847813"/>
              <a:ext cx="278539" cy="277812"/>
            </a:xfrm>
            <a:prstGeom prst="rect">
              <a:avLst/>
            </a:prstGeom>
            <a:solidFill>
              <a:schemeClr val="tx1">
                <a:alpha val="4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Colors</a:t>
            </a:r>
            <a:br>
              <a:rPr lang="de-DE" dirty="0"/>
            </a:br>
            <a:r>
              <a:rPr lang="en-US" b="0" dirty="0"/>
              <a:t>Primary colors and variants</a:t>
            </a:r>
            <a:endParaRPr lang="de-DE" b="0" dirty="0"/>
          </a:p>
        </p:txBody>
      </p:sp>
      <p:sp>
        <p:nvSpPr>
          <p:cNvPr id="2" name="Inhaltsplatzhalter 1"/>
          <p:cNvSpPr>
            <a:spLocks noGrp="1"/>
          </p:cNvSpPr>
          <p:nvPr>
            <p:ph sz="quarter" idx="10"/>
          </p:nvPr>
        </p:nvSpPr>
        <p:spPr>
          <a:xfrm>
            <a:off x="874712" y="1484313"/>
            <a:ext cx="4300538" cy="424973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endParaRPr lang="de-DE" dirty="0"/>
          </a:p>
          <a:p>
            <a:pPr>
              <a:spcBef>
                <a:spcPts val="1200"/>
              </a:spcBef>
            </a:pPr>
            <a:r>
              <a:rPr lang="en-US" dirty="0"/>
              <a:t>The </a:t>
            </a:r>
            <a:r>
              <a:rPr lang="en-US" b="1" dirty="0"/>
              <a:t>corporate</a:t>
            </a:r>
            <a:r>
              <a:rPr lang="en-US" dirty="0"/>
              <a:t> </a:t>
            </a:r>
            <a:r>
              <a:rPr lang="en-US" b="1" dirty="0"/>
              <a:t>color</a:t>
            </a:r>
            <a:r>
              <a:rPr lang="en-US" dirty="0"/>
              <a:t> of TU Dresden is </a:t>
            </a:r>
            <a:r>
              <a:rPr lang="en-US" b="1" dirty="0"/>
              <a:t>Brilliant Blue</a:t>
            </a:r>
            <a:r>
              <a:rPr lang="en-US" dirty="0"/>
              <a:t>, color shade NCS 3060-R80B.</a:t>
            </a:r>
          </a:p>
          <a:p>
            <a:pPr>
              <a:spcBef>
                <a:spcPts val="1200"/>
              </a:spcBef>
            </a:pPr>
            <a:r>
              <a:rPr lang="en-US" dirty="0"/>
              <a:t>A range of </a:t>
            </a:r>
            <a:r>
              <a:rPr lang="en-US" b="1" dirty="0"/>
              <a:t>secondary colors </a:t>
            </a:r>
            <a:r>
              <a:rPr lang="en-US" dirty="0"/>
              <a:t>has also been defined.</a:t>
            </a:r>
          </a:p>
          <a:p>
            <a:pPr>
              <a:spcBef>
                <a:spcPts val="1200"/>
              </a:spcBef>
            </a:pPr>
            <a:r>
              <a:rPr lang="en-US" dirty="0"/>
              <a:t>The colors can be used with varying degrees of opacity.</a:t>
            </a:r>
          </a:p>
          <a:p>
            <a:pPr>
              <a:spcBef>
                <a:spcPts val="1200"/>
              </a:spcBef>
            </a:pPr>
            <a:r>
              <a:rPr lang="en-US" dirty="0"/>
              <a:t>The colors are integrated directly into the “</a:t>
            </a:r>
            <a:r>
              <a:rPr lang="en-US" b="1" dirty="0"/>
              <a:t>TUD_2025</a:t>
            </a:r>
            <a:r>
              <a:rPr lang="en-US" dirty="0"/>
              <a:t>” design in this presentation template.</a:t>
            </a:r>
            <a:endParaRPr lang="de-DE" dirty="0"/>
          </a:p>
          <a:p>
            <a:pPr lvl="2"/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4294967295"/>
          </p:nvPr>
        </p:nvSpPr>
        <p:spPr>
          <a:xfrm>
            <a:off x="7120268" y="1484313"/>
            <a:ext cx="4868897" cy="4249737"/>
          </a:xfrm>
        </p:spPr>
        <p:txBody>
          <a:bodyPr vert="horz" lIns="108000" tIns="0" rIns="0" bIns="0" rtlCol="0">
            <a:normAutofit/>
          </a:bodyPr>
          <a:lstStyle/>
          <a:p>
            <a:pPr defTabSz="896938">
              <a:spcBef>
                <a:spcPts val="1200"/>
              </a:spcBef>
              <a:tabLst>
                <a:tab pos="1165225" algn="l"/>
              </a:tabLst>
            </a:pPr>
            <a:r>
              <a:rPr lang="de-DE" b="1" dirty="0"/>
              <a:t>Name		RGB		HEX</a:t>
            </a:r>
          </a:p>
          <a:p>
            <a:pPr defTabSz="896938">
              <a:spcBef>
                <a:spcPts val="1200"/>
              </a:spcBef>
              <a:tabLst>
                <a:tab pos="1165225" algn="l"/>
              </a:tabLst>
            </a:pPr>
            <a:r>
              <a:rPr lang="de-DE" b="1" dirty="0">
                <a:solidFill>
                  <a:schemeClr val="bg1"/>
                </a:solidFill>
              </a:rPr>
              <a:t>NCS 7020-R70B	0 / 20 / 80	#001450</a:t>
            </a:r>
          </a:p>
          <a:p>
            <a:pPr defTabSz="896938">
              <a:spcBef>
                <a:spcPts val="1200"/>
              </a:spcBef>
              <a:tabLst>
                <a:tab pos="1165225" algn="l"/>
              </a:tabLst>
            </a:pPr>
            <a:r>
              <a:rPr lang="de-DE" dirty="0">
                <a:solidFill>
                  <a:schemeClr val="bg1"/>
                </a:solidFill>
              </a:rPr>
              <a:t>NCS 3050-R90B	47 / 87 / 178	#2F57B2</a:t>
            </a:r>
          </a:p>
          <a:p>
            <a:pPr defTabSz="896938">
              <a:spcBef>
                <a:spcPts val="1200"/>
              </a:spcBef>
              <a:tabLst>
                <a:tab pos="1165225" algn="l"/>
              </a:tabLst>
            </a:pPr>
            <a:r>
              <a:rPr lang="de-DE" dirty="0">
                <a:solidFill>
                  <a:schemeClr val="bg1"/>
                </a:solidFill>
              </a:rPr>
              <a:t>NCS 3060-R80B	0 / 0 / 140	#00008C</a:t>
            </a:r>
          </a:p>
          <a:p>
            <a:pPr defTabSz="896938">
              <a:spcBef>
                <a:spcPts val="1200"/>
              </a:spcBef>
              <a:tabLst>
                <a:tab pos="1165225" algn="l"/>
              </a:tabLst>
            </a:pPr>
            <a:r>
              <a:rPr lang="de-DE" dirty="0">
                <a:solidFill>
                  <a:schemeClr val="bg1"/>
                </a:solidFill>
              </a:rPr>
              <a:t>NCS 7005-R80B	86 / 99 / 113	#566371</a:t>
            </a:r>
          </a:p>
          <a:p>
            <a:pPr defTabSz="896938">
              <a:spcBef>
                <a:spcPts val="1200"/>
              </a:spcBef>
              <a:tabLst>
                <a:tab pos="1165225" algn="l"/>
              </a:tabLst>
            </a:pPr>
            <a:r>
              <a:rPr lang="de-DE" dirty="0">
                <a:solidFill>
                  <a:schemeClr val="bg1"/>
                </a:solidFill>
              </a:rPr>
              <a:t>NCS 3060-B10G	10 / 119/ 127	#0A777F</a:t>
            </a:r>
          </a:p>
          <a:p>
            <a:pPr defTabSz="896938">
              <a:spcBef>
                <a:spcPts val="1200"/>
              </a:spcBef>
              <a:tabLst>
                <a:tab pos="1165225" algn="l"/>
              </a:tabLst>
            </a:pPr>
            <a:r>
              <a:rPr lang="de-DE" dirty="0">
                <a:solidFill>
                  <a:schemeClr val="bg1"/>
                </a:solidFill>
              </a:rPr>
              <a:t>NCS 1030-B30G	140 / 230 / 215	#8CE6D7</a:t>
            </a:r>
          </a:p>
          <a:p>
            <a:pPr defTabSz="896938">
              <a:spcBef>
                <a:spcPts val="1200"/>
              </a:spcBef>
              <a:tabLst>
                <a:tab pos="1165225" algn="l"/>
              </a:tabLst>
            </a:pPr>
            <a:r>
              <a:rPr lang="de-DE" dirty="0">
                <a:solidFill>
                  <a:schemeClr val="bg1"/>
                </a:solidFill>
              </a:rPr>
              <a:t>NCS 1040-R90B	151 / 198 / 255	#97C6FF</a:t>
            </a:r>
          </a:p>
          <a:p>
            <a:pPr defTabSz="896938">
              <a:spcBef>
                <a:spcPts val="1200"/>
              </a:spcBef>
              <a:tabLst>
                <a:tab pos="1165225" algn="l"/>
              </a:tabLst>
            </a:pPr>
            <a:r>
              <a:rPr lang="de-DE" dirty="0">
                <a:solidFill>
                  <a:schemeClr val="bg1"/>
                </a:solidFill>
              </a:rPr>
              <a:t>HKS 57	0 / 125 / 64	#007d3f</a:t>
            </a:r>
          </a:p>
          <a:p>
            <a:pPr defTabSz="896938">
              <a:spcBef>
                <a:spcPts val="1200"/>
              </a:spcBef>
              <a:tabLst>
                <a:tab pos="1165225" algn="l"/>
              </a:tabLst>
            </a:pPr>
            <a:r>
              <a:rPr lang="de-DE" dirty="0">
                <a:solidFill>
                  <a:schemeClr val="bg1"/>
                </a:solidFill>
              </a:rPr>
              <a:t>HKS 07	238 / 127 / 0	#ee7f00</a:t>
            </a:r>
          </a:p>
          <a:p>
            <a:pPr defTabSz="896938">
              <a:tabLst>
                <a:tab pos="1165225" algn="l"/>
              </a:tabLst>
            </a:pPr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1952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Diagrams</a:t>
            </a:r>
            <a:br>
              <a:rPr lang="en-US" dirty="0"/>
            </a:br>
            <a:r>
              <a:rPr lang="en-US" b="0" dirty="0"/>
              <a:t>Multicolor</a:t>
            </a:r>
          </a:p>
        </p:txBody>
      </p:sp>
      <p:graphicFrame>
        <p:nvGraphicFramePr>
          <p:cNvPr id="9" name="Bildplatzhalter 8"/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2586155739"/>
              </p:ext>
            </p:extLst>
          </p:nvPr>
        </p:nvGraphicFramePr>
        <p:xfrm>
          <a:off x="6267450" y="1484314"/>
          <a:ext cx="5187950" cy="43449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platzhalt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If multicolored diagrams are required for thematic reasons: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dirty="0"/>
              <a:t>Use a </a:t>
            </a:r>
            <a:r>
              <a:rPr lang="en-US" b="1" dirty="0"/>
              <a:t>consistent color scheme </a:t>
            </a:r>
            <a:r>
              <a:rPr lang="en-US" dirty="0"/>
              <a:t>throughout the document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b="1" dirty="0"/>
              <a:t>Adjust the color scheme</a:t>
            </a:r>
            <a:r>
              <a:rPr lang="en-US" dirty="0"/>
              <a:t> to suit your own needs, e.g.</a:t>
            </a:r>
          </a:p>
          <a:p>
            <a:pPr marL="681692" lvl="3" indent="-285750">
              <a:buFont typeface="Arial" panose="020B0604020202020204" pitchFamily="34" charset="0"/>
              <a:buChar char="•"/>
            </a:pPr>
            <a:r>
              <a:rPr lang="de-DE" dirty="0"/>
              <a:t>DRESDEN-</a:t>
            </a:r>
            <a:r>
              <a:rPr lang="de-DE" dirty="0" err="1"/>
              <a:t>concept</a:t>
            </a:r>
            <a:r>
              <a:rPr lang="de-DE" dirty="0"/>
              <a:t> </a:t>
            </a:r>
            <a:r>
              <a:rPr lang="de-DE" dirty="0" err="1"/>
              <a:t>colors</a:t>
            </a:r>
            <a:endParaRPr lang="de-DE" dirty="0"/>
          </a:p>
          <a:p>
            <a:pPr marL="681692" lvl="3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681692" lvl="3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681692" lvl="3" indent="-285750">
              <a:buFont typeface="Arial" panose="020B0604020202020204" pitchFamily="34" charset="0"/>
              <a:buChar char="•"/>
            </a:pPr>
            <a:r>
              <a:rPr lang="de-DE" dirty="0"/>
              <a:t>Colors </a:t>
            </a:r>
            <a:r>
              <a:rPr lang="de-DE" dirty="0" err="1"/>
              <a:t>of</a:t>
            </a:r>
            <a:r>
              <a:rPr lang="de-DE" dirty="0"/>
              <a:t> SINS </a:t>
            </a:r>
            <a:br>
              <a:rPr lang="de-DE" dirty="0"/>
            </a:br>
            <a:r>
              <a:rPr lang="de-DE" dirty="0"/>
              <a:t>(Studieninformationssystem der TUD)</a:t>
            </a:r>
          </a:p>
          <a:p>
            <a:pPr marL="681692" lvl="3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681692" lvl="3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681692" lvl="3" indent="-285750">
              <a:buFont typeface="Arial" panose="020B0604020202020204" pitchFamily="34" charset="0"/>
              <a:buChar char="•"/>
            </a:pPr>
            <a:r>
              <a:rPr lang="en-US" dirty="0"/>
              <a:t>Colors of own structural unit</a:t>
            </a:r>
            <a:endParaRPr lang="de-DE" dirty="0"/>
          </a:p>
        </p:txBody>
      </p:sp>
      <p:grpSp>
        <p:nvGrpSpPr>
          <p:cNvPr id="2" name="Gruppieren 1"/>
          <p:cNvGrpSpPr/>
          <p:nvPr/>
        </p:nvGrpSpPr>
        <p:grpSpPr>
          <a:xfrm>
            <a:off x="1562850" y="2896292"/>
            <a:ext cx="2972700" cy="278541"/>
            <a:chOff x="1770752" y="3694939"/>
            <a:chExt cx="2972700" cy="278541"/>
          </a:xfrm>
        </p:grpSpPr>
        <p:sp>
          <p:nvSpPr>
            <p:cNvPr id="11" name="Rechteck 10"/>
            <p:cNvSpPr/>
            <p:nvPr/>
          </p:nvSpPr>
          <p:spPr>
            <a:xfrm rot="16200000">
              <a:off x="2155372" y="3695304"/>
              <a:ext cx="278539" cy="277812"/>
            </a:xfrm>
            <a:prstGeom prst="rect">
              <a:avLst/>
            </a:prstGeom>
            <a:solidFill>
              <a:srgbClr val="28618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eck 11"/>
            <p:cNvSpPr/>
            <p:nvPr/>
          </p:nvSpPr>
          <p:spPr>
            <a:xfrm rot="16200000">
              <a:off x="2540356" y="3695304"/>
              <a:ext cx="278539" cy="277812"/>
            </a:xfrm>
            <a:prstGeom prst="rect">
              <a:avLst/>
            </a:prstGeom>
            <a:solidFill>
              <a:srgbClr val="539D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 rot="16200000">
              <a:off x="2925340" y="3695304"/>
              <a:ext cx="278539" cy="277812"/>
            </a:xfrm>
            <a:prstGeom prst="rect">
              <a:avLst/>
            </a:prstGeom>
            <a:solidFill>
              <a:srgbClr val="84D1E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/>
            <p:cNvSpPr/>
            <p:nvPr/>
          </p:nvSpPr>
          <p:spPr>
            <a:xfrm rot="16200000">
              <a:off x="3310324" y="3695305"/>
              <a:ext cx="278539" cy="277812"/>
            </a:xfrm>
            <a:prstGeom prst="rect">
              <a:avLst/>
            </a:prstGeom>
            <a:solidFill>
              <a:srgbClr val="009BA4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Rechteck 14"/>
            <p:cNvSpPr/>
            <p:nvPr/>
          </p:nvSpPr>
          <p:spPr>
            <a:xfrm rot="16200000">
              <a:off x="3695308" y="3695304"/>
              <a:ext cx="278539" cy="277812"/>
            </a:xfrm>
            <a:prstGeom prst="rect">
              <a:avLst/>
            </a:prstGeom>
            <a:solidFill>
              <a:srgbClr val="13A983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" name="Rechteck 15"/>
            <p:cNvSpPr/>
            <p:nvPr/>
          </p:nvSpPr>
          <p:spPr>
            <a:xfrm rot="16200000">
              <a:off x="4080292" y="3695304"/>
              <a:ext cx="278539" cy="277812"/>
            </a:xfrm>
            <a:prstGeom prst="rect">
              <a:avLst/>
            </a:prstGeom>
            <a:solidFill>
              <a:srgbClr val="93C356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Rechteck 16"/>
            <p:cNvSpPr/>
            <p:nvPr/>
          </p:nvSpPr>
          <p:spPr>
            <a:xfrm rot="16200000">
              <a:off x="4465276" y="3695303"/>
              <a:ext cx="278539" cy="277812"/>
            </a:xfrm>
            <a:prstGeom prst="rect">
              <a:avLst/>
            </a:prstGeom>
            <a:solidFill>
              <a:srgbClr val="BCCF02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/>
            <p:cNvSpPr/>
            <p:nvPr/>
          </p:nvSpPr>
          <p:spPr>
            <a:xfrm rot="16200000">
              <a:off x="1770388" y="3695304"/>
              <a:ext cx="278539" cy="277812"/>
            </a:xfrm>
            <a:prstGeom prst="rect">
              <a:avLst/>
            </a:prstGeom>
            <a:solidFill>
              <a:srgbClr val="03305D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" name="Gruppieren 2"/>
          <p:cNvGrpSpPr/>
          <p:nvPr/>
        </p:nvGrpSpPr>
        <p:grpSpPr>
          <a:xfrm>
            <a:off x="1561774" y="3900160"/>
            <a:ext cx="2202732" cy="278540"/>
            <a:chOff x="1770753" y="4413290"/>
            <a:chExt cx="2202732" cy="278540"/>
          </a:xfrm>
        </p:grpSpPr>
        <p:sp>
          <p:nvSpPr>
            <p:cNvPr id="21" name="Rechteck 20"/>
            <p:cNvSpPr/>
            <p:nvPr/>
          </p:nvSpPr>
          <p:spPr>
            <a:xfrm rot="16200000">
              <a:off x="2155373" y="4413654"/>
              <a:ext cx="278539" cy="277812"/>
            </a:xfrm>
            <a:prstGeom prst="rect">
              <a:avLst/>
            </a:prstGeom>
            <a:solidFill>
              <a:srgbClr val="02ACA8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Rechteck 21"/>
            <p:cNvSpPr/>
            <p:nvPr/>
          </p:nvSpPr>
          <p:spPr>
            <a:xfrm rot="16200000">
              <a:off x="2540357" y="4413654"/>
              <a:ext cx="278539" cy="277812"/>
            </a:xfrm>
            <a:prstGeom prst="rect">
              <a:avLst/>
            </a:prstGeom>
            <a:solidFill>
              <a:srgbClr val="00A1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/>
            <p:cNvSpPr/>
            <p:nvPr/>
          </p:nvSpPr>
          <p:spPr>
            <a:xfrm rot="16200000">
              <a:off x="2925341" y="4413654"/>
              <a:ext cx="278539" cy="277812"/>
            </a:xfrm>
            <a:prstGeom prst="rect">
              <a:avLst/>
            </a:prstGeom>
            <a:solidFill>
              <a:srgbClr val="E02D8A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Rechteck 23"/>
            <p:cNvSpPr/>
            <p:nvPr/>
          </p:nvSpPr>
          <p:spPr>
            <a:xfrm rot="16200000">
              <a:off x="3310325" y="4413655"/>
              <a:ext cx="278539" cy="277812"/>
            </a:xfrm>
            <a:prstGeom prst="rect">
              <a:avLst/>
            </a:prstGeom>
            <a:solidFill>
              <a:srgbClr val="E8412C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Rechteck 24"/>
            <p:cNvSpPr/>
            <p:nvPr/>
          </p:nvSpPr>
          <p:spPr>
            <a:xfrm rot="16200000">
              <a:off x="3695309" y="4413654"/>
              <a:ext cx="278539" cy="277812"/>
            </a:xfrm>
            <a:prstGeom prst="rect">
              <a:avLst/>
            </a:prstGeom>
            <a:solidFill>
              <a:srgbClr val="F07D0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Rechteck 27"/>
            <p:cNvSpPr/>
            <p:nvPr/>
          </p:nvSpPr>
          <p:spPr>
            <a:xfrm rot="16200000">
              <a:off x="1770389" y="4413654"/>
              <a:ext cx="278539" cy="277812"/>
            </a:xfrm>
            <a:prstGeom prst="rect">
              <a:avLst/>
            </a:prstGeom>
            <a:solidFill>
              <a:srgbClr val="63B32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" name="Gruppieren 3"/>
          <p:cNvGrpSpPr/>
          <p:nvPr/>
        </p:nvGrpSpPr>
        <p:grpSpPr>
          <a:xfrm>
            <a:off x="1561773" y="4640320"/>
            <a:ext cx="1047780" cy="278539"/>
            <a:chOff x="1770754" y="4976025"/>
            <a:chExt cx="1047780" cy="278539"/>
          </a:xfrm>
        </p:grpSpPr>
        <p:sp>
          <p:nvSpPr>
            <p:cNvPr id="29" name="Rechteck 28"/>
            <p:cNvSpPr/>
            <p:nvPr/>
          </p:nvSpPr>
          <p:spPr>
            <a:xfrm rot="16200000">
              <a:off x="2155374" y="4976389"/>
              <a:ext cx="278539" cy="27781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Rechteck 29"/>
            <p:cNvSpPr/>
            <p:nvPr/>
          </p:nvSpPr>
          <p:spPr>
            <a:xfrm rot="16200000">
              <a:off x="2540358" y="4976389"/>
              <a:ext cx="278539" cy="2778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Rechteck 33"/>
            <p:cNvSpPr/>
            <p:nvPr/>
          </p:nvSpPr>
          <p:spPr>
            <a:xfrm rot="16200000">
              <a:off x="1770390" y="4976389"/>
              <a:ext cx="278539" cy="277812"/>
            </a:xfrm>
            <a:prstGeom prst="rect">
              <a:avLst/>
            </a:prstGeom>
            <a:solidFill>
              <a:srgbClr val="FF006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4789665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17"/>
</p:tagLst>
</file>

<file path=ppt/theme/theme1.xml><?xml version="1.0" encoding="utf-8"?>
<a:theme xmlns:a="http://schemas.openxmlformats.org/drawingml/2006/main" name="TUD_2018_16zu9">
  <a:themeElements>
    <a:clrScheme name="TUD_2025">
      <a:dk1>
        <a:srgbClr val="001450"/>
      </a:dk1>
      <a:lt1>
        <a:srgbClr val="FFFFFF"/>
      </a:lt1>
      <a:dk2>
        <a:srgbClr val="001450"/>
      </a:dk2>
      <a:lt2>
        <a:srgbClr val="566371"/>
      </a:lt2>
      <a:accent1>
        <a:srgbClr val="00008C"/>
      </a:accent1>
      <a:accent2>
        <a:srgbClr val="2F57B2"/>
      </a:accent2>
      <a:accent3>
        <a:srgbClr val="97C6FF"/>
      </a:accent3>
      <a:accent4>
        <a:srgbClr val="001450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FA3DDC62-2CE6-774E-8340-8260BC267E57}" vid="{CBF861B5-B793-E74B-9EAA-FF010F67C032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2020_Praesentationsvorlage_TUD_16zu9</Template>
  <TotalTime>8</TotalTime>
  <Words>239</Words>
  <Application>Microsoft Office PowerPoint</Application>
  <PresentationFormat>宽屏</PresentationFormat>
  <Paragraphs>31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Arial</vt:lpstr>
      <vt:lpstr>Open Sans</vt:lpstr>
      <vt:lpstr>Noto Sans</vt:lpstr>
      <vt:lpstr>Calibri</vt:lpstr>
      <vt:lpstr>Symbol</vt:lpstr>
      <vt:lpstr>TUD_2018_16zu9</vt:lpstr>
      <vt:lpstr>FPGA-based Real-Time Learning Architecture with Partial Reconfiguration for Spiking Neural Networks</vt:lpstr>
      <vt:lpstr>PowerPoint 演示文稿</vt:lpstr>
      <vt:lpstr>Colors Primary colors and variants</vt:lpstr>
      <vt:lpstr>Diagrams Multicolor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Präsentationsvorlagen im CD der TU Dresden</dc:title>
  <dc:creator>Windows User</dc:creator>
  <cp:lastModifiedBy>Yike Jing</cp:lastModifiedBy>
  <cp:revision>34</cp:revision>
  <dcterms:created xsi:type="dcterms:W3CDTF">2021-01-04T09:39:18Z</dcterms:created>
  <dcterms:modified xsi:type="dcterms:W3CDTF">2026-05-26T14:40:55Z</dcterms:modified>
</cp:coreProperties>
</file>