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1" r:id="rId1"/>
  </p:sldMasterIdLst>
  <p:notesMasterIdLst>
    <p:notesMasterId r:id="rId13"/>
  </p:notesMasterIdLst>
  <p:handoutMasterIdLst>
    <p:handoutMasterId r:id="rId14"/>
  </p:handoutMasterIdLst>
  <p:sldIdLst>
    <p:sldId id="291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300" r:id="rId10"/>
    <p:sldId id="299" r:id="rId11"/>
    <p:sldId id="301" r:id="rId12"/>
  </p:sldIdLst>
  <p:sldSz cx="12192000" cy="6858000"/>
  <p:notesSz cx="6858000" cy="9144000"/>
  <p:embeddedFontLst>
    <p:embeddedFont>
      <p:font typeface="Cambria Math" panose="02040503050406030204" pitchFamily="18" charset="0"/>
      <p:regular r:id="rId15"/>
    </p:embeddedFont>
    <p:embeddedFont>
      <p:font typeface="Noto Sans" panose="020B0502040504020204" pitchFamily="34" charset="0"/>
      <p:regular r:id="rId16"/>
      <p:bold r:id="rId17"/>
      <p:italic r:id="rId18"/>
      <p:boldItalic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</p:embeddedFontLst>
  <p:defaultTextStyle>
    <a:defPPr>
      <a:defRPr lang="de-DE"/>
    </a:defPPr>
    <a:lvl1pPr marL="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1pPr>
    <a:lvl2pPr marL="4114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2pPr>
    <a:lvl3pPr marL="8229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3pPr>
    <a:lvl4pPr marL="12344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4pPr>
    <a:lvl5pPr marL="164592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5pPr>
    <a:lvl6pPr marL="205740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6pPr>
    <a:lvl7pPr marL="24688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7pPr>
    <a:lvl8pPr marL="28803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8pPr>
    <a:lvl9pPr marL="32918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nöfel,Anja" initials="K" lastIdx="10" clrIdx="0">
    <p:extLst>
      <p:ext uri="{19B8F6BF-5375-455C-9EA6-DF929625EA0E}">
        <p15:presenceInfo xmlns:p15="http://schemas.microsoft.com/office/powerpoint/2012/main" userId="S-1-5-21-1982228756-150042506-1537001085-188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3A983"/>
    <a:srgbClr val="009BA4"/>
    <a:srgbClr val="93C356"/>
    <a:srgbClr val="BCCF02"/>
    <a:srgbClr val="28618C"/>
    <a:srgbClr val="539DC5"/>
    <a:srgbClr val="02ACA8"/>
    <a:srgbClr val="F07D00"/>
    <a:srgbClr val="E02D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113A9D2-9D6B-4929-AA2D-F23B5EE8CBE7}" styleName="Designformatvorlage 2 - Akz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Dunkle Formatvorlage 1 - Akz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2" autoAdjust="0"/>
    <p:restoredTop sz="84223" autoAdjust="0"/>
  </p:normalViewPr>
  <p:slideViewPr>
    <p:cSldViewPr snapToGrid="0" snapToObjects="1">
      <p:cViewPr varScale="1">
        <p:scale>
          <a:sx n="45" d="100"/>
          <a:sy n="45" d="100"/>
        </p:scale>
        <p:origin x="12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C6211-610F-44E5-BF19-D3CDF6EDD281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61AA8-FB04-42D1-9939-D1A1356F80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31560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435D3-23A6-45D3-8DFA-7317DC1E7A64}" type="datetimeFigureOut">
              <a:rPr lang="de-DE" smtClean="0"/>
              <a:t>04.06.2026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9AC09-DF60-43F4-96BF-67D4D9A7409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31825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depicts the high-level architecture of a toy example of a three-layer FF-FC architecture used to introduce the three hierarchical levels of Control Units (CUs) that characterize Spiker+: </a:t>
            </a:r>
            <a:r>
              <a:rPr lang="en-US" altLang="zh-CN" dirty="0" err="1"/>
              <a:t>i</a:t>
            </a:r>
            <a:r>
              <a:rPr lang="en-US" altLang="zh-CN" dirty="0"/>
              <a:t>) the network CU, responsible for synchronizing the various components within the network; ii) the layer CUs, orchestrating the update of the neurons of a layer based on a set of input spikes; iii) the neuron CU: the accelerator core controlling the update of the membrane potential in each neuron. This organization represents a highly optimized architecture in terms of performance and space utilization.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451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7B840-2F00-24D0-7002-9085365EF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6AA451-C634-2D49-FAC7-C604EAF15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5009E9-62C9-5E6B-F539-64B90A008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2. The outcome of the training phase includes a set of learned parameters such as weights and thresholds along with an accuracy evaluation of the trained model.</a:t>
            </a:r>
          </a:p>
          <a:p>
            <a:endParaRPr lang="en-US" altLang="zh-CN" dirty="0"/>
          </a:p>
          <a:p>
            <a:r>
              <a:rPr lang="en-US" altLang="zh-CN" dirty="0"/>
              <a:t>3. As training typically occurs in floating-point precision, unsuitable for edge hardware accelerators, Spiker+ implements functions to quantize the network, automating the exploration of the quantization impact on SNN accuracy (step 3).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AEC60B-B65D-2626-817A-D9D30ED865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0258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1EDA9-E96F-5809-3171-83D0B3343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FB1497-0A17-D215-FB31-F910C3B514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02BE16-B672-6DCD-479C-D6E314B35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SDSP is based on the event and the state of the postsynaptic neuron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76A2B3-6FF4-D530-C32E-94CEBD30D9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8889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78A9E-147E-4F70-BFE5-A0720CAB7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3A160AC-D9AA-F29B-F1E2-FBFE48246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2FF3B0-1061-FB3A-B909-0997CDF59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SDSP is based on the event and the state of the postsynaptic neuron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B090BC-7097-D803-ECC3-AED168769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8651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B812C-F54E-B88B-BE3B-C2527BB14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46FF5A-17D6-577C-FEE2-DA5F8E311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7636455-F40B-2C3F-DDC2-EEE9F6067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depicts the high-level architecture of a toy example of a three-layer FF-FC architecture used to introduce the three hierarchical levels of Control Units (CUs) that characterize Spiker+: </a:t>
            </a:r>
            <a:r>
              <a:rPr lang="en-US" altLang="zh-CN" dirty="0" err="1"/>
              <a:t>i</a:t>
            </a:r>
            <a:r>
              <a:rPr lang="en-US" altLang="zh-CN" dirty="0"/>
              <a:t>) the network CU, responsible for synchronizing the various components within the network; ii) the layer CUs, orchestrating the update of the neurons of a layer based on a set of input spikes; iii) the neuron CU: the accelerator core controlling the update of the membrane potential in each neuron. This organization represents a highly optimized architecture in terms of performance and space utilization.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069FBD-0687-3EA0-2F31-C62A3E5D0B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9AC09-DF60-43F4-96BF-67D4D9A74094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572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_T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1025526"/>
            <a:ext cx="12192000" cy="5832476"/>
          </a:xfrm>
          <a:prstGeom prst="rect">
            <a:avLst/>
          </a:prstGeom>
          <a:gradFill>
            <a:gsLst>
              <a:gs pos="14000">
                <a:schemeClr val="tx2"/>
              </a:gs>
              <a:gs pos="10000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74714" y="4494775"/>
            <a:ext cx="10438871" cy="1334525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>
                    <a:alpha val="80000"/>
                  </a:schemeClr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defRPr>
            </a:lvl1pPr>
            <a:lvl2pPr marL="457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Firstname </a:t>
            </a:r>
            <a:r>
              <a:rPr lang="de-DE" dirty="0" err="1"/>
              <a:t>LastName</a:t>
            </a:r>
            <a:br>
              <a:rPr lang="de-DE" dirty="0"/>
            </a:br>
            <a:r>
              <a:rPr lang="de-DE" dirty="0"/>
              <a:t>Dresden, Germany. </a:t>
            </a:r>
            <a:fld id="{48C791B1-24FF-4AFA-90D5-7043F45F29E4}" type="datetime4">
              <a:rPr lang="en-US" smtClean="0"/>
              <a:t>October 2, 2025</a:t>
            </a:fld>
            <a:endParaRPr lang="de-DE" dirty="0"/>
          </a:p>
        </p:txBody>
      </p:sp>
      <p:sp>
        <p:nvSpPr>
          <p:cNvPr id="26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2420841"/>
            <a:ext cx="10438873" cy="828676"/>
          </a:xfrm>
          <a:ln>
            <a:noFill/>
          </a:ln>
        </p:spPr>
        <p:txBody>
          <a:bodyPr/>
          <a:lstStyle>
            <a:lvl1pPr>
              <a:spcBef>
                <a:spcPts val="0"/>
              </a:spcBef>
              <a:defRPr sz="1600" baseline="0">
                <a:solidFill>
                  <a:schemeClr val="bg1">
                    <a:alpha val="80000"/>
                  </a:schemeClr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defRPr>
            </a:lvl1pPr>
          </a:lstStyle>
          <a:p>
            <a:pPr lvl="0"/>
            <a:r>
              <a:rPr lang="de-DE" dirty="0"/>
              <a:t>Institute of Computer Engineering - Chair of Adaptive Dynamic Systems</a:t>
            </a:r>
          </a:p>
        </p:txBody>
      </p:sp>
      <p:sp>
        <p:nvSpPr>
          <p:cNvPr id="4" name="Rechteck 3"/>
          <p:cNvSpPr/>
          <p:nvPr/>
        </p:nvSpPr>
        <p:spPr>
          <a:xfrm>
            <a:off x="0" y="1025525"/>
            <a:ext cx="12192000" cy="171451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874713" y="3392203"/>
            <a:ext cx="10438873" cy="972108"/>
          </a:xfrm>
          <a:ln>
            <a:noFill/>
          </a:ln>
        </p:spPr>
        <p:txBody>
          <a:bodyPr/>
          <a:lstStyle>
            <a:lvl1pPr>
              <a:defRPr sz="3200" b="1">
                <a:solidFill>
                  <a:schemeClr val="bg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defRPr>
            </a:lvl1pPr>
          </a:lstStyle>
          <a:p>
            <a:r>
              <a:rPr lang="de-DE" dirty="0"/>
              <a:t>Title</a:t>
            </a:r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9948" y="268751"/>
            <a:ext cx="566023" cy="6263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483987BA-E327-4979-8B35-7BDF46B60C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6000" y="177143"/>
            <a:ext cx="1910241" cy="85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12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_T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74712" y="4494775"/>
            <a:ext cx="10438873" cy="1334525"/>
          </a:xfrm>
        </p:spPr>
        <p:txBody>
          <a:bodyPr/>
          <a:lstStyle>
            <a:lvl1pPr marL="0" indent="0" algn="l">
              <a:buNone/>
              <a:defRPr>
                <a:solidFill>
                  <a:schemeClr val="bg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defRPr>
            </a:lvl1pPr>
            <a:lvl2pPr marL="457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Firstname </a:t>
            </a:r>
            <a:r>
              <a:rPr lang="de-DE" dirty="0" err="1"/>
              <a:t>LastName</a:t>
            </a:r>
            <a:br>
              <a:rPr lang="de-DE" dirty="0"/>
            </a:br>
            <a:r>
              <a:rPr lang="en-US" dirty="0"/>
              <a:t>Dresden, Germany. </a:t>
            </a:r>
            <a:fld id="{807DADF4-AC39-4D79-B584-5E0B11C42ECF}" type="datetime4">
              <a:rPr lang="en-US" smtClean="0"/>
              <a:t>October 2, 2025</a:t>
            </a:fld>
            <a:endParaRPr lang="de-DE" dirty="0"/>
          </a:p>
        </p:txBody>
      </p:sp>
      <p:sp>
        <p:nvSpPr>
          <p:cNvPr id="26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2420841"/>
            <a:ext cx="10438873" cy="828676"/>
          </a:xfrm>
          <a:ln>
            <a:noFill/>
          </a:ln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defRPr>
            </a:lvl1pPr>
          </a:lstStyle>
          <a:p>
            <a:pPr lvl="0"/>
            <a:r>
              <a:rPr lang="en-US" dirty="0"/>
              <a:t>Institute of Computer Engineering - Chair of Adaptive Dynamic Systems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74713" y="3392203"/>
            <a:ext cx="10438873" cy="972108"/>
          </a:xfrm>
          <a:ln>
            <a:noFill/>
          </a:ln>
        </p:spPr>
        <p:txBody>
          <a:bodyPr/>
          <a:lstStyle>
            <a:lvl1pPr>
              <a:defRPr sz="3200" b="1">
                <a:solidFill>
                  <a:schemeClr val="tx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defRPr>
            </a:lvl1pPr>
          </a:lstStyle>
          <a:p>
            <a:r>
              <a:rPr lang="de-DE" dirty="0"/>
              <a:t>Title</a:t>
            </a:r>
          </a:p>
        </p:txBody>
      </p:sp>
      <p:cxnSp>
        <p:nvCxnSpPr>
          <p:cNvPr id="8" name="Gerade Verbindung 14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4"/>
          <p:cNvCxnSpPr/>
          <p:nvPr/>
        </p:nvCxnSpPr>
        <p:spPr>
          <a:xfrm>
            <a:off x="0" y="1206000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8FDB4495-5904-4E27-B67C-2D6F001870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26000" y="177143"/>
            <a:ext cx="1910241" cy="8568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B0C5C0A-660C-4270-AF0F-46BFAF9E8E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6848" y="268751"/>
            <a:ext cx="566023" cy="62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19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/>
          </p:nvPr>
        </p:nvSpPr>
        <p:spPr>
          <a:xfrm>
            <a:off x="874711" y="1484313"/>
            <a:ext cx="10580688" cy="4344987"/>
          </a:xfrm>
        </p:spPr>
        <p:txBody>
          <a:bodyPr/>
          <a:lstStyle>
            <a:lvl1pPr>
              <a:spcBef>
                <a:spcPts val="1200"/>
              </a:spcBef>
              <a:defRPr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defRPr>
            </a:lvl1pPr>
            <a:lvl3pPr>
              <a:spcBef>
                <a:spcPts val="1200"/>
              </a:spcBef>
              <a:defRPr/>
            </a:lvl3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8119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0" y="2"/>
            <a:ext cx="12192000" cy="6129336"/>
          </a:xfrm>
          <a:prstGeom prst="rect">
            <a:avLst/>
          </a:prstGeom>
          <a:gradFill>
            <a:gsLst>
              <a:gs pos="14000">
                <a:schemeClr val="tx2"/>
              </a:gs>
              <a:gs pos="10000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387259"/>
            <a:ext cx="10580687" cy="1198491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47067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365749" y="1484313"/>
            <a:ext cx="6089649" cy="43449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874711" y="1484313"/>
            <a:ext cx="4300539" cy="133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4"/>
          </p:nvPr>
        </p:nvSpPr>
        <p:spPr>
          <a:xfrm>
            <a:off x="874712" y="2943181"/>
            <a:ext cx="4300537" cy="1332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1" name="Bildplatzhalter 7"/>
          <p:cNvSpPr>
            <a:spLocks noGrp="1"/>
          </p:cNvSpPr>
          <p:nvPr>
            <p:ph type="pic" sz="quarter" idx="15"/>
          </p:nvPr>
        </p:nvSpPr>
        <p:spPr>
          <a:xfrm>
            <a:off x="874710" y="4402050"/>
            <a:ext cx="4300537" cy="142724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1138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6267449" y="1484314"/>
            <a:ext cx="5187950" cy="434498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4"/>
          </p:nvPr>
        </p:nvSpPr>
        <p:spPr>
          <a:xfrm>
            <a:off x="874713" y="1484314"/>
            <a:ext cx="5195887" cy="43449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0242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/>
          </p:nvPr>
        </p:nvSpPr>
        <p:spPr>
          <a:xfrm>
            <a:off x="874713" y="1484314"/>
            <a:ext cx="5195887" cy="43449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6267449" y="1484315"/>
            <a:ext cx="5187950" cy="43449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661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5"/>
            <a:ext cx="10580687" cy="6842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/>
          </p:nvPr>
        </p:nvSpPr>
        <p:spPr>
          <a:xfrm>
            <a:off x="874712" y="1484314"/>
            <a:ext cx="3399576" cy="43449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8070849" y="1484315"/>
            <a:ext cx="3384550" cy="43449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4457700" y="1484315"/>
            <a:ext cx="3416300" cy="43449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3359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 txBox="1">
            <a:spLocks/>
          </p:cNvSpPr>
          <p:nvPr/>
        </p:nvSpPr>
        <p:spPr>
          <a:xfrm>
            <a:off x="6267450" y="368305"/>
            <a:ext cx="5046135" cy="66214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tx2"/>
                </a:solidFill>
                <a:latin typeface="Open Sans" panose="020B0606030504020204" pitchFamily="34" charset="0"/>
                <a:ea typeface="+mj-ea"/>
                <a:cs typeface="+mj-cs"/>
              </a:defRPr>
            </a:lvl1pPr>
          </a:lstStyle>
          <a:p>
            <a:r>
              <a:rPr lang="de-DE" sz="2400" dirty="0"/>
              <a:t>Titelmasterformat durch Klicken bearbeiten</a:t>
            </a:r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10"/>
          </p:nvPr>
        </p:nvSpPr>
        <p:spPr>
          <a:xfrm>
            <a:off x="874712" y="1484314"/>
            <a:ext cx="5195887" cy="43449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6267450" y="1484315"/>
            <a:ext cx="5187950" cy="43449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874712" y="367507"/>
            <a:ext cx="5195887" cy="6627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6531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9847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0"/>
          </p:nvPr>
        </p:nvSpPr>
        <p:spPr>
          <a:xfrm>
            <a:off x="0" y="1030288"/>
            <a:ext cx="12192000" cy="50990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956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6"/>
            <a:ext cx="12192000" cy="612933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96110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0208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74712" y="346075"/>
            <a:ext cx="10580687" cy="68421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Das ist eine Überschrift</a:t>
            </a:r>
            <a:br>
              <a:rPr lang="de-DE" dirty="0"/>
            </a:br>
            <a:r>
              <a:rPr lang="de-DE" dirty="0"/>
              <a:t>in zwei Zeilen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74712" y="1481138"/>
            <a:ext cx="10580687" cy="436086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Textebene (16pt)</a:t>
            </a:r>
          </a:p>
          <a:p>
            <a:pPr lvl="1"/>
            <a:r>
              <a:rPr lang="de-DE" dirty="0"/>
              <a:t>Zweite Textebene für Aufzählungen</a:t>
            </a:r>
          </a:p>
          <a:p>
            <a:pPr lvl="2"/>
            <a:r>
              <a:rPr lang="de-DE" dirty="0"/>
              <a:t>Dritte Textebene bei viel Text (14pt)</a:t>
            </a:r>
          </a:p>
          <a:p>
            <a:pPr lvl="3"/>
            <a:r>
              <a:rPr lang="de-DE" dirty="0"/>
              <a:t>Vierte Textebene für Aufzählungen bei viel Text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feld 3"/>
          <p:cNvSpPr txBox="1"/>
          <p:nvPr userDrawn="1"/>
        </p:nvSpPr>
        <p:spPr>
          <a:xfrm>
            <a:off x="3575050" y="6319797"/>
            <a:ext cx="5187950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800" dirty="0">
                <a:solidFill>
                  <a:schemeClr val="bg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Title</a:t>
            </a:r>
          </a:p>
          <a:p>
            <a:pPr algn="l"/>
            <a:r>
              <a:rPr lang="de-DE" sz="800" dirty="0">
                <a:solidFill>
                  <a:schemeClr val="bg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Firstname LastName</a:t>
            </a:r>
            <a:br>
              <a:rPr lang="de-DE" sz="800" dirty="0">
                <a:solidFill>
                  <a:schemeClr val="bg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</a:br>
            <a:r>
              <a:rPr lang="de-DE" sz="800" baseline="0" dirty="0">
                <a:solidFill>
                  <a:schemeClr val="bg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Dresden, Germany // </a:t>
            </a:r>
            <a:fld id="{4F61969B-4A33-4EE7-82B7-F698330CE837}" type="datetime4">
              <a:rPr lang="en-US" sz="800" baseline="0" smtClean="0">
                <a:solidFill>
                  <a:schemeClr val="bg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June 4, 2026</a:t>
            </a:fld>
            <a:endParaRPr lang="de-DE" sz="800" dirty="0">
              <a:solidFill>
                <a:schemeClr val="bg2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cxnSp>
        <p:nvCxnSpPr>
          <p:cNvPr id="8" name="Gerade Verbindung 14"/>
          <p:cNvCxnSpPr/>
          <p:nvPr/>
        </p:nvCxnSpPr>
        <p:spPr>
          <a:xfrm>
            <a:off x="0" y="6123216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8966200" y="6306444"/>
            <a:ext cx="704850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r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de-DE" sz="800" dirty="0">
                <a:solidFill>
                  <a:schemeClr val="bg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</a:br>
            <a:r>
              <a:rPr lang="de-DE" sz="800" dirty="0">
                <a:solidFill>
                  <a:schemeClr val="bg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Slide</a:t>
            </a:r>
            <a:r>
              <a:rPr lang="de-DE" sz="800" baseline="0" dirty="0">
                <a:solidFill>
                  <a:schemeClr val="bg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</a:t>
            </a:r>
            <a:fld id="{38F97D41-8991-4148-BA02-56FEE4AAF2CC}" type="slidenum">
              <a:rPr lang="de-DE" sz="800" baseline="0" smtClean="0">
                <a:solidFill>
                  <a:schemeClr val="bg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pPr marL="0" marR="0" lvl="0" indent="0" algn="r" defTabSz="9142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de-DE" sz="800" baseline="0" dirty="0">
              <a:solidFill>
                <a:schemeClr val="bg2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  <a:p>
            <a:pPr marL="0" marR="0" lvl="0" indent="0" algn="r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800" dirty="0">
              <a:solidFill>
                <a:schemeClr val="bg2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386" y="6272950"/>
            <a:ext cx="376119" cy="41617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7374898-078D-484B-9485-FFBC56F366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398339" y="6228000"/>
            <a:ext cx="1203933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89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  <p:sldLayoutId id="2147483904" r:id="rId13"/>
  </p:sldLayoutIdLst>
  <p:hf hdr="0"/>
  <p:txStyles>
    <p:titleStyle>
      <a:lvl1pPr algn="l" defTabSz="914269" rtl="0" eaLnBrk="1" latinLnBrk="0" hangingPunct="1">
        <a:spcBef>
          <a:spcPct val="0"/>
        </a:spcBef>
        <a:buNone/>
        <a:defRPr sz="2400" b="1" kern="1200" baseline="0">
          <a:solidFill>
            <a:schemeClr val="tx2"/>
          </a:solidFill>
          <a:latin typeface="Noto Sans" panose="020B0502040504020204" pitchFamily="34"/>
          <a:ea typeface="Noto Sans" panose="020B0502040504020204" pitchFamily="34"/>
          <a:cs typeface="Noto Sans" panose="020B0502040504020204" pitchFamily="34"/>
        </a:defRPr>
      </a:lvl1pPr>
    </p:titleStyle>
    <p:bodyStyle>
      <a:lvl1pPr marL="0" indent="0" algn="l" defTabSz="914269" rtl="0" eaLnBrk="1" latinLnBrk="0" hangingPunct="1">
        <a:spcBef>
          <a:spcPts val="6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Noto Sans" panose="020B0502040504020204" pitchFamily="34"/>
          <a:ea typeface="Noto Sans" panose="020B0502040504020204" pitchFamily="34"/>
          <a:cs typeface="Noto Sans" panose="020B0502040504020204" pitchFamily="34"/>
        </a:defRPr>
      </a:lvl1pPr>
      <a:lvl2pPr marL="395942" indent="-323953" algn="l" defTabSz="914269" rtl="0" eaLnBrk="1" latinLnBrk="0" hangingPunct="1">
        <a:spcBef>
          <a:spcPts val="300"/>
        </a:spcBef>
        <a:buFont typeface="Open Sans" panose="020B0606030504020204" pitchFamily="34" charset="0"/>
        <a:buChar char="—"/>
        <a:defRPr sz="1600" kern="1200">
          <a:solidFill>
            <a:schemeClr val="tx2"/>
          </a:solidFill>
          <a:latin typeface="Noto Sans" panose="020B0502040504020204" pitchFamily="34"/>
          <a:ea typeface="Noto Sans" panose="020B0502040504020204" pitchFamily="34"/>
          <a:cs typeface="Noto Sans" panose="020B0502040504020204" pitchFamily="34"/>
        </a:defRPr>
      </a:lvl2pPr>
      <a:lvl3pPr marL="0" indent="0" algn="l" defTabSz="914269" rtl="0" eaLnBrk="1" latinLnBrk="0" hangingPunct="1"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2"/>
          </a:solidFill>
          <a:latin typeface="Noto Sans" panose="020B0502040504020204" pitchFamily="34"/>
          <a:ea typeface="Noto Sans" panose="020B0502040504020204" pitchFamily="34"/>
          <a:cs typeface="Noto Sans" panose="020B0502040504020204" pitchFamily="34"/>
        </a:defRPr>
      </a:lvl3pPr>
      <a:lvl4pPr marL="395942" indent="-215969" algn="l" defTabSz="914269" rtl="0" eaLnBrk="1" latinLnBrk="0" hangingPunct="1">
        <a:spcBef>
          <a:spcPts val="300"/>
        </a:spcBef>
        <a:buFont typeface="Symbol" panose="05050102010706020507" pitchFamily="18" charset="2"/>
        <a:buChar char="-"/>
        <a:defRPr sz="1400" kern="1200">
          <a:solidFill>
            <a:schemeClr val="tx2"/>
          </a:solidFill>
          <a:latin typeface="Noto Sans" panose="020B0502040504020204" pitchFamily="34"/>
          <a:ea typeface="Noto Sans" panose="020B0502040504020204" pitchFamily="34"/>
          <a:cs typeface="Noto Sans" panose="020B0502040504020204" pitchFamily="34"/>
        </a:defRPr>
      </a:lvl4pPr>
      <a:lvl5pPr marL="575916" indent="-179362" algn="l" defTabSz="914269" rtl="0" eaLnBrk="1" latinLnBrk="0" hangingPunct="1">
        <a:spcBef>
          <a:spcPts val="300"/>
        </a:spcBef>
        <a:buFont typeface="Symbol" panose="05050102010706020507" pitchFamily="18" charset="2"/>
        <a:buChar char="-"/>
        <a:defRPr sz="1400" kern="1200" baseline="0">
          <a:solidFill>
            <a:schemeClr val="tx2"/>
          </a:solidFill>
          <a:latin typeface="Noto Sans" panose="020B0502040504020204" pitchFamily="34"/>
          <a:ea typeface="Noto Sans" panose="020B0502040504020204" pitchFamily="34"/>
          <a:cs typeface="Noto Sans" panose="020B0502040504020204" pitchFamily="34"/>
        </a:defRPr>
      </a:lvl5pPr>
      <a:lvl6pPr marL="358723" indent="0" algn="l" defTabSz="914269" rtl="0" eaLnBrk="1" latinLnBrk="0" hangingPunct="1">
        <a:spcBef>
          <a:spcPts val="0"/>
        </a:spcBef>
        <a:buFont typeface="Arial" panose="020B0604020202020204" pitchFamily="34" charset="0"/>
        <a:buNone/>
        <a:defRPr sz="3200" b="1" kern="1200">
          <a:solidFill>
            <a:schemeClr val="bg1"/>
          </a:solidFill>
          <a:latin typeface="+mn-lt"/>
          <a:ea typeface="+mn-ea"/>
          <a:cs typeface="+mn-cs"/>
        </a:defRPr>
      </a:lvl6pPr>
      <a:lvl7pPr marL="358723" indent="0" algn="l" defTabSz="914269" rtl="0" eaLnBrk="1" latinLnBrk="0" hangingPunct="1">
        <a:spcBef>
          <a:spcPts val="0"/>
        </a:spcBef>
        <a:buFont typeface="Arial" panose="020B0604020202020204" pitchFamily="34" charset="0"/>
        <a:buNone/>
        <a:defRPr sz="3200" kern="1200">
          <a:solidFill>
            <a:schemeClr val="bg1"/>
          </a:solidFill>
          <a:latin typeface="+mn-lt"/>
          <a:ea typeface="+mn-ea"/>
          <a:cs typeface="+mn-cs"/>
        </a:defRPr>
      </a:lvl7pPr>
      <a:lvl8pPr marL="3428502" indent="-228566" algn="l" defTabSz="91426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35" indent="-228566" algn="l" defTabSz="91426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9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2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34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03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36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7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992">
          <p15:clr>
            <a:srgbClr val="F26B43"/>
          </p15:clr>
        </p15:guide>
        <p15:guide id="7" pos="1120">
          <p15:clr>
            <a:srgbClr val="F26B43"/>
          </p15:clr>
        </p15:guide>
        <p15:guide id="8" pos="1676">
          <p15:clr>
            <a:srgbClr val="F26B43"/>
          </p15:clr>
        </p15:guide>
        <p15:guide id="9" pos="1556">
          <p15:clr>
            <a:srgbClr val="F26B43"/>
          </p15:clr>
        </p15:guide>
        <p15:guide id="10" pos="2252">
          <p15:clr>
            <a:srgbClr val="F26B43"/>
          </p15:clr>
        </p15:guide>
        <p15:guide id="11" pos="2128">
          <p15:clr>
            <a:srgbClr val="F26B43"/>
          </p15:clr>
        </p15:guide>
        <p15:guide id="16" pos="3824">
          <p15:clr>
            <a:srgbClr val="F26B43"/>
          </p15:clr>
        </p15:guide>
        <p15:guide id="17" pos="3948">
          <p15:clr>
            <a:srgbClr val="F26B43"/>
          </p15:clr>
        </p15:guide>
        <p15:guide id="20" pos="4384">
          <p15:clr>
            <a:srgbClr val="F26B43"/>
          </p15:clr>
        </p15:guide>
        <p15:guide id="21" pos="4508">
          <p15:clr>
            <a:srgbClr val="F26B43"/>
          </p15:clr>
        </p15:guide>
        <p15:guide id="22" pos="6780">
          <p15:clr>
            <a:srgbClr val="F26B43"/>
          </p15:clr>
        </p15:guide>
        <p15:guide id="23" pos="6656">
          <p15:clr>
            <a:srgbClr val="F26B43"/>
          </p15:clr>
        </p15:guide>
        <p15:guide id="24" pos="4960">
          <p15:clr>
            <a:srgbClr val="F26B43"/>
          </p15:clr>
        </p15:guide>
        <p15:guide id="25" pos="5084">
          <p15:clr>
            <a:srgbClr val="F26B43"/>
          </p15:clr>
        </p15:guide>
        <p15:guide id="30" orient="horz" pos="538">
          <p15:clr>
            <a:srgbClr val="F26B43"/>
          </p15:clr>
        </p15:guide>
        <p15:guide id="31" pos="551">
          <p15:clr>
            <a:srgbClr val="F26B43"/>
          </p15:clr>
        </p15:guide>
        <p15:guide id="39" pos="6108" userDrawn="1">
          <p15:clr>
            <a:srgbClr val="F26B43"/>
          </p15:clr>
        </p15:guide>
        <p15:guide id="40" pos="6216">
          <p15:clr>
            <a:srgbClr val="F26B43"/>
          </p15:clr>
        </p15:guide>
        <p15:guide id="41" pos="2692">
          <p15:clr>
            <a:srgbClr val="F26B43"/>
          </p15:clr>
        </p15:guide>
        <p15:guide id="42" pos="2808">
          <p15:clr>
            <a:srgbClr val="F26B43"/>
          </p15:clr>
        </p15:guide>
        <p15:guide id="43" pos="3260">
          <p15:clr>
            <a:srgbClr val="F26B43"/>
          </p15:clr>
        </p15:guide>
        <p15:guide id="44" pos="3380">
          <p15:clr>
            <a:srgbClr val="F26B43"/>
          </p15:clr>
        </p15:guide>
        <p15:guide id="50" pos="5520">
          <p15:clr>
            <a:srgbClr val="F26B43"/>
          </p15:clr>
        </p15:guide>
        <p15:guide id="52" orient="horz" pos="933">
          <p15:clr>
            <a:srgbClr val="F26B43"/>
          </p15:clr>
        </p15:guide>
        <p15:guide id="53" orient="horz" pos="759">
          <p15:clr>
            <a:srgbClr val="F26B43"/>
          </p15:clr>
        </p15:guide>
        <p15:guide id="58" orient="horz" pos="218">
          <p15:clr>
            <a:srgbClr val="F26B43"/>
          </p15:clr>
        </p15:guide>
        <p15:guide id="59" orient="horz" pos="3680">
          <p15:clr>
            <a:srgbClr val="F26B43"/>
          </p15:clr>
        </p15:guide>
        <p15:guide id="60" orient="horz" pos="3861">
          <p15:clr>
            <a:srgbClr val="F26B43"/>
          </p15:clr>
        </p15:guide>
        <p15:guide id="62" orient="horz" pos="2130">
          <p15:clr>
            <a:srgbClr val="F26B43"/>
          </p15:clr>
        </p15:guide>
        <p15:guide id="65" pos="5654" userDrawn="1">
          <p15:clr>
            <a:srgbClr val="F26B43"/>
          </p15:clr>
        </p15:guide>
        <p15:guide id="66" orient="horz" pos="649">
          <p15:clr>
            <a:srgbClr val="F26B43"/>
          </p15:clr>
        </p15:guide>
        <p15:guide id="67" pos="7216">
          <p15:clr>
            <a:srgbClr val="F26B43"/>
          </p15:clr>
        </p15:guide>
        <p15:guide id="69" orient="horz" pos="3988">
          <p15:clr>
            <a:srgbClr val="F26B43"/>
          </p15:clr>
        </p15:guide>
        <p15:guide id="70" orient="horz" pos="4196">
          <p15:clr>
            <a:srgbClr val="F26B43"/>
          </p15:clr>
        </p15:guide>
        <p15:guide id="71" pos="318">
          <p15:clr>
            <a:srgbClr val="F26B43"/>
          </p15:clr>
        </p15:guide>
        <p15:guide id="72" orient="horz" pos="41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tmp"/><Relationship Id="rId4" Type="http://schemas.openxmlformats.org/officeDocument/2006/relationships/image" Target="../media/image11.tm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slideLayout" Target="../slideLayouts/slideLayout3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notesSlide" Target="../notesSlides/notesSlide5.xml"/><Relationship Id="rId20" Type="http://schemas.openxmlformats.org/officeDocument/2006/relationships/tags" Target="../tags/tag20.xml"/><Relationship Id="rId41" Type="http://schemas.openxmlformats.org/officeDocument/2006/relationships/tags" Target="../tags/tag4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Yike Jing</a:t>
            </a:r>
          </a:p>
          <a:p>
            <a:r>
              <a:rPr lang="en-US" dirty="0"/>
              <a:t>Dresden, Germany. May 27, 2026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Institute of Computer Engineering – Chair of Adaptive Dynamic Systems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FPGA-based Real-Time Learning Architecture with Partial Reconfiguration for Spiking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4238409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47FEF1C-A020-41BB-B60F-CFE6CE48B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Objective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86EF3DF-8D6E-457C-835A-5DD972E90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5656" y="2915233"/>
            <a:ext cx="9307828" cy="1027533"/>
          </a:xfrm>
        </p:spPr>
        <p:txBody>
          <a:bodyPr/>
          <a:lstStyle/>
          <a:p>
            <a:r>
              <a:rPr lang="de-DE" sz="2000" dirty="0"/>
              <a:t>Investigate and implement an SNN (Spiking Neural Network) design based on an SDSP (Spike Driven Synaptic Plasticity) online learning algorithm with partial reconfiguration</a:t>
            </a:r>
          </a:p>
        </p:txBody>
      </p:sp>
    </p:spTree>
    <p:extLst>
      <p:ext uri="{BB962C8B-B14F-4D97-AF65-F5344CB8AC3E}">
        <p14:creationId xmlns:p14="http://schemas.microsoft.com/office/powerpoint/2010/main" val="1952154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C54D8-905D-6A2B-938A-9D4C57AD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F14D2B7F-63FE-687C-5881-0644FD75A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5DF8B77-C379-9BB8-23C6-8306ADFDFF9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5656" y="2137030"/>
            <a:ext cx="9307828" cy="224616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The energy crisis of modern AI.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Autonomous edge intelligence.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Real-time adaptability.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Hardware flexibility.</a:t>
            </a:r>
          </a:p>
        </p:txBody>
      </p:sp>
      <p:pic>
        <p:nvPicPr>
          <p:cNvPr id="2" name="Picture 4" descr="Dynamic Partial Reconfiguration scheme  ">
            <a:extLst>
              <a:ext uri="{FF2B5EF4-FFF2-40B4-BE49-F238E27FC236}">
                <a16:creationId xmlns:a16="http://schemas.microsoft.com/office/drawing/2014/main" id="{8A414C3A-C065-C868-B4A1-702F47E93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954" y="3803040"/>
            <a:ext cx="2789454" cy="150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385ED28-092C-CEB7-EC74-40378E7F697D}"/>
              </a:ext>
            </a:extLst>
          </p:cNvPr>
          <p:cNvSpPr txBox="1"/>
          <p:nvPr/>
        </p:nvSpPr>
        <p:spPr>
          <a:xfrm>
            <a:off x="6784321" y="5305054"/>
            <a:ext cx="3692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/>
              <a:t>Gambardella, Giulio,</a:t>
            </a:r>
            <a:r>
              <a:rPr lang="zh-CN" altLang="en-US" sz="1000" dirty="0"/>
              <a:t> </a:t>
            </a:r>
            <a:r>
              <a:rPr lang="en-US" altLang="zh-CN" sz="1000" dirty="0"/>
              <a:t>Di Carlo, Stefano, </a:t>
            </a:r>
            <a:r>
              <a:rPr lang="en-US" altLang="zh-CN" sz="1000" dirty="0" err="1"/>
              <a:t>Prinetto</a:t>
            </a:r>
            <a:r>
              <a:rPr lang="en-US" altLang="zh-CN" sz="1000" dirty="0"/>
              <a:t>, Paolo, </a:t>
            </a:r>
            <a:r>
              <a:rPr lang="en-US" altLang="zh-CN" sz="1000" dirty="0" err="1"/>
              <a:t>Rolfo</a:t>
            </a:r>
            <a:r>
              <a:rPr lang="en-US" altLang="zh-CN" sz="1000" dirty="0"/>
              <a:t>, Daniele, Trotta, Pascal, Bao, Trong. 2013. </a:t>
            </a:r>
            <a:r>
              <a:rPr lang="en-US" altLang="zh-CN" sz="1000" dirty="0" err="1"/>
              <a:t>ZipStream</a:t>
            </a:r>
            <a:r>
              <a:rPr lang="en-US" altLang="zh-CN" sz="1000" dirty="0"/>
              <a:t>: Improving dependability in dynamic partial reconfiguration. 2013 8th IEEE Design and Test Symposium, IDT 2013</a:t>
            </a:r>
            <a:endParaRPr lang="zh-CN" altLang="en-US" sz="1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258BCA5-C271-8768-A997-9D5419D8D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220" y="845060"/>
            <a:ext cx="3238922" cy="258394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E841E36-6910-7BA3-F2C9-D90247CA5E26}"/>
              </a:ext>
            </a:extLst>
          </p:cNvPr>
          <p:cNvSpPr txBox="1"/>
          <p:nvPr/>
        </p:nvSpPr>
        <p:spPr>
          <a:xfrm>
            <a:off x="6784321" y="3472121"/>
            <a:ext cx="36927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/>
              <a:t>https://share.google/I9affowh3Ti4GoC6X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410488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15479-9AE1-2AAC-01EF-A7C6D12DC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4751D5A-4681-24C0-68E3-8705454DE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Spiking Neural Network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B3AB452-69CD-9D1A-8BEA-835C415AB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11" y="765299"/>
            <a:ext cx="4673121" cy="4908014"/>
          </a:xfrm>
          <a:prstGeom prst="rect">
            <a:avLst/>
          </a:prstGeom>
        </p:spPr>
      </p:pic>
      <p:sp>
        <p:nvSpPr>
          <p:cNvPr id="12" name="Inhaltsplatzhalter 5">
            <a:extLst>
              <a:ext uri="{FF2B5EF4-FFF2-40B4-BE49-F238E27FC236}">
                <a16:creationId xmlns:a16="http://schemas.microsoft.com/office/drawing/2014/main" id="{A4CD9436-716A-47CE-BBE4-FDACE6D1899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83156" y="4353148"/>
            <a:ext cx="4934132" cy="141969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Event-driven and sparse activation.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Spatio-temporal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Discrete binary communication.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4DEA98D-AA75-C377-74B5-C04F9741216D}"/>
              </a:ext>
            </a:extLst>
          </p:cNvPr>
          <p:cNvSpPr txBox="1"/>
          <p:nvPr/>
        </p:nvSpPr>
        <p:spPr>
          <a:xfrm>
            <a:off x="716095" y="5673102"/>
            <a:ext cx="4831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Basic neuron model in an ANN compared to an SNN. Picture taken from Deng et al. 2020.</a:t>
            </a:r>
            <a:endParaRPr lang="zh-CN" altLang="en-US" sz="700" dirty="0"/>
          </a:p>
        </p:txBody>
      </p:sp>
      <p:pic>
        <p:nvPicPr>
          <p:cNvPr id="1029" name="Picture 5" descr="Spiking Neurons의 정보처리 방식">
            <a:extLst>
              <a:ext uri="{FF2B5EF4-FFF2-40B4-BE49-F238E27FC236}">
                <a16:creationId xmlns:a16="http://schemas.microsoft.com/office/drawing/2014/main" id="{809C63E3-E8CC-1D2F-8A4A-29E7D7DEC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484" y="1085161"/>
            <a:ext cx="2657475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2538A9FE-6681-12E0-D590-899F5833F7F2}"/>
              </a:ext>
            </a:extLst>
          </p:cNvPr>
          <p:cNvSpPr txBox="1"/>
          <p:nvPr/>
        </p:nvSpPr>
        <p:spPr>
          <a:xfrm>
            <a:off x="6832444" y="3457639"/>
            <a:ext cx="40355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https://share.google/EnQHLNoh3SoGb7LJd</a:t>
            </a:r>
            <a:endParaRPr lang="zh-CN" altLang="en-US" sz="700" dirty="0"/>
          </a:p>
        </p:txBody>
      </p:sp>
    </p:spTree>
    <p:extLst>
      <p:ext uri="{BB962C8B-B14F-4D97-AF65-F5344CB8AC3E}">
        <p14:creationId xmlns:p14="http://schemas.microsoft.com/office/powerpoint/2010/main" val="104734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5CAC8-B8CB-6429-27AC-9FDA8602D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59BCAA9-CF30-323C-C777-848742784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Spiker+ Framework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45C3C6A-C48F-D573-6758-1F258C2E46B8}"/>
              </a:ext>
            </a:extLst>
          </p:cNvPr>
          <p:cNvSpPr txBox="1"/>
          <p:nvPr/>
        </p:nvSpPr>
        <p:spPr>
          <a:xfrm>
            <a:off x="2943612" y="5073751"/>
            <a:ext cx="6442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A. </a:t>
            </a:r>
            <a:r>
              <a:rPr lang="en-US" altLang="zh-CN" sz="1200" dirty="0" err="1"/>
              <a:t>Carpegna</a:t>
            </a:r>
            <a:r>
              <a:rPr lang="en-US" altLang="zh-CN" sz="1200" dirty="0"/>
              <a:t>, A. Savino and S. D. Carlo, "Spiker+: A Framework for the Generation of Efficient Spiking Neural Networks FPGA Accelerators for Inference at the Edge"</a:t>
            </a:r>
            <a:endParaRPr lang="zh-CN" altLang="en-US" sz="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F6B311-7AE8-6BC4-8D8E-2CA3522A7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46" y="1158883"/>
            <a:ext cx="10951508" cy="391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47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9341B-7113-7704-0808-B195892CA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5F8BA9F8-F82F-60EC-975E-99D075E30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Spiker+ Framework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B754227-25E5-1AAF-89D5-5BD55104A8A4}"/>
              </a:ext>
            </a:extLst>
          </p:cNvPr>
          <p:cNvSpPr txBox="1"/>
          <p:nvPr/>
        </p:nvSpPr>
        <p:spPr>
          <a:xfrm>
            <a:off x="2943612" y="5073751"/>
            <a:ext cx="6442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A. </a:t>
            </a:r>
            <a:r>
              <a:rPr lang="en-US" altLang="zh-CN" sz="1200" dirty="0" err="1"/>
              <a:t>Carpegna</a:t>
            </a:r>
            <a:r>
              <a:rPr lang="en-US" altLang="zh-CN" sz="1200" dirty="0"/>
              <a:t>, A. Savino and S. D. Carlo, "Spiker+: A Framework for the Generation of Efficient Spiking Neural Networks FPGA Accelerators for Inference at the Edge"</a:t>
            </a:r>
            <a:endParaRPr lang="zh-CN" altLang="en-US" sz="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B25F4F9-0F55-8E0F-28E3-4867E41C9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036" y="1761358"/>
            <a:ext cx="9749928" cy="331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2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EA8E9-FF6F-319C-55C5-7AC4DE9A8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E980FCB0-CC4E-7C0C-9B06-EA0410809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</a:t>
            </a:r>
            <a:r>
              <a:rPr lang="en-US" altLang="zh-CN" dirty="0"/>
              <a:t>pike-Driven Synaptic Plasticity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5">
                <a:extLst>
                  <a:ext uri="{FF2B5EF4-FFF2-40B4-BE49-F238E27FC236}">
                    <a16:creationId xmlns:a16="http://schemas.microsoft.com/office/drawing/2014/main" id="{184BA946-B086-D43C-6914-3D1496A2D0FA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874712" y="1030288"/>
                <a:ext cx="9307828" cy="816795"/>
              </a:xfrm>
            </p:spPr>
            <p:txBody>
              <a:bodyPr/>
              <a:lstStyle/>
              <a:p>
                <a:r>
                  <a:rPr lang="de-DE" altLang="zh-CN" b="1" dirty="0"/>
                  <a:t>Neuron</a:t>
                </a:r>
                <a:r>
                  <a:rPr lang="en-US" altLang="zh-CN" b="1" dirty="0"/>
                  <a:t> Model</a:t>
                </a:r>
                <a:r>
                  <a:rPr lang="en-US" altLang="zh-CN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altLang="zh-CN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altLang="zh-CN" dirty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zh-CN" altLang="de-DE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de-DE" altLang="zh-CN" i="0" dirty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zh-CN" altLang="de-DE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e-DE" altLang="zh-CN" i="0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de-DE" i="1" dirty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de-DE" altLang="zh-CN" i="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de-DE" i="1" dirty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de-DE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de-DE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de-DE" dirty="0"/>
              </a:p>
              <a:p>
                <a:endParaRPr lang="de-DE" dirty="0"/>
              </a:p>
            </p:txBody>
          </p:sp>
        </mc:Choice>
        <mc:Fallback>
          <p:sp>
            <p:nvSpPr>
              <p:cNvPr id="2" name="Inhaltsplatzhalter 5">
                <a:extLst>
                  <a:ext uri="{FF2B5EF4-FFF2-40B4-BE49-F238E27FC236}">
                    <a16:creationId xmlns:a16="http://schemas.microsoft.com/office/drawing/2014/main" id="{184BA946-B086-D43C-6914-3D1496A2D0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874712" y="1030288"/>
                <a:ext cx="9307828" cy="816795"/>
              </a:xfrm>
              <a:blipFill>
                <a:blip r:embed="rId3"/>
                <a:stretch>
                  <a:fillRect l="-1310" t="-74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5">
                <a:extLst>
                  <a:ext uri="{FF2B5EF4-FFF2-40B4-BE49-F238E27FC236}">
                    <a16:creationId xmlns:a16="http://schemas.microsoft.com/office/drawing/2014/main" id="{2B432A97-2CC3-A682-1051-F09AAD2699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4712" y="1999483"/>
                <a:ext cx="9307828" cy="816795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269" rtl="0" eaLnBrk="1" latinLnBrk="0" hangingPunct="1">
                  <a:spcBef>
                    <a:spcPts val="12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2"/>
                    </a:solidFill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defRPr>
                </a:lvl1pPr>
                <a:lvl2pPr marL="395942" indent="-323953" algn="l" defTabSz="914269" rtl="0" eaLnBrk="1" latinLnBrk="0" hangingPunct="1">
                  <a:spcBef>
                    <a:spcPts val="300"/>
                  </a:spcBef>
                  <a:buFont typeface="Open Sans" panose="020B0606030504020204" pitchFamily="34" charset="0"/>
                  <a:buChar char="—"/>
                  <a:defRPr sz="1600" kern="1200">
                    <a:solidFill>
                      <a:schemeClr val="tx2"/>
                    </a:solidFill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defRPr>
                </a:lvl2pPr>
                <a:lvl3pPr marL="0" indent="0" algn="l" defTabSz="914269" rtl="0" eaLnBrk="1" latinLnBrk="0" hangingPunct="1">
                  <a:spcBef>
                    <a:spcPts val="12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2"/>
                    </a:solidFill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defRPr>
                </a:lvl3pPr>
                <a:lvl4pPr marL="395942" indent="-215969" algn="l" defTabSz="914269" rtl="0" eaLnBrk="1" latinLnBrk="0" hangingPunct="1">
                  <a:spcBef>
                    <a:spcPts val="300"/>
                  </a:spcBef>
                  <a:buFont typeface="Symbol" panose="05050102010706020507" pitchFamily="18" charset="2"/>
                  <a:buChar char="-"/>
                  <a:defRPr sz="1400" kern="1200">
                    <a:solidFill>
                      <a:schemeClr val="tx2"/>
                    </a:solidFill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defRPr>
                </a:lvl4pPr>
                <a:lvl5pPr marL="575916" indent="-179362" algn="l" defTabSz="914269" rtl="0" eaLnBrk="1" latinLnBrk="0" hangingPunct="1">
                  <a:spcBef>
                    <a:spcPts val="300"/>
                  </a:spcBef>
                  <a:buFont typeface="Symbol" panose="05050102010706020507" pitchFamily="18" charset="2"/>
                  <a:buChar char="-"/>
                  <a:defRPr sz="1400" kern="1200" baseline="0">
                    <a:solidFill>
                      <a:schemeClr val="tx2"/>
                    </a:solidFill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defRPr>
                </a:lvl5pPr>
                <a:lvl6pPr marL="358723" indent="0" algn="l" defTabSz="914269" rtl="0" eaLnBrk="1" latinLnBrk="0" hangingPunct="1">
                  <a:spcBef>
                    <a:spcPts val="0"/>
                  </a:spcBef>
                  <a:buFont typeface="Arial" panose="020B0604020202020204" pitchFamily="34" charset="0"/>
                  <a:buNone/>
                  <a:defRPr sz="3200" b="1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358723" indent="0" algn="l" defTabSz="914269" rtl="0" eaLnBrk="1" latinLnBrk="0" hangingPunct="1">
                  <a:spcBef>
                    <a:spcPts val="0"/>
                  </a:spcBef>
                  <a:buFont typeface="Arial" panose="020B0604020202020204" pitchFamily="34" charset="0"/>
                  <a:buNone/>
                  <a:defRPr sz="3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3428502" indent="-228566" algn="l" defTabSz="914269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635" indent="-228566" algn="l" defTabSz="914269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DE" altLang="zh-CN" b="1" dirty="0"/>
                  <a:t>Calcium Variable</a:t>
                </a:r>
                <a:r>
                  <a:rPr lang="en-US" altLang="zh-CN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altLang="zh-CN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altLang="zh-CN" dirty="0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zh-CN" altLang="de-DE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de-DE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de-DE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de-DE" altLang="zh-CN" i="0" dirty="0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zh-CN" altLang="de-DE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e-DE" altLang="zh-CN" i="0" dirty="0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de-DE" altLang="zh-CN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altLang="zh-CN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de-DE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de-DE" i="1" dirty="0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de-DE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lang="zh-CN" altLang="de-DE" i="1" dirty="0" smtClean="0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de-DE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de-DE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de-DE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  <m:sup>
                          <m:r>
                            <a:rPr lang="de-DE" altLang="zh-CN" i="0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de-DE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p>
                      </m:sSup>
                      <m:r>
                        <a:rPr lang="zh-CN" altLang="de-DE" i="1" dirty="0" smtClean="0">
                          <a:latin typeface="Cambria Math" panose="02040503050406030204" pitchFamily="18" charset="0"/>
                        </a:rPr>
                        <m:t>𝑐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de-DE" altLang="zh-CN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de-DE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zh-CN" altLang="de-DE" i="1" dirty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de-DE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de-DE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altLang="zh-CN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de-DE" altLang="zh-CN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de-DE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zh-CN" altLang="de-DE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de-DE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3" name="Inhaltsplatzhalter 5">
                <a:extLst>
                  <a:ext uri="{FF2B5EF4-FFF2-40B4-BE49-F238E27FC236}">
                    <a16:creationId xmlns:a16="http://schemas.microsoft.com/office/drawing/2014/main" id="{2B432A97-2CC3-A682-1051-F09AAD269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12" y="1999483"/>
                <a:ext cx="9307828" cy="816795"/>
              </a:xfrm>
              <a:prstGeom prst="rect">
                <a:avLst/>
              </a:prstGeom>
              <a:blipFill>
                <a:blip r:embed="rId4"/>
                <a:stretch>
                  <a:fillRect l="-1310" t="-7463" b="-373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Inhaltsplatzhalter 5">
                <a:extLst>
                  <a:ext uri="{FF2B5EF4-FFF2-40B4-BE49-F238E27FC236}">
                    <a16:creationId xmlns:a16="http://schemas.microsoft.com/office/drawing/2014/main" id="{53B92B6A-004F-CA6B-4824-8E2FFBEBA2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74712" y="2951519"/>
                <a:ext cx="9307828" cy="2876193"/>
              </a:xfrm>
              <a:prstGeom prst="rect">
                <a:avLst/>
              </a:prstGeom>
              <a:ln>
                <a:noFill/>
              </a:ln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914269" rtl="0" eaLnBrk="1" latinLnBrk="0" hangingPunct="1">
                  <a:spcBef>
                    <a:spcPts val="12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2"/>
                    </a:solidFill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defRPr>
                </a:lvl1pPr>
                <a:lvl2pPr marL="395942" indent="-323953" algn="l" defTabSz="914269" rtl="0" eaLnBrk="1" latinLnBrk="0" hangingPunct="1">
                  <a:spcBef>
                    <a:spcPts val="300"/>
                  </a:spcBef>
                  <a:buFont typeface="Open Sans" panose="020B0606030504020204" pitchFamily="34" charset="0"/>
                  <a:buChar char="—"/>
                  <a:defRPr sz="1600" kern="1200">
                    <a:solidFill>
                      <a:schemeClr val="tx2"/>
                    </a:solidFill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defRPr>
                </a:lvl2pPr>
                <a:lvl3pPr marL="0" indent="0" algn="l" defTabSz="914269" rtl="0" eaLnBrk="1" latinLnBrk="0" hangingPunct="1">
                  <a:spcBef>
                    <a:spcPts val="1200"/>
                  </a:spcBef>
                  <a:buFont typeface="Arial" panose="020B0604020202020204" pitchFamily="34" charset="0"/>
                  <a:buNone/>
                  <a:defRPr sz="1400" kern="1200">
                    <a:solidFill>
                      <a:schemeClr val="tx2"/>
                    </a:solidFill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defRPr>
                </a:lvl3pPr>
                <a:lvl4pPr marL="395942" indent="-215969" algn="l" defTabSz="914269" rtl="0" eaLnBrk="1" latinLnBrk="0" hangingPunct="1">
                  <a:spcBef>
                    <a:spcPts val="300"/>
                  </a:spcBef>
                  <a:buFont typeface="Symbol" panose="05050102010706020507" pitchFamily="18" charset="2"/>
                  <a:buChar char="-"/>
                  <a:defRPr sz="1400" kern="1200">
                    <a:solidFill>
                      <a:schemeClr val="tx2"/>
                    </a:solidFill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defRPr>
                </a:lvl4pPr>
                <a:lvl5pPr marL="575916" indent="-179362" algn="l" defTabSz="914269" rtl="0" eaLnBrk="1" latinLnBrk="0" hangingPunct="1">
                  <a:spcBef>
                    <a:spcPts val="300"/>
                  </a:spcBef>
                  <a:buFont typeface="Symbol" panose="05050102010706020507" pitchFamily="18" charset="2"/>
                  <a:buChar char="-"/>
                  <a:defRPr sz="1400" kern="1200" baseline="0">
                    <a:solidFill>
                      <a:schemeClr val="tx2"/>
                    </a:solidFill>
                    <a:latin typeface="Noto Sans" panose="020B0502040504020204" pitchFamily="34"/>
                    <a:ea typeface="Noto Sans" panose="020B0502040504020204" pitchFamily="34"/>
                    <a:cs typeface="Noto Sans" panose="020B0502040504020204" pitchFamily="34"/>
                  </a:defRPr>
                </a:lvl5pPr>
                <a:lvl6pPr marL="358723" indent="0" algn="l" defTabSz="914269" rtl="0" eaLnBrk="1" latinLnBrk="0" hangingPunct="1">
                  <a:spcBef>
                    <a:spcPts val="0"/>
                  </a:spcBef>
                  <a:buFont typeface="Arial" panose="020B0604020202020204" pitchFamily="34" charset="0"/>
                  <a:buNone/>
                  <a:defRPr sz="3200" b="1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6pPr>
                <a:lvl7pPr marL="358723" indent="0" algn="l" defTabSz="914269" rtl="0" eaLnBrk="1" latinLnBrk="0" hangingPunct="1">
                  <a:spcBef>
                    <a:spcPts val="0"/>
                  </a:spcBef>
                  <a:buFont typeface="Arial" panose="020B0604020202020204" pitchFamily="34" charset="0"/>
                  <a:buNone/>
                  <a:defRPr sz="3200" kern="12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7pPr>
                <a:lvl8pPr marL="3428502" indent="-228566" algn="l" defTabSz="914269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635" indent="-228566" algn="l" defTabSz="914269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DE" altLang="zh-CN" b="1" dirty="0"/>
                  <a:t>Synaptic Variable</a:t>
                </a:r>
                <a:r>
                  <a:rPr lang="en-US" altLang="zh-CN" dirty="0"/>
                  <a:t>:</a:t>
                </a:r>
              </a:p>
              <a:p>
                <a:r>
                  <a:rPr lang="en-US" altLang="zh-CN" dirty="0"/>
                  <a:t>1. Presence of a presynaptic spike: Jump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zh-CN" altLang="de-DE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de-DE" altLang="zh-CN" i="0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de-DE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de-DE" altLang="zh-CN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de-DE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if</m:t>
                    </m:r>
                  </m:oMath>
                </a14:m>
                <a:r>
                  <a:rPr lang="de-DE" dirty="0"/>
                  <a:t>  </a:t>
                </a:r>
                <a14:m>
                  <m:oMath xmlns:m="http://schemas.openxmlformats.org/officeDocument/2006/math">
                    <m:r>
                      <a:rPr lang="zh-CN" altLang="de-DE" i="1" dirty="0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de-DE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de-DE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zh-CN" altLang="de-DE" i="1" dirty="0" smtClean="0">
                                <a:latin typeface="Cambria Math" panose="02040503050406030204" pitchFamily="18" charset="0"/>
                              </a:rPr>
                              <m:t>𝑟𝑒</m:t>
                            </m:r>
                          </m:sub>
                        </m:sSub>
                      </m:e>
                    </m:d>
                    <m:r>
                      <a:rPr lang="de-DE" altLang="zh-CN" i="0" dirty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de-DE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de-DE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de-DE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de-DE" altLang="zh-CN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de-DE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de-DE" i="1" dirty="0" smtClean="0">
                            <a:latin typeface="Cambria Math" panose="02040503050406030204" pitchFamily="18" charset="0"/>
                          </a:rPr>
                          <m:t>𝑢𝑝</m:t>
                        </m:r>
                      </m:sub>
                      <m:sup>
                        <m:r>
                          <a:rPr lang="zh-CN" altLang="de-DE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  <m:r>
                      <a:rPr lang="de-DE" altLang="zh-CN" i="0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de-DE" i="1" dirty="0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de-DE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de-DE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zh-CN" altLang="de-DE" i="1" dirty="0" smtClean="0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</m:sub>
                        </m:sSub>
                      </m:e>
                    </m:d>
                    <m:r>
                      <a:rPr lang="de-DE" altLang="zh-CN" i="0" dirty="0" smtClean="0">
                        <a:latin typeface="Cambria Math" panose="02040503050406030204" pitchFamily="18" charset="0"/>
                      </a:rPr>
                      <m:t>&lt;</m:t>
                    </m:r>
                    <m:sSubSup>
                      <m:sSubSupPr>
                        <m:ctrlPr>
                          <a:rPr lang="de-DE" altLang="zh-CN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de-DE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de-DE" i="1" dirty="0" smtClean="0">
                            <a:latin typeface="Cambria Math" panose="02040503050406030204" pitchFamily="18" charset="0"/>
                          </a:rPr>
                          <m:t>𝑢𝑝</m:t>
                        </m:r>
                      </m:sub>
                      <m:sup>
                        <m:r>
                          <a:rPr lang="de-DE" altLang="zh-CN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bSup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de-DE" dirty="0"/>
              </a:p>
              <a:p>
                <a:pPr algn="ctr"/>
                <a14:m>
                  <m:oMath xmlns:m="http://schemas.openxmlformats.org/officeDocument/2006/math">
                    <m:r>
                      <a:rPr lang="zh-CN" altLang="de-DE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de-DE" altLang="zh-CN" i="0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de-DE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de-DE" altLang="zh-CN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de-DE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if</m:t>
                    </m:r>
                  </m:oMath>
                </a14:m>
                <a:r>
                  <a:rPr lang="de-DE" dirty="0"/>
                  <a:t>  </a:t>
                </a:r>
                <a14:m>
                  <m:oMath xmlns:m="http://schemas.openxmlformats.org/officeDocument/2006/math">
                    <m:r>
                      <a:rPr lang="zh-CN" altLang="de-DE" i="1" dirty="0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de-DE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de-DE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zh-CN" altLang="de-DE" i="1" dirty="0" smtClean="0">
                                <a:latin typeface="Cambria Math" panose="02040503050406030204" pitchFamily="18" charset="0"/>
                              </a:rPr>
                              <m:t>𝑟𝑒</m:t>
                            </m:r>
                          </m:sub>
                        </m:sSub>
                      </m:e>
                    </m:d>
                    <m:r>
                      <a:rPr lang="de-DE" altLang="zh-CN" i="0" dirty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de-DE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de-DE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de-DE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 </m:t>
                    </m:r>
                    <m:sSubSup>
                      <m:sSubSupPr>
                        <m:ctrlPr>
                          <a:rPr lang="de-DE" altLang="zh-CN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de-DE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de-DE" i="1" dirty="0" smtClean="0">
                            <a:latin typeface="Cambria Math" panose="02040503050406030204" pitchFamily="18" charset="0"/>
                          </a:rPr>
                          <m:t>𝑑𝑜𝑤𝑛</m:t>
                        </m:r>
                      </m:sub>
                      <m:sup>
                        <m:r>
                          <a:rPr lang="zh-CN" altLang="de-DE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  <m:r>
                      <a:rPr lang="de-DE" altLang="zh-CN" i="0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de-DE" i="1" dirty="0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de-DE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de-DE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zh-CN" altLang="de-DE" i="1" dirty="0" smtClean="0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</m:sub>
                        </m:sSub>
                      </m:e>
                    </m:d>
                    <m:r>
                      <a:rPr lang="de-DE" altLang="zh-CN" i="0" dirty="0" smtClean="0">
                        <a:latin typeface="Cambria Math" panose="02040503050406030204" pitchFamily="18" charset="0"/>
                      </a:rPr>
                      <m:t>&lt;</m:t>
                    </m:r>
                    <m:sSubSup>
                      <m:sSubSupPr>
                        <m:ctrlPr>
                          <a:rPr lang="de-DE" altLang="zh-CN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de-DE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de-DE" i="1" dirty="0" smtClean="0">
                            <a:latin typeface="Cambria Math" panose="02040503050406030204" pitchFamily="18" charset="0"/>
                          </a:rPr>
                          <m:t>𝑑𝑜𝑤𝑛</m:t>
                        </m:r>
                      </m:sub>
                      <m:sup>
                        <m:r>
                          <a:rPr lang="de-DE" altLang="zh-CN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bSup>
                  </m:oMath>
                </a14:m>
                <a:endParaRPr lang="de-DE" dirty="0"/>
              </a:p>
              <a:p>
                <a:r>
                  <a:rPr lang="de-DE" dirty="0"/>
                  <a:t>2. Absence of a spike: Drift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altLang="zh-CN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altLang="zh-CN" dirty="0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zh-CN" altLang="de-DE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r>
                            <a:rPr lang="de-DE" altLang="zh-CN" i="0" dirty="0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zh-CN" altLang="de-DE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e-DE" altLang="zh-CN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de-DE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de-DE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de-DE" altLang="zh-CN" i="0" dirty="0" smtClean="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de-DE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de-DE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CN" altLang="de-DE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altLang="zh-CN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altLang="zh-CN" dirty="0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zh-CN" altLang="de-DE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r>
                            <a:rPr lang="de-DE" altLang="zh-CN" i="0" dirty="0" smtClean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zh-CN" altLang="de-DE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e-DE" altLang="zh-CN" i="0" dirty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de-DE"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US" altLang="zh-CN" b="0" i="0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de-DE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de-DE" altLang="zh-CN" i="0" dirty="0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de-DE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de-DE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CN" altLang="de-DE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4" name="Inhaltsplatzhalter 5">
                <a:extLst>
                  <a:ext uri="{FF2B5EF4-FFF2-40B4-BE49-F238E27FC236}">
                    <a16:creationId xmlns:a16="http://schemas.microsoft.com/office/drawing/2014/main" id="{53B92B6A-004F-CA6B-4824-8E2FFBEBA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712" y="2951519"/>
                <a:ext cx="9307828" cy="2876193"/>
              </a:xfrm>
              <a:prstGeom prst="rect">
                <a:avLst/>
              </a:prstGeom>
              <a:blipFill>
                <a:blip r:embed="rId5"/>
                <a:stretch>
                  <a:fillRect l="-1310" t="-21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6327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DE3B8-E235-2045-5A4E-D9C54DBCB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C4101E26-CE47-C628-3551-3F02ACAC7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SDSP Simplification for Implementation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Inhaltsplatzhalter 5">
                <a:extLst>
                  <a:ext uri="{FF2B5EF4-FFF2-40B4-BE49-F238E27FC236}">
                    <a16:creationId xmlns:a16="http://schemas.microsoft.com/office/drawing/2014/main" id="{48D7031C-8ECC-E71A-81E6-FDB002765752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2716267" y="4054218"/>
                <a:ext cx="6759465" cy="1754371"/>
              </a:xfrm>
            </p:spPr>
            <p:txBody>
              <a:bodyPr/>
              <a:lstStyle/>
              <a:p>
                <a:pPr algn="ctr"/>
                <a14:m>
                  <m:oMath xmlns:m="http://schemas.openxmlformats.org/officeDocument/2006/math">
                    <m:r>
                      <a:rPr lang="zh-CN" altLang="de-DE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de-DE" altLang="zh-CN" i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de-DE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de-DE" altLang="zh-CN" i="0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zh-CN" altLang="de-DE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de-DE" dirty="0"/>
                  <a:t> (3 bit)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zh-CN" altLang="de-DE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altLang="zh-CN" i="0" dirty="0" smtClean="0">
                        <a:latin typeface="Cambria Math" panose="02040503050406030204" pitchFamily="18" charset="0"/>
                      </a:rPr>
                      <m:t>=&gt;</m:t>
                    </m:r>
                  </m:oMath>
                </a14:m>
                <a:r>
                  <a:rPr lang="de-DE" dirty="0"/>
                  <a:t> 3 bit counter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zh-CN" altLang="de-DE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de-DE" altLang="zh-CN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de-DE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de-DE" altLang="zh-CN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dirty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if</m:t>
                    </m:r>
                  </m:oMath>
                </a14:m>
                <a:r>
                  <a:rPr lang="de-DE" altLang="zh-CN" dirty="0"/>
                  <a:t>  </a:t>
                </a:r>
                <a14:m>
                  <m:oMath xmlns:m="http://schemas.openxmlformats.org/officeDocument/2006/math">
                    <m:r>
                      <a:rPr lang="zh-CN" altLang="de-DE" i="1" dirty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de-DE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de-DE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zh-CN" altLang="de-DE" i="1" dirty="0">
                                <a:latin typeface="Cambria Math" panose="02040503050406030204" pitchFamily="18" charset="0"/>
                              </a:rPr>
                              <m:t>𝑟𝑒</m:t>
                            </m:r>
                          </m:sub>
                        </m:sSub>
                      </m:e>
                    </m:d>
                    <m:r>
                      <a:rPr lang="de-DE" altLang="zh-CN" dirty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de-DE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de-DE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altLang="zh-CN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de-DE" i="1" dirty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de-DE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de-DE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zh-CN" altLang="de-DE" i="1" dirty="0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</m:sub>
                        </m:sSub>
                      </m:e>
                    </m:d>
                    <m:r>
                      <a:rPr lang="de-DE" altLang="zh-CN" dirty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de-DE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de-DE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de-DE" altLang="zh-CN" dirty="0"/>
              </a:p>
              <a:p>
                <a:pPr algn="ctr"/>
                <a14:m>
                  <m:oMath xmlns:m="http://schemas.openxmlformats.org/officeDocument/2006/math">
                    <m:r>
                      <a:rPr lang="zh-CN" altLang="de-DE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de-DE" altLang="zh-CN" dirty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de-DE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de-DE" altLang="zh-CN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dirty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if</m:t>
                    </m:r>
                  </m:oMath>
                </a14:m>
                <a:r>
                  <a:rPr lang="de-DE" altLang="zh-CN" dirty="0"/>
                  <a:t>  </a:t>
                </a:r>
                <a14:m>
                  <m:oMath xmlns:m="http://schemas.openxmlformats.org/officeDocument/2006/math">
                    <m:r>
                      <a:rPr lang="zh-CN" altLang="de-DE" i="1" dirty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de-DE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de-DE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zh-CN" altLang="de-DE" i="1" dirty="0">
                                <a:latin typeface="Cambria Math" panose="02040503050406030204" pitchFamily="18" charset="0"/>
                              </a:rPr>
                              <m:t>𝑟𝑒</m:t>
                            </m:r>
                          </m:sub>
                        </m:sSub>
                      </m:e>
                    </m:d>
                    <m:r>
                      <a:rPr lang="de-DE" altLang="zh-CN" dirty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de-DE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de-DE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altLang="zh-CN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de-DE" i="1" dirty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de-DE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de-DE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zh-CN" altLang="de-DE" i="1" dirty="0">
                                <a:latin typeface="Cambria Math" panose="02040503050406030204" pitchFamily="18" charset="0"/>
                              </a:rPr>
                              <m:t>𝑝𝑟𝑒</m:t>
                            </m:r>
                          </m:sub>
                        </m:sSub>
                      </m:e>
                    </m:d>
                    <m:r>
                      <a:rPr lang="de-DE" altLang="zh-CN" dirty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de-DE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de-DE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de-DE" altLang="zh-CN" dirty="0"/>
              </a:p>
              <a:p>
                <a:pPr algn="ctr"/>
                <a:endParaRPr lang="de-DE" dirty="0"/>
              </a:p>
              <a:p>
                <a:endParaRPr lang="de-DE" dirty="0"/>
              </a:p>
            </p:txBody>
          </p:sp>
        </mc:Choice>
        <mc:Fallback xmlns="">
          <p:sp>
            <p:nvSpPr>
              <p:cNvPr id="2" name="Inhaltsplatzhalter 5">
                <a:extLst>
                  <a:ext uri="{FF2B5EF4-FFF2-40B4-BE49-F238E27FC236}">
                    <a16:creationId xmlns:a16="http://schemas.microsoft.com/office/drawing/2014/main" id="{48D7031C-8ECC-E71A-81E6-FDB0027657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2716267" y="4054218"/>
                <a:ext cx="6759465" cy="1754371"/>
              </a:xfrm>
              <a:blipFill>
                <a:blip r:embed="rId3"/>
                <a:stretch>
                  <a:fillRect t="-34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1559FE90-67B4-0E14-CC36-1D3FB3090C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028" y="1030288"/>
            <a:ext cx="3695890" cy="337837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36FA13F-8528-10A7-287F-FD585F5F59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948" y="1383026"/>
            <a:ext cx="4877051" cy="179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568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314BE-530F-8860-4D18-7DD9E9CE8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E44C35E9-1C1A-410A-D884-B1DDC2BE1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What‘s Next?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66BD937-1E5F-7187-5354-C8EE464B538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05656" y="1452816"/>
            <a:ext cx="9307828" cy="377675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Spiker+ SNN generation.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Design and optimization of the SDSP architectural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SDSP model implementation, simulation and validation.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SDSP integration with the generated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Apply partial reconfiguraion.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Test and evaluation.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Result comparison.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/>
              <a:t>Report and final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798364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11F1D-178D-8306-016E-1611CC3A3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BDA1F5F-3152-31CA-9EE3-241CDE0E7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Timeline</a:t>
            </a:r>
          </a:p>
        </p:txBody>
      </p:sp>
      <p:sp>
        <p:nvSpPr>
          <p:cNvPr id="2" name="OTLSHAPE_TB_00000000000000000000000000000000_RightEndCaps">
            <a:extLst>
              <a:ext uri="{FF2B5EF4-FFF2-40B4-BE49-F238E27FC236}">
                <a16:creationId xmlns:a16="http://schemas.microsoft.com/office/drawing/2014/main" id="{D0B517E9-C838-AE2B-E778-743D7FB12FA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457289" y="4231799"/>
            <a:ext cx="451662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altLang="zh-CN" sz="1800" b="1" spc="-44">
                <a:solidFill>
                  <a:srgbClr val="B80400"/>
                </a:solidFill>
                <a:latin typeface="Calibri" panose="020F0502020204030204" pitchFamily="34" charset="0"/>
              </a:rPr>
              <a:t>2026</a:t>
            </a:r>
            <a:endParaRPr lang="zh-CN" altLang="en-US" sz="1800" b="1" spc="-44">
              <a:solidFill>
                <a:srgbClr val="B804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OTLSHAPE_TB_00000000000000000000000000000000_ScaleContainer">
            <a:extLst>
              <a:ext uri="{FF2B5EF4-FFF2-40B4-BE49-F238E27FC236}">
                <a16:creationId xmlns:a16="http://schemas.microsoft.com/office/drawing/2014/main" id="{8CC71D48-E6C7-6062-9A3A-F20FBE2F2B7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27220" y="4244330"/>
            <a:ext cx="10515600" cy="254000"/>
          </a:xfrm>
          <a:prstGeom prst="round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OTLSHAPE_TB_00000000000000000000000000000000_ElapsedTime">
            <a:extLst>
              <a:ext uri="{FF2B5EF4-FFF2-40B4-BE49-F238E27FC236}">
                <a16:creationId xmlns:a16="http://schemas.microsoft.com/office/drawing/2014/main" id="{F05A68C6-660B-0542-FB7B-D0E7BD781B0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27220" y="4447530"/>
            <a:ext cx="1524000" cy="50800"/>
          </a:xfrm>
          <a:prstGeom prst="roundRect">
            <a:avLst/>
          </a:prstGeom>
          <a:solidFill>
            <a:srgbClr val="FF0000">
              <a:alpha val="74902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TLSHAPE_TB_00000000000000000000000000000000_TimescaleInterval1">
            <a:extLst>
              <a:ext uri="{FF2B5EF4-FFF2-40B4-BE49-F238E27FC236}">
                <a16:creationId xmlns:a16="http://schemas.microsoft.com/office/drawing/2014/main" id="{FDAAE18D-41A5-C64B-941B-2DFC5F29227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78020" y="4278303"/>
            <a:ext cx="26815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altLang="zh-CN" sz="1200" spc="-18">
                <a:solidFill>
                  <a:srgbClr val="F8F8F8"/>
                </a:solidFill>
                <a:latin typeface="Calibri" panose="020F0502020204030204" pitchFamily="34" charset="0"/>
              </a:rPr>
              <a:t>May</a:t>
            </a:r>
            <a:endParaRPr lang="zh-CN" altLang="en-US" sz="1200" spc="-18">
              <a:solidFill>
                <a:srgbClr val="F8F8F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OTLSHAPE_TB_00000000000000000000000000000000_TimescaleInterval2">
            <a:extLst>
              <a:ext uri="{FF2B5EF4-FFF2-40B4-BE49-F238E27FC236}">
                <a16:creationId xmlns:a16="http://schemas.microsoft.com/office/drawing/2014/main" id="{07F9E647-8BA7-F358-6AE7-E1B41595E21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647559" y="4278303"/>
            <a:ext cx="206916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altLang="zh-CN" sz="1200" spc="-18">
                <a:solidFill>
                  <a:srgbClr val="F8F8F8"/>
                </a:solidFill>
                <a:latin typeface="Calibri" panose="020F0502020204030204" pitchFamily="34" charset="0"/>
              </a:rPr>
              <a:t>Jun</a:t>
            </a:r>
            <a:endParaRPr lang="zh-CN" altLang="en-US" sz="1200" spc="-18">
              <a:solidFill>
                <a:srgbClr val="F8F8F8"/>
              </a:solidFill>
              <a:latin typeface="Calibri" panose="020F0502020204030204" pitchFamily="34" charset="0"/>
            </a:endParaRPr>
          </a:p>
        </p:txBody>
      </p:sp>
      <p:sp>
        <p:nvSpPr>
          <p:cNvPr id="9" name="OTLSHAPE_TB_00000000000000000000000000000000_TimescaleInterval3">
            <a:extLst>
              <a:ext uri="{FF2B5EF4-FFF2-40B4-BE49-F238E27FC236}">
                <a16:creationId xmlns:a16="http://schemas.microsoft.com/office/drawing/2014/main" id="{9FD61E2E-0CE6-9E46-4001-B1C4ABCB2E4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360016" y="4278303"/>
            <a:ext cx="158185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altLang="zh-CN" sz="1200" spc="-20">
                <a:solidFill>
                  <a:srgbClr val="F8F8F8"/>
                </a:solidFill>
                <a:latin typeface="Calibri" panose="020F0502020204030204" pitchFamily="34" charset="0"/>
              </a:rPr>
              <a:t>Jul</a:t>
            </a:r>
            <a:endParaRPr lang="zh-CN" altLang="en-US" sz="1200" spc="-20">
              <a:solidFill>
                <a:srgbClr val="F8F8F8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OTLSHAPE_TB_00000000000000000000000000000000_TimescaleInterval4">
            <a:extLst>
              <a:ext uri="{FF2B5EF4-FFF2-40B4-BE49-F238E27FC236}">
                <a16:creationId xmlns:a16="http://schemas.microsoft.com/office/drawing/2014/main" id="{EA331225-0AE2-E366-AACE-6258368A324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129555" y="4278303"/>
            <a:ext cx="2413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altLang="zh-CN" sz="1200" spc="-20">
                <a:solidFill>
                  <a:srgbClr val="F8F8F8"/>
                </a:solidFill>
                <a:latin typeface="Calibri" panose="020F0502020204030204" pitchFamily="34" charset="0"/>
              </a:rPr>
              <a:t>Aug</a:t>
            </a:r>
            <a:endParaRPr lang="zh-CN" altLang="en-US" sz="1200" spc="-20">
              <a:solidFill>
                <a:srgbClr val="F8F8F8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OTLSHAPE_TB_00000000000000000000000000000000_TimescaleInterval5">
            <a:extLst>
              <a:ext uri="{FF2B5EF4-FFF2-40B4-BE49-F238E27FC236}">
                <a16:creationId xmlns:a16="http://schemas.microsoft.com/office/drawing/2014/main" id="{1F51F861-F712-3471-6681-369DE8ADF5CD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7899094" y="4278303"/>
            <a:ext cx="2286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altLang="zh-CN" sz="1200" spc="-18">
                <a:solidFill>
                  <a:srgbClr val="F8F8F8"/>
                </a:solidFill>
                <a:latin typeface="Calibri" panose="020F0502020204030204" pitchFamily="34" charset="0"/>
              </a:rPr>
              <a:t>Sep</a:t>
            </a:r>
            <a:endParaRPr lang="zh-CN" altLang="en-US" sz="1200" spc="-18">
              <a:solidFill>
                <a:srgbClr val="F8F8F8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OTLSHAPE_TB_00000000000000000000000000000000_TimescaleInterval6">
            <a:extLst>
              <a:ext uri="{FF2B5EF4-FFF2-40B4-BE49-F238E27FC236}">
                <a16:creationId xmlns:a16="http://schemas.microsoft.com/office/drawing/2014/main" id="{08619AB8-7838-376A-2A6A-F3F4A37817C5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9611551" y="4278303"/>
            <a:ext cx="211148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altLang="zh-CN" sz="1200" spc="-22">
                <a:solidFill>
                  <a:srgbClr val="F8F8F8"/>
                </a:solidFill>
                <a:latin typeface="Calibri" panose="020F0502020204030204" pitchFamily="34" charset="0"/>
              </a:rPr>
              <a:t>Oct</a:t>
            </a:r>
            <a:endParaRPr lang="zh-CN" altLang="en-US" sz="1200" spc="-22">
              <a:solidFill>
                <a:srgbClr val="F8F8F8"/>
              </a:solidFill>
              <a:latin typeface="Calibri" panose="020F0502020204030204" pitchFamily="34" charset="0"/>
            </a:endParaRPr>
          </a:p>
        </p:txBody>
      </p:sp>
      <p:cxnSp>
        <p:nvCxnSpPr>
          <p:cNvPr id="13" name="OTLSHAPE_TB_00000000000000000000000000000000_Separator1">
            <a:extLst>
              <a:ext uri="{FF2B5EF4-FFF2-40B4-BE49-F238E27FC236}">
                <a16:creationId xmlns:a16="http://schemas.microsoft.com/office/drawing/2014/main" id="{4777125A-A24E-15B0-F906-629919C0EC71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2596759" y="4269730"/>
            <a:ext cx="0" cy="203200"/>
          </a:xfrm>
          <a:prstGeom prst="line">
            <a:avLst/>
          </a:prstGeom>
          <a:ln w="6350" cap="flat" cmpd="sng" algn="ctr">
            <a:solidFill>
              <a:srgbClr val="F8F8F8">
                <a:alpha val="2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OTLSHAPE_TB_00000000000000000000000000000000_Separator2">
            <a:extLst>
              <a:ext uri="{FF2B5EF4-FFF2-40B4-BE49-F238E27FC236}">
                <a16:creationId xmlns:a16="http://schemas.microsoft.com/office/drawing/2014/main" id="{BA000828-2A35-2C07-E3C9-C2D271EBDC09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>
            <a:off x="4309216" y="4269730"/>
            <a:ext cx="0" cy="203200"/>
          </a:xfrm>
          <a:prstGeom prst="line">
            <a:avLst/>
          </a:prstGeom>
          <a:ln w="6350" cap="flat" cmpd="sng" algn="ctr">
            <a:solidFill>
              <a:srgbClr val="F8F8F8">
                <a:alpha val="2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OTLSHAPE_TB_00000000000000000000000000000000_Separator3">
            <a:extLst>
              <a:ext uri="{FF2B5EF4-FFF2-40B4-BE49-F238E27FC236}">
                <a16:creationId xmlns:a16="http://schemas.microsoft.com/office/drawing/2014/main" id="{AE0400B4-C5ED-5608-FCEA-1DF13F207B83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>
            <a:off x="6078755" y="4269730"/>
            <a:ext cx="0" cy="203200"/>
          </a:xfrm>
          <a:prstGeom prst="line">
            <a:avLst/>
          </a:prstGeom>
          <a:ln w="6350" cap="flat" cmpd="sng" algn="ctr">
            <a:solidFill>
              <a:srgbClr val="F8F8F8">
                <a:alpha val="2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OTLSHAPE_TB_00000000000000000000000000000000_Separator4">
            <a:extLst>
              <a:ext uri="{FF2B5EF4-FFF2-40B4-BE49-F238E27FC236}">
                <a16:creationId xmlns:a16="http://schemas.microsoft.com/office/drawing/2014/main" id="{86452587-ACB3-39D7-0D09-E7EDB0C4AD43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>
            <a:off x="7848294" y="4269730"/>
            <a:ext cx="0" cy="203200"/>
          </a:xfrm>
          <a:prstGeom prst="line">
            <a:avLst/>
          </a:prstGeom>
          <a:ln w="6350" cap="flat" cmpd="sng" algn="ctr">
            <a:solidFill>
              <a:srgbClr val="F8F8F8">
                <a:alpha val="2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OTLSHAPE_TB_00000000000000000000000000000000_Separator5">
            <a:extLst>
              <a:ext uri="{FF2B5EF4-FFF2-40B4-BE49-F238E27FC236}">
                <a16:creationId xmlns:a16="http://schemas.microsoft.com/office/drawing/2014/main" id="{DA436F8E-25A8-2CCF-B471-4BB82C962D95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>
            <a:off x="9560751" y="4269730"/>
            <a:ext cx="0" cy="203200"/>
          </a:xfrm>
          <a:prstGeom prst="line">
            <a:avLst/>
          </a:prstGeom>
          <a:ln w="6350" cap="flat" cmpd="sng" algn="ctr">
            <a:solidFill>
              <a:srgbClr val="F8F8F8">
                <a:alpha val="29804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TLSHAPE_T_5312c6ff6ea5480da896665c6fc5632b_Shape">
            <a:extLst>
              <a:ext uri="{FF2B5EF4-FFF2-40B4-BE49-F238E27FC236}">
                <a16:creationId xmlns:a16="http://schemas.microsoft.com/office/drawing/2014/main" id="{44122150-6826-EF8D-E594-BF8DE8009F8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626367" y="2179903"/>
            <a:ext cx="6223000" cy="127000"/>
          </a:xfrm>
          <a:prstGeom prst="roundRect">
            <a:avLst/>
          </a:prstGeom>
          <a:solidFill>
            <a:srgbClr val="9696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OTLSHAPE_T_7a661b32bb8b47e3ba98b2b764a25e83_Shape">
            <a:extLst>
              <a:ext uri="{FF2B5EF4-FFF2-40B4-BE49-F238E27FC236}">
                <a16:creationId xmlns:a16="http://schemas.microsoft.com/office/drawing/2014/main" id="{6AB3E692-ADD7-2712-279F-1A1ED416779F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911776" y="2388521"/>
            <a:ext cx="1092200" cy="127000"/>
          </a:xfrm>
          <a:prstGeom prst="roundRect">
            <a:avLst/>
          </a:prstGeom>
          <a:solidFill>
            <a:srgbClr val="9696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OTLSHAPE_T_7deee2b2f2874357a602826250232f55_Shape">
            <a:extLst>
              <a:ext uri="{FF2B5EF4-FFF2-40B4-BE49-F238E27FC236}">
                <a16:creationId xmlns:a16="http://schemas.microsoft.com/office/drawing/2014/main" id="{8381CE11-B9AE-FD8F-2DF1-9C811A98DA89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996333" y="2597140"/>
            <a:ext cx="800100" cy="127000"/>
          </a:xfrm>
          <a:prstGeom prst="roundRect">
            <a:avLst/>
          </a:prstGeom>
          <a:solidFill>
            <a:srgbClr val="9696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OTLSHAPE_T_b605f862ce024d7e8dc045630bef91fc_Shape">
            <a:extLst>
              <a:ext uri="{FF2B5EF4-FFF2-40B4-BE49-F238E27FC236}">
                <a16:creationId xmlns:a16="http://schemas.microsoft.com/office/drawing/2014/main" id="{450F4960-F242-C5CB-4365-5DBB265E9A7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3395906" y="2805759"/>
            <a:ext cx="406400" cy="127000"/>
          </a:xfrm>
          <a:prstGeom prst="roundRect">
            <a:avLst/>
          </a:prstGeom>
          <a:solidFill>
            <a:srgbClr val="9696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OTLSHAPE_T_f76b6c510cd343c9b5342ed25dd4593f_Shape">
            <a:extLst>
              <a:ext uri="{FF2B5EF4-FFF2-40B4-BE49-F238E27FC236}">
                <a16:creationId xmlns:a16="http://schemas.microsoft.com/office/drawing/2014/main" id="{2BEDE15C-877A-7995-A823-4E50F6EB98F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3795479" y="3014377"/>
            <a:ext cx="1206500" cy="127000"/>
          </a:xfrm>
          <a:prstGeom prst="roundRect">
            <a:avLst/>
          </a:prstGeom>
          <a:solidFill>
            <a:srgbClr val="9696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OTLSHAPE_T_8edff500fcd44330a2e83dc731dfc54d_Shape">
            <a:extLst>
              <a:ext uri="{FF2B5EF4-FFF2-40B4-BE49-F238E27FC236}">
                <a16:creationId xmlns:a16="http://schemas.microsoft.com/office/drawing/2014/main" id="{4CFCB3C8-F6DA-6097-D595-9B5E5053269A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994199" y="3222996"/>
            <a:ext cx="800100" cy="127000"/>
          </a:xfrm>
          <a:prstGeom prst="roundRect">
            <a:avLst/>
          </a:prstGeom>
          <a:solidFill>
            <a:srgbClr val="9696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OTLSHAPE_T_48a707898a594ab7ac9bab3d517d06c5_Shape">
            <a:extLst>
              <a:ext uri="{FF2B5EF4-FFF2-40B4-BE49-F238E27FC236}">
                <a16:creationId xmlns:a16="http://schemas.microsoft.com/office/drawing/2014/main" id="{61D1E5D1-056A-F6D7-B8F4-59C27DCE73A4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5393772" y="3431615"/>
            <a:ext cx="685800" cy="127000"/>
          </a:xfrm>
          <a:prstGeom prst="roundRect">
            <a:avLst/>
          </a:prstGeom>
          <a:solidFill>
            <a:srgbClr val="9696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OTLSHAPE_T_9c3ef60a16e840aea7c382a4ebff9128_Shape">
            <a:extLst>
              <a:ext uri="{FF2B5EF4-FFF2-40B4-BE49-F238E27FC236}">
                <a16:creationId xmlns:a16="http://schemas.microsoft.com/office/drawing/2014/main" id="{145746F6-715D-923C-99D4-D890D256B35D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078755" y="3640233"/>
            <a:ext cx="914400" cy="127000"/>
          </a:xfrm>
          <a:prstGeom prst="roundRect">
            <a:avLst/>
          </a:prstGeom>
          <a:solidFill>
            <a:srgbClr val="9696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OTLSHAPE_T_1466f5593384403184791854e3658b08_Shape">
            <a:extLst>
              <a:ext uri="{FF2B5EF4-FFF2-40B4-BE49-F238E27FC236}">
                <a16:creationId xmlns:a16="http://schemas.microsoft.com/office/drawing/2014/main" id="{F0C1A4B5-1D04-B50A-D22D-C05C6820E3C8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6992066" y="3848852"/>
            <a:ext cx="800100" cy="127000"/>
          </a:xfrm>
          <a:prstGeom prst="roundRect">
            <a:avLst/>
          </a:prstGeom>
          <a:solidFill>
            <a:srgbClr val="9696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OTLSHAPE_T_e35771cd8be24bc3a426ac2542effc9c_Shape">
            <a:extLst>
              <a:ext uri="{FF2B5EF4-FFF2-40B4-BE49-F238E27FC236}">
                <a16:creationId xmlns:a16="http://schemas.microsoft.com/office/drawing/2014/main" id="{43F81F17-E68D-3174-50F1-AA514DBF10DE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6992066" y="4057471"/>
            <a:ext cx="3086100" cy="127000"/>
          </a:xfrm>
          <a:prstGeom prst="roundRect">
            <a:avLst/>
          </a:prstGeom>
          <a:solidFill>
            <a:srgbClr val="96969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OTLSHAPE_T_5312c6ff6ea5480da896665c6fc5632b_Title">
            <a:extLst>
              <a:ext uri="{FF2B5EF4-FFF2-40B4-BE49-F238E27FC236}">
                <a16:creationId xmlns:a16="http://schemas.microsoft.com/office/drawing/2014/main" id="{B8DCA673-1867-0AA7-A2EE-AD6DC9AF346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610875" y="2158143"/>
            <a:ext cx="965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altLang="zh-CN" sz="1100" spc="-8">
                <a:solidFill>
                  <a:srgbClr val="000000"/>
                </a:solidFill>
                <a:latin typeface="Calibri" panose="020F0502020204030204" pitchFamily="34" charset="0"/>
              </a:rPr>
              <a:t>Literature review</a:t>
            </a:r>
            <a:endParaRPr lang="zh-CN" altLang="en-US" sz="1100" spc="-8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OTLSHAPE_T_5312c6ff6ea5480da896665c6fc5632b_JoinedDate">
            <a:extLst>
              <a:ext uri="{FF2B5EF4-FFF2-40B4-BE49-F238E27FC236}">
                <a16:creationId xmlns:a16="http://schemas.microsoft.com/office/drawing/2014/main" id="{1D6710AA-D4BC-7C15-B011-C7DDEF4D8ACC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99055" y="2165890"/>
            <a:ext cx="838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1000" spc="-4">
                <a:solidFill>
                  <a:srgbClr val="000000"/>
                </a:solidFill>
                <a:latin typeface="Calibri" panose="020F0502020204030204" pitchFamily="34" charset="0"/>
              </a:rPr>
              <a:t>May 15 - Aug 31</a:t>
            </a:r>
            <a:endParaRPr lang="zh-CN" altLang="en-US" sz="1000" spc="-4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OTLSHAPE_T_7a661b32bb8b47e3ba98b2b764a25e83_Title">
            <a:extLst>
              <a:ext uri="{FF2B5EF4-FFF2-40B4-BE49-F238E27FC236}">
                <a16:creationId xmlns:a16="http://schemas.microsoft.com/office/drawing/2014/main" id="{30CB6626-D42A-DF00-9122-74BAD1E1B9D7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693973" y="2366762"/>
            <a:ext cx="1168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altLang="zh-CN" sz="1100" spc="-8">
                <a:solidFill>
                  <a:srgbClr val="000000"/>
                </a:solidFill>
                <a:latin typeface="Calibri" panose="020F0502020204030204" pitchFamily="34" charset="0"/>
              </a:rPr>
              <a:t>Spiker+ investigation</a:t>
            </a:r>
            <a:endParaRPr lang="zh-CN" altLang="en-US" sz="1100" spc="-8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OTLSHAPE_T_7a661b32bb8b47e3ba98b2b764a25e83_JoinedDate">
            <a:extLst>
              <a:ext uri="{FF2B5EF4-FFF2-40B4-BE49-F238E27FC236}">
                <a16:creationId xmlns:a16="http://schemas.microsoft.com/office/drawing/2014/main" id="{1AADAF27-06AF-55E2-C3FA-4C61A4948B1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3047093" y="2374509"/>
            <a:ext cx="749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1000" spc="-4">
                <a:solidFill>
                  <a:srgbClr val="000000"/>
                </a:solidFill>
                <a:latin typeface="Calibri" panose="020F0502020204030204" pitchFamily="34" charset="0"/>
              </a:rPr>
              <a:t>May 20 - Jun 7</a:t>
            </a:r>
            <a:endParaRPr lang="zh-CN" altLang="en-US" sz="1000" spc="-4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OTLSHAPE_T_7deee2b2f2874357a602826250232f55_Title">
            <a:extLst>
              <a:ext uri="{FF2B5EF4-FFF2-40B4-BE49-F238E27FC236}">
                <a16:creationId xmlns:a16="http://schemas.microsoft.com/office/drawing/2014/main" id="{5E4F4238-BBA1-F01B-F233-D2428E227343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2056025" y="2575381"/>
            <a:ext cx="901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altLang="zh-CN" sz="1100" spc="-6">
                <a:solidFill>
                  <a:srgbClr val="000000"/>
                </a:solidFill>
                <a:latin typeface="Calibri" panose="020F0502020204030204" pitchFamily="34" charset="0"/>
              </a:rPr>
              <a:t>SNN generation</a:t>
            </a:r>
            <a:endParaRPr lang="zh-CN" altLang="en-US" sz="1100" spc="-6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OTLSHAPE_T_7deee2b2f2874357a602826250232f55_JoinedDate">
            <a:extLst>
              <a:ext uri="{FF2B5EF4-FFF2-40B4-BE49-F238E27FC236}">
                <a16:creationId xmlns:a16="http://schemas.microsoft.com/office/drawing/2014/main" id="{5EBF5D71-8CC0-E7EE-028E-0958FB385023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846240" y="2583128"/>
            <a:ext cx="6985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1000" spc="-4">
                <a:solidFill>
                  <a:srgbClr val="000000"/>
                </a:solidFill>
                <a:latin typeface="Calibri" panose="020F0502020204030204" pitchFamily="34" charset="0"/>
              </a:rPr>
              <a:t>Jun 8 - Jun 21</a:t>
            </a:r>
            <a:endParaRPr lang="zh-CN" altLang="en-US" sz="1000" spc="-4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OTLSHAPE_T_b605f862ce024d7e8dc045630bef91fc_Title">
            <a:extLst>
              <a:ext uri="{FF2B5EF4-FFF2-40B4-BE49-F238E27FC236}">
                <a16:creationId xmlns:a16="http://schemas.microsoft.com/office/drawing/2014/main" id="{80D29EBC-3933-172D-8D1C-60B3F2EF128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938200" y="2783999"/>
            <a:ext cx="14097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altLang="zh-CN" sz="1100" spc="-2">
                <a:solidFill>
                  <a:srgbClr val="000000"/>
                </a:solidFill>
                <a:latin typeface="Calibri" panose="020F0502020204030204" pitchFamily="34" charset="0"/>
              </a:rPr>
              <a:t>SDSP architecture design</a:t>
            </a:r>
            <a:endParaRPr lang="zh-CN" altLang="en-US" sz="1100" spc="-2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OTLSHAPE_T_b605f862ce024d7e8dc045630bef91fc_JoinedDate">
            <a:extLst>
              <a:ext uri="{FF2B5EF4-FFF2-40B4-BE49-F238E27FC236}">
                <a16:creationId xmlns:a16="http://schemas.microsoft.com/office/drawing/2014/main" id="{E968E7BE-56D6-C17D-1566-47DE9222AC4A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3846240" y="2791746"/>
            <a:ext cx="762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1000" spc="-4">
                <a:solidFill>
                  <a:srgbClr val="000000"/>
                </a:solidFill>
                <a:latin typeface="Calibri" panose="020F0502020204030204" pitchFamily="34" charset="0"/>
              </a:rPr>
              <a:t>Jun 15 - Jun 21</a:t>
            </a:r>
            <a:endParaRPr lang="zh-CN" altLang="en-US" sz="1000" spc="-4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7" name="OTLSHAPE_T_f76b6c510cd343c9b5342ed25dd4593f_Title">
            <a:extLst>
              <a:ext uri="{FF2B5EF4-FFF2-40B4-BE49-F238E27FC236}">
                <a16:creationId xmlns:a16="http://schemas.microsoft.com/office/drawing/2014/main" id="{144ECB2E-CDCA-28C0-F34D-B52782125637}"/>
              </a:ext>
            </a:extLst>
          </p:cNvPr>
          <p:cNvSpPr txBox="1"/>
          <p:nvPr>
            <p:custDataLst>
              <p:tags r:id="rId33"/>
            </p:custDataLst>
          </p:nvPr>
        </p:nvSpPr>
        <p:spPr>
          <a:xfrm>
            <a:off x="400939" y="2992618"/>
            <a:ext cx="33528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altLang="zh-CN" sz="1100" spc="-2">
                <a:solidFill>
                  <a:srgbClr val="000000"/>
                </a:solidFill>
                <a:latin typeface="Calibri" panose="020F0502020204030204" pitchFamily="34" charset="0"/>
              </a:rPr>
              <a:t>SDSP model RTL implementation, simulation and validation</a:t>
            </a:r>
            <a:endParaRPr lang="zh-CN" altLang="en-US" sz="1100" spc="-2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8" name="OTLSHAPE_T_f76b6c510cd343c9b5342ed25dd4593f_JoinedDate">
            <a:extLst>
              <a:ext uri="{FF2B5EF4-FFF2-40B4-BE49-F238E27FC236}">
                <a16:creationId xmlns:a16="http://schemas.microsoft.com/office/drawing/2014/main" id="{66FBF1E6-AB57-30C0-7FE0-5E078C10F381}"/>
              </a:ext>
            </a:extLst>
          </p:cNvPr>
          <p:cNvSpPr txBox="1"/>
          <p:nvPr>
            <p:custDataLst>
              <p:tags r:id="rId34"/>
            </p:custDataLst>
          </p:nvPr>
        </p:nvSpPr>
        <p:spPr>
          <a:xfrm>
            <a:off x="5044960" y="3000365"/>
            <a:ext cx="7239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1000" spc="-4">
                <a:solidFill>
                  <a:srgbClr val="000000"/>
                </a:solidFill>
                <a:latin typeface="Calibri" panose="020F0502020204030204" pitchFamily="34" charset="0"/>
              </a:rPr>
              <a:t>Jun 22 - Jul 12</a:t>
            </a:r>
            <a:endParaRPr lang="zh-CN" altLang="en-US" sz="1000" spc="-4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9" name="OTLSHAPE_T_8edff500fcd44330a2e83dc731dfc54d_Title">
            <a:extLst>
              <a:ext uri="{FF2B5EF4-FFF2-40B4-BE49-F238E27FC236}">
                <a16:creationId xmlns:a16="http://schemas.microsoft.com/office/drawing/2014/main" id="{DBB21FE8-BD11-9C83-FD69-7DC09FAB92B0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2994415" y="3201237"/>
            <a:ext cx="19558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altLang="zh-CN" sz="1100" spc="-2">
                <a:solidFill>
                  <a:srgbClr val="000000"/>
                </a:solidFill>
                <a:latin typeface="Calibri" panose="020F0502020204030204" pitchFamily="34" charset="0"/>
              </a:rPr>
              <a:t>SDSP integration with the network</a:t>
            </a:r>
            <a:endParaRPr lang="zh-CN" altLang="en-US" sz="1100" spc="-2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0" name="OTLSHAPE_T_8edff500fcd44330a2e83dc731dfc54d_JoinedDate">
            <a:extLst>
              <a:ext uri="{FF2B5EF4-FFF2-40B4-BE49-F238E27FC236}">
                <a16:creationId xmlns:a16="http://schemas.microsoft.com/office/drawing/2014/main" id="{FF180F9C-7372-6A9D-0714-DDA9089FCB6C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5844106" y="3208984"/>
            <a:ext cx="685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1000" spc="-4">
                <a:solidFill>
                  <a:srgbClr val="000000"/>
                </a:solidFill>
                <a:latin typeface="Calibri" panose="020F0502020204030204" pitchFamily="34" charset="0"/>
              </a:rPr>
              <a:t>Jul 13 - Jul 26</a:t>
            </a:r>
            <a:endParaRPr lang="zh-CN" altLang="en-US" sz="1000" spc="-4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1" name="OTLSHAPE_T_48a707898a594ab7ac9bab3d517d06c5_Title">
            <a:extLst>
              <a:ext uri="{FF2B5EF4-FFF2-40B4-BE49-F238E27FC236}">
                <a16:creationId xmlns:a16="http://schemas.microsoft.com/office/drawing/2014/main" id="{DA6F3291-5D09-01BA-BA01-0799AA24F1F1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3486148" y="3409855"/>
            <a:ext cx="1866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altLang="zh-CN" sz="1100" spc="-4">
                <a:solidFill>
                  <a:srgbClr val="000000"/>
                </a:solidFill>
                <a:latin typeface="Calibri" panose="020F0502020204030204" pitchFamily="34" charset="0"/>
              </a:rPr>
              <a:t>System optimization &amp; FPGA test</a:t>
            </a:r>
            <a:endParaRPr lang="zh-CN" altLang="en-US" sz="1100" spc="-4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2" name="OTLSHAPE_T_48a707898a594ab7ac9bab3d517d06c5_JoinedDate">
            <a:extLst>
              <a:ext uri="{FF2B5EF4-FFF2-40B4-BE49-F238E27FC236}">
                <a16:creationId xmlns:a16="http://schemas.microsoft.com/office/drawing/2014/main" id="{9E31D4D5-57F8-201E-82BB-2E9AAC1F59D8}"/>
              </a:ext>
            </a:extLst>
          </p:cNvPr>
          <p:cNvSpPr txBox="1"/>
          <p:nvPr>
            <p:custDataLst>
              <p:tags r:id="rId38"/>
            </p:custDataLst>
          </p:nvPr>
        </p:nvSpPr>
        <p:spPr>
          <a:xfrm>
            <a:off x="6129516" y="3417602"/>
            <a:ext cx="685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1000" spc="-4">
                <a:solidFill>
                  <a:srgbClr val="000000"/>
                </a:solidFill>
                <a:latin typeface="Calibri" panose="020F0502020204030204" pitchFamily="34" charset="0"/>
              </a:rPr>
              <a:t>Jul 20 - Jul 31</a:t>
            </a:r>
            <a:endParaRPr lang="zh-CN" altLang="en-US" sz="1000" spc="-4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3" name="OTLSHAPE_T_9c3ef60a16e840aea7c382a4ebff9128_Title">
            <a:extLst>
              <a:ext uri="{FF2B5EF4-FFF2-40B4-BE49-F238E27FC236}">
                <a16:creationId xmlns:a16="http://schemas.microsoft.com/office/drawing/2014/main" id="{20CE29D2-DCA2-171D-7932-31947DB83D27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4406038" y="3618474"/>
            <a:ext cx="16256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altLang="zh-CN" sz="1100" spc="-4" dirty="0">
                <a:solidFill>
                  <a:srgbClr val="000000"/>
                </a:solidFill>
                <a:latin typeface="Calibri" panose="020F0502020204030204" pitchFamily="34" charset="0"/>
              </a:rPr>
              <a:t>Apply partial reconfiguration</a:t>
            </a:r>
            <a:endParaRPr lang="zh-CN" altLang="en-US" sz="1100" spc="-4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4" name="OTLSHAPE_T_9c3ef60a16e840aea7c382a4ebff9128_JoinedDate">
            <a:extLst>
              <a:ext uri="{FF2B5EF4-FFF2-40B4-BE49-F238E27FC236}">
                <a16:creationId xmlns:a16="http://schemas.microsoft.com/office/drawing/2014/main" id="{2E9F89D0-CD29-2039-1F24-D7D3359160BF}"/>
              </a:ext>
            </a:extLst>
          </p:cNvPr>
          <p:cNvSpPr txBox="1"/>
          <p:nvPr>
            <p:custDataLst>
              <p:tags r:id="rId40"/>
            </p:custDataLst>
          </p:nvPr>
        </p:nvSpPr>
        <p:spPr>
          <a:xfrm>
            <a:off x="7042826" y="3626221"/>
            <a:ext cx="749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1000" spc="-4">
                <a:solidFill>
                  <a:srgbClr val="000000"/>
                </a:solidFill>
                <a:latin typeface="Calibri" panose="020F0502020204030204" pitchFamily="34" charset="0"/>
              </a:rPr>
              <a:t>Aug 1 - Aug 16</a:t>
            </a:r>
            <a:endParaRPr lang="zh-CN" altLang="en-US" sz="1000" spc="-4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5" name="OTLSHAPE_T_1466f5593384403184791854e3658b08_Title">
            <a:extLst>
              <a:ext uri="{FF2B5EF4-FFF2-40B4-BE49-F238E27FC236}">
                <a16:creationId xmlns:a16="http://schemas.microsoft.com/office/drawing/2014/main" id="{509BE658-CD2C-2DF2-1EC4-B9C1330A3631}"/>
              </a:ext>
            </a:extLst>
          </p:cNvPr>
          <p:cNvSpPr txBox="1"/>
          <p:nvPr>
            <p:custDataLst>
              <p:tags r:id="rId41"/>
            </p:custDataLst>
          </p:nvPr>
        </p:nvSpPr>
        <p:spPr>
          <a:xfrm>
            <a:off x="5846526" y="3827093"/>
            <a:ext cx="1104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altLang="zh-CN" sz="1100" spc="-10">
                <a:solidFill>
                  <a:srgbClr val="000000"/>
                </a:solidFill>
                <a:latin typeface="Calibri" panose="020F0502020204030204" pitchFamily="34" charset="0"/>
              </a:rPr>
              <a:t>Test and evaluation</a:t>
            </a:r>
            <a:endParaRPr lang="zh-CN" altLang="en-US" sz="1100" spc="-1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6" name="OTLSHAPE_T_1466f5593384403184791854e3658b08_JoinedDate">
            <a:extLst>
              <a:ext uri="{FF2B5EF4-FFF2-40B4-BE49-F238E27FC236}">
                <a16:creationId xmlns:a16="http://schemas.microsoft.com/office/drawing/2014/main" id="{0EC0C23F-F7B5-3147-ABAF-A75E3DADA1DA}"/>
              </a:ext>
            </a:extLst>
          </p:cNvPr>
          <p:cNvSpPr txBox="1"/>
          <p:nvPr>
            <p:custDataLst>
              <p:tags r:id="rId42"/>
            </p:custDataLst>
          </p:nvPr>
        </p:nvSpPr>
        <p:spPr>
          <a:xfrm>
            <a:off x="7841973" y="3834840"/>
            <a:ext cx="812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1000" spc="-4">
                <a:solidFill>
                  <a:srgbClr val="000000"/>
                </a:solidFill>
                <a:latin typeface="Calibri" panose="020F0502020204030204" pitchFamily="34" charset="0"/>
              </a:rPr>
              <a:t>Aug 17 - Aug 30</a:t>
            </a:r>
            <a:endParaRPr lang="zh-CN" altLang="en-US" sz="1000" spc="-4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7" name="OTLSHAPE_T_e35771cd8be24bc3a426ac2542effc9c_Title">
            <a:extLst>
              <a:ext uri="{FF2B5EF4-FFF2-40B4-BE49-F238E27FC236}">
                <a16:creationId xmlns:a16="http://schemas.microsoft.com/office/drawing/2014/main" id="{EE0A00F6-83CF-98D9-85BD-F3F5F81DB717}"/>
              </a:ext>
            </a:extLst>
          </p:cNvPr>
          <p:cNvSpPr txBox="1"/>
          <p:nvPr>
            <p:custDataLst>
              <p:tags r:id="rId43"/>
            </p:custDataLst>
          </p:nvPr>
        </p:nvSpPr>
        <p:spPr>
          <a:xfrm>
            <a:off x="5375525" y="4035711"/>
            <a:ext cx="15748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altLang="zh-CN" sz="1100" spc="-4">
                <a:solidFill>
                  <a:srgbClr val="000000"/>
                </a:solidFill>
                <a:latin typeface="Calibri" panose="020F0502020204030204" pitchFamily="34" charset="0"/>
              </a:rPr>
              <a:t>Report &amp; Final presentation</a:t>
            </a:r>
            <a:endParaRPr lang="zh-CN" altLang="en-US" sz="1100" spc="-4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8" name="OTLSHAPE_T_e35771cd8be24bc3a426ac2542effc9c_JoinedDate">
            <a:extLst>
              <a:ext uri="{FF2B5EF4-FFF2-40B4-BE49-F238E27FC236}">
                <a16:creationId xmlns:a16="http://schemas.microsoft.com/office/drawing/2014/main" id="{722E2E31-C61F-3F36-A176-99C618EC4ECD}"/>
              </a:ext>
            </a:extLst>
          </p:cNvPr>
          <p:cNvSpPr txBox="1"/>
          <p:nvPr>
            <p:custDataLst>
              <p:tags r:id="rId44"/>
            </p:custDataLst>
          </p:nvPr>
        </p:nvSpPr>
        <p:spPr>
          <a:xfrm>
            <a:off x="10125249" y="4043458"/>
            <a:ext cx="736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1000" spc="-4">
                <a:solidFill>
                  <a:srgbClr val="000000"/>
                </a:solidFill>
                <a:latin typeface="Calibri" panose="020F0502020204030204" pitchFamily="34" charset="0"/>
              </a:rPr>
              <a:t>Aug 17 - Oct 9</a:t>
            </a:r>
            <a:endParaRPr lang="zh-CN" altLang="en-US" sz="1000" spc="-4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051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4B90AD-6403-32A9-ED25-3C8CAA6D4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Thank You!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76457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SCALETYPE" val="Months"/>
  <p:tag name="OTLTIMEBANDSCALEFORMAT" val="MMM"/>
  <p:tag name="OTLTIMEBANDSHAPETYPE" val="RoundedCornerRectangleTimeband"/>
  <p:tag name="OTLTIMEBANDSHAPEHEIGHT" val="20"/>
  <p:tag name="OTLTIMEBANDSHAPEPADDINGLEFT" val="0"/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ENDDATE" val="2026-10-09T23:59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RIGHTENDCAPSMARGINRIGHT" val="20"/>
  <p:tag name="OTLLEFTENDCAPSMARGINLEFT" val="20"/>
  <p:tag name="OTLTIMEBANDFYSTARTMONTH" val="January"/>
  <p:tag name="OTLTIMEBANDSHOWFYLABEL" val="True"/>
  <p:tag name="OTLTIMEBANDUSESTARTINGOFTHEYEARFORFYNUMBERING" val="True"/>
  <p:tag name="OTLTIMEBANDRESERVEDLEFTAREAWIDTH" val="0"/>
  <p:tag name="OTLTIMEBANDRESERVEDLEFTAREAISSET" val="False"/>
  <p:tag name="OTLTIMEBANDDEPENABLED" val="Tru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3"/>
  <p:tag name="OTLTIMEBANDSPACINGBELOW" val="3"/>
  <p:tag name="OTLTIMEBANDSPACINGABOVEFORSWLANDTASKS" val="5"/>
  <p:tag name="OTLTIMEBANDSPACINGBELOWFORSWLANDTASKS" val="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ELAPSEDSTYLE" val="Thi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5-15T00:00:00.0000000Z"/>
  <p:tag name="OTLENDDATE" val="2026-08-31T23:59:00.0000000Z"/>
  <p:tag name="OTLDURATIONFORMAT" val="day"/>
  <p:tag name="OTLSPACING" val="3"/>
  <p:tag name="OTLSHAPETHICKNESSTYPE" val="Thi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5-20T00:00:00.0000000Z"/>
  <p:tag name="OTLENDDATE" val="2026-06-07T23:59:00.0000000Z"/>
  <p:tag name="OTLDURATIONFORMAT" val="day"/>
  <p:tag name="OTLSPACING" val="3"/>
  <p:tag name="OTLSHAPETHICKNESSTYPE" val="Thi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6-08T00:00:00.0000000Z"/>
  <p:tag name="OTLENDDATE" val="2026-06-21T23:59:00.0000000Z"/>
  <p:tag name="OTLDURATIONFORMAT" val="day"/>
  <p:tag name="OTLSPACING" val="3"/>
  <p:tag name="OTLSHAPETHICKNESSTYPE" val="Thi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6-15T00:00:00.0000000Z"/>
  <p:tag name="OTLENDDATE" val="2026-06-21T23:59:00.0000000Z"/>
  <p:tag name="OTLDURATIONFORMAT" val="day"/>
  <p:tag name="OTLSPACING" val="3"/>
  <p:tag name="OTLSHAPETHICKNESSTYPE" val="Thi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6-22T00:00:00.0000000Z"/>
  <p:tag name="OTLENDDATE" val="2026-07-12T23:59:00.0000000Z"/>
  <p:tag name="OTLDURATIONFORMAT" val="day"/>
  <p:tag name="OTLSPACING" val="3"/>
  <p:tag name="OTLSHAPETHICKNESSTYPE" val="Thin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7-13T00:00:00.0000000Z"/>
  <p:tag name="OTLENDDATE" val="2026-07-26T23:59:00.0000000Z"/>
  <p:tag name="OTLDURATIONFORMAT" val="day"/>
  <p:tag name="OTLSPACING" val="3"/>
  <p:tag name="OTLSHAPETHICKNESSTYPE" val="Thin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7-20T00:00:00.0000000Z"/>
  <p:tag name="OTLENDDATE" val="2026-07-31T23:59:00.0000000Z"/>
  <p:tag name="OTLDURATIONFORMAT" val="day"/>
  <p:tag name="OTLSPACING" val="3"/>
  <p:tag name="OTLSHAPETHICKNESSTYPE" val="Thin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8-01T00:00:00.0000000Z"/>
  <p:tag name="OTLENDDATE" val="2026-08-16T23:59:00.0000000Z"/>
  <p:tag name="OTLDURATIONFORMAT" val="day"/>
  <p:tag name="OTLSPACING" val="3"/>
  <p:tag name="OTLSHAPETHICKNESSTYPE" val="Thin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8-17T00:00:00.0000000Z"/>
  <p:tag name="OTLENDDATE" val="2026-08-30T23:59:00.0000000Z"/>
  <p:tag name="OTLDURATIONFORMAT" val="day"/>
  <p:tag name="OTLSPACING" val="3"/>
  <p:tag name="OTLSHAPETHICKNESSTYPE" val="Thin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8-17T00:00:00.0000000Z"/>
  <p:tag name="OTLENDDATE" val="2026-10-09T23:59:00.0000000Z"/>
  <p:tag name="OTLDURATIONFORMAT" val="day"/>
  <p:tag name="OTLSPACING" val="3"/>
  <p:tag name="OTLSHAPETHICKNESSTYPE" val="Thin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TUD_2018_16zu9">
  <a:themeElements>
    <a:clrScheme name="TUD_2025">
      <a:dk1>
        <a:srgbClr val="001450"/>
      </a:dk1>
      <a:lt1>
        <a:srgbClr val="FFFFFF"/>
      </a:lt1>
      <a:dk2>
        <a:srgbClr val="001450"/>
      </a:dk2>
      <a:lt2>
        <a:srgbClr val="566371"/>
      </a:lt2>
      <a:accent1>
        <a:srgbClr val="00008C"/>
      </a:accent1>
      <a:accent2>
        <a:srgbClr val="2F57B2"/>
      </a:accent2>
      <a:accent3>
        <a:srgbClr val="97C6FF"/>
      </a:accent3>
      <a:accent4>
        <a:srgbClr val="001450"/>
      </a:accent4>
      <a:accent5>
        <a:srgbClr val="0A777F"/>
      </a:accent5>
      <a:accent6>
        <a:srgbClr val="8CE6D7"/>
      </a:accent6>
      <a:hlink>
        <a:srgbClr val="00008C"/>
      </a:hlink>
      <a:folHlink>
        <a:srgbClr val="2F57B2"/>
      </a:folHlink>
    </a:clrScheme>
    <a:fontScheme name="TUD_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FA3DDC62-2CE6-774E-8340-8260BC267E57}" vid="{CBF861B5-B793-E74B-9EAA-FF010F67C032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2020_Praesentationsvorlage_TUD_16zu9</Template>
  <TotalTime>811</TotalTime>
  <Words>850</Words>
  <Application>Microsoft Office PowerPoint</Application>
  <PresentationFormat>宽屏</PresentationFormat>
  <Paragraphs>90</Paragraphs>
  <Slides>11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Symbol</vt:lpstr>
      <vt:lpstr>Arial</vt:lpstr>
      <vt:lpstr>Cambria Math</vt:lpstr>
      <vt:lpstr>Noto Sans</vt:lpstr>
      <vt:lpstr>Calibri</vt:lpstr>
      <vt:lpstr>Open Sans</vt:lpstr>
      <vt:lpstr>TUD_2018_16zu9</vt:lpstr>
      <vt:lpstr>FPGA-based Real-Time Learning Architecture with Partial Reconfiguration for Spiking Neural Networks</vt:lpstr>
      <vt:lpstr>Objective</vt:lpstr>
      <vt:lpstr>Motivations</vt:lpstr>
      <vt:lpstr>Spiking Neural Network</vt:lpstr>
      <vt:lpstr>Spiker+ Framework</vt:lpstr>
      <vt:lpstr>Spiker+ Framework</vt:lpstr>
      <vt:lpstr>Spike-Driven Synaptic Plasticity</vt:lpstr>
      <vt:lpstr>SDSP Simplification for Implementation</vt:lpstr>
      <vt:lpstr>What‘s Next?</vt:lpstr>
      <vt:lpstr>Timeline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Präsentationsvorlagen im CD der TU Dresden</dc:title>
  <dc:creator>Windows User</dc:creator>
  <cp:lastModifiedBy>Yike Jing</cp:lastModifiedBy>
  <cp:revision>49</cp:revision>
  <dcterms:created xsi:type="dcterms:W3CDTF">2021-01-04T09:39:18Z</dcterms:created>
  <dcterms:modified xsi:type="dcterms:W3CDTF">2026-06-04T17:22:35Z</dcterms:modified>
</cp:coreProperties>
</file>